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627ED7-5338-4064-A350-FDEEEF07BCDE}" v="4" dt="2026-05-28T21:18:28.5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nav Mathur" userId="0b8253723396d9f3" providerId="Windows Live" clId="Web-{32627ED7-5338-4064-A350-FDEEEF07BCDE}"/>
    <pc:docChg chg="modSld">
      <pc:chgData name="Arnav Mathur" userId="0b8253723396d9f3" providerId="Windows Live" clId="Web-{32627ED7-5338-4064-A350-FDEEEF07BCDE}" dt="2026-05-28T21:18:28.344" v="0" actId="20577"/>
      <pc:docMkLst>
        <pc:docMk/>
      </pc:docMkLst>
      <pc:sldChg chg="modSp">
        <pc:chgData name="Arnav Mathur" userId="0b8253723396d9f3" providerId="Windows Live" clId="Web-{32627ED7-5338-4064-A350-FDEEEF07BCDE}" dt="2026-05-28T21:18:28.344" v="0" actId="20577"/>
        <pc:sldMkLst>
          <pc:docMk/>
          <pc:sldMk cId="0" sldId="256"/>
        </pc:sldMkLst>
        <pc:spChg chg="mod">
          <ac:chgData name="Arnav Mathur" userId="0b8253723396d9f3" providerId="Windows Live" clId="Web-{32627ED7-5338-4064-A350-FDEEEF07BCDE}" dt="2026-05-28T21:18:28.344" v="0" actId="20577"/>
          <ac:spMkLst>
            <pc:docMk/>
            <pc:sldMk cId="0" sldId="256"/>
            <ac:spMk id="4"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97280"/>
          </a:xfrm>
          <a:prstGeom prst="rect">
            <a:avLst/>
          </a:prstGeom>
          <a:solidFill>
            <a:srgbClr val="6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37160"/>
            <a:ext cx="11640312" cy="548640"/>
          </a:xfrm>
          <a:prstGeom prst="rect">
            <a:avLst/>
          </a:prstGeom>
          <a:noFill/>
        </p:spPr>
        <p:txBody>
          <a:bodyPr wrap="square">
            <a:spAutoFit/>
          </a:bodyPr>
          <a:lstStyle/>
          <a:p>
            <a:pPr algn="ctr"/>
            <a:r>
              <a:rPr sz="2600" b="1" i="0">
                <a:solidFill>
                  <a:srgbClr val="FFFFFF"/>
                </a:solidFill>
                <a:latin typeface="Calibri"/>
              </a:rPr>
              <a:t>ECONOMICS RESEARCH REPORT</a:t>
            </a:r>
          </a:p>
        </p:txBody>
      </p:sp>
      <p:sp>
        <p:nvSpPr>
          <p:cNvPr id="4" name="TextBox 3"/>
          <p:cNvSpPr txBox="1"/>
          <p:nvPr/>
        </p:nvSpPr>
        <p:spPr>
          <a:xfrm>
            <a:off x="274320" y="640080"/>
            <a:ext cx="11640312" cy="292388"/>
          </a:xfrm>
          <a:prstGeom prst="rect">
            <a:avLst/>
          </a:prstGeom>
          <a:noFill/>
        </p:spPr>
        <p:txBody>
          <a:bodyPr wrap="square" lIns="91440" tIns="45720" rIns="91440" bIns="45720" anchor="t">
            <a:spAutoFit/>
          </a:bodyPr>
          <a:lstStyle/>
          <a:p>
            <a:pPr algn="ctr"/>
            <a:r>
              <a:rPr sz="1300" b="0" i="0">
                <a:solidFill>
                  <a:srgbClr val="FFFFFF"/>
                </a:solidFill>
                <a:latin typeface="Calibri"/>
              </a:rPr>
              <a:t>Arnie Mathur</a:t>
            </a:r>
            <a:endParaRPr lang="en-US" sz="1300" b="0" i="0">
              <a:solidFill>
                <a:srgbClr val="FFFFFF"/>
              </a:solidFill>
              <a:latin typeface="Calibri"/>
              <a:ea typeface="Calibri"/>
              <a:cs typeface="Calibri"/>
            </a:endParaRPr>
          </a:p>
        </p:txBody>
      </p:sp>
      <p:sp>
        <p:nvSpPr>
          <p:cNvPr id="5" name="Rectangle 4"/>
          <p:cNvSpPr/>
          <p:nvPr/>
        </p:nvSpPr>
        <p:spPr>
          <a:xfrm>
            <a:off x="0" y="1097280"/>
            <a:ext cx="12188952" cy="5760720"/>
          </a:xfrm>
          <a:prstGeom prst="rect">
            <a:avLst/>
          </a:prstGeom>
          <a:solidFill>
            <a:srgbClr val="6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280160"/>
            <a:ext cx="11274552" cy="53949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1417320"/>
            <a:ext cx="10908792" cy="640080"/>
          </a:xfrm>
          <a:prstGeom prst="rect">
            <a:avLst/>
          </a:prstGeom>
          <a:noFill/>
        </p:spPr>
        <p:txBody>
          <a:bodyPr wrap="square">
            <a:spAutoFit/>
          </a:bodyPr>
          <a:lstStyle/>
          <a:p>
            <a:pPr algn="ctr"/>
            <a:r>
              <a:rPr sz="2200" b="1" i="0">
                <a:solidFill>
                  <a:srgbClr val="6B1A1A"/>
                </a:solidFill>
                <a:latin typeface="Calibri"/>
              </a:rPr>
              <a:t>U.S. Trade Balance, Dollar Index &amp; Economic Outlook</a:t>
            </a:r>
          </a:p>
        </p:txBody>
      </p:sp>
      <p:sp>
        <p:nvSpPr>
          <p:cNvPr id="8" name="TextBox 7"/>
          <p:cNvSpPr txBox="1"/>
          <p:nvPr/>
        </p:nvSpPr>
        <p:spPr>
          <a:xfrm>
            <a:off x="640080" y="2011680"/>
            <a:ext cx="10908792" cy="365760"/>
          </a:xfrm>
          <a:prstGeom prst="rect">
            <a:avLst/>
          </a:prstGeom>
          <a:noFill/>
        </p:spPr>
        <p:txBody>
          <a:bodyPr wrap="square">
            <a:spAutoFit/>
          </a:bodyPr>
          <a:lstStyle/>
          <a:p>
            <a:pPr algn="ctr"/>
            <a:r>
              <a:rPr sz="1200" b="0" i="0">
                <a:solidFill>
                  <a:srgbClr val="555555"/>
                </a:solidFill>
                <a:latin typeface="Calibri"/>
              </a:rPr>
              <a:t>February 2026  |  Econometric Analysis</a:t>
            </a:r>
          </a:p>
        </p:txBody>
      </p:sp>
      <p:sp>
        <p:nvSpPr>
          <p:cNvPr id="9" name="TextBox 8"/>
          <p:cNvSpPr txBox="1"/>
          <p:nvPr/>
        </p:nvSpPr>
        <p:spPr>
          <a:xfrm>
            <a:off x="640080" y="2514600"/>
            <a:ext cx="10908792" cy="2743200"/>
          </a:xfrm>
          <a:prstGeom prst="rect">
            <a:avLst/>
          </a:prstGeom>
          <a:noFill/>
        </p:spPr>
        <p:txBody>
          <a:bodyPr wrap="square">
            <a:spAutoFit/>
          </a:bodyPr>
          <a:lstStyle/>
          <a:p>
            <a:pPr algn="just"/>
            <a:r>
              <a:rPr sz="1100" b="0" i="0">
                <a:solidFill>
                  <a:srgbClr val="000000"/>
                </a:solidFill>
                <a:latin typeface="Calibri"/>
              </a:rPr>
              <a:t>As of late February 2026, the United States trade balance illustrates a structural deficit that is deepening. The aggregate trade shortfall has continued to increase, reaching $70.3 billion in the most recent release. This report presents three OLS regression models — covering US Export Growth, the US Dollar Index (DXY), and US Import Growth — with Newey-West HAC-corrected standard errors, alongside indicator analysis and scenario-based forecasts for the 12-month outlook.</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02920"/>
          </a:xfrm>
          <a:prstGeom prst="rect">
            <a:avLst/>
          </a:prstGeom>
          <a:solidFill>
            <a:srgbClr val="6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2880" y="45720"/>
            <a:ext cx="11823192" cy="502920"/>
          </a:xfrm>
          <a:prstGeom prst="rect">
            <a:avLst/>
          </a:prstGeom>
          <a:noFill/>
        </p:spPr>
        <p:txBody>
          <a:bodyPr wrap="square">
            <a:spAutoFit/>
          </a:bodyPr>
          <a:lstStyle/>
          <a:p>
            <a:pPr algn="l"/>
            <a:r>
              <a:rPr sz="1800" b="1" i="0">
                <a:solidFill>
                  <a:srgbClr val="FFFFFF"/>
                </a:solidFill>
                <a:latin typeface="Calibri"/>
              </a:rPr>
              <a:t>EXECUTIVE SUMMARY</a:t>
            </a:r>
          </a:p>
        </p:txBody>
      </p:sp>
      <p:sp>
        <p:nvSpPr>
          <p:cNvPr id="4" name="Rectangle 3"/>
          <p:cNvSpPr/>
          <p:nvPr/>
        </p:nvSpPr>
        <p:spPr>
          <a:xfrm>
            <a:off x="0" y="502920"/>
            <a:ext cx="12188952" cy="274320"/>
          </a:xfrm>
          <a:prstGeom prst="rect">
            <a:avLst/>
          </a:prstGeom>
          <a:solidFill>
            <a:srgbClr val="A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82880" y="530352"/>
            <a:ext cx="11823192" cy="274320"/>
          </a:xfrm>
          <a:prstGeom prst="rect">
            <a:avLst/>
          </a:prstGeom>
          <a:noFill/>
        </p:spPr>
        <p:txBody>
          <a:bodyPr wrap="square">
            <a:spAutoFit/>
          </a:bodyPr>
          <a:lstStyle/>
          <a:p>
            <a:pPr algn="l"/>
            <a:r>
              <a:rPr sz="1100" b="0" i="1">
                <a:solidFill>
                  <a:srgbClr val="FFFFFF"/>
                </a:solidFill>
                <a:latin typeface="Calibri"/>
              </a:rPr>
              <a:t>Current Account &amp; Trade Balance Trajectory</a:t>
            </a:r>
          </a:p>
        </p:txBody>
      </p:sp>
      <p:sp>
        <p:nvSpPr>
          <p:cNvPr id="6" name="TextBox 5"/>
          <p:cNvSpPr txBox="1"/>
          <p:nvPr/>
        </p:nvSpPr>
        <p:spPr>
          <a:xfrm>
            <a:off x="6291072" y="886968"/>
            <a:ext cx="5669280" cy="228600"/>
          </a:xfrm>
          <a:prstGeom prst="rect">
            <a:avLst/>
          </a:prstGeom>
          <a:noFill/>
        </p:spPr>
        <p:txBody>
          <a:bodyPr wrap="square">
            <a:spAutoFit/>
          </a:bodyPr>
          <a:lstStyle/>
          <a:p>
            <a:pPr algn="l"/>
            <a:r>
              <a:rPr sz="900" b="1" i="0">
                <a:solidFill>
                  <a:srgbClr val="000000"/>
                </a:solidFill>
                <a:latin typeface="Calibri"/>
              </a:rPr>
              <a:t>Exhibit 1</a:t>
            </a:r>
          </a:p>
        </p:txBody>
      </p:sp>
      <p:pic>
        <p:nvPicPr>
          <p:cNvPr id="7" name="Picture 6" descr="exports_data_overview.png"/>
          <p:cNvPicPr>
            <a:picLocks noChangeAspect="1"/>
          </p:cNvPicPr>
          <p:nvPr/>
        </p:nvPicPr>
        <p:blipFill>
          <a:blip r:embed="rId2"/>
          <a:stretch>
            <a:fillRect/>
          </a:stretch>
        </p:blipFill>
        <p:spPr>
          <a:xfrm>
            <a:off x="6291072" y="1115568"/>
            <a:ext cx="5669280" cy="4892040"/>
          </a:xfrm>
          <a:prstGeom prst="rect">
            <a:avLst/>
          </a:prstGeom>
        </p:spPr>
      </p:pic>
      <p:sp>
        <p:nvSpPr>
          <p:cNvPr id="8" name="TextBox 7"/>
          <p:cNvSpPr txBox="1"/>
          <p:nvPr/>
        </p:nvSpPr>
        <p:spPr>
          <a:xfrm>
            <a:off x="182880" y="886968"/>
            <a:ext cx="5925312" cy="5879592"/>
          </a:xfrm>
          <a:prstGeom prst="rect">
            <a:avLst/>
          </a:prstGeom>
          <a:noFill/>
        </p:spPr>
        <p:txBody>
          <a:bodyPr wrap="square">
            <a:spAutoFit/>
          </a:bodyPr>
          <a:lstStyle/>
          <a:p>
            <a:pPr algn="just">
              <a:spcBef>
                <a:spcPts val="400"/>
              </a:spcBef>
            </a:pPr>
            <a:r>
              <a:rPr sz="950">
                <a:solidFill>
                  <a:srgbClr val="000000"/>
                </a:solidFill>
                <a:latin typeface="Calibri"/>
              </a:rPr>
              <a:t>As of late February 2026, the United States balance can be illustrated as a structural deficit that is deepening. The aggregate trade shortfall has continued to increase reaching $70.3 billion in the most recent release, displaying that US spending habits and foreign spending habits are continuing to move in opposite directions. This widening is caused by a pronounced separation in trade flows, while real exports have contracted 1.7%, which is weighed down by sluggish manufacturing velocity abroad, real imports on the contrary have increased by 3.6%. This surge in imports is concentrated heavily in sectors that are capital-intensive, specifically in high-performance computing hardware and telecommunications equipment, which is driven by businesses in the United States investing heavily into new artificial intelligence technology.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02920"/>
          </a:xfrm>
          <a:prstGeom prst="rect">
            <a:avLst/>
          </a:prstGeom>
          <a:solidFill>
            <a:srgbClr val="6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2880" y="45720"/>
            <a:ext cx="11823192" cy="502920"/>
          </a:xfrm>
          <a:prstGeom prst="rect">
            <a:avLst/>
          </a:prstGeom>
          <a:noFill/>
        </p:spPr>
        <p:txBody>
          <a:bodyPr wrap="square">
            <a:spAutoFit/>
          </a:bodyPr>
          <a:lstStyle/>
          <a:p>
            <a:pPr algn="l"/>
            <a:r>
              <a:rPr sz="1800" b="1" i="0">
                <a:solidFill>
                  <a:srgbClr val="FFFFFF"/>
                </a:solidFill>
                <a:latin typeface="Calibri"/>
              </a:rPr>
              <a:t>EXECUTIVE SUMMARY</a:t>
            </a:r>
          </a:p>
        </p:txBody>
      </p:sp>
      <p:sp>
        <p:nvSpPr>
          <p:cNvPr id="4" name="Rectangle 3"/>
          <p:cNvSpPr/>
          <p:nvPr/>
        </p:nvSpPr>
        <p:spPr>
          <a:xfrm>
            <a:off x="0" y="502920"/>
            <a:ext cx="12188952" cy="274320"/>
          </a:xfrm>
          <a:prstGeom prst="rect">
            <a:avLst/>
          </a:prstGeom>
          <a:solidFill>
            <a:srgbClr val="A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82880" y="530352"/>
            <a:ext cx="11823192" cy="274320"/>
          </a:xfrm>
          <a:prstGeom prst="rect">
            <a:avLst/>
          </a:prstGeom>
          <a:noFill/>
        </p:spPr>
        <p:txBody>
          <a:bodyPr wrap="square">
            <a:spAutoFit/>
          </a:bodyPr>
          <a:lstStyle/>
          <a:p>
            <a:pPr algn="l"/>
            <a:r>
              <a:rPr sz="1100" b="0" i="1">
                <a:solidFill>
                  <a:srgbClr val="FFFFFF"/>
                </a:solidFill>
                <a:latin typeface="Calibri"/>
              </a:rPr>
              <a:t>US Dollar (DXY) Valuation</a:t>
            </a:r>
          </a:p>
        </p:txBody>
      </p:sp>
      <p:sp>
        <p:nvSpPr>
          <p:cNvPr id="6" name="TextBox 5"/>
          <p:cNvSpPr txBox="1"/>
          <p:nvPr/>
        </p:nvSpPr>
        <p:spPr>
          <a:xfrm>
            <a:off x="182880" y="886968"/>
            <a:ext cx="5669280" cy="228600"/>
          </a:xfrm>
          <a:prstGeom prst="rect">
            <a:avLst/>
          </a:prstGeom>
          <a:noFill/>
        </p:spPr>
        <p:txBody>
          <a:bodyPr wrap="square">
            <a:spAutoFit/>
          </a:bodyPr>
          <a:lstStyle/>
          <a:p>
            <a:pPr algn="l"/>
            <a:r>
              <a:rPr sz="900" b="1" i="0">
                <a:solidFill>
                  <a:srgbClr val="000000"/>
                </a:solidFill>
                <a:latin typeface="Calibri"/>
              </a:rPr>
              <a:t>Exhibit 2</a:t>
            </a:r>
          </a:p>
        </p:txBody>
      </p:sp>
      <p:pic>
        <p:nvPicPr>
          <p:cNvPr id="7" name="Picture 6" descr="dxy_data_overview.png"/>
          <p:cNvPicPr>
            <a:picLocks noChangeAspect="1"/>
          </p:cNvPicPr>
          <p:nvPr/>
        </p:nvPicPr>
        <p:blipFill>
          <a:blip r:embed="rId2"/>
          <a:stretch>
            <a:fillRect/>
          </a:stretch>
        </p:blipFill>
        <p:spPr>
          <a:xfrm>
            <a:off x="182880" y="1115568"/>
            <a:ext cx="5669280" cy="4892040"/>
          </a:xfrm>
          <a:prstGeom prst="rect">
            <a:avLst/>
          </a:prstGeom>
        </p:spPr>
      </p:pic>
      <p:sp>
        <p:nvSpPr>
          <p:cNvPr id="8" name="TextBox 7"/>
          <p:cNvSpPr txBox="1"/>
          <p:nvPr/>
        </p:nvSpPr>
        <p:spPr>
          <a:xfrm>
            <a:off x="6080760" y="886968"/>
            <a:ext cx="5925312" cy="5879592"/>
          </a:xfrm>
          <a:prstGeom prst="rect">
            <a:avLst/>
          </a:prstGeom>
          <a:noFill/>
        </p:spPr>
        <p:txBody>
          <a:bodyPr wrap="square">
            <a:spAutoFit/>
          </a:bodyPr>
          <a:lstStyle/>
          <a:p>
            <a:pPr algn="just">
              <a:spcBef>
                <a:spcPts val="400"/>
              </a:spcBef>
            </a:pPr>
            <a:r>
              <a:rPr sz="950">
                <a:solidFill>
                  <a:srgbClr val="000000"/>
                </a:solidFill>
                <a:latin typeface="Calibri"/>
              </a:rPr>
              <a:t>The US Dollar Index (DXY) is currently swinging within the 97.00–98.00 band, which reflects a regime shift in monetary policy. For a long period, the US dollar was incredibly strong, due to the fact that US interest rates were higher than major global economies. More recently however, the dollar is reverting down to a more 'normal' or average historical level. The currency has depreciated approximately 10% from its peaks, which is in response to the Federal Reserve's pivot toward a more neutral policy stance. While recent high-frequency data on consumer confidence has provided temporary support to the 97.88 level, the broader structure still remains bearish. Investors have realized that US interest rates are not going to be significantly higher than Europe's or Japan's.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02920"/>
          </a:xfrm>
          <a:prstGeom prst="rect">
            <a:avLst/>
          </a:prstGeom>
          <a:solidFill>
            <a:srgbClr val="6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2880" y="45720"/>
            <a:ext cx="11823192" cy="502920"/>
          </a:xfrm>
          <a:prstGeom prst="rect">
            <a:avLst/>
          </a:prstGeom>
          <a:noFill/>
        </p:spPr>
        <p:txBody>
          <a:bodyPr wrap="square">
            <a:spAutoFit/>
          </a:bodyPr>
          <a:lstStyle/>
          <a:p>
            <a:pPr algn="l"/>
            <a:r>
              <a:rPr sz="1800" b="1" i="0">
                <a:solidFill>
                  <a:srgbClr val="FFFFFF"/>
                </a:solidFill>
                <a:latin typeface="Calibri"/>
              </a:rPr>
              <a:t>EXECUTIVE SUMMARY</a:t>
            </a:r>
          </a:p>
        </p:txBody>
      </p:sp>
      <p:sp>
        <p:nvSpPr>
          <p:cNvPr id="4" name="Rectangle 3"/>
          <p:cNvSpPr/>
          <p:nvPr/>
        </p:nvSpPr>
        <p:spPr>
          <a:xfrm>
            <a:off x="0" y="502920"/>
            <a:ext cx="12188952" cy="274320"/>
          </a:xfrm>
          <a:prstGeom prst="rect">
            <a:avLst/>
          </a:prstGeom>
          <a:solidFill>
            <a:srgbClr val="A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82880" y="530352"/>
            <a:ext cx="11823192" cy="274320"/>
          </a:xfrm>
          <a:prstGeom prst="rect">
            <a:avLst/>
          </a:prstGeom>
          <a:noFill/>
        </p:spPr>
        <p:txBody>
          <a:bodyPr wrap="square">
            <a:spAutoFit/>
          </a:bodyPr>
          <a:lstStyle/>
          <a:p>
            <a:pPr algn="l"/>
            <a:r>
              <a:rPr sz="1100" b="0" i="1">
                <a:solidFill>
                  <a:srgbClr val="FFFFFF"/>
                </a:solidFill>
                <a:latin typeface="Calibri"/>
              </a:rPr>
              <a:t>12-Month Outlook &amp; Risk Vectors</a:t>
            </a:r>
          </a:p>
        </p:txBody>
      </p:sp>
      <p:sp>
        <p:nvSpPr>
          <p:cNvPr id="6" name="TextBox 5"/>
          <p:cNvSpPr txBox="1"/>
          <p:nvPr/>
        </p:nvSpPr>
        <p:spPr>
          <a:xfrm>
            <a:off x="6291072" y="886968"/>
            <a:ext cx="5669280" cy="228600"/>
          </a:xfrm>
          <a:prstGeom prst="rect">
            <a:avLst/>
          </a:prstGeom>
          <a:noFill/>
        </p:spPr>
        <p:txBody>
          <a:bodyPr wrap="square">
            <a:spAutoFit/>
          </a:bodyPr>
          <a:lstStyle/>
          <a:p>
            <a:pPr algn="l"/>
            <a:r>
              <a:rPr sz="900" b="1" i="0">
                <a:solidFill>
                  <a:srgbClr val="000000"/>
                </a:solidFill>
                <a:latin typeface="Calibri"/>
              </a:rPr>
              <a:t>Exhibit 3</a:t>
            </a:r>
          </a:p>
        </p:txBody>
      </p:sp>
      <p:pic>
        <p:nvPicPr>
          <p:cNvPr id="7" name="Picture 6" descr="forecast_dxy.png"/>
          <p:cNvPicPr>
            <a:picLocks noChangeAspect="1"/>
          </p:cNvPicPr>
          <p:nvPr/>
        </p:nvPicPr>
        <p:blipFill>
          <a:blip r:embed="rId2"/>
          <a:stretch>
            <a:fillRect/>
          </a:stretch>
        </p:blipFill>
        <p:spPr>
          <a:xfrm>
            <a:off x="6291072" y="1115568"/>
            <a:ext cx="5669280" cy="4892040"/>
          </a:xfrm>
          <a:prstGeom prst="rect">
            <a:avLst/>
          </a:prstGeom>
        </p:spPr>
      </p:pic>
      <p:sp>
        <p:nvSpPr>
          <p:cNvPr id="8" name="TextBox 7"/>
          <p:cNvSpPr txBox="1"/>
          <p:nvPr/>
        </p:nvSpPr>
        <p:spPr>
          <a:xfrm>
            <a:off x="182880" y="886968"/>
            <a:ext cx="5925312" cy="5879592"/>
          </a:xfrm>
          <a:prstGeom prst="rect">
            <a:avLst/>
          </a:prstGeom>
          <a:noFill/>
        </p:spPr>
        <p:txBody>
          <a:bodyPr wrap="square">
            <a:spAutoFit/>
          </a:bodyPr>
          <a:lstStyle/>
          <a:p>
            <a:pPr algn="just">
              <a:spcBef>
                <a:spcPts val="400"/>
              </a:spcBef>
            </a:pPr>
            <a:r>
              <a:rPr sz="950">
                <a:solidFill>
                  <a:srgbClr val="000000"/>
                </a:solidFill>
                <a:latin typeface="Calibri"/>
              </a:rPr>
              <a:t>The baseline forecast over the next 12 months predicts a controlled depreciation of the dollar, which potentially will test the 94.00 handle by Q2 2026 before stabilizing. This is occurring because the gap between US interest rates and European interest rates is shrinking. The dollar being weaker would be positive for trade because it would make American goods cheaper for foreign buyers to purchase, which as a result will eventually assist in shrinking the trade deficit after a few months of adjustment.</a:t>
            </a:r>
          </a:p>
          <a:p>
            <a:pPr algn="just">
              <a:spcBef>
                <a:spcPts val="400"/>
              </a:spcBef>
            </a:pPr>
            <a:r>
              <a:rPr sz="950">
                <a:solidFill>
                  <a:srgbClr val="000000"/>
                </a:solidFill>
                <a:latin typeface="Calibri"/>
              </a:rPr>
              <a:t>This trend however would be subject to a reversal due to two major outside risks: the first being historically high tariffs causing inflation to spike and the second being any major global crisis causing panicked investors to hoard US dollars for safety, forcing the dollar's value to increase, even during an expected downturn.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02920"/>
          </a:xfrm>
          <a:prstGeom prst="rect">
            <a:avLst/>
          </a:prstGeom>
          <a:solidFill>
            <a:srgbClr val="6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2880" y="45720"/>
            <a:ext cx="11823192" cy="502920"/>
          </a:xfrm>
          <a:prstGeom prst="rect">
            <a:avLst/>
          </a:prstGeom>
          <a:noFill/>
        </p:spPr>
        <p:txBody>
          <a:bodyPr wrap="square">
            <a:spAutoFit/>
          </a:bodyPr>
          <a:lstStyle/>
          <a:p>
            <a:pPr algn="l"/>
            <a:r>
              <a:rPr sz="1800" b="1" i="0">
                <a:solidFill>
                  <a:srgbClr val="FFFFFF"/>
                </a:solidFill>
                <a:latin typeface="Calibri"/>
              </a:rPr>
              <a:t>THEORETICAL FRAMEWORK</a:t>
            </a:r>
          </a:p>
        </p:txBody>
      </p:sp>
      <p:sp>
        <p:nvSpPr>
          <p:cNvPr id="4" name="Rectangle 3"/>
          <p:cNvSpPr/>
          <p:nvPr/>
        </p:nvSpPr>
        <p:spPr>
          <a:xfrm>
            <a:off x="0" y="502920"/>
            <a:ext cx="12188952" cy="274320"/>
          </a:xfrm>
          <a:prstGeom prst="rect">
            <a:avLst/>
          </a:prstGeom>
          <a:solidFill>
            <a:srgbClr val="A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82880" y="530352"/>
            <a:ext cx="11823192" cy="274320"/>
          </a:xfrm>
          <a:prstGeom prst="rect">
            <a:avLst/>
          </a:prstGeom>
          <a:noFill/>
        </p:spPr>
        <p:txBody>
          <a:bodyPr wrap="square">
            <a:spAutoFit/>
          </a:bodyPr>
          <a:lstStyle/>
          <a:p>
            <a:pPr algn="l"/>
            <a:r>
              <a:rPr sz="1100" b="0" i="1">
                <a:solidFill>
                  <a:srgbClr val="FFFFFF"/>
                </a:solidFill>
                <a:latin typeface="Calibri"/>
              </a:rPr>
              <a:t>Trade Balance vs. US Dollar Index</a:t>
            </a:r>
          </a:p>
        </p:txBody>
      </p:sp>
      <p:sp>
        <p:nvSpPr>
          <p:cNvPr id="6" name="TextBox 5"/>
          <p:cNvSpPr txBox="1"/>
          <p:nvPr/>
        </p:nvSpPr>
        <p:spPr>
          <a:xfrm>
            <a:off x="182880" y="886968"/>
            <a:ext cx="5669280" cy="228600"/>
          </a:xfrm>
          <a:prstGeom prst="rect">
            <a:avLst/>
          </a:prstGeom>
          <a:noFill/>
        </p:spPr>
        <p:txBody>
          <a:bodyPr wrap="square">
            <a:spAutoFit/>
          </a:bodyPr>
          <a:lstStyle/>
          <a:p>
            <a:pPr algn="l"/>
            <a:r>
              <a:rPr sz="900" b="1" i="0">
                <a:solidFill>
                  <a:srgbClr val="000000"/>
                </a:solidFill>
                <a:latin typeface="Calibri"/>
              </a:rPr>
              <a:t>Exhibit 4</a:t>
            </a:r>
          </a:p>
        </p:txBody>
      </p:sp>
      <p:pic>
        <p:nvPicPr>
          <p:cNvPr id="7" name="Picture 6" descr="dxy_corr.png"/>
          <p:cNvPicPr>
            <a:picLocks noChangeAspect="1"/>
          </p:cNvPicPr>
          <p:nvPr/>
        </p:nvPicPr>
        <p:blipFill>
          <a:blip r:embed="rId2"/>
          <a:stretch>
            <a:fillRect/>
          </a:stretch>
        </p:blipFill>
        <p:spPr>
          <a:xfrm>
            <a:off x="182880" y="1115568"/>
            <a:ext cx="5669280" cy="4892040"/>
          </a:xfrm>
          <a:prstGeom prst="rect">
            <a:avLst/>
          </a:prstGeom>
        </p:spPr>
      </p:pic>
      <p:sp>
        <p:nvSpPr>
          <p:cNvPr id="8" name="TextBox 7"/>
          <p:cNvSpPr txBox="1"/>
          <p:nvPr/>
        </p:nvSpPr>
        <p:spPr>
          <a:xfrm>
            <a:off x="6080760" y="886968"/>
            <a:ext cx="5925312" cy="5879592"/>
          </a:xfrm>
          <a:prstGeom prst="rect">
            <a:avLst/>
          </a:prstGeom>
          <a:noFill/>
        </p:spPr>
        <p:txBody>
          <a:bodyPr wrap="square">
            <a:spAutoFit/>
          </a:bodyPr>
          <a:lstStyle/>
          <a:p>
            <a:pPr algn="just">
              <a:spcBef>
                <a:spcPts val="400"/>
              </a:spcBef>
            </a:pPr>
            <a:r>
              <a:rPr sz="950">
                <a:solidFill>
                  <a:srgbClr val="000000"/>
                </a:solidFill>
                <a:latin typeface="Calibri"/>
              </a:rPr>
              <a:t>U.S. Exports and Imports and the U.S. dollar are very closely related. In the model shown below, the U.S. Trade Balance Index (USTBTOT in white) is displayed alongside the Dollar Index Spot (DXY in yellow). As shown in this model, there is an inverse relationship between the difference between exports to imports and the strength of the U.S. dollar. When the U.S. is importing far more goods and services than it is exporting, the value of the U.S. dollar rises relative to other major currencies. On the other hand, when there is an increase in the U.S.'s exported goods and services relative to imports, the value of the U.S. dollar decreases relative to other major currencies.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02920"/>
          </a:xfrm>
          <a:prstGeom prst="rect">
            <a:avLst/>
          </a:prstGeom>
          <a:solidFill>
            <a:srgbClr val="6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2880" y="45720"/>
            <a:ext cx="11823192" cy="502920"/>
          </a:xfrm>
          <a:prstGeom prst="rect">
            <a:avLst/>
          </a:prstGeom>
          <a:noFill/>
        </p:spPr>
        <p:txBody>
          <a:bodyPr wrap="square">
            <a:spAutoFit/>
          </a:bodyPr>
          <a:lstStyle/>
          <a:p>
            <a:pPr algn="l"/>
            <a:r>
              <a:rPr sz="1800" b="1" i="0">
                <a:solidFill>
                  <a:srgbClr val="FFFFFF"/>
                </a:solidFill>
                <a:latin typeface="Calibri"/>
              </a:rPr>
              <a:t>THEORETICAL FRAMEWORK</a:t>
            </a:r>
          </a:p>
        </p:txBody>
      </p:sp>
      <p:sp>
        <p:nvSpPr>
          <p:cNvPr id="4" name="Rectangle 3"/>
          <p:cNvSpPr/>
          <p:nvPr/>
        </p:nvSpPr>
        <p:spPr>
          <a:xfrm>
            <a:off x="0" y="502920"/>
            <a:ext cx="12188952" cy="274320"/>
          </a:xfrm>
          <a:prstGeom prst="rect">
            <a:avLst/>
          </a:prstGeom>
          <a:solidFill>
            <a:srgbClr val="A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82880" y="530352"/>
            <a:ext cx="11823192" cy="274320"/>
          </a:xfrm>
          <a:prstGeom prst="rect">
            <a:avLst/>
          </a:prstGeom>
          <a:noFill/>
        </p:spPr>
        <p:txBody>
          <a:bodyPr wrap="square">
            <a:spAutoFit/>
          </a:bodyPr>
          <a:lstStyle/>
          <a:p>
            <a:pPr algn="l"/>
            <a:r>
              <a:rPr sz="1100" b="0" i="1">
                <a:solidFill>
                  <a:srgbClr val="FFFFFF"/>
                </a:solidFill>
                <a:latin typeface="Calibri"/>
              </a:rPr>
              <a:t>Fed Funds Rate vs. US Dollar Index</a:t>
            </a:r>
          </a:p>
        </p:txBody>
      </p:sp>
      <p:sp>
        <p:nvSpPr>
          <p:cNvPr id="6" name="TextBox 5"/>
          <p:cNvSpPr txBox="1"/>
          <p:nvPr/>
        </p:nvSpPr>
        <p:spPr>
          <a:xfrm>
            <a:off x="6291072" y="886968"/>
            <a:ext cx="5669280" cy="228600"/>
          </a:xfrm>
          <a:prstGeom prst="rect">
            <a:avLst/>
          </a:prstGeom>
          <a:noFill/>
        </p:spPr>
        <p:txBody>
          <a:bodyPr wrap="square">
            <a:spAutoFit/>
          </a:bodyPr>
          <a:lstStyle/>
          <a:p>
            <a:pPr algn="l"/>
            <a:r>
              <a:rPr sz="900" b="1" i="0">
                <a:solidFill>
                  <a:srgbClr val="000000"/>
                </a:solidFill>
                <a:latin typeface="Calibri"/>
              </a:rPr>
              <a:t>Exhibit 5</a:t>
            </a:r>
          </a:p>
        </p:txBody>
      </p:sp>
      <p:pic>
        <p:nvPicPr>
          <p:cNvPr id="7" name="Picture 6" descr="exports_corr.png"/>
          <p:cNvPicPr>
            <a:picLocks noChangeAspect="1"/>
          </p:cNvPicPr>
          <p:nvPr/>
        </p:nvPicPr>
        <p:blipFill>
          <a:blip r:embed="rId2"/>
          <a:stretch>
            <a:fillRect/>
          </a:stretch>
        </p:blipFill>
        <p:spPr>
          <a:xfrm>
            <a:off x="6291072" y="1115568"/>
            <a:ext cx="5669280" cy="4892040"/>
          </a:xfrm>
          <a:prstGeom prst="rect">
            <a:avLst/>
          </a:prstGeom>
        </p:spPr>
      </p:pic>
      <p:sp>
        <p:nvSpPr>
          <p:cNvPr id="8" name="TextBox 7"/>
          <p:cNvSpPr txBox="1"/>
          <p:nvPr/>
        </p:nvSpPr>
        <p:spPr>
          <a:xfrm>
            <a:off x="182880" y="886968"/>
            <a:ext cx="5925312" cy="5879592"/>
          </a:xfrm>
          <a:prstGeom prst="rect">
            <a:avLst/>
          </a:prstGeom>
          <a:noFill/>
        </p:spPr>
        <p:txBody>
          <a:bodyPr wrap="square">
            <a:spAutoFit/>
          </a:bodyPr>
          <a:lstStyle/>
          <a:p>
            <a:pPr algn="just">
              <a:spcBef>
                <a:spcPts val="400"/>
              </a:spcBef>
            </a:pPr>
            <a:r>
              <a:rPr sz="950">
                <a:solidFill>
                  <a:srgbClr val="000000"/>
                </a:solidFill>
                <a:latin typeface="Calibri"/>
              </a:rPr>
              <a:t>The FED Funds Rate has a major impact on the strength of the U.S dollar. As shown in the model below, the FED Funds Rate (FDTR Index in white) follows a similar trend as the Dollar Index Spot (DXY in yellow). When the FED increases interest rates, foreign investment in fixed-income securities becomes more attractive. Since these assets are denominated in U.S. dollars, the demand for the U.S. dollar increases.</a:t>
            </a:r>
          </a:p>
          <a:p>
            <a:pPr algn="just">
              <a:spcBef>
                <a:spcPts val="400"/>
              </a:spcBef>
            </a:pPr>
            <a:r>
              <a:rPr sz="950">
                <a:solidFill>
                  <a:srgbClr val="000000"/>
                </a:solidFill>
                <a:latin typeface="Calibri"/>
              </a:rPr>
              <a:t>In another scenario, when the FED lowers interest rates, the yields of U.S. assets drop. This leads investors to consider alternatives outside the United States. Therefore, this decreases the demand for the U.S. dollar.</a:t>
            </a:r>
          </a:p>
          <a:p>
            <a:pPr algn="just">
              <a:spcBef>
                <a:spcPts val="400"/>
              </a:spcBef>
            </a:pPr>
            <a:r>
              <a:rPr sz="950">
                <a:solidFill>
                  <a:srgbClr val="000000"/>
                </a:solidFill>
                <a:latin typeface="Calibri"/>
              </a:rPr>
              <a:t>What is interesting about this model is that the strength of the dollar often changes before the FED funds rate changes. This is due to the currency market's forward-looking nature. Investors commonly anticipate interest rate hikes and cuts before they actually occur. This is why the Dollar Index Spot often shifts before the FED alters the interest rates.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02920"/>
          </a:xfrm>
          <a:prstGeom prst="rect">
            <a:avLst/>
          </a:prstGeom>
          <a:solidFill>
            <a:srgbClr val="6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2880" y="45720"/>
            <a:ext cx="11823192" cy="502920"/>
          </a:xfrm>
          <a:prstGeom prst="rect">
            <a:avLst/>
          </a:prstGeom>
          <a:noFill/>
        </p:spPr>
        <p:txBody>
          <a:bodyPr wrap="square">
            <a:spAutoFit/>
          </a:bodyPr>
          <a:lstStyle/>
          <a:p>
            <a:pPr algn="l"/>
            <a:r>
              <a:rPr sz="1800" b="1" i="0">
                <a:solidFill>
                  <a:srgbClr val="FFFFFF"/>
                </a:solidFill>
                <a:latin typeface="Calibri"/>
              </a:rPr>
              <a:t>MODEL 1: US EXPORT GROWTH</a:t>
            </a:r>
          </a:p>
        </p:txBody>
      </p:sp>
      <p:sp>
        <p:nvSpPr>
          <p:cNvPr id="4" name="Rectangle 3"/>
          <p:cNvSpPr/>
          <p:nvPr/>
        </p:nvSpPr>
        <p:spPr>
          <a:xfrm>
            <a:off x="0" y="502920"/>
            <a:ext cx="12188952" cy="274320"/>
          </a:xfrm>
          <a:prstGeom prst="rect">
            <a:avLst/>
          </a:prstGeom>
          <a:solidFill>
            <a:srgbClr val="A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82880" y="530352"/>
            <a:ext cx="11823192" cy="274320"/>
          </a:xfrm>
          <a:prstGeom prst="rect">
            <a:avLst/>
          </a:prstGeom>
          <a:noFill/>
        </p:spPr>
        <p:txBody>
          <a:bodyPr wrap="square">
            <a:spAutoFit/>
          </a:bodyPr>
          <a:lstStyle/>
          <a:p>
            <a:pPr algn="l"/>
            <a:r>
              <a:rPr sz="1100" b="0" i="1">
                <a:solidFill>
                  <a:srgbClr val="FFFFFF"/>
                </a:solidFill>
                <a:latin typeface="Calibri"/>
              </a:rPr>
              <a:t>Model Specification &amp; Overall Fit</a:t>
            </a:r>
          </a:p>
        </p:txBody>
      </p:sp>
      <p:sp>
        <p:nvSpPr>
          <p:cNvPr id="6" name="TextBox 5"/>
          <p:cNvSpPr txBox="1"/>
          <p:nvPr/>
        </p:nvSpPr>
        <p:spPr>
          <a:xfrm>
            <a:off x="182880" y="886968"/>
            <a:ext cx="5486400" cy="228600"/>
          </a:xfrm>
          <a:prstGeom prst="rect">
            <a:avLst/>
          </a:prstGeom>
          <a:noFill/>
        </p:spPr>
        <p:txBody>
          <a:bodyPr wrap="square">
            <a:spAutoFit/>
          </a:bodyPr>
          <a:lstStyle/>
          <a:p>
            <a:pPr algn="l"/>
            <a:r>
              <a:rPr sz="900" b="1" i="0">
                <a:solidFill>
                  <a:srgbClr val="000000"/>
                </a:solidFill>
                <a:latin typeface="Calibri"/>
              </a:rPr>
              <a:t>Exhibit 6</a:t>
            </a:r>
          </a:p>
        </p:txBody>
      </p:sp>
      <p:pic>
        <p:nvPicPr>
          <p:cNvPr id="7" name="Picture 6" descr="exports_model.png"/>
          <p:cNvPicPr>
            <a:picLocks noChangeAspect="1"/>
          </p:cNvPicPr>
          <p:nvPr/>
        </p:nvPicPr>
        <p:blipFill>
          <a:blip r:embed="rId2"/>
          <a:stretch>
            <a:fillRect/>
          </a:stretch>
        </p:blipFill>
        <p:spPr>
          <a:xfrm>
            <a:off x="182880" y="1115568"/>
            <a:ext cx="5486400" cy="4892040"/>
          </a:xfrm>
          <a:prstGeom prst="rect">
            <a:avLst/>
          </a:prstGeom>
        </p:spPr>
      </p:pic>
      <p:sp>
        <p:nvSpPr>
          <p:cNvPr id="8" name="TextBox 7"/>
          <p:cNvSpPr txBox="1"/>
          <p:nvPr/>
        </p:nvSpPr>
        <p:spPr>
          <a:xfrm>
            <a:off x="5897880" y="886968"/>
            <a:ext cx="6108192" cy="5879592"/>
          </a:xfrm>
          <a:prstGeom prst="rect">
            <a:avLst/>
          </a:prstGeom>
          <a:noFill/>
        </p:spPr>
        <p:txBody>
          <a:bodyPr wrap="square">
            <a:spAutoFit/>
          </a:bodyPr>
          <a:lstStyle/>
          <a:p>
            <a:pPr algn="just">
              <a:spcBef>
                <a:spcPts val="400"/>
              </a:spcBef>
            </a:pPr>
            <a:r>
              <a:rPr sz="950">
                <a:solidFill>
                  <a:srgbClr val="000000"/>
                </a:solidFill>
                <a:latin typeface="Calibri"/>
              </a:rPr>
              <a:t>Model 1 estimates the year-over-year percentage change in real US exports of goods and services as a linear function of four main regressors: Advanced Foreign Economies US Dollar Index (DTWEXAFEGS), the YoY change in the US Industrial Production index (INDPRO), the YoY change in WTI Crude Oil Prices (WTISPLC), and one lag of the dependent variable (exports). We used the estimation period from 2006 Q2 through 2025 Q4, with a total of 79 observations. Standard errors are Newey-West HAC-corrected with 4 lags.</a:t>
            </a:r>
          </a:p>
          <a:p>
            <a:pPr algn="just">
              <a:spcBef>
                <a:spcPts val="400"/>
              </a:spcBef>
            </a:pPr>
            <a:r>
              <a:rPr sz="950">
                <a:solidFill>
                  <a:srgbClr val="000000"/>
                </a:solidFill>
                <a:latin typeface="Calibri"/>
              </a:rPr>
              <a:t>Looking at the model broadly, we see an R² of 0.836 and an adjusted R² of 0.827, meaning that approximately 83–84% of the quarter-to-quarter variation in real export growth is explained by the four regressors. The F-statistic of 34.13 (p = 3.96 × 10⁻¹⁶) strongly rejects the null hypothesis that all coefficients are jointly zero. AIC: 387.78 | BIC: 399.63.</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02920"/>
          </a:xfrm>
          <a:prstGeom prst="rect">
            <a:avLst/>
          </a:prstGeom>
          <a:solidFill>
            <a:srgbClr val="6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2880" y="45720"/>
            <a:ext cx="11823192" cy="502920"/>
          </a:xfrm>
          <a:prstGeom prst="rect">
            <a:avLst/>
          </a:prstGeom>
          <a:noFill/>
        </p:spPr>
        <p:txBody>
          <a:bodyPr wrap="square">
            <a:spAutoFit/>
          </a:bodyPr>
          <a:lstStyle/>
          <a:p>
            <a:pPr algn="l"/>
            <a:r>
              <a:rPr sz="1800" b="1" i="0">
                <a:solidFill>
                  <a:srgbClr val="FFFFFF"/>
                </a:solidFill>
                <a:latin typeface="Calibri"/>
              </a:rPr>
              <a:t>MODEL 1: US EXPORT GROWTH</a:t>
            </a:r>
          </a:p>
        </p:txBody>
      </p:sp>
      <p:sp>
        <p:nvSpPr>
          <p:cNvPr id="4" name="Rectangle 3"/>
          <p:cNvSpPr/>
          <p:nvPr/>
        </p:nvSpPr>
        <p:spPr>
          <a:xfrm>
            <a:off x="0" y="502920"/>
            <a:ext cx="12188952" cy="274320"/>
          </a:xfrm>
          <a:prstGeom prst="rect">
            <a:avLst/>
          </a:prstGeom>
          <a:solidFill>
            <a:srgbClr val="A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82880" y="530352"/>
            <a:ext cx="11823192" cy="274320"/>
          </a:xfrm>
          <a:prstGeom prst="rect">
            <a:avLst/>
          </a:prstGeom>
          <a:noFill/>
        </p:spPr>
        <p:txBody>
          <a:bodyPr wrap="square">
            <a:spAutoFit/>
          </a:bodyPr>
          <a:lstStyle/>
          <a:p>
            <a:pPr algn="l"/>
            <a:r>
              <a:rPr sz="1100" b="0" i="1">
                <a:solidFill>
                  <a:srgbClr val="FFFFFF"/>
                </a:solidFill>
                <a:latin typeface="Calibri"/>
              </a:rPr>
              <a:t>Regression Results (HAC SE)</a:t>
            </a:r>
          </a:p>
        </p:txBody>
      </p:sp>
      <p:sp>
        <p:nvSpPr>
          <p:cNvPr id="6" name="Rectangle 5"/>
          <p:cNvSpPr/>
          <p:nvPr/>
        </p:nvSpPr>
        <p:spPr>
          <a:xfrm>
            <a:off x="182880" y="932688"/>
            <a:ext cx="11823192" cy="246888"/>
          </a:xfrm>
          <a:prstGeom prst="rect">
            <a:avLst/>
          </a:prstGeom>
          <a:solidFill>
            <a:srgbClr val="6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28600" y="950976"/>
            <a:ext cx="1645920" cy="246888"/>
          </a:xfrm>
          <a:prstGeom prst="rect">
            <a:avLst/>
          </a:prstGeom>
          <a:noFill/>
        </p:spPr>
        <p:txBody>
          <a:bodyPr wrap="square">
            <a:spAutoFit/>
          </a:bodyPr>
          <a:lstStyle/>
          <a:p>
            <a:pPr algn="l"/>
            <a:r>
              <a:rPr sz="850" b="1" i="0">
                <a:solidFill>
                  <a:srgbClr val="FFFFFF"/>
                </a:solidFill>
                <a:latin typeface="Calibri"/>
              </a:rPr>
              <a:t>Variable</a:t>
            </a:r>
          </a:p>
        </p:txBody>
      </p:sp>
      <p:sp>
        <p:nvSpPr>
          <p:cNvPr id="8" name="TextBox 7"/>
          <p:cNvSpPr txBox="1"/>
          <p:nvPr/>
        </p:nvSpPr>
        <p:spPr>
          <a:xfrm>
            <a:off x="1874520" y="950976"/>
            <a:ext cx="1005840" cy="246888"/>
          </a:xfrm>
          <a:prstGeom prst="rect">
            <a:avLst/>
          </a:prstGeom>
          <a:noFill/>
        </p:spPr>
        <p:txBody>
          <a:bodyPr wrap="square">
            <a:spAutoFit/>
          </a:bodyPr>
          <a:lstStyle/>
          <a:p>
            <a:pPr algn="l"/>
            <a:r>
              <a:rPr sz="850" b="1" i="0">
                <a:solidFill>
                  <a:srgbClr val="FFFFFF"/>
                </a:solidFill>
                <a:latin typeface="Calibri"/>
              </a:rPr>
              <a:t>Coeff.</a:t>
            </a:r>
          </a:p>
        </p:txBody>
      </p:sp>
      <p:sp>
        <p:nvSpPr>
          <p:cNvPr id="9" name="TextBox 8"/>
          <p:cNvSpPr txBox="1"/>
          <p:nvPr/>
        </p:nvSpPr>
        <p:spPr>
          <a:xfrm>
            <a:off x="2880360" y="950976"/>
            <a:ext cx="1005840" cy="246888"/>
          </a:xfrm>
          <a:prstGeom prst="rect">
            <a:avLst/>
          </a:prstGeom>
          <a:noFill/>
        </p:spPr>
        <p:txBody>
          <a:bodyPr wrap="square">
            <a:spAutoFit/>
          </a:bodyPr>
          <a:lstStyle/>
          <a:p>
            <a:pPr algn="l"/>
            <a:r>
              <a:rPr sz="850" b="1" i="0">
                <a:solidFill>
                  <a:srgbClr val="FFFFFF"/>
                </a:solidFill>
                <a:latin typeface="Calibri"/>
              </a:rPr>
              <a:t>Std. Error</a:t>
            </a:r>
          </a:p>
        </p:txBody>
      </p:sp>
      <p:sp>
        <p:nvSpPr>
          <p:cNvPr id="10" name="TextBox 9"/>
          <p:cNvSpPr txBox="1"/>
          <p:nvPr/>
        </p:nvSpPr>
        <p:spPr>
          <a:xfrm>
            <a:off x="3886200" y="950976"/>
            <a:ext cx="914400" cy="246888"/>
          </a:xfrm>
          <a:prstGeom prst="rect">
            <a:avLst/>
          </a:prstGeom>
          <a:noFill/>
        </p:spPr>
        <p:txBody>
          <a:bodyPr wrap="square">
            <a:spAutoFit/>
          </a:bodyPr>
          <a:lstStyle/>
          <a:p>
            <a:pPr algn="l"/>
            <a:r>
              <a:rPr sz="850" b="1" i="0">
                <a:solidFill>
                  <a:srgbClr val="FFFFFF"/>
                </a:solidFill>
                <a:latin typeface="Calibri"/>
              </a:rPr>
              <a:t>t-stat</a:t>
            </a:r>
          </a:p>
        </p:txBody>
      </p:sp>
      <p:sp>
        <p:nvSpPr>
          <p:cNvPr id="11" name="TextBox 10"/>
          <p:cNvSpPr txBox="1"/>
          <p:nvPr/>
        </p:nvSpPr>
        <p:spPr>
          <a:xfrm>
            <a:off x="4800600" y="950976"/>
            <a:ext cx="914400" cy="246888"/>
          </a:xfrm>
          <a:prstGeom prst="rect">
            <a:avLst/>
          </a:prstGeom>
          <a:noFill/>
        </p:spPr>
        <p:txBody>
          <a:bodyPr wrap="square">
            <a:spAutoFit/>
          </a:bodyPr>
          <a:lstStyle/>
          <a:p>
            <a:pPr algn="l"/>
            <a:r>
              <a:rPr sz="850" b="1" i="0">
                <a:solidFill>
                  <a:srgbClr val="FFFFFF"/>
                </a:solidFill>
                <a:latin typeface="Calibri"/>
              </a:rPr>
              <a:t>p-value</a:t>
            </a:r>
          </a:p>
        </p:txBody>
      </p:sp>
      <p:sp>
        <p:nvSpPr>
          <p:cNvPr id="12" name="TextBox 11"/>
          <p:cNvSpPr txBox="1"/>
          <p:nvPr/>
        </p:nvSpPr>
        <p:spPr>
          <a:xfrm>
            <a:off x="5715000" y="950976"/>
            <a:ext cx="1188720" cy="246888"/>
          </a:xfrm>
          <a:prstGeom prst="rect">
            <a:avLst/>
          </a:prstGeom>
          <a:noFill/>
        </p:spPr>
        <p:txBody>
          <a:bodyPr wrap="square">
            <a:spAutoFit/>
          </a:bodyPr>
          <a:lstStyle/>
          <a:p>
            <a:pPr algn="l"/>
            <a:r>
              <a:rPr sz="850" b="1" i="0">
                <a:solidFill>
                  <a:srgbClr val="FFFFFF"/>
                </a:solidFill>
                <a:latin typeface="Calibri"/>
              </a:rPr>
              <a:t>CI Lower (95%)</a:t>
            </a:r>
          </a:p>
        </p:txBody>
      </p:sp>
      <p:sp>
        <p:nvSpPr>
          <p:cNvPr id="13" name="TextBox 12"/>
          <p:cNvSpPr txBox="1"/>
          <p:nvPr/>
        </p:nvSpPr>
        <p:spPr>
          <a:xfrm>
            <a:off x="6903720" y="950976"/>
            <a:ext cx="1188720" cy="246888"/>
          </a:xfrm>
          <a:prstGeom prst="rect">
            <a:avLst/>
          </a:prstGeom>
          <a:noFill/>
        </p:spPr>
        <p:txBody>
          <a:bodyPr wrap="square">
            <a:spAutoFit/>
          </a:bodyPr>
          <a:lstStyle/>
          <a:p>
            <a:pPr algn="l"/>
            <a:r>
              <a:rPr sz="850" b="1" i="0">
                <a:solidFill>
                  <a:srgbClr val="FFFFFF"/>
                </a:solidFill>
                <a:latin typeface="Calibri"/>
              </a:rPr>
              <a:t>CI Upper (95%)</a:t>
            </a:r>
          </a:p>
        </p:txBody>
      </p:sp>
      <p:sp>
        <p:nvSpPr>
          <p:cNvPr id="14" name="Rectangle 13"/>
          <p:cNvSpPr/>
          <p:nvPr/>
        </p:nvSpPr>
        <p:spPr>
          <a:xfrm>
            <a:off x="182880" y="1179576"/>
            <a:ext cx="11823192" cy="24688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28600" y="1197864"/>
            <a:ext cx="1645920" cy="246888"/>
          </a:xfrm>
          <a:prstGeom prst="rect">
            <a:avLst/>
          </a:prstGeom>
          <a:noFill/>
        </p:spPr>
        <p:txBody>
          <a:bodyPr wrap="square">
            <a:spAutoFit/>
          </a:bodyPr>
          <a:lstStyle/>
          <a:p>
            <a:pPr algn="l"/>
            <a:r>
              <a:rPr sz="800" b="0" i="0">
                <a:solidFill>
                  <a:srgbClr val="000000"/>
                </a:solidFill>
                <a:latin typeface="Calibri"/>
              </a:rPr>
              <a:t>Constant</a:t>
            </a:r>
          </a:p>
        </p:txBody>
      </p:sp>
      <p:sp>
        <p:nvSpPr>
          <p:cNvPr id="16" name="TextBox 15"/>
          <p:cNvSpPr txBox="1"/>
          <p:nvPr/>
        </p:nvSpPr>
        <p:spPr>
          <a:xfrm>
            <a:off x="1874520" y="1197864"/>
            <a:ext cx="1005840" cy="246888"/>
          </a:xfrm>
          <a:prstGeom prst="rect">
            <a:avLst/>
          </a:prstGeom>
          <a:noFill/>
        </p:spPr>
        <p:txBody>
          <a:bodyPr wrap="square">
            <a:spAutoFit/>
          </a:bodyPr>
          <a:lstStyle/>
          <a:p>
            <a:pPr algn="l"/>
            <a:r>
              <a:rPr sz="800" b="0" i="0">
                <a:solidFill>
                  <a:srgbClr val="000000"/>
                </a:solidFill>
                <a:latin typeface="Calibri"/>
              </a:rPr>
              <a:t>5.2498</a:t>
            </a:r>
          </a:p>
        </p:txBody>
      </p:sp>
      <p:sp>
        <p:nvSpPr>
          <p:cNvPr id="17" name="TextBox 16"/>
          <p:cNvSpPr txBox="1"/>
          <p:nvPr/>
        </p:nvSpPr>
        <p:spPr>
          <a:xfrm>
            <a:off x="2880360" y="1197864"/>
            <a:ext cx="1005840" cy="246888"/>
          </a:xfrm>
          <a:prstGeom prst="rect">
            <a:avLst/>
          </a:prstGeom>
          <a:noFill/>
        </p:spPr>
        <p:txBody>
          <a:bodyPr wrap="square">
            <a:spAutoFit/>
          </a:bodyPr>
          <a:lstStyle/>
          <a:p>
            <a:pPr algn="l"/>
            <a:r>
              <a:rPr sz="800" b="0" i="0">
                <a:solidFill>
                  <a:srgbClr val="000000"/>
                </a:solidFill>
                <a:latin typeface="Calibri"/>
              </a:rPr>
              <a:t>4.1112</a:t>
            </a:r>
          </a:p>
        </p:txBody>
      </p:sp>
      <p:sp>
        <p:nvSpPr>
          <p:cNvPr id="18" name="TextBox 17"/>
          <p:cNvSpPr txBox="1"/>
          <p:nvPr/>
        </p:nvSpPr>
        <p:spPr>
          <a:xfrm>
            <a:off x="3886200" y="1197864"/>
            <a:ext cx="914400" cy="246888"/>
          </a:xfrm>
          <a:prstGeom prst="rect">
            <a:avLst/>
          </a:prstGeom>
          <a:noFill/>
        </p:spPr>
        <p:txBody>
          <a:bodyPr wrap="square">
            <a:spAutoFit/>
          </a:bodyPr>
          <a:lstStyle/>
          <a:p>
            <a:pPr algn="l"/>
            <a:r>
              <a:rPr sz="800" b="0" i="0">
                <a:solidFill>
                  <a:srgbClr val="000000"/>
                </a:solidFill>
                <a:latin typeface="Calibri"/>
              </a:rPr>
              <a:t>1.2769</a:t>
            </a:r>
          </a:p>
        </p:txBody>
      </p:sp>
      <p:sp>
        <p:nvSpPr>
          <p:cNvPr id="19" name="TextBox 18"/>
          <p:cNvSpPr txBox="1"/>
          <p:nvPr/>
        </p:nvSpPr>
        <p:spPr>
          <a:xfrm>
            <a:off x="4800600" y="1197864"/>
            <a:ext cx="914400" cy="246888"/>
          </a:xfrm>
          <a:prstGeom prst="rect">
            <a:avLst/>
          </a:prstGeom>
          <a:noFill/>
        </p:spPr>
        <p:txBody>
          <a:bodyPr wrap="square">
            <a:spAutoFit/>
          </a:bodyPr>
          <a:lstStyle/>
          <a:p>
            <a:pPr algn="l"/>
            <a:r>
              <a:rPr sz="800" b="0" i="0">
                <a:solidFill>
                  <a:srgbClr val="000000"/>
                </a:solidFill>
                <a:latin typeface="Calibri"/>
              </a:rPr>
              <a:t>0.2016</a:t>
            </a:r>
          </a:p>
        </p:txBody>
      </p:sp>
      <p:sp>
        <p:nvSpPr>
          <p:cNvPr id="20" name="TextBox 19"/>
          <p:cNvSpPr txBox="1"/>
          <p:nvPr/>
        </p:nvSpPr>
        <p:spPr>
          <a:xfrm>
            <a:off x="5715000" y="1197864"/>
            <a:ext cx="1188720" cy="246888"/>
          </a:xfrm>
          <a:prstGeom prst="rect">
            <a:avLst/>
          </a:prstGeom>
          <a:noFill/>
        </p:spPr>
        <p:txBody>
          <a:bodyPr wrap="square">
            <a:spAutoFit/>
          </a:bodyPr>
          <a:lstStyle/>
          <a:p>
            <a:pPr algn="l"/>
            <a:r>
              <a:rPr sz="800" b="0" i="0">
                <a:solidFill>
                  <a:srgbClr val="000000"/>
                </a:solidFill>
                <a:latin typeface="Calibri"/>
              </a:rPr>
              <a:t>-2.8081</a:t>
            </a:r>
          </a:p>
        </p:txBody>
      </p:sp>
      <p:sp>
        <p:nvSpPr>
          <p:cNvPr id="21" name="TextBox 20"/>
          <p:cNvSpPr txBox="1"/>
          <p:nvPr/>
        </p:nvSpPr>
        <p:spPr>
          <a:xfrm>
            <a:off x="6903720" y="1197864"/>
            <a:ext cx="1188720" cy="246888"/>
          </a:xfrm>
          <a:prstGeom prst="rect">
            <a:avLst/>
          </a:prstGeom>
          <a:noFill/>
        </p:spPr>
        <p:txBody>
          <a:bodyPr wrap="square">
            <a:spAutoFit/>
          </a:bodyPr>
          <a:lstStyle/>
          <a:p>
            <a:pPr algn="l"/>
            <a:r>
              <a:rPr sz="800" b="0" i="0">
                <a:solidFill>
                  <a:srgbClr val="000000"/>
                </a:solidFill>
                <a:latin typeface="Calibri"/>
              </a:rPr>
              <a:t>13.3077</a:t>
            </a:r>
          </a:p>
        </p:txBody>
      </p:sp>
      <p:sp>
        <p:nvSpPr>
          <p:cNvPr id="22" name="Rectangle 21"/>
          <p:cNvSpPr/>
          <p:nvPr/>
        </p:nvSpPr>
        <p:spPr>
          <a:xfrm>
            <a:off x="182880" y="1426464"/>
            <a:ext cx="11823192" cy="2468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28600" y="1444752"/>
            <a:ext cx="1645920" cy="246888"/>
          </a:xfrm>
          <a:prstGeom prst="rect">
            <a:avLst/>
          </a:prstGeom>
          <a:noFill/>
        </p:spPr>
        <p:txBody>
          <a:bodyPr wrap="square">
            <a:spAutoFit/>
          </a:bodyPr>
          <a:lstStyle/>
          <a:p>
            <a:pPr algn="l"/>
            <a:r>
              <a:rPr sz="800" b="0" i="0">
                <a:solidFill>
                  <a:srgbClr val="000000"/>
                </a:solidFill>
                <a:latin typeface="Calibri"/>
              </a:rPr>
              <a:t>DXY (DTWEXAFEGS)</a:t>
            </a:r>
          </a:p>
        </p:txBody>
      </p:sp>
      <p:sp>
        <p:nvSpPr>
          <p:cNvPr id="24" name="TextBox 23"/>
          <p:cNvSpPr txBox="1"/>
          <p:nvPr/>
        </p:nvSpPr>
        <p:spPr>
          <a:xfrm>
            <a:off x="1874520" y="1444752"/>
            <a:ext cx="1005840" cy="246888"/>
          </a:xfrm>
          <a:prstGeom prst="rect">
            <a:avLst/>
          </a:prstGeom>
          <a:noFill/>
        </p:spPr>
        <p:txBody>
          <a:bodyPr wrap="square">
            <a:spAutoFit/>
          </a:bodyPr>
          <a:lstStyle/>
          <a:p>
            <a:pPr algn="l"/>
            <a:r>
              <a:rPr sz="800" b="0" i="0">
                <a:solidFill>
                  <a:srgbClr val="000000"/>
                </a:solidFill>
                <a:latin typeface="Calibri"/>
              </a:rPr>
              <a:t>-0.0352</a:t>
            </a:r>
          </a:p>
        </p:txBody>
      </p:sp>
      <p:sp>
        <p:nvSpPr>
          <p:cNvPr id="25" name="TextBox 24"/>
          <p:cNvSpPr txBox="1"/>
          <p:nvPr/>
        </p:nvSpPr>
        <p:spPr>
          <a:xfrm>
            <a:off x="2880360" y="1444752"/>
            <a:ext cx="1005840" cy="246888"/>
          </a:xfrm>
          <a:prstGeom prst="rect">
            <a:avLst/>
          </a:prstGeom>
          <a:noFill/>
        </p:spPr>
        <p:txBody>
          <a:bodyPr wrap="square">
            <a:spAutoFit/>
          </a:bodyPr>
          <a:lstStyle/>
          <a:p>
            <a:pPr algn="l"/>
            <a:r>
              <a:rPr sz="800" b="0" i="0">
                <a:solidFill>
                  <a:srgbClr val="000000"/>
                </a:solidFill>
                <a:latin typeface="Calibri"/>
              </a:rPr>
              <a:t>0.0390</a:t>
            </a:r>
          </a:p>
        </p:txBody>
      </p:sp>
      <p:sp>
        <p:nvSpPr>
          <p:cNvPr id="26" name="TextBox 25"/>
          <p:cNvSpPr txBox="1"/>
          <p:nvPr/>
        </p:nvSpPr>
        <p:spPr>
          <a:xfrm>
            <a:off x="3886200" y="1444752"/>
            <a:ext cx="914400" cy="246888"/>
          </a:xfrm>
          <a:prstGeom prst="rect">
            <a:avLst/>
          </a:prstGeom>
          <a:noFill/>
        </p:spPr>
        <p:txBody>
          <a:bodyPr wrap="square">
            <a:spAutoFit/>
          </a:bodyPr>
          <a:lstStyle/>
          <a:p>
            <a:pPr algn="l"/>
            <a:r>
              <a:rPr sz="800" b="0" i="0">
                <a:solidFill>
                  <a:srgbClr val="000000"/>
                </a:solidFill>
                <a:latin typeface="Calibri"/>
              </a:rPr>
              <a:t>-0.9011</a:t>
            </a:r>
          </a:p>
        </p:txBody>
      </p:sp>
      <p:sp>
        <p:nvSpPr>
          <p:cNvPr id="27" name="TextBox 26"/>
          <p:cNvSpPr txBox="1"/>
          <p:nvPr/>
        </p:nvSpPr>
        <p:spPr>
          <a:xfrm>
            <a:off x="4800600" y="1444752"/>
            <a:ext cx="914400" cy="246888"/>
          </a:xfrm>
          <a:prstGeom prst="rect">
            <a:avLst/>
          </a:prstGeom>
          <a:noFill/>
        </p:spPr>
        <p:txBody>
          <a:bodyPr wrap="square">
            <a:spAutoFit/>
          </a:bodyPr>
          <a:lstStyle/>
          <a:p>
            <a:pPr algn="l"/>
            <a:r>
              <a:rPr sz="800" b="0" i="0">
                <a:solidFill>
                  <a:srgbClr val="000000"/>
                </a:solidFill>
                <a:latin typeface="Calibri"/>
              </a:rPr>
              <a:t>0.3675</a:t>
            </a:r>
          </a:p>
        </p:txBody>
      </p:sp>
      <p:sp>
        <p:nvSpPr>
          <p:cNvPr id="28" name="TextBox 27"/>
          <p:cNvSpPr txBox="1"/>
          <p:nvPr/>
        </p:nvSpPr>
        <p:spPr>
          <a:xfrm>
            <a:off x="5715000" y="1444752"/>
            <a:ext cx="1188720" cy="246888"/>
          </a:xfrm>
          <a:prstGeom prst="rect">
            <a:avLst/>
          </a:prstGeom>
          <a:noFill/>
        </p:spPr>
        <p:txBody>
          <a:bodyPr wrap="square">
            <a:spAutoFit/>
          </a:bodyPr>
          <a:lstStyle/>
          <a:p>
            <a:pPr algn="l"/>
            <a:r>
              <a:rPr sz="800" b="0" i="0">
                <a:solidFill>
                  <a:srgbClr val="000000"/>
                </a:solidFill>
                <a:latin typeface="Calibri"/>
              </a:rPr>
              <a:t>-0.1117</a:t>
            </a:r>
          </a:p>
        </p:txBody>
      </p:sp>
      <p:sp>
        <p:nvSpPr>
          <p:cNvPr id="29" name="TextBox 28"/>
          <p:cNvSpPr txBox="1"/>
          <p:nvPr/>
        </p:nvSpPr>
        <p:spPr>
          <a:xfrm>
            <a:off x="6903720" y="1444752"/>
            <a:ext cx="1188720" cy="246888"/>
          </a:xfrm>
          <a:prstGeom prst="rect">
            <a:avLst/>
          </a:prstGeom>
          <a:noFill/>
        </p:spPr>
        <p:txBody>
          <a:bodyPr wrap="square">
            <a:spAutoFit/>
          </a:bodyPr>
          <a:lstStyle/>
          <a:p>
            <a:pPr algn="l"/>
            <a:r>
              <a:rPr sz="800" b="0" i="0">
                <a:solidFill>
                  <a:srgbClr val="000000"/>
                </a:solidFill>
                <a:latin typeface="Calibri"/>
              </a:rPr>
              <a:t>0.0413</a:t>
            </a:r>
          </a:p>
        </p:txBody>
      </p:sp>
      <p:sp>
        <p:nvSpPr>
          <p:cNvPr id="30" name="Rectangle 29"/>
          <p:cNvSpPr/>
          <p:nvPr/>
        </p:nvSpPr>
        <p:spPr>
          <a:xfrm>
            <a:off x="182880" y="1673352"/>
            <a:ext cx="11823192" cy="24688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28600" y="1691640"/>
            <a:ext cx="1645920" cy="246888"/>
          </a:xfrm>
          <a:prstGeom prst="rect">
            <a:avLst/>
          </a:prstGeom>
          <a:noFill/>
        </p:spPr>
        <p:txBody>
          <a:bodyPr wrap="square">
            <a:spAutoFit/>
          </a:bodyPr>
          <a:lstStyle/>
          <a:p>
            <a:pPr algn="l"/>
            <a:r>
              <a:rPr sz="800" b="0" i="0">
                <a:solidFill>
                  <a:srgbClr val="000000"/>
                </a:solidFill>
                <a:latin typeface="Calibri"/>
              </a:rPr>
              <a:t>INDPRO YoY</a:t>
            </a:r>
          </a:p>
        </p:txBody>
      </p:sp>
      <p:sp>
        <p:nvSpPr>
          <p:cNvPr id="32" name="TextBox 31"/>
          <p:cNvSpPr txBox="1"/>
          <p:nvPr/>
        </p:nvSpPr>
        <p:spPr>
          <a:xfrm>
            <a:off x="1874520" y="1691640"/>
            <a:ext cx="1005840" cy="246888"/>
          </a:xfrm>
          <a:prstGeom prst="rect">
            <a:avLst/>
          </a:prstGeom>
          <a:noFill/>
        </p:spPr>
        <p:txBody>
          <a:bodyPr wrap="square">
            <a:spAutoFit/>
          </a:bodyPr>
          <a:lstStyle/>
          <a:p>
            <a:pPr algn="l"/>
            <a:r>
              <a:rPr sz="800" b="0" i="0">
                <a:solidFill>
                  <a:srgbClr val="000000"/>
                </a:solidFill>
                <a:latin typeface="Calibri"/>
              </a:rPr>
              <a:t>0.7435</a:t>
            </a:r>
          </a:p>
        </p:txBody>
      </p:sp>
      <p:sp>
        <p:nvSpPr>
          <p:cNvPr id="33" name="TextBox 32"/>
          <p:cNvSpPr txBox="1"/>
          <p:nvPr/>
        </p:nvSpPr>
        <p:spPr>
          <a:xfrm>
            <a:off x="2880360" y="1691640"/>
            <a:ext cx="1005840" cy="246888"/>
          </a:xfrm>
          <a:prstGeom prst="rect">
            <a:avLst/>
          </a:prstGeom>
          <a:noFill/>
        </p:spPr>
        <p:txBody>
          <a:bodyPr wrap="square">
            <a:spAutoFit/>
          </a:bodyPr>
          <a:lstStyle/>
          <a:p>
            <a:pPr algn="l"/>
            <a:r>
              <a:rPr sz="800" b="0" i="0">
                <a:solidFill>
                  <a:srgbClr val="000000"/>
                </a:solidFill>
                <a:latin typeface="Calibri"/>
              </a:rPr>
              <a:t>0.1711</a:t>
            </a:r>
          </a:p>
        </p:txBody>
      </p:sp>
      <p:sp>
        <p:nvSpPr>
          <p:cNvPr id="34" name="TextBox 33"/>
          <p:cNvSpPr txBox="1"/>
          <p:nvPr/>
        </p:nvSpPr>
        <p:spPr>
          <a:xfrm>
            <a:off x="3886200" y="1691640"/>
            <a:ext cx="914400" cy="246888"/>
          </a:xfrm>
          <a:prstGeom prst="rect">
            <a:avLst/>
          </a:prstGeom>
          <a:noFill/>
        </p:spPr>
        <p:txBody>
          <a:bodyPr wrap="square">
            <a:spAutoFit/>
          </a:bodyPr>
          <a:lstStyle/>
          <a:p>
            <a:pPr algn="l"/>
            <a:r>
              <a:rPr sz="800" b="0" i="0">
                <a:solidFill>
                  <a:srgbClr val="000000"/>
                </a:solidFill>
                <a:latin typeface="Calibri"/>
              </a:rPr>
              <a:t>4.3446</a:t>
            </a:r>
          </a:p>
        </p:txBody>
      </p:sp>
      <p:sp>
        <p:nvSpPr>
          <p:cNvPr id="35" name="TextBox 34"/>
          <p:cNvSpPr txBox="1"/>
          <p:nvPr/>
        </p:nvSpPr>
        <p:spPr>
          <a:xfrm>
            <a:off x="4800600" y="1691640"/>
            <a:ext cx="914400" cy="246888"/>
          </a:xfrm>
          <a:prstGeom prst="rect">
            <a:avLst/>
          </a:prstGeom>
          <a:noFill/>
        </p:spPr>
        <p:txBody>
          <a:bodyPr wrap="square">
            <a:spAutoFit/>
          </a:bodyPr>
          <a:lstStyle/>
          <a:p>
            <a:pPr algn="l"/>
            <a:r>
              <a:rPr sz="800" b="0" i="0">
                <a:solidFill>
                  <a:srgbClr val="000000"/>
                </a:solidFill>
                <a:latin typeface="Calibri"/>
              </a:rPr>
              <a:t>0.00e+00</a:t>
            </a:r>
          </a:p>
        </p:txBody>
      </p:sp>
      <p:sp>
        <p:nvSpPr>
          <p:cNvPr id="36" name="TextBox 35"/>
          <p:cNvSpPr txBox="1"/>
          <p:nvPr/>
        </p:nvSpPr>
        <p:spPr>
          <a:xfrm>
            <a:off x="5715000" y="1691640"/>
            <a:ext cx="1188720" cy="246888"/>
          </a:xfrm>
          <a:prstGeom prst="rect">
            <a:avLst/>
          </a:prstGeom>
          <a:noFill/>
        </p:spPr>
        <p:txBody>
          <a:bodyPr wrap="square">
            <a:spAutoFit/>
          </a:bodyPr>
          <a:lstStyle/>
          <a:p>
            <a:pPr algn="l"/>
            <a:r>
              <a:rPr sz="800" b="0" i="0">
                <a:solidFill>
                  <a:srgbClr val="000000"/>
                </a:solidFill>
                <a:latin typeface="Calibri"/>
              </a:rPr>
              <a:t>0.4081</a:t>
            </a:r>
          </a:p>
        </p:txBody>
      </p:sp>
      <p:sp>
        <p:nvSpPr>
          <p:cNvPr id="37" name="TextBox 36"/>
          <p:cNvSpPr txBox="1"/>
          <p:nvPr/>
        </p:nvSpPr>
        <p:spPr>
          <a:xfrm>
            <a:off x="6903720" y="1691640"/>
            <a:ext cx="1188720" cy="246888"/>
          </a:xfrm>
          <a:prstGeom prst="rect">
            <a:avLst/>
          </a:prstGeom>
          <a:noFill/>
        </p:spPr>
        <p:txBody>
          <a:bodyPr wrap="square">
            <a:spAutoFit/>
          </a:bodyPr>
          <a:lstStyle/>
          <a:p>
            <a:pPr algn="l"/>
            <a:r>
              <a:rPr sz="800" b="0" i="0">
                <a:solidFill>
                  <a:srgbClr val="000000"/>
                </a:solidFill>
                <a:latin typeface="Calibri"/>
              </a:rPr>
              <a:t>1.0790</a:t>
            </a:r>
          </a:p>
        </p:txBody>
      </p:sp>
      <p:sp>
        <p:nvSpPr>
          <p:cNvPr id="38" name="Rectangle 37"/>
          <p:cNvSpPr/>
          <p:nvPr/>
        </p:nvSpPr>
        <p:spPr>
          <a:xfrm>
            <a:off x="182880" y="1920240"/>
            <a:ext cx="11823192" cy="2468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228600" y="1938528"/>
            <a:ext cx="1645920" cy="246888"/>
          </a:xfrm>
          <a:prstGeom prst="rect">
            <a:avLst/>
          </a:prstGeom>
          <a:noFill/>
        </p:spPr>
        <p:txBody>
          <a:bodyPr wrap="square">
            <a:spAutoFit/>
          </a:bodyPr>
          <a:lstStyle/>
          <a:p>
            <a:pPr algn="l"/>
            <a:r>
              <a:rPr sz="800" b="0" i="0">
                <a:solidFill>
                  <a:srgbClr val="000000"/>
                </a:solidFill>
                <a:latin typeface="Calibri"/>
              </a:rPr>
              <a:t>Oil YoY (WTI)</a:t>
            </a:r>
          </a:p>
        </p:txBody>
      </p:sp>
      <p:sp>
        <p:nvSpPr>
          <p:cNvPr id="40" name="TextBox 39"/>
          <p:cNvSpPr txBox="1"/>
          <p:nvPr/>
        </p:nvSpPr>
        <p:spPr>
          <a:xfrm>
            <a:off x="1874520" y="1938528"/>
            <a:ext cx="1005840" cy="246888"/>
          </a:xfrm>
          <a:prstGeom prst="rect">
            <a:avLst/>
          </a:prstGeom>
          <a:noFill/>
        </p:spPr>
        <p:txBody>
          <a:bodyPr wrap="square">
            <a:spAutoFit/>
          </a:bodyPr>
          <a:lstStyle/>
          <a:p>
            <a:pPr algn="l"/>
            <a:r>
              <a:rPr sz="800" b="0" i="0">
                <a:solidFill>
                  <a:srgbClr val="000000"/>
                </a:solidFill>
                <a:latin typeface="Calibri"/>
              </a:rPr>
              <a:t>0.0463</a:t>
            </a:r>
          </a:p>
        </p:txBody>
      </p:sp>
      <p:sp>
        <p:nvSpPr>
          <p:cNvPr id="41" name="TextBox 40"/>
          <p:cNvSpPr txBox="1"/>
          <p:nvPr/>
        </p:nvSpPr>
        <p:spPr>
          <a:xfrm>
            <a:off x="2880360" y="1938528"/>
            <a:ext cx="1005840" cy="246888"/>
          </a:xfrm>
          <a:prstGeom prst="rect">
            <a:avLst/>
          </a:prstGeom>
          <a:noFill/>
        </p:spPr>
        <p:txBody>
          <a:bodyPr wrap="square">
            <a:spAutoFit/>
          </a:bodyPr>
          <a:lstStyle/>
          <a:p>
            <a:pPr algn="l"/>
            <a:r>
              <a:rPr sz="800" b="0" i="0">
                <a:solidFill>
                  <a:srgbClr val="000000"/>
                </a:solidFill>
                <a:latin typeface="Calibri"/>
              </a:rPr>
              <a:t>0.0111</a:t>
            </a:r>
          </a:p>
        </p:txBody>
      </p:sp>
      <p:sp>
        <p:nvSpPr>
          <p:cNvPr id="42" name="TextBox 41"/>
          <p:cNvSpPr txBox="1"/>
          <p:nvPr/>
        </p:nvSpPr>
        <p:spPr>
          <a:xfrm>
            <a:off x="3886200" y="1938528"/>
            <a:ext cx="914400" cy="246888"/>
          </a:xfrm>
          <a:prstGeom prst="rect">
            <a:avLst/>
          </a:prstGeom>
          <a:noFill/>
        </p:spPr>
        <p:txBody>
          <a:bodyPr wrap="square">
            <a:spAutoFit/>
          </a:bodyPr>
          <a:lstStyle/>
          <a:p>
            <a:pPr algn="l"/>
            <a:r>
              <a:rPr sz="800" b="0" i="0">
                <a:solidFill>
                  <a:srgbClr val="000000"/>
                </a:solidFill>
                <a:latin typeface="Calibri"/>
              </a:rPr>
              <a:t>4.1637</a:t>
            </a:r>
          </a:p>
        </p:txBody>
      </p:sp>
      <p:sp>
        <p:nvSpPr>
          <p:cNvPr id="43" name="TextBox 42"/>
          <p:cNvSpPr txBox="1"/>
          <p:nvPr/>
        </p:nvSpPr>
        <p:spPr>
          <a:xfrm>
            <a:off x="4800600" y="1938528"/>
            <a:ext cx="914400" cy="246888"/>
          </a:xfrm>
          <a:prstGeom prst="rect">
            <a:avLst/>
          </a:prstGeom>
          <a:noFill/>
        </p:spPr>
        <p:txBody>
          <a:bodyPr wrap="square">
            <a:spAutoFit/>
          </a:bodyPr>
          <a:lstStyle/>
          <a:p>
            <a:pPr algn="l"/>
            <a:r>
              <a:rPr sz="800" b="0" i="0">
                <a:solidFill>
                  <a:srgbClr val="000000"/>
                </a:solidFill>
                <a:latin typeface="Calibri"/>
              </a:rPr>
              <a:t>0.00e+00</a:t>
            </a:r>
          </a:p>
        </p:txBody>
      </p:sp>
      <p:sp>
        <p:nvSpPr>
          <p:cNvPr id="44" name="TextBox 43"/>
          <p:cNvSpPr txBox="1"/>
          <p:nvPr/>
        </p:nvSpPr>
        <p:spPr>
          <a:xfrm>
            <a:off x="5715000" y="1938528"/>
            <a:ext cx="1188720" cy="246888"/>
          </a:xfrm>
          <a:prstGeom prst="rect">
            <a:avLst/>
          </a:prstGeom>
          <a:noFill/>
        </p:spPr>
        <p:txBody>
          <a:bodyPr wrap="square">
            <a:spAutoFit/>
          </a:bodyPr>
          <a:lstStyle/>
          <a:p>
            <a:pPr algn="l"/>
            <a:r>
              <a:rPr sz="800" b="0" i="0">
                <a:solidFill>
                  <a:srgbClr val="000000"/>
                </a:solidFill>
                <a:latin typeface="Calibri"/>
              </a:rPr>
              <a:t>0.0245</a:t>
            </a:r>
          </a:p>
        </p:txBody>
      </p:sp>
      <p:sp>
        <p:nvSpPr>
          <p:cNvPr id="45" name="TextBox 44"/>
          <p:cNvSpPr txBox="1"/>
          <p:nvPr/>
        </p:nvSpPr>
        <p:spPr>
          <a:xfrm>
            <a:off x="6903720" y="1938528"/>
            <a:ext cx="1188720" cy="246888"/>
          </a:xfrm>
          <a:prstGeom prst="rect">
            <a:avLst/>
          </a:prstGeom>
          <a:noFill/>
        </p:spPr>
        <p:txBody>
          <a:bodyPr wrap="square">
            <a:spAutoFit/>
          </a:bodyPr>
          <a:lstStyle/>
          <a:p>
            <a:pPr algn="l"/>
            <a:r>
              <a:rPr sz="800" b="0" i="0">
                <a:solidFill>
                  <a:srgbClr val="000000"/>
                </a:solidFill>
                <a:latin typeface="Calibri"/>
              </a:rPr>
              <a:t>0.0681</a:t>
            </a:r>
          </a:p>
        </p:txBody>
      </p:sp>
      <p:sp>
        <p:nvSpPr>
          <p:cNvPr id="46" name="Rectangle 45"/>
          <p:cNvSpPr/>
          <p:nvPr/>
        </p:nvSpPr>
        <p:spPr>
          <a:xfrm>
            <a:off x="182880" y="2167128"/>
            <a:ext cx="11823192" cy="24688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28600" y="2185416"/>
            <a:ext cx="1645920" cy="246888"/>
          </a:xfrm>
          <a:prstGeom prst="rect">
            <a:avLst/>
          </a:prstGeom>
          <a:noFill/>
        </p:spPr>
        <p:txBody>
          <a:bodyPr wrap="square">
            <a:spAutoFit/>
          </a:bodyPr>
          <a:lstStyle/>
          <a:p>
            <a:pPr algn="l"/>
            <a:r>
              <a:rPr sz="800" b="0" i="0">
                <a:solidFill>
                  <a:srgbClr val="000000"/>
                </a:solidFill>
                <a:latin typeface="Calibri"/>
              </a:rPr>
              <a:t>Exports (Lag 1)</a:t>
            </a:r>
          </a:p>
        </p:txBody>
      </p:sp>
      <p:sp>
        <p:nvSpPr>
          <p:cNvPr id="48" name="TextBox 47"/>
          <p:cNvSpPr txBox="1"/>
          <p:nvPr/>
        </p:nvSpPr>
        <p:spPr>
          <a:xfrm>
            <a:off x="1874520" y="2185416"/>
            <a:ext cx="1005840" cy="246888"/>
          </a:xfrm>
          <a:prstGeom prst="rect">
            <a:avLst/>
          </a:prstGeom>
          <a:noFill/>
        </p:spPr>
        <p:txBody>
          <a:bodyPr wrap="square">
            <a:spAutoFit/>
          </a:bodyPr>
          <a:lstStyle/>
          <a:p>
            <a:pPr algn="l"/>
            <a:r>
              <a:rPr sz="800" b="0" i="0">
                <a:solidFill>
                  <a:srgbClr val="000000"/>
                </a:solidFill>
                <a:latin typeface="Calibri"/>
              </a:rPr>
              <a:t>0.3026</a:t>
            </a:r>
          </a:p>
        </p:txBody>
      </p:sp>
      <p:sp>
        <p:nvSpPr>
          <p:cNvPr id="49" name="TextBox 48"/>
          <p:cNvSpPr txBox="1"/>
          <p:nvPr/>
        </p:nvSpPr>
        <p:spPr>
          <a:xfrm>
            <a:off x="2880360" y="2185416"/>
            <a:ext cx="1005840" cy="246888"/>
          </a:xfrm>
          <a:prstGeom prst="rect">
            <a:avLst/>
          </a:prstGeom>
          <a:noFill/>
        </p:spPr>
        <p:txBody>
          <a:bodyPr wrap="square">
            <a:spAutoFit/>
          </a:bodyPr>
          <a:lstStyle/>
          <a:p>
            <a:pPr algn="l"/>
            <a:r>
              <a:rPr sz="800" b="0" i="0">
                <a:solidFill>
                  <a:srgbClr val="000000"/>
                </a:solidFill>
                <a:latin typeface="Calibri"/>
              </a:rPr>
              <a:t>0.0722</a:t>
            </a:r>
          </a:p>
        </p:txBody>
      </p:sp>
      <p:sp>
        <p:nvSpPr>
          <p:cNvPr id="50" name="TextBox 49"/>
          <p:cNvSpPr txBox="1"/>
          <p:nvPr/>
        </p:nvSpPr>
        <p:spPr>
          <a:xfrm>
            <a:off x="3886200" y="2185416"/>
            <a:ext cx="914400" cy="246888"/>
          </a:xfrm>
          <a:prstGeom prst="rect">
            <a:avLst/>
          </a:prstGeom>
          <a:noFill/>
        </p:spPr>
        <p:txBody>
          <a:bodyPr wrap="square">
            <a:spAutoFit/>
          </a:bodyPr>
          <a:lstStyle/>
          <a:p>
            <a:pPr algn="l"/>
            <a:r>
              <a:rPr sz="800" b="0" i="0">
                <a:solidFill>
                  <a:srgbClr val="000000"/>
                </a:solidFill>
                <a:latin typeface="Calibri"/>
              </a:rPr>
              <a:t>4.1899</a:t>
            </a:r>
          </a:p>
        </p:txBody>
      </p:sp>
      <p:sp>
        <p:nvSpPr>
          <p:cNvPr id="51" name="TextBox 50"/>
          <p:cNvSpPr txBox="1"/>
          <p:nvPr/>
        </p:nvSpPr>
        <p:spPr>
          <a:xfrm>
            <a:off x="4800600" y="2185416"/>
            <a:ext cx="914400" cy="246888"/>
          </a:xfrm>
          <a:prstGeom prst="rect">
            <a:avLst/>
          </a:prstGeom>
          <a:noFill/>
        </p:spPr>
        <p:txBody>
          <a:bodyPr wrap="square">
            <a:spAutoFit/>
          </a:bodyPr>
          <a:lstStyle/>
          <a:p>
            <a:pPr algn="l"/>
            <a:r>
              <a:rPr sz="800" b="0" i="0">
                <a:solidFill>
                  <a:srgbClr val="000000"/>
                </a:solidFill>
                <a:latin typeface="Calibri"/>
              </a:rPr>
              <a:t>0.00e+00</a:t>
            </a:r>
          </a:p>
        </p:txBody>
      </p:sp>
      <p:sp>
        <p:nvSpPr>
          <p:cNvPr id="52" name="TextBox 51"/>
          <p:cNvSpPr txBox="1"/>
          <p:nvPr/>
        </p:nvSpPr>
        <p:spPr>
          <a:xfrm>
            <a:off x="5715000" y="2185416"/>
            <a:ext cx="1188720" cy="246888"/>
          </a:xfrm>
          <a:prstGeom prst="rect">
            <a:avLst/>
          </a:prstGeom>
          <a:noFill/>
        </p:spPr>
        <p:txBody>
          <a:bodyPr wrap="square">
            <a:spAutoFit/>
          </a:bodyPr>
          <a:lstStyle/>
          <a:p>
            <a:pPr algn="l"/>
            <a:r>
              <a:rPr sz="800" b="0" i="0">
                <a:solidFill>
                  <a:srgbClr val="000000"/>
                </a:solidFill>
                <a:latin typeface="Calibri"/>
              </a:rPr>
              <a:t>0.1610</a:t>
            </a:r>
          </a:p>
        </p:txBody>
      </p:sp>
      <p:sp>
        <p:nvSpPr>
          <p:cNvPr id="53" name="TextBox 52"/>
          <p:cNvSpPr txBox="1"/>
          <p:nvPr/>
        </p:nvSpPr>
        <p:spPr>
          <a:xfrm>
            <a:off x="6903720" y="2185416"/>
            <a:ext cx="1188720" cy="246888"/>
          </a:xfrm>
          <a:prstGeom prst="rect">
            <a:avLst/>
          </a:prstGeom>
          <a:noFill/>
        </p:spPr>
        <p:txBody>
          <a:bodyPr wrap="square">
            <a:spAutoFit/>
          </a:bodyPr>
          <a:lstStyle/>
          <a:p>
            <a:pPr algn="l"/>
            <a:r>
              <a:rPr sz="800" b="0" i="0">
                <a:solidFill>
                  <a:srgbClr val="000000"/>
                </a:solidFill>
                <a:latin typeface="Calibri"/>
              </a:rPr>
              <a:t>0.4441</a:t>
            </a:r>
          </a:p>
        </p:txBody>
      </p:sp>
      <p:sp>
        <p:nvSpPr>
          <p:cNvPr id="54" name="TextBox 53"/>
          <p:cNvSpPr txBox="1"/>
          <p:nvPr/>
        </p:nvSpPr>
        <p:spPr>
          <a:xfrm>
            <a:off x="182880" y="2551176"/>
            <a:ext cx="11823192" cy="4215384"/>
          </a:xfrm>
          <a:prstGeom prst="rect">
            <a:avLst/>
          </a:prstGeom>
          <a:noFill/>
        </p:spPr>
        <p:txBody>
          <a:bodyPr wrap="square">
            <a:spAutoFit/>
          </a:bodyPr>
          <a:lstStyle/>
          <a:p>
            <a:pPr algn="just">
              <a:spcBef>
                <a:spcPts val="500"/>
              </a:spcBef>
            </a:pPr>
            <a:r>
              <a:rPr sz="900" b="0">
                <a:solidFill>
                  <a:srgbClr val="333333"/>
                </a:solidFill>
                <a:latin typeface="Calibri"/>
              </a:rPr>
              <a:t>R² = 0.836   |   Adj. R² = 0.827   |   F-stat = 34.13 (p = 3.96×10⁻¹⁶)   |   DW = 1.189 (positive autocorrelation, HAC-corrected)   |   Skew = −0.687   |   Kurtosis = 5.007</a:t>
            </a:r>
          </a:p>
          <a:p>
            <a:pPr algn="just">
              <a:spcBef>
                <a:spcPts val="500"/>
              </a:spcBef>
            </a:pPr>
            <a:r>
              <a:rPr sz="900" b="0">
                <a:solidFill>
                  <a:srgbClr val="333333"/>
                </a:solidFill>
                <a:latin typeface="Calibri"/>
              </a:rPr>
              <a:t>Note: INDPRO and Oil are significant at the 0.1% level. DXY is negative but statistically insignificant — consistent with exchange rate pass-through lags of 4–8 quarters.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02920"/>
          </a:xfrm>
          <a:prstGeom prst="rect">
            <a:avLst/>
          </a:prstGeom>
          <a:solidFill>
            <a:srgbClr val="6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2880" y="45720"/>
            <a:ext cx="11823192" cy="502920"/>
          </a:xfrm>
          <a:prstGeom prst="rect">
            <a:avLst/>
          </a:prstGeom>
          <a:noFill/>
        </p:spPr>
        <p:txBody>
          <a:bodyPr wrap="square">
            <a:spAutoFit/>
          </a:bodyPr>
          <a:lstStyle/>
          <a:p>
            <a:pPr algn="l"/>
            <a:r>
              <a:rPr sz="1800" b="1" i="0">
                <a:solidFill>
                  <a:srgbClr val="FFFFFF"/>
                </a:solidFill>
                <a:latin typeface="Calibri"/>
              </a:rPr>
              <a:t>MODEL 1: US EXPORT GROWTH</a:t>
            </a:r>
          </a:p>
        </p:txBody>
      </p:sp>
      <p:sp>
        <p:nvSpPr>
          <p:cNvPr id="4" name="Rectangle 3"/>
          <p:cNvSpPr/>
          <p:nvPr/>
        </p:nvSpPr>
        <p:spPr>
          <a:xfrm>
            <a:off x="0" y="502920"/>
            <a:ext cx="12188952" cy="274320"/>
          </a:xfrm>
          <a:prstGeom prst="rect">
            <a:avLst/>
          </a:prstGeom>
          <a:solidFill>
            <a:srgbClr val="A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82880" y="530352"/>
            <a:ext cx="11823192" cy="274320"/>
          </a:xfrm>
          <a:prstGeom prst="rect">
            <a:avLst/>
          </a:prstGeom>
          <a:noFill/>
        </p:spPr>
        <p:txBody>
          <a:bodyPr wrap="square">
            <a:spAutoFit/>
          </a:bodyPr>
          <a:lstStyle/>
          <a:p>
            <a:pPr algn="l"/>
            <a:r>
              <a:rPr sz="1100" b="0" i="1">
                <a:solidFill>
                  <a:srgbClr val="FFFFFF"/>
                </a:solidFill>
                <a:latin typeface="Calibri"/>
              </a:rPr>
              <a:t>Coefficient Analysis — Industrial Production &amp; Oil</a:t>
            </a:r>
          </a:p>
        </p:txBody>
      </p:sp>
      <p:sp>
        <p:nvSpPr>
          <p:cNvPr id="6" name="TextBox 5"/>
          <p:cNvSpPr txBox="1"/>
          <p:nvPr/>
        </p:nvSpPr>
        <p:spPr>
          <a:xfrm>
            <a:off x="6931152" y="886968"/>
            <a:ext cx="5029200" cy="228600"/>
          </a:xfrm>
          <a:prstGeom prst="rect">
            <a:avLst/>
          </a:prstGeom>
          <a:noFill/>
        </p:spPr>
        <p:txBody>
          <a:bodyPr wrap="square">
            <a:spAutoFit/>
          </a:bodyPr>
          <a:lstStyle/>
          <a:p>
            <a:pPr algn="l"/>
            <a:r>
              <a:rPr sz="900" b="1" i="0">
                <a:solidFill>
                  <a:srgbClr val="000000"/>
                </a:solidFill>
                <a:latin typeface="Calibri"/>
              </a:rPr>
              <a:t>Exhibit 7</a:t>
            </a:r>
          </a:p>
        </p:txBody>
      </p:sp>
      <p:pic>
        <p:nvPicPr>
          <p:cNvPr id="7" name="Picture 6" descr="table_model1_exports.png"/>
          <p:cNvPicPr>
            <a:picLocks noChangeAspect="1"/>
          </p:cNvPicPr>
          <p:nvPr/>
        </p:nvPicPr>
        <p:blipFill>
          <a:blip r:embed="rId2"/>
          <a:stretch>
            <a:fillRect/>
          </a:stretch>
        </p:blipFill>
        <p:spPr>
          <a:xfrm>
            <a:off x="6931152" y="1115568"/>
            <a:ext cx="5029200" cy="4892040"/>
          </a:xfrm>
          <a:prstGeom prst="rect">
            <a:avLst/>
          </a:prstGeom>
        </p:spPr>
      </p:pic>
      <p:sp>
        <p:nvSpPr>
          <p:cNvPr id="8" name="TextBox 7"/>
          <p:cNvSpPr txBox="1"/>
          <p:nvPr/>
        </p:nvSpPr>
        <p:spPr>
          <a:xfrm>
            <a:off x="182880" y="886968"/>
            <a:ext cx="6565392" cy="5879592"/>
          </a:xfrm>
          <a:prstGeom prst="rect">
            <a:avLst/>
          </a:prstGeom>
          <a:noFill/>
        </p:spPr>
        <p:txBody>
          <a:bodyPr wrap="square">
            <a:spAutoFit/>
          </a:bodyPr>
          <a:lstStyle/>
          <a:p>
            <a:pPr algn="just">
              <a:spcBef>
                <a:spcPts val="400"/>
              </a:spcBef>
            </a:pPr>
            <a:r>
              <a:rPr sz="950">
                <a:solidFill>
                  <a:srgbClr val="000000"/>
                </a:solidFill>
                <a:latin typeface="Calibri"/>
              </a:rPr>
              <a:t>INDPRO YoY (coeff. = 0.744, 95% CI: [+0.408, +1.079]):</a:t>
            </a:r>
          </a:p>
          <a:p>
            <a:pPr algn="just">
              <a:spcBef>
                <a:spcPts val="400"/>
              </a:spcBef>
            </a:pPr>
            <a:r>
              <a:rPr sz="950">
                <a:solidFill>
                  <a:srgbClr val="000000"/>
                </a:solidFill>
                <a:latin typeface="Calibri"/>
              </a:rPr>
              <a:t>The most statistically significant variable in this model. A 1% increase in US Industrial Production reflects a 0.744 percentage point acceleration in the real export market, holding everything else constant. The economic mechanism is direct: industrial production captures the supply-side capacity of the US economy to produce goods for export. When factories run at higher utilization levels, manufacturing output available for foreign buyers expands. This relationship reinforces that global growth drives export demand, as US Industrial Production responds strongly to both domestic capacity expansion and global demand signals.</a:t>
            </a:r>
          </a:p>
          <a:p>
            <a:pPr algn="just">
              <a:spcBef>
                <a:spcPts val="400"/>
              </a:spcBef>
            </a:pPr>
            <a:r>
              <a:rPr sz="950">
                <a:solidFill>
                  <a:srgbClr val="000000"/>
                </a:solidFill>
                <a:latin typeface="Calibri"/>
              </a:rPr>
              <a:t>Oil YoY (coeff. = 0.046, 95% CI: [+0.025, +0.068]):</a:t>
            </a:r>
          </a:p>
          <a:p>
            <a:pPr algn="just">
              <a:spcBef>
                <a:spcPts val="400"/>
              </a:spcBef>
            </a:pPr>
            <a:r>
              <a:rPr sz="950">
                <a:solidFill>
                  <a:srgbClr val="000000"/>
                </a:solidFill>
                <a:latin typeface="Calibri"/>
              </a:rPr>
              <a:t>The positive and significant coefficient on oil prices reflects two mechanisms. First, the United States is a major exporter of petroleum and petroleum products — when oil prices rise, the nominal and real value of energy exports increases. Second, oil prices serve as a global barometric indicator: rising oil prices typically signal expanding global industrial demand, which pulls US manufactured goods exports higher.</a:t>
            </a:r>
          </a:p>
          <a:p>
            <a:pPr algn="just">
              <a:spcBef>
                <a:spcPts val="400"/>
              </a:spcBef>
            </a:pPr>
            <a:r>
              <a:rPr sz="950">
                <a:solidFill>
                  <a:srgbClr val="000000"/>
                </a:solidFill>
                <a:latin typeface="Calibri"/>
              </a:rPr>
              <a:t>However, oil price volatility compounds risk. In the 2020 global recession, oil prices fell 56% YoY, contributing a −2.6 pp drag on export growth. In 2021–2022, oil surged over 90% YoY, adding nearly 4 pp to export growth.</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02920"/>
          </a:xfrm>
          <a:prstGeom prst="rect">
            <a:avLst/>
          </a:prstGeom>
          <a:solidFill>
            <a:srgbClr val="6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2880" y="45720"/>
            <a:ext cx="11823192" cy="502920"/>
          </a:xfrm>
          <a:prstGeom prst="rect">
            <a:avLst/>
          </a:prstGeom>
          <a:noFill/>
        </p:spPr>
        <p:txBody>
          <a:bodyPr wrap="square">
            <a:spAutoFit/>
          </a:bodyPr>
          <a:lstStyle/>
          <a:p>
            <a:pPr algn="l"/>
            <a:r>
              <a:rPr sz="1800" b="1" i="0">
                <a:solidFill>
                  <a:srgbClr val="FFFFFF"/>
                </a:solidFill>
                <a:latin typeface="Calibri"/>
              </a:rPr>
              <a:t>MODEL 1: US EXPORT GROWTH</a:t>
            </a:r>
          </a:p>
        </p:txBody>
      </p:sp>
      <p:sp>
        <p:nvSpPr>
          <p:cNvPr id="4" name="Rectangle 3"/>
          <p:cNvSpPr/>
          <p:nvPr/>
        </p:nvSpPr>
        <p:spPr>
          <a:xfrm>
            <a:off x="0" y="502920"/>
            <a:ext cx="12188952" cy="274320"/>
          </a:xfrm>
          <a:prstGeom prst="rect">
            <a:avLst/>
          </a:prstGeom>
          <a:solidFill>
            <a:srgbClr val="A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82880" y="530352"/>
            <a:ext cx="11823192" cy="274320"/>
          </a:xfrm>
          <a:prstGeom prst="rect">
            <a:avLst/>
          </a:prstGeom>
          <a:noFill/>
        </p:spPr>
        <p:txBody>
          <a:bodyPr wrap="square">
            <a:spAutoFit/>
          </a:bodyPr>
          <a:lstStyle/>
          <a:p>
            <a:pPr algn="l"/>
            <a:r>
              <a:rPr sz="1100" b="0" i="1">
                <a:solidFill>
                  <a:srgbClr val="FFFFFF"/>
                </a:solidFill>
                <a:latin typeface="Calibri"/>
              </a:rPr>
              <a:t>Coefficient Analysis — Lagged Exports, DXY &amp; Diagnostics</a:t>
            </a:r>
          </a:p>
        </p:txBody>
      </p:sp>
      <p:sp>
        <p:nvSpPr>
          <p:cNvPr id="6" name="TextBox 5"/>
          <p:cNvSpPr txBox="1"/>
          <p:nvPr/>
        </p:nvSpPr>
        <p:spPr>
          <a:xfrm>
            <a:off x="182880" y="886968"/>
            <a:ext cx="11823192" cy="5879592"/>
          </a:xfrm>
          <a:prstGeom prst="rect">
            <a:avLst/>
          </a:prstGeom>
          <a:noFill/>
        </p:spPr>
        <p:txBody>
          <a:bodyPr wrap="square">
            <a:spAutoFit/>
          </a:bodyPr>
          <a:lstStyle/>
          <a:p>
            <a:pPr algn="just">
              <a:spcBef>
                <a:spcPts val="500"/>
              </a:spcBef>
            </a:pPr>
            <a:r>
              <a:rPr sz="980" b="0">
                <a:solidFill>
                  <a:srgbClr val="000000"/>
                </a:solidFill>
                <a:latin typeface="Calibri"/>
              </a:rPr>
              <a:t>Lagged Exports (coeff. = 0.303, 95% CI: [+0.161, +0.444]):</a:t>
            </a:r>
          </a:p>
          <a:p>
            <a:pPr algn="just">
              <a:spcBef>
                <a:spcPts val="500"/>
              </a:spcBef>
            </a:pPr>
            <a:r>
              <a:rPr sz="980" b="0">
                <a:solidFill>
                  <a:srgbClr val="000000"/>
                </a:solidFill>
                <a:latin typeface="Calibri"/>
              </a:rPr>
              <a:t>This coefficient captures the persistence in trade flows. Trade contracts are typically negotiated 3–6 months in advance, exporters maintain established supply relationships, and shipping logistics create momentum in trade patterns. A 1 pp above-trend export growth rate this quarter carries forward approximately 0.30 pp into the next quarter, all else equal. The persistence also absorbs serial autocorrelation and controls for omitted persistent factors like long-run competitiveness trends.</a:t>
            </a:r>
          </a:p>
          <a:p>
            <a:pPr algn="just">
              <a:spcBef>
                <a:spcPts val="500"/>
              </a:spcBef>
            </a:pPr>
            <a:r>
              <a:rPr sz="980" b="0">
                <a:solidFill>
                  <a:srgbClr val="000000"/>
                </a:solidFill>
                <a:latin typeface="Calibri"/>
              </a:rPr>
              <a:t>DXY (coeff. = −0.035, 95% CI: [−0.112, +0.041]):</a:t>
            </a:r>
          </a:p>
          <a:p>
            <a:pPr algn="just">
              <a:spcBef>
                <a:spcPts val="500"/>
              </a:spcBef>
            </a:pPr>
            <a:r>
              <a:rPr sz="980" b="0">
                <a:solidFill>
                  <a:srgbClr val="000000"/>
                </a:solidFill>
                <a:latin typeface="Calibri"/>
              </a:rPr>
              <a:t>Statistically insignificant at conventional levels. A stronger dollar makes US goods more expensive in foreign currency terms, reducing export demand — but trade contracts are priced in advance, so a currency appreciation today does not immediately reduce the volume of goods shipped. The effect is present but too slow-moving to appear significant in a model where the lagged dependent variable absorbs low-frequency variation.</a:t>
            </a:r>
          </a:p>
          <a:p>
            <a:pPr algn="just">
              <a:spcBef>
                <a:spcPts val="500"/>
              </a:spcBef>
            </a:pPr>
            <a:r>
              <a:rPr sz="980" b="0">
                <a:solidFill>
                  <a:srgbClr val="000000"/>
                </a:solidFill>
                <a:latin typeface="Calibri"/>
              </a:rPr>
              <a:t>Diagnostics:</a:t>
            </a:r>
          </a:p>
          <a:p>
            <a:pPr algn="just">
              <a:spcBef>
                <a:spcPts val="500"/>
              </a:spcBef>
            </a:pPr>
            <a:r>
              <a:rPr sz="980" b="0">
                <a:solidFill>
                  <a:srgbClr val="000000"/>
                </a:solidFill>
                <a:latin typeface="Calibri"/>
              </a:rPr>
              <a:t>DW = 1.189 — positive serial autocorrelation, common in quarterly models. Newey-West HAC with 4 lags corrects inference. Residuals are non-normal (skew = −0.687, kurtosis = 5.007), almost entirely due to the COVID-19 shock in 2020 when exports fell 23.4%.</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02920"/>
          </a:xfrm>
          <a:prstGeom prst="rect">
            <a:avLst/>
          </a:prstGeom>
          <a:solidFill>
            <a:srgbClr val="6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2880" y="45720"/>
            <a:ext cx="11823192" cy="502920"/>
          </a:xfrm>
          <a:prstGeom prst="rect">
            <a:avLst/>
          </a:prstGeom>
          <a:noFill/>
        </p:spPr>
        <p:txBody>
          <a:bodyPr wrap="square">
            <a:spAutoFit/>
          </a:bodyPr>
          <a:lstStyle/>
          <a:p>
            <a:pPr algn="l"/>
            <a:r>
              <a:rPr sz="1800" b="1" i="0">
                <a:solidFill>
                  <a:srgbClr val="FFFFFF"/>
                </a:solidFill>
                <a:latin typeface="Calibri"/>
              </a:rPr>
              <a:t>MODEL 2: US DOLLAR INDEX (DXY)</a:t>
            </a:r>
          </a:p>
        </p:txBody>
      </p:sp>
      <p:sp>
        <p:nvSpPr>
          <p:cNvPr id="4" name="Rectangle 3"/>
          <p:cNvSpPr/>
          <p:nvPr/>
        </p:nvSpPr>
        <p:spPr>
          <a:xfrm>
            <a:off x="0" y="502920"/>
            <a:ext cx="12188952" cy="274320"/>
          </a:xfrm>
          <a:prstGeom prst="rect">
            <a:avLst/>
          </a:prstGeom>
          <a:solidFill>
            <a:srgbClr val="A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82880" y="530352"/>
            <a:ext cx="11823192" cy="274320"/>
          </a:xfrm>
          <a:prstGeom prst="rect">
            <a:avLst/>
          </a:prstGeom>
          <a:noFill/>
        </p:spPr>
        <p:txBody>
          <a:bodyPr wrap="square">
            <a:spAutoFit/>
          </a:bodyPr>
          <a:lstStyle/>
          <a:p>
            <a:pPr algn="l"/>
            <a:r>
              <a:rPr sz="1100" b="0" i="1">
                <a:solidFill>
                  <a:srgbClr val="FFFFFF"/>
                </a:solidFill>
                <a:latin typeface="Calibri"/>
              </a:rPr>
              <a:t>Model Specification &amp; Overall Fit</a:t>
            </a:r>
          </a:p>
        </p:txBody>
      </p:sp>
      <p:sp>
        <p:nvSpPr>
          <p:cNvPr id="6" name="TextBox 5"/>
          <p:cNvSpPr txBox="1"/>
          <p:nvPr/>
        </p:nvSpPr>
        <p:spPr>
          <a:xfrm>
            <a:off x="182880" y="886968"/>
            <a:ext cx="5486400" cy="228600"/>
          </a:xfrm>
          <a:prstGeom prst="rect">
            <a:avLst/>
          </a:prstGeom>
          <a:noFill/>
        </p:spPr>
        <p:txBody>
          <a:bodyPr wrap="square">
            <a:spAutoFit/>
          </a:bodyPr>
          <a:lstStyle/>
          <a:p>
            <a:pPr algn="l"/>
            <a:r>
              <a:rPr sz="900" b="1" i="0">
                <a:solidFill>
                  <a:srgbClr val="000000"/>
                </a:solidFill>
                <a:latin typeface="Calibri"/>
              </a:rPr>
              <a:t>Exhibit 8</a:t>
            </a:r>
          </a:p>
        </p:txBody>
      </p:sp>
      <p:pic>
        <p:nvPicPr>
          <p:cNvPr id="7" name="Picture 6" descr="dxy_model.png"/>
          <p:cNvPicPr>
            <a:picLocks noChangeAspect="1"/>
          </p:cNvPicPr>
          <p:nvPr/>
        </p:nvPicPr>
        <p:blipFill>
          <a:blip r:embed="rId2"/>
          <a:stretch>
            <a:fillRect/>
          </a:stretch>
        </p:blipFill>
        <p:spPr>
          <a:xfrm>
            <a:off x="182880" y="1115568"/>
            <a:ext cx="5486400" cy="4892040"/>
          </a:xfrm>
          <a:prstGeom prst="rect">
            <a:avLst/>
          </a:prstGeom>
        </p:spPr>
      </p:pic>
      <p:sp>
        <p:nvSpPr>
          <p:cNvPr id="8" name="TextBox 7"/>
          <p:cNvSpPr txBox="1"/>
          <p:nvPr/>
        </p:nvSpPr>
        <p:spPr>
          <a:xfrm>
            <a:off x="5897880" y="886968"/>
            <a:ext cx="6108192" cy="5879592"/>
          </a:xfrm>
          <a:prstGeom prst="rect">
            <a:avLst/>
          </a:prstGeom>
          <a:noFill/>
        </p:spPr>
        <p:txBody>
          <a:bodyPr wrap="square">
            <a:spAutoFit/>
          </a:bodyPr>
          <a:lstStyle/>
          <a:p>
            <a:pPr algn="just">
              <a:spcBef>
                <a:spcPts val="400"/>
              </a:spcBef>
            </a:pPr>
            <a:r>
              <a:rPr sz="950">
                <a:solidFill>
                  <a:srgbClr val="000000"/>
                </a:solidFill>
                <a:latin typeface="Calibri"/>
              </a:rPr>
              <a:t>Model 2 is an estimation of the level of the Nominal Broad US Dollar Index as a function of 6 regressors: the US-EU interest rate differential, the US-Eurozone inflation differential, the US Goods Trade Balance, the Fed Funds Rate level, the VIX Index, and one lag of the dependent variable (DXY). We used a sample period from 2006 Q2 to 2025 Q4, with a total of 79 observations. Standard errors are Newey-West HAC with 4 lags.</a:t>
            </a:r>
          </a:p>
          <a:p>
            <a:pPr algn="just">
              <a:spcBef>
                <a:spcPts val="400"/>
              </a:spcBef>
            </a:pPr>
            <a:r>
              <a:rPr sz="950">
                <a:solidFill>
                  <a:srgbClr val="000000"/>
                </a:solidFill>
                <a:latin typeface="Calibri"/>
              </a:rPr>
              <a:t>R² = 0.959   |   Adj. R² = 0.955   |   F-stat = 337.7</a:t>
            </a:r>
          </a:p>
          <a:p>
            <a:pPr algn="just">
              <a:spcBef>
                <a:spcPts val="400"/>
              </a:spcBef>
            </a:pPr>
            <a:r>
              <a:rPr sz="950">
                <a:solidFill>
                  <a:srgbClr val="000000"/>
                </a:solidFill>
                <a:latin typeface="Calibri"/>
              </a:rPr>
              <a:t>AIC = 383.14   |   BIC = 399.73</a:t>
            </a:r>
          </a:p>
          <a:p>
            <a:pPr algn="just">
              <a:spcBef>
                <a:spcPts val="400"/>
              </a:spcBef>
            </a:pPr>
            <a:r>
              <a:rPr sz="950">
                <a:solidFill>
                  <a:srgbClr val="000000"/>
                </a:solidFill>
                <a:latin typeface="Calibri"/>
              </a:rPr>
              <a:t>The explanatory power is dominated by the lagged DXY. The fundamentals — rate differentials, inflation differentials, trade balance — are not statistically significant conditional on the lagged level, not because they are irrelevant, but because they are continuously priced in by financial markets and do not provide additional predictive power over the lagged level at quarterly sampling frequency.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02920"/>
          </a:xfrm>
          <a:prstGeom prst="rect">
            <a:avLst/>
          </a:prstGeom>
          <a:solidFill>
            <a:srgbClr val="6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2880" y="45720"/>
            <a:ext cx="11823192" cy="502920"/>
          </a:xfrm>
          <a:prstGeom prst="rect">
            <a:avLst/>
          </a:prstGeom>
          <a:noFill/>
        </p:spPr>
        <p:txBody>
          <a:bodyPr wrap="square">
            <a:spAutoFit/>
          </a:bodyPr>
          <a:lstStyle/>
          <a:p>
            <a:pPr algn="l"/>
            <a:r>
              <a:rPr sz="1800" b="1" i="0">
                <a:solidFill>
                  <a:srgbClr val="FFFFFF"/>
                </a:solidFill>
                <a:latin typeface="Calibri"/>
              </a:rPr>
              <a:t>MODEL 2: US DOLLAR INDEX (DXY)</a:t>
            </a:r>
          </a:p>
        </p:txBody>
      </p:sp>
      <p:sp>
        <p:nvSpPr>
          <p:cNvPr id="4" name="Rectangle 3"/>
          <p:cNvSpPr/>
          <p:nvPr/>
        </p:nvSpPr>
        <p:spPr>
          <a:xfrm>
            <a:off x="0" y="502920"/>
            <a:ext cx="12188952" cy="274320"/>
          </a:xfrm>
          <a:prstGeom prst="rect">
            <a:avLst/>
          </a:prstGeom>
          <a:solidFill>
            <a:srgbClr val="A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82880" y="530352"/>
            <a:ext cx="11823192" cy="274320"/>
          </a:xfrm>
          <a:prstGeom prst="rect">
            <a:avLst/>
          </a:prstGeom>
          <a:noFill/>
        </p:spPr>
        <p:txBody>
          <a:bodyPr wrap="square">
            <a:spAutoFit/>
          </a:bodyPr>
          <a:lstStyle/>
          <a:p>
            <a:pPr algn="l"/>
            <a:r>
              <a:rPr sz="1100" b="0" i="1">
                <a:solidFill>
                  <a:srgbClr val="FFFFFF"/>
                </a:solidFill>
                <a:latin typeface="Calibri"/>
              </a:rPr>
              <a:t>Regression Results (HAC SE)</a:t>
            </a:r>
          </a:p>
        </p:txBody>
      </p:sp>
      <p:sp>
        <p:nvSpPr>
          <p:cNvPr id="6" name="Rectangle 5"/>
          <p:cNvSpPr/>
          <p:nvPr/>
        </p:nvSpPr>
        <p:spPr>
          <a:xfrm>
            <a:off x="182880" y="932688"/>
            <a:ext cx="11823192" cy="246888"/>
          </a:xfrm>
          <a:prstGeom prst="rect">
            <a:avLst/>
          </a:prstGeom>
          <a:solidFill>
            <a:srgbClr val="6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28600" y="950976"/>
            <a:ext cx="1645920" cy="246888"/>
          </a:xfrm>
          <a:prstGeom prst="rect">
            <a:avLst/>
          </a:prstGeom>
          <a:noFill/>
        </p:spPr>
        <p:txBody>
          <a:bodyPr wrap="square">
            <a:spAutoFit/>
          </a:bodyPr>
          <a:lstStyle/>
          <a:p>
            <a:pPr algn="l"/>
            <a:r>
              <a:rPr sz="850" b="1" i="0">
                <a:solidFill>
                  <a:srgbClr val="FFFFFF"/>
                </a:solidFill>
                <a:latin typeface="Calibri"/>
              </a:rPr>
              <a:t>Variable</a:t>
            </a:r>
          </a:p>
        </p:txBody>
      </p:sp>
      <p:sp>
        <p:nvSpPr>
          <p:cNvPr id="8" name="TextBox 7"/>
          <p:cNvSpPr txBox="1"/>
          <p:nvPr/>
        </p:nvSpPr>
        <p:spPr>
          <a:xfrm>
            <a:off x="1874520" y="950976"/>
            <a:ext cx="1005840" cy="246888"/>
          </a:xfrm>
          <a:prstGeom prst="rect">
            <a:avLst/>
          </a:prstGeom>
          <a:noFill/>
        </p:spPr>
        <p:txBody>
          <a:bodyPr wrap="square">
            <a:spAutoFit/>
          </a:bodyPr>
          <a:lstStyle/>
          <a:p>
            <a:pPr algn="l"/>
            <a:r>
              <a:rPr sz="850" b="1" i="0">
                <a:solidFill>
                  <a:srgbClr val="FFFFFF"/>
                </a:solidFill>
                <a:latin typeface="Calibri"/>
              </a:rPr>
              <a:t>Coeff.</a:t>
            </a:r>
          </a:p>
        </p:txBody>
      </p:sp>
      <p:sp>
        <p:nvSpPr>
          <p:cNvPr id="9" name="TextBox 8"/>
          <p:cNvSpPr txBox="1"/>
          <p:nvPr/>
        </p:nvSpPr>
        <p:spPr>
          <a:xfrm>
            <a:off x="2880360" y="950976"/>
            <a:ext cx="1005840" cy="246888"/>
          </a:xfrm>
          <a:prstGeom prst="rect">
            <a:avLst/>
          </a:prstGeom>
          <a:noFill/>
        </p:spPr>
        <p:txBody>
          <a:bodyPr wrap="square">
            <a:spAutoFit/>
          </a:bodyPr>
          <a:lstStyle/>
          <a:p>
            <a:pPr algn="l"/>
            <a:r>
              <a:rPr sz="850" b="1" i="0">
                <a:solidFill>
                  <a:srgbClr val="FFFFFF"/>
                </a:solidFill>
                <a:latin typeface="Calibri"/>
              </a:rPr>
              <a:t>Std. Error</a:t>
            </a:r>
          </a:p>
        </p:txBody>
      </p:sp>
      <p:sp>
        <p:nvSpPr>
          <p:cNvPr id="10" name="TextBox 9"/>
          <p:cNvSpPr txBox="1"/>
          <p:nvPr/>
        </p:nvSpPr>
        <p:spPr>
          <a:xfrm>
            <a:off x="3886200" y="950976"/>
            <a:ext cx="914400" cy="246888"/>
          </a:xfrm>
          <a:prstGeom prst="rect">
            <a:avLst/>
          </a:prstGeom>
          <a:noFill/>
        </p:spPr>
        <p:txBody>
          <a:bodyPr wrap="square">
            <a:spAutoFit/>
          </a:bodyPr>
          <a:lstStyle/>
          <a:p>
            <a:pPr algn="l"/>
            <a:r>
              <a:rPr sz="850" b="1" i="0">
                <a:solidFill>
                  <a:srgbClr val="FFFFFF"/>
                </a:solidFill>
                <a:latin typeface="Calibri"/>
              </a:rPr>
              <a:t>t-stat</a:t>
            </a:r>
          </a:p>
        </p:txBody>
      </p:sp>
      <p:sp>
        <p:nvSpPr>
          <p:cNvPr id="11" name="TextBox 10"/>
          <p:cNvSpPr txBox="1"/>
          <p:nvPr/>
        </p:nvSpPr>
        <p:spPr>
          <a:xfrm>
            <a:off x="4800600" y="950976"/>
            <a:ext cx="914400" cy="246888"/>
          </a:xfrm>
          <a:prstGeom prst="rect">
            <a:avLst/>
          </a:prstGeom>
          <a:noFill/>
        </p:spPr>
        <p:txBody>
          <a:bodyPr wrap="square">
            <a:spAutoFit/>
          </a:bodyPr>
          <a:lstStyle/>
          <a:p>
            <a:pPr algn="l"/>
            <a:r>
              <a:rPr sz="850" b="1" i="0">
                <a:solidFill>
                  <a:srgbClr val="FFFFFF"/>
                </a:solidFill>
                <a:latin typeface="Calibri"/>
              </a:rPr>
              <a:t>p-value</a:t>
            </a:r>
          </a:p>
        </p:txBody>
      </p:sp>
      <p:sp>
        <p:nvSpPr>
          <p:cNvPr id="12" name="TextBox 11"/>
          <p:cNvSpPr txBox="1"/>
          <p:nvPr/>
        </p:nvSpPr>
        <p:spPr>
          <a:xfrm>
            <a:off x="5715000" y="950976"/>
            <a:ext cx="1188720" cy="246888"/>
          </a:xfrm>
          <a:prstGeom prst="rect">
            <a:avLst/>
          </a:prstGeom>
          <a:noFill/>
        </p:spPr>
        <p:txBody>
          <a:bodyPr wrap="square">
            <a:spAutoFit/>
          </a:bodyPr>
          <a:lstStyle/>
          <a:p>
            <a:pPr algn="l"/>
            <a:r>
              <a:rPr sz="850" b="1" i="0">
                <a:solidFill>
                  <a:srgbClr val="FFFFFF"/>
                </a:solidFill>
                <a:latin typeface="Calibri"/>
              </a:rPr>
              <a:t>CI Lower (95%)</a:t>
            </a:r>
          </a:p>
        </p:txBody>
      </p:sp>
      <p:sp>
        <p:nvSpPr>
          <p:cNvPr id="13" name="TextBox 12"/>
          <p:cNvSpPr txBox="1"/>
          <p:nvPr/>
        </p:nvSpPr>
        <p:spPr>
          <a:xfrm>
            <a:off x="6903720" y="950976"/>
            <a:ext cx="1188720" cy="246888"/>
          </a:xfrm>
          <a:prstGeom prst="rect">
            <a:avLst/>
          </a:prstGeom>
          <a:noFill/>
        </p:spPr>
        <p:txBody>
          <a:bodyPr wrap="square">
            <a:spAutoFit/>
          </a:bodyPr>
          <a:lstStyle/>
          <a:p>
            <a:pPr algn="l"/>
            <a:r>
              <a:rPr sz="850" b="1" i="0">
                <a:solidFill>
                  <a:srgbClr val="FFFFFF"/>
                </a:solidFill>
                <a:latin typeface="Calibri"/>
              </a:rPr>
              <a:t>CI Upper (95%)</a:t>
            </a:r>
          </a:p>
        </p:txBody>
      </p:sp>
      <p:sp>
        <p:nvSpPr>
          <p:cNvPr id="14" name="Rectangle 13"/>
          <p:cNvSpPr/>
          <p:nvPr/>
        </p:nvSpPr>
        <p:spPr>
          <a:xfrm>
            <a:off x="182880" y="1179576"/>
            <a:ext cx="11823192" cy="24688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28600" y="1197864"/>
            <a:ext cx="1645920" cy="246888"/>
          </a:xfrm>
          <a:prstGeom prst="rect">
            <a:avLst/>
          </a:prstGeom>
          <a:noFill/>
        </p:spPr>
        <p:txBody>
          <a:bodyPr wrap="square">
            <a:spAutoFit/>
          </a:bodyPr>
          <a:lstStyle/>
          <a:p>
            <a:pPr algn="l"/>
            <a:r>
              <a:rPr sz="800" b="0" i="0">
                <a:solidFill>
                  <a:srgbClr val="000000"/>
                </a:solidFill>
                <a:latin typeface="Calibri"/>
              </a:rPr>
              <a:t>Constant</a:t>
            </a:r>
          </a:p>
        </p:txBody>
      </p:sp>
      <p:sp>
        <p:nvSpPr>
          <p:cNvPr id="16" name="TextBox 15"/>
          <p:cNvSpPr txBox="1"/>
          <p:nvPr/>
        </p:nvSpPr>
        <p:spPr>
          <a:xfrm>
            <a:off x="1874520" y="1197864"/>
            <a:ext cx="1005840" cy="246888"/>
          </a:xfrm>
          <a:prstGeom prst="rect">
            <a:avLst/>
          </a:prstGeom>
          <a:noFill/>
        </p:spPr>
        <p:txBody>
          <a:bodyPr wrap="square">
            <a:spAutoFit/>
          </a:bodyPr>
          <a:lstStyle/>
          <a:p>
            <a:pPr algn="l"/>
            <a:r>
              <a:rPr sz="800" b="0" i="0">
                <a:solidFill>
                  <a:srgbClr val="000000"/>
                </a:solidFill>
                <a:latin typeface="Calibri"/>
              </a:rPr>
              <a:t>-1.4119</a:t>
            </a:r>
          </a:p>
        </p:txBody>
      </p:sp>
      <p:sp>
        <p:nvSpPr>
          <p:cNvPr id="17" name="TextBox 16"/>
          <p:cNvSpPr txBox="1"/>
          <p:nvPr/>
        </p:nvSpPr>
        <p:spPr>
          <a:xfrm>
            <a:off x="2880360" y="1197864"/>
            <a:ext cx="1005840" cy="246888"/>
          </a:xfrm>
          <a:prstGeom prst="rect">
            <a:avLst/>
          </a:prstGeom>
          <a:noFill/>
        </p:spPr>
        <p:txBody>
          <a:bodyPr wrap="square">
            <a:spAutoFit/>
          </a:bodyPr>
          <a:lstStyle/>
          <a:p>
            <a:pPr algn="l"/>
            <a:r>
              <a:rPr sz="800" b="0" i="0">
                <a:solidFill>
                  <a:srgbClr val="000000"/>
                </a:solidFill>
                <a:latin typeface="Calibri"/>
              </a:rPr>
              <a:t>3.3979</a:t>
            </a:r>
          </a:p>
        </p:txBody>
      </p:sp>
      <p:sp>
        <p:nvSpPr>
          <p:cNvPr id="18" name="TextBox 17"/>
          <p:cNvSpPr txBox="1"/>
          <p:nvPr/>
        </p:nvSpPr>
        <p:spPr>
          <a:xfrm>
            <a:off x="3886200" y="1197864"/>
            <a:ext cx="914400" cy="246888"/>
          </a:xfrm>
          <a:prstGeom prst="rect">
            <a:avLst/>
          </a:prstGeom>
          <a:noFill/>
        </p:spPr>
        <p:txBody>
          <a:bodyPr wrap="square">
            <a:spAutoFit/>
          </a:bodyPr>
          <a:lstStyle/>
          <a:p>
            <a:pPr algn="l"/>
            <a:r>
              <a:rPr sz="800" b="0" i="0">
                <a:solidFill>
                  <a:srgbClr val="000000"/>
                </a:solidFill>
                <a:latin typeface="Calibri"/>
              </a:rPr>
              <a:t>-0.4155</a:t>
            </a:r>
          </a:p>
        </p:txBody>
      </p:sp>
      <p:sp>
        <p:nvSpPr>
          <p:cNvPr id="19" name="TextBox 18"/>
          <p:cNvSpPr txBox="1"/>
          <p:nvPr/>
        </p:nvSpPr>
        <p:spPr>
          <a:xfrm>
            <a:off x="4800600" y="1197864"/>
            <a:ext cx="914400" cy="246888"/>
          </a:xfrm>
          <a:prstGeom prst="rect">
            <a:avLst/>
          </a:prstGeom>
          <a:noFill/>
        </p:spPr>
        <p:txBody>
          <a:bodyPr wrap="square">
            <a:spAutoFit/>
          </a:bodyPr>
          <a:lstStyle/>
          <a:p>
            <a:pPr algn="l"/>
            <a:r>
              <a:rPr sz="800" b="0" i="0">
                <a:solidFill>
                  <a:srgbClr val="000000"/>
                </a:solidFill>
                <a:latin typeface="Calibri"/>
              </a:rPr>
              <a:t>0.6778</a:t>
            </a:r>
          </a:p>
        </p:txBody>
      </p:sp>
      <p:sp>
        <p:nvSpPr>
          <p:cNvPr id="20" name="TextBox 19"/>
          <p:cNvSpPr txBox="1"/>
          <p:nvPr/>
        </p:nvSpPr>
        <p:spPr>
          <a:xfrm>
            <a:off x="5715000" y="1197864"/>
            <a:ext cx="1188720" cy="246888"/>
          </a:xfrm>
          <a:prstGeom prst="rect">
            <a:avLst/>
          </a:prstGeom>
          <a:noFill/>
        </p:spPr>
        <p:txBody>
          <a:bodyPr wrap="square">
            <a:spAutoFit/>
          </a:bodyPr>
          <a:lstStyle/>
          <a:p>
            <a:pPr algn="l"/>
            <a:r>
              <a:rPr sz="800" b="0" i="0">
                <a:solidFill>
                  <a:srgbClr val="000000"/>
                </a:solidFill>
                <a:latin typeface="Calibri"/>
              </a:rPr>
              <a:t>-8.0717</a:t>
            </a:r>
          </a:p>
        </p:txBody>
      </p:sp>
      <p:sp>
        <p:nvSpPr>
          <p:cNvPr id="21" name="TextBox 20"/>
          <p:cNvSpPr txBox="1"/>
          <p:nvPr/>
        </p:nvSpPr>
        <p:spPr>
          <a:xfrm>
            <a:off x="6903720" y="1197864"/>
            <a:ext cx="1188720" cy="246888"/>
          </a:xfrm>
          <a:prstGeom prst="rect">
            <a:avLst/>
          </a:prstGeom>
          <a:noFill/>
        </p:spPr>
        <p:txBody>
          <a:bodyPr wrap="square">
            <a:spAutoFit/>
          </a:bodyPr>
          <a:lstStyle/>
          <a:p>
            <a:pPr algn="l"/>
            <a:r>
              <a:rPr sz="800" b="0" i="0">
                <a:solidFill>
                  <a:srgbClr val="000000"/>
                </a:solidFill>
                <a:latin typeface="Calibri"/>
              </a:rPr>
              <a:t>5.2479</a:t>
            </a:r>
          </a:p>
        </p:txBody>
      </p:sp>
      <p:sp>
        <p:nvSpPr>
          <p:cNvPr id="22" name="Rectangle 21"/>
          <p:cNvSpPr/>
          <p:nvPr/>
        </p:nvSpPr>
        <p:spPr>
          <a:xfrm>
            <a:off x="182880" y="1426464"/>
            <a:ext cx="11823192" cy="2468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28600" y="1444752"/>
            <a:ext cx="1645920" cy="246888"/>
          </a:xfrm>
          <a:prstGeom prst="rect">
            <a:avLst/>
          </a:prstGeom>
          <a:noFill/>
        </p:spPr>
        <p:txBody>
          <a:bodyPr wrap="square">
            <a:spAutoFit/>
          </a:bodyPr>
          <a:lstStyle/>
          <a:p>
            <a:pPr algn="l"/>
            <a:r>
              <a:rPr sz="800" b="0" i="0">
                <a:solidFill>
                  <a:srgbClr val="000000"/>
                </a:solidFill>
                <a:latin typeface="Calibri"/>
              </a:rPr>
              <a:t>Rate Differential</a:t>
            </a:r>
          </a:p>
        </p:txBody>
      </p:sp>
      <p:sp>
        <p:nvSpPr>
          <p:cNvPr id="24" name="TextBox 23"/>
          <p:cNvSpPr txBox="1"/>
          <p:nvPr/>
        </p:nvSpPr>
        <p:spPr>
          <a:xfrm>
            <a:off x="1874520" y="1444752"/>
            <a:ext cx="1005840" cy="246888"/>
          </a:xfrm>
          <a:prstGeom prst="rect">
            <a:avLst/>
          </a:prstGeom>
          <a:noFill/>
        </p:spPr>
        <p:txBody>
          <a:bodyPr wrap="square">
            <a:spAutoFit/>
          </a:bodyPr>
          <a:lstStyle/>
          <a:p>
            <a:pPr algn="l"/>
            <a:r>
              <a:rPr sz="800" b="0" i="0">
                <a:solidFill>
                  <a:srgbClr val="000000"/>
                </a:solidFill>
                <a:latin typeface="Calibri"/>
              </a:rPr>
              <a:t>-0.0103</a:t>
            </a:r>
          </a:p>
        </p:txBody>
      </p:sp>
      <p:sp>
        <p:nvSpPr>
          <p:cNvPr id="25" name="TextBox 24"/>
          <p:cNvSpPr txBox="1"/>
          <p:nvPr/>
        </p:nvSpPr>
        <p:spPr>
          <a:xfrm>
            <a:off x="2880360" y="1444752"/>
            <a:ext cx="1005840" cy="246888"/>
          </a:xfrm>
          <a:prstGeom prst="rect">
            <a:avLst/>
          </a:prstGeom>
          <a:noFill/>
        </p:spPr>
        <p:txBody>
          <a:bodyPr wrap="square">
            <a:spAutoFit/>
          </a:bodyPr>
          <a:lstStyle/>
          <a:p>
            <a:pPr algn="l"/>
            <a:r>
              <a:rPr sz="800" b="0" i="0">
                <a:solidFill>
                  <a:srgbClr val="000000"/>
                </a:solidFill>
                <a:latin typeface="Calibri"/>
              </a:rPr>
              <a:t>0.4272</a:t>
            </a:r>
          </a:p>
        </p:txBody>
      </p:sp>
      <p:sp>
        <p:nvSpPr>
          <p:cNvPr id="26" name="TextBox 25"/>
          <p:cNvSpPr txBox="1"/>
          <p:nvPr/>
        </p:nvSpPr>
        <p:spPr>
          <a:xfrm>
            <a:off x="3886200" y="1444752"/>
            <a:ext cx="914400" cy="246888"/>
          </a:xfrm>
          <a:prstGeom prst="rect">
            <a:avLst/>
          </a:prstGeom>
          <a:noFill/>
        </p:spPr>
        <p:txBody>
          <a:bodyPr wrap="square">
            <a:spAutoFit/>
          </a:bodyPr>
          <a:lstStyle/>
          <a:p>
            <a:pPr algn="l"/>
            <a:r>
              <a:rPr sz="800" b="0" i="0">
                <a:solidFill>
                  <a:srgbClr val="000000"/>
                </a:solidFill>
                <a:latin typeface="Calibri"/>
              </a:rPr>
              <a:t>-0.0241</a:t>
            </a:r>
          </a:p>
        </p:txBody>
      </p:sp>
      <p:sp>
        <p:nvSpPr>
          <p:cNvPr id="27" name="TextBox 26"/>
          <p:cNvSpPr txBox="1"/>
          <p:nvPr/>
        </p:nvSpPr>
        <p:spPr>
          <a:xfrm>
            <a:off x="4800600" y="1444752"/>
            <a:ext cx="914400" cy="246888"/>
          </a:xfrm>
          <a:prstGeom prst="rect">
            <a:avLst/>
          </a:prstGeom>
          <a:noFill/>
        </p:spPr>
        <p:txBody>
          <a:bodyPr wrap="square">
            <a:spAutoFit/>
          </a:bodyPr>
          <a:lstStyle/>
          <a:p>
            <a:pPr algn="l"/>
            <a:r>
              <a:rPr sz="800" b="0" i="0">
                <a:solidFill>
                  <a:srgbClr val="000000"/>
                </a:solidFill>
                <a:latin typeface="Calibri"/>
              </a:rPr>
              <a:t>0.9808</a:t>
            </a:r>
          </a:p>
        </p:txBody>
      </p:sp>
      <p:sp>
        <p:nvSpPr>
          <p:cNvPr id="28" name="TextBox 27"/>
          <p:cNvSpPr txBox="1"/>
          <p:nvPr/>
        </p:nvSpPr>
        <p:spPr>
          <a:xfrm>
            <a:off x="5715000" y="1444752"/>
            <a:ext cx="1188720" cy="246888"/>
          </a:xfrm>
          <a:prstGeom prst="rect">
            <a:avLst/>
          </a:prstGeom>
          <a:noFill/>
        </p:spPr>
        <p:txBody>
          <a:bodyPr wrap="square">
            <a:spAutoFit/>
          </a:bodyPr>
          <a:lstStyle/>
          <a:p>
            <a:pPr algn="l"/>
            <a:r>
              <a:rPr sz="800" b="0" i="0">
                <a:solidFill>
                  <a:srgbClr val="000000"/>
                </a:solidFill>
                <a:latin typeface="Calibri"/>
              </a:rPr>
              <a:t>-0.8476</a:t>
            </a:r>
          </a:p>
        </p:txBody>
      </p:sp>
      <p:sp>
        <p:nvSpPr>
          <p:cNvPr id="29" name="TextBox 28"/>
          <p:cNvSpPr txBox="1"/>
          <p:nvPr/>
        </p:nvSpPr>
        <p:spPr>
          <a:xfrm>
            <a:off x="6903720" y="1444752"/>
            <a:ext cx="1188720" cy="246888"/>
          </a:xfrm>
          <a:prstGeom prst="rect">
            <a:avLst/>
          </a:prstGeom>
          <a:noFill/>
        </p:spPr>
        <p:txBody>
          <a:bodyPr wrap="square">
            <a:spAutoFit/>
          </a:bodyPr>
          <a:lstStyle/>
          <a:p>
            <a:pPr algn="l"/>
            <a:r>
              <a:rPr sz="800" b="0" i="0">
                <a:solidFill>
                  <a:srgbClr val="000000"/>
                </a:solidFill>
                <a:latin typeface="Calibri"/>
              </a:rPr>
              <a:t>0.8270</a:t>
            </a:r>
          </a:p>
        </p:txBody>
      </p:sp>
      <p:sp>
        <p:nvSpPr>
          <p:cNvPr id="30" name="Rectangle 29"/>
          <p:cNvSpPr/>
          <p:nvPr/>
        </p:nvSpPr>
        <p:spPr>
          <a:xfrm>
            <a:off x="182880" y="1673352"/>
            <a:ext cx="11823192" cy="24688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28600" y="1691640"/>
            <a:ext cx="1645920" cy="246888"/>
          </a:xfrm>
          <a:prstGeom prst="rect">
            <a:avLst/>
          </a:prstGeom>
          <a:noFill/>
        </p:spPr>
        <p:txBody>
          <a:bodyPr wrap="square">
            <a:spAutoFit/>
          </a:bodyPr>
          <a:lstStyle/>
          <a:p>
            <a:pPr algn="l"/>
            <a:r>
              <a:rPr sz="800" b="0" i="0">
                <a:solidFill>
                  <a:srgbClr val="000000"/>
                </a:solidFill>
                <a:latin typeface="Calibri"/>
              </a:rPr>
              <a:t>Inflation Diff.</a:t>
            </a:r>
          </a:p>
        </p:txBody>
      </p:sp>
      <p:sp>
        <p:nvSpPr>
          <p:cNvPr id="32" name="TextBox 31"/>
          <p:cNvSpPr txBox="1"/>
          <p:nvPr/>
        </p:nvSpPr>
        <p:spPr>
          <a:xfrm>
            <a:off x="1874520" y="1691640"/>
            <a:ext cx="1005840" cy="246888"/>
          </a:xfrm>
          <a:prstGeom prst="rect">
            <a:avLst/>
          </a:prstGeom>
          <a:noFill/>
        </p:spPr>
        <p:txBody>
          <a:bodyPr wrap="square">
            <a:spAutoFit/>
          </a:bodyPr>
          <a:lstStyle/>
          <a:p>
            <a:pPr algn="l"/>
            <a:r>
              <a:rPr sz="800" b="0" i="0">
                <a:solidFill>
                  <a:srgbClr val="000000"/>
                </a:solidFill>
                <a:latin typeface="Calibri"/>
              </a:rPr>
              <a:t>-0.0306</a:t>
            </a:r>
          </a:p>
        </p:txBody>
      </p:sp>
      <p:sp>
        <p:nvSpPr>
          <p:cNvPr id="33" name="TextBox 32"/>
          <p:cNvSpPr txBox="1"/>
          <p:nvPr/>
        </p:nvSpPr>
        <p:spPr>
          <a:xfrm>
            <a:off x="2880360" y="1691640"/>
            <a:ext cx="1005840" cy="246888"/>
          </a:xfrm>
          <a:prstGeom prst="rect">
            <a:avLst/>
          </a:prstGeom>
          <a:noFill/>
        </p:spPr>
        <p:txBody>
          <a:bodyPr wrap="square">
            <a:spAutoFit/>
          </a:bodyPr>
          <a:lstStyle/>
          <a:p>
            <a:pPr algn="l"/>
            <a:r>
              <a:rPr sz="800" b="0" i="0">
                <a:solidFill>
                  <a:srgbClr val="000000"/>
                </a:solidFill>
                <a:latin typeface="Calibri"/>
              </a:rPr>
              <a:t>0.3036</a:t>
            </a:r>
          </a:p>
        </p:txBody>
      </p:sp>
      <p:sp>
        <p:nvSpPr>
          <p:cNvPr id="34" name="TextBox 33"/>
          <p:cNvSpPr txBox="1"/>
          <p:nvPr/>
        </p:nvSpPr>
        <p:spPr>
          <a:xfrm>
            <a:off x="3886200" y="1691640"/>
            <a:ext cx="914400" cy="246888"/>
          </a:xfrm>
          <a:prstGeom prst="rect">
            <a:avLst/>
          </a:prstGeom>
          <a:noFill/>
        </p:spPr>
        <p:txBody>
          <a:bodyPr wrap="square">
            <a:spAutoFit/>
          </a:bodyPr>
          <a:lstStyle/>
          <a:p>
            <a:pPr algn="l"/>
            <a:r>
              <a:rPr sz="800" b="0" i="0">
                <a:solidFill>
                  <a:srgbClr val="000000"/>
                </a:solidFill>
                <a:latin typeface="Calibri"/>
              </a:rPr>
              <a:t>-0.1007</a:t>
            </a:r>
          </a:p>
        </p:txBody>
      </p:sp>
      <p:sp>
        <p:nvSpPr>
          <p:cNvPr id="35" name="TextBox 34"/>
          <p:cNvSpPr txBox="1"/>
          <p:nvPr/>
        </p:nvSpPr>
        <p:spPr>
          <a:xfrm>
            <a:off x="4800600" y="1691640"/>
            <a:ext cx="914400" cy="246888"/>
          </a:xfrm>
          <a:prstGeom prst="rect">
            <a:avLst/>
          </a:prstGeom>
          <a:noFill/>
        </p:spPr>
        <p:txBody>
          <a:bodyPr wrap="square">
            <a:spAutoFit/>
          </a:bodyPr>
          <a:lstStyle/>
          <a:p>
            <a:pPr algn="l"/>
            <a:r>
              <a:rPr sz="800" b="0" i="0">
                <a:solidFill>
                  <a:srgbClr val="000000"/>
                </a:solidFill>
                <a:latin typeface="Calibri"/>
              </a:rPr>
              <a:t>0.9198</a:t>
            </a:r>
          </a:p>
        </p:txBody>
      </p:sp>
      <p:sp>
        <p:nvSpPr>
          <p:cNvPr id="36" name="TextBox 35"/>
          <p:cNvSpPr txBox="1"/>
          <p:nvPr/>
        </p:nvSpPr>
        <p:spPr>
          <a:xfrm>
            <a:off x="5715000" y="1691640"/>
            <a:ext cx="1188720" cy="246888"/>
          </a:xfrm>
          <a:prstGeom prst="rect">
            <a:avLst/>
          </a:prstGeom>
          <a:noFill/>
        </p:spPr>
        <p:txBody>
          <a:bodyPr wrap="square">
            <a:spAutoFit/>
          </a:bodyPr>
          <a:lstStyle/>
          <a:p>
            <a:pPr algn="l"/>
            <a:r>
              <a:rPr sz="800" b="0" i="0">
                <a:solidFill>
                  <a:srgbClr val="000000"/>
                </a:solidFill>
                <a:latin typeface="Calibri"/>
              </a:rPr>
              <a:t>-0.6257</a:t>
            </a:r>
          </a:p>
        </p:txBody>
      </p:sp>
      <p:sp>
        <p:nvSpPr>
          <p:cNvPr id="37" name="TextBox 36"/>
          <p:cNvSpPr txBox="1"/>
          <p:nvPr/>
        </p:nvSpPr>
        <p:spPr>
          <a:xfrm>
            <a:off x="6903720" y="1691640"/>
            <a:ext cx="1188720" cy="246888"/>
          </a:xfrm>
          <a:prstGeom prst="rect">
            <a:avLst/>
          </a:prstGeom>
          <a:noFill/>
        </p:spPr>
        <p:txBody>
          <a:bodyPr wrap="square">
            <a:spAutoFit/>
          </a:bodyPr>
          <a:lstStyle/>
          <a:p>
            <a:pPr algn="l"/>
            <a:r>
              <a:rPr sz="800" b="0" i="0">
                <a:solidFill>
                  <a:srgbClr val="000000"/>
                </a:solidFill>
                <a:latin typeface="Calibri"/>
              </a:rPr>
              <a:t>0.5646</a:t>
            </a:r>
          </a:p>
        </p:txBody>
      </p:sp>
      <p:sp>
        <p:nvSpPr>
          <p:cNvPr id="38" name="Rectangle 37"/>
          <p:cNvSpPr/>
          <p:nvPr/>
        </p:nvSpPr>
        <p:spPr>
          <a:xfrm>
            <a:off x="182880" y="1920240"/>
            <a:ext cx="11823192" cy="2468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228600" y="1938528"/>
            <a:ext cx="1645920" cy="246888"/>
          </a:xfrm>
          <a:prstGeom prst="rect">
            <a:avLst/>
          </a:prstGeom>
          <a:noFill/>
        </p:spPr>
        <p:txBody>
          <a:bodyPr wrap="square">
            <a:spAutoFit/>
          </a:bodyPr>
          <a:lstStyle/>
          <a:p>
            <a:pPr algn="l"/>
            <a:r>
              <a:rPr sz="800" b="0" i="0">
                <a:solidFill>
                  <a:srgbClr val="000000"/>
                </a:solidFill>
                <a:latin typeface="Calibri"/>
              </a:rPr>
              <a:t>Trade Balance</a:t>
            </a:r>
          </a:p>
        </p:txBody>
      </p:sp>
      <p:sp>
        <p:nvSpPr>
          <p:cNvPr id="40" name="TextBox 39"/>
          <p:cNvSpPr txBox="1"/>
          <p:nvPr/>
        </p:nvSpPr>
        <p:spPr>
          <a:xfrm>
            <a:off x="1874520" y="1938528"/>
            <a:ext cx="1005840" cy="246888"/>
          </a:xfrm>
          <a:prstGeom prst="rect">
            <a:avLst/>
          </a:prstGeom>
          <a:noFill/>
        </p:spPr>
        <p:txBody>
          <a:bodyPr wrap="square">
            <a:spAutoFit/>
          </a:bodyPr>
          <a:lstStyle/>
          <a:p>
            <a:pPr algn="l"/>
            <a:r>
              <a:rPr sz="800" b="0" i="0">
                <a:solidFill>
                  <a:srgbClr val="000000"/>
                </a:solidFill>
                <a:latin typeface="Calibri"/>
              </a:rPr>
              <a:t>-0.0090</a:t>
            </a:r>
          </a:p>
        </p:txBody>
      </p:sp>
      <p:sp>
        <p:nvSpPr>
          <p:cNvPr id="41" name="TextBox 40"/>
          <p:cNvSpPr txBox="1"/>
          <p:nvPr/>
        </p:nvSpPr>
        <p:spPr>
          <a:xfrm>
            <a:off x="2880360" y="1938528"/>
            <a:ext cx="1005840" cy="246888"/>
          </a:xfrm>
          <a:prstGeom prst="rect">
            <a:avLst/>
          </a:prstGeom>
          <a:noFill/>
        </p:spPr>
        <p:txBody>
          <a:bodyPr wrap="square">
            <a:spAutoFit/>
          </a:bodyPr>
          <a:lstStyle/>
          <a:p>
            <a:pPr algn="l"/>
            <a:r>
              <a:rPr sz="800" b="0" i="0">
                <a:solidFill>
                  <a:srgbClr val="000000"/>
                </a:solidFill>
                <a:latin typeface="Calibri"/>
              </a:rPr>
              <a:t>0.0069</a:t>
            </a:r>
          </a:p>
        </p:txBody>
      </p:sp>
      <p:sp>
        <p:nvSpPr>
          <p:cNvPr id="42" name="TextBox 41"/>
          <p:cNvSpPr txBox="1"/>
          <p:nvPr/>
        </p:nvSpPr>
        <p:spPr>
          <a:xfrm>
            <a:off x="3886200" y="1938528"/>
            <a:ext cx="914400" cy="246888"/>
          </a:xfrm>
          <a:prstGeom prst="rect">
            <a:avLst/>
          </a:prstGeom>
          <a:noFill/>
        </p:spPr>
        <p:txBody>
          <a:bodyPr wrap="square">
            <a:spAutoFit/>
          </a:bodyPr>
          <a:lstStyle/>
          <a:p>
            <a:pPr algn="l"/>
            <a:r>
              <a:rPr sz="800" b="0" i="0">
                <a:solidFill>
                  <a:srgbClr val="000000"/>
                </a:solidFill>
                <a:latin typeface="Calibri"/>
              </a:rPr>
              <a:t>-1.3100</a:t>
            </a:r>
          </a:p>
        </p:txBody>
      </p:sp>
      <p:sp>
        <p:nvSpPr>
          <p:cNvPr id="43" name="TextBox 42"/>
          <p:cNvSpPr txBox="1"/>
          <p:nvPr/>
        </p:nvSpPr>
        <p:spPr>
          <a:xfrm>
            <a:off x="4800600" y="1938528"/>
            <a:ext cx="914400" cy="246888"/>
          </a:xfrm>
          <a:prstGeom prst="rect">
            <a:avLst/>
          </a:prstGeom>
          <a:noFill/>
        </p:spPr>
        <p:txBody>
          <a:bodyPr wrap="square">
            <a:spAutoFit/>
          </a:bodyPr>
          <a:lstStyle/>
          <a:p>
            <a:pPr algn="l"/>
            <a:r>
              <a:rPr sz="800" b="0" i="0">
                <a:solidFill>
                  <a:srgbClr val="000000"/>
                </a:solidFill>
                <a:latin typeface="Calibri"/>
              </a:rPr>
              <a:t>0.1902</a:t>
            </a:r>
          </a:p>
        </p:txBody>
      </p:sp>
      <p:sp>
        <p:nvSpPr>
          <p:cNvPr id="44" name="TextBox 43"/>
          <p:cNvSpPr txBox="1"/>
          <p:nvPr/>
        </p:nvSpPr>
        <p:spPr>
          <a:xfrm>
            <a:off x="5715000" y="1938528"/>
            <a:ext cx="1188720" cy="246888"/>
          </a:xfrm>
          <a:prstGeom prst="rect">
            <a:avLst/>
          </a:prstGeom>
          <a:noFill/>
        </p:spPr>
        <p:txBody>
          <a:bodyPr wrap="square">
            <a:spAutoFit/>
          </a:bodyPr>
          <a:lstStyle/>
          <a:p>
            <a:pPr algn="l"/>
            <a:r>
              <a:rPr sz="800" b="0" i="0">
                <a:solidFill>
                  <a:srgbClr val="000000"/>
                </a:solidFill>
                <a:latin typeface="Calibri"/>
              </a:rPr>
              <a:t>-0.0225</a:t>
            </a:r>
          </a:p>
        </p:txBody>
      </p:sp>
      <p:sp>
        <p:nvSpPr>
          <p:cNvPr id="45" name="TextBox 44"/>
          <p:cNvSpPr txBox="1"/>
          <p:nvPr/>
        </p:nvSpPr>
        <p:spPr>
          <a:xfrm>
            <a:off x="6903720" y="1938528"/>
            <a:ext cx="1188720" cy="246888"/>
          </a:xfrm>
          <a:prstGeom prst="rect">
            <a:avLst/>
          </a:prstGeom>
          <a:noFill/>
        </p:spPr>
        <p:txBody>
          <a:bodyPr wrap="square">
            <a:spAutoFit/>
          </a:bodyPr>
          <a:lstStyle/>
          <a:p>
            <a:pPr algn="l"/>
            <a:r>
              <a:rPr sz="800" b="0" i="0">
                <a:solidFill>
                  <a:srgbClr val="000000"/>
                </a:solidFill>
                <a:latin typeface="Calibri"/>
              </a:rPr>
              <a:t>0.0045</a:t>
            </a:r>
          </a:p>
        </p:txBody>
      </p:sp>
      <p:sp>
        <p:nvSpPr>
          <p:cNvPr id="46" name="Rectangle 45"/>
          <p:cNvSpPr/>
          <p:nvPr/>
        </p:nvSpPr>
        <p:spPr>
          <a:xfrm>
            <a:off x="182880" y="2167128"/>
            <a:ext cx="11823192" cy="24688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28600" y="2185416"/>
            <a:ext cx="1645920" cy="246888"/>
          </a:xfrm>
          <a:prstGeom prst="rect">
            <a:avLst/>
          </a:prstGeom>
          <a:noFill/>
        </p:spPr>
        <p:txBody>
          <a:bodyPr wrap="square">
            <a:spAutoFit/>
          </a:bodyPr>
          <a:lstStyle/>
          <a:p>
            <a:pPr algn="l"/>
            <a:r>
              <a:rPr sz="800" b="0" i="0">
                <a:solidFill>
                  <a:srgbClr val="000000"/>
                </a:solidFill>
                <a:latin typeface="Calibri"/>
              </a:rPr>
              <a:t>Fed Funds Rate</a:t>
            </a:r>
          </a:p>
        </p:txBody>
      </p:sp>
      <p:sp>
        <p:nvSpPr>
          <p:cNvPr id="48" name="TextBox 47"/>
          <p:cNvSpPr txBox="1"/>
          <p:nvPr/>
        </p:nvSpPr>
        <p:spPr>
          <a:xfrm>
            <a:off x="1874520" y="2185416"/>
            <a:ext cx="1005840" cy="246888"/>
          </a:xfrm>
          <a:prstGeom prst="rect">
            <a:avLst/>
          </a:prstGeom>
          <a:noFill/>
        </p:spPr>
        <p:txBody>
          <a:bodyPr wrap="square">
            <a:spAutoFit/>
          </a:bodyPr>
          <a:lstStyle/>
          <a:p>
            <a:pPr algn="l"/>
            <a:r>
              <a:rPr sz="800" b="0" i="0">
                <a:solidFill>
                  <a:srgbClr val="000000"/>
                </a:solidFill>
                <a:latin typeface="Calibri"/>
              </a:rPr>
              <a:t>-0.2566</a:t>
            </a:r>
          </a:p>
        </p:txBody>
      </p:sp>
      <p:sp>
        <p:nvSpPr>
          <p:cNvPr id="49" name="TextBox 48"/>
          <p:cNvSpPr txBox="1"/>
          <p:nvPr/>
        </p:nvSpPr>
        <p:spPr>
          <a:xfrm>
            <a:off x="2880360" y="2185416"/>
            <a:ext cx="1005840" cy="246888"/>
          </a:xfrm>
          <a:prstGeom prst="rect">
            <a:avLst/>
          </a:prstGeom>
          <a:noFill/>
        </p:spPr>
        <p:txBody>
          <a:bodyPr wrap="square">
            <a:spAutoFit/>
          </a:bodyPr>
          <a:lstStyle/>
          <a:p>
            <a:pPr algn="l"/>
            <a:r>
              <a:rPr sz="800" b="0" i="0">
                <a:solidFill>
                  <a:srgbClr val="000000"/>
                </a:solidFill>
                <a:latin typeface="Calibri"/>
              </a:rPr>
              <a:t>0.2716</a:t>
            </a:r>
          </a:p>
        </p:txBody>
      </p:sp>
      <p:sp>
        <p:nvSpPr>
          <p:cNvPr id="50" name="TextBox 49"/>
          <p:cNvSpPr txBox="1"/>
          <p:nvPr/>
        </p:nvSpPr>
        <p:spPr>
          <a:xfrm>
            <a:off x="3886200" y="2185416"/>
            <a:ext cx="914400" cy="246888"/>
          </a:xfrm>
          <a:prstGeom prst="rect">
            <a:avLst/>
          </a:prstGeom>
          <a:noFill/>
        </p:spPr>
        <p:txBody>
          <a:bodyPr wrap="square">
            <a:spAutoFit/>
          </a:bodyPr>
          <a:lstStyle/>
          <a:p>
            <a:pPr algn="l"/>
            <a:r>
              <a:rPr sz="800" b="0" i="0">
                <a:solidFill>
                  <a:srgbClr val="000000"/>
                </a:solidFill>
                <a:latin typeface="Calibri"/>
              </a:rPr>
              <a:t>-0.9447</a:t>
            </a:r>
          </a:p>
        </p:txBody>
      </p:sp>
      <p:sp>
        <p:nvSpPr>
          <p:cNvPr id="51" name="TextBox 50"/>
          <p:cNvSpPr txBox="1"/>
          <p:nvPr/>
        </p:nvSpPr>
        <p:spPr>
          <a:xfrm>
            <a:off x="4800600" y="2185416"/>
            <a:ext cx="914400" cy="246888"/>
          </a:xfrm>
          <a:prstGeom prst="rect">
            <a:avLst/>
          </a:prstGeom>
          <a:noFill/>
        </p:spPr>
        <p:txBody>
          <a:bodyPr wrap="square">
            <a:spAutoFit/>
          </a:bodyPr>
          <a:lstStyle/>
          <a:p>
            <a:pPr algn="l"/>
            <a:r>
              <a:rPr sz="800" b="0" i="0">
                <a:solidFill>
                  <a:srgbClr val="000000"/>
                </a:solidFill>
                <a:latin typeface="Calibri"/>
              </a:rPr>
              <a:t>0.3448</a:t>
            </a:r>
          </a:p>
        </p:txBody>
      </p:sp>
      <p:sp>
        <p:nvSpPr>
          <p:cNvPr id="52" name="TextBox 51"/>
          <p:cNvSpPr txBox="1"/>
          <p:nvPr/>
        </p:nvSpPr>
        <p:spPr>
          <a:xfrm>
            <a:off x="5715000" y="2185416"/>
            <a:ext cx="1188720" cy="246888"/>
          </a:xfrm>
          <a:prstGeom prst="rect">
            <a:avLst/>
          </a:prstGeom>
          <a:noFill/>
        </p:spPr>
        <p:txBody>
          <a:bodyPr wrap="square">
            <a:spAutoFit/>
          </a:bodyPr>
          <a:lstStyle/>
          <a:p>
            <a:pPr algn="l"/>
            <a:r>
              <a:rPr sz="800" b="0" i="0">
                <a:solidFill>
                  <a:srgbClr val="000000"/>
                </a:solidFill>
                <a:latin typeface="Calibri"/>
              </a:rPr>
              <a:t>-0.7889</a:t>
            </a:r>
          </a:p>
        </p:txBody>
      </p:sp>
      <p:sp>
        <p:nvSpPr>
          <p:cNvPr id="53" name="TextBox 52"/>
          <p:cNvSpPr txBox="1"/>
          <p:nvPr/>
        </p:nvSpPr>
        <p:spPr>
          <a:xfrm>
            <a:off x="6903720" y="2185416"/>
            <a:ext cx="1188720" cy="246888"/>
          </a:xfrm>
          <a:prstGeom prst="rect">
            <a:avLst/>
          </a:prstGeom>
          <a:noFill/>
        </p:spPr>
        <p:txBody>
          <a:bodyPr wrap="square">
            <a:spAutoFit/>
          </a:bodyPr>
          <a:lstStyle/>
          <a:p>
            <a:pPr algn="l"/>
            <a:r>
              <a:rPr sz="800" b="0" i="0">
                <a:solidFill>
                  <a:srgbClr val="000000"/>
                </a:solidFill>
                <a:latin typeface="Calibri"/>
              </a:rPr>
              <a:t>0.2757</a:t>
            </a:r>
          </a:p>
        </p:txBody>
      </p:sp>
      <p:sp>
        <p:nvSpPr>
          <p:cNvPr id="54" name="Rectangle 53"/>
          <p:cNvSpPr/>
          <p:nvPr/>
        </p:nvSpPr>
        <p:spPr>
          <a:xfrm>
            <a:off x="182880" y="2414016"/>
            <a:ext cx="11823192" cy="2468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228600" y="2432304"/>
            <a:ext cx="1645920" cy="246888"/>
          </a:xfrm>
          <a:prstGeom prst="rect">
            <a:avLst/>
          </a:prstGeom>
          <a:noFill/>
        </p:spPr>
        <p:txBody>
          <a:bodyPr wrap="square">
            <a:spAutoFit/>
          </a:bodyPr>
          <a:lstStyle/>
          <a:p>
            <a:pPr algn="l"/>
            <a:r>
              <a:rPr sz="800" b="0" i="0">
                <a:solidFill>
                  <a:srgbClr val="000000"/>
                </a:solidFill>
                <a:latin typeface="Calibri"/>
              </a:rPr>
              <a:t>VIX</a:t>
            </a:r>
          </a:p>
        </p:txBody>
      </p:sp>
      <p:sp>
        <p:nvSpPr>
          <p:cNvPr id="56" name="TextBox 55"/>
          <p:cNvSpPr txBox="1"/>
          <p:nvPr/>
        </p:nvSpPr>
        <p:spPr>
          <a:xfrm>
            <a:off x="1874520" y="2432304"/>
            <a:ext cx="1005840" cy="246888"/>
          </a:xfrm>
          <a:prstGeom prst="rect">
            <a:avLst/>
          </a:prstGeom>
          <a:noFill/>
        </p:spPr>
        <p:txBody>
          <a:bodyPr wrap="square">
            <a:spAutoFit/>
          </a:bodyPr>
          <a:lstStyle/>
          <a:p>
            <a:pPr algn="l"/>
            <a:r>
              <a:rPr sz="800" b="0" i="0">
                <a:solidFill>
                  <a:srgbClr val="000000"/>
                </a:solidFill>
                <a:latin typeface="Calibri"/>
              </a:rPr>
              <a:t>0.0817</a:t>
            </a:r>
          </a:p>
        </p:txBody>
      </p:sp>
      <p:sp>
        <p:nvSpPr>
          <p:cNvPr id="57" name="TextBox 56"/>
          <p:cNvSpPr txBox="1"/>
          <p:nvPr/>
        </p:nvSpPr>
        <p:spPr>
          <a:xfrm>
            <a:off x="2880360" y="2432304"/>
            <a:ext cx="1005840" cy="246888"/>
          </a:xfrm>
          <a:prstGeom prst="rect">
            <a:avLst/>
          </a:prstGeom>
          <a:noFill/>
        </p:spPr>
        <p:txBody>
          <a:bodyPr wrap="square">
            <a:spAutoFit/>
          </a:bodyPr>
          <a:lstStyle/>
          <a:p>
            <a:pPr algn="l"/>
            <a:r>
              <a:rPr sz="800" b="0" i="0">
                <a:solidFill>
                  <a:srgbClr val="000000"/>
                </a:solidFill>
                <a:latin typeface="Calibri"/>
              </a:rPr>
              <a:t>0.0601</a:t>
            </a:r>
          </a:p>
        </p:txBody>
      </p:sp>
      <p:sp>
        <p:nvSpPr>
          <p:cNvPr id="58" name="TextBox 57"/>
          <p:cNvSpPr txBox="1"/>
          <p:nvPr/>
        </p:nvSpPr>
        <p:spPr>
          <a:xfrm>
            <a:off x="3886200" y="2432304"/>
            <a:ext cx="914400" cy="246888"/>
          </a:xfrm>
          <a:prstGeom prst="rect">
            <a:avLst/>
          </a:prstGeom>
          <a:noFill/>
        </p:spPr>
        <p:txBody>
          <a:bodyPr wrap="square">
            <a:spAutoFit/>
          </a:bodyPr>
          <a:lstStyle/>
          <a:p>
            <a:pPr algn="l"/>
            <a:r>
              <a:rPr sz="800" b="0" i="0">
                <a:solidFill>
                  <a:srgbClr val="000000"/>
                </a:solidFill>
                <a:latin typeface="Calibri"/>
              </a:rPr>
              <a:t>1.3597</a:t>
            </a:r>
          </a:p>
        </p:txBody>
      </p:sp>
      <p:sp>
        <p:nvSpPr>
          <p:cNvPr id="59" name="TextBox 58"/>
          <p:cNvSpPr txBox="1"/>
          <p:nvPr/>
        </p:nvSpPr>
        <p:spPr>
          <a:xfrm>
            <a:off x="4800600" y="2432304"/>
            <a:ext cx="914400" cy="246888"/>
          </a:xfrm>
          <a:prstGeom prst="rect">
            <a:avLst/>
          </a:prstGeom>
          <a:noFill/>
        </p:spPr>
        <p:txBody>
          <a:bodyPr wrap="square">
            <a:spAutoFit/>
          </a:bodyPr>
          <a:lstStyle/>
          <a:p>
            <a:pPr algn="l"/>
            <a:r>
              <a:rPr sz="800" b="0" i="0">
                <a:solidFill>
                  <a:srgbClr val="000000"/>
                </a:solidFill>
                <a:latin typeface="Calibri"/>
              </a:rPr>
              <a:t>0.1739</a:t>
            </a:r>
          </a:p>
        </p:txBody>
      </p:sp>
      <p:sp>
        <p:nvSpPr>
          <p:cNvPr id="60" name="TextBox 59"/>
          <p:cNvSpPr txBox="1"/>
          <p:nvPr/>
        </p:nvSpPr>
        <p:spPr>
          <a:xfrm>
            <a:off x="5715000" y="2432304"/>
            <a:ext cx="1188720" cy="246888"/>
          </a:xfrm>
          <a:prstGeom prst="rect">
            <a:avLst/>
          </a:prstGeom>
          <a:noFill/>
        </p:spPr>
        <p:txBody>
          <a:bodyPr wrap="square">
            <a:spAutoFit/>
          </a:bodyPr>
          <a:lstStyle/>
          <a:p>
            <a:pPr algn="l"/>
            <a:r>
              <a:rPr sz="800" b="0" i="0">
                <a:solidFill>
                  <a:srgbClr val="000000"/>
                </a:solidFill>
                <a:latin typeface="Calibri"/>
              </a:rPr>
              <a:t>-0.0360</a:t>
            </a:r>
          </a:p>
        </p:txBody>
      </p:sp>
      <p:sp>
        <p:nvSpPr>
          <p:cNvPr id="61" name="TextBox 60"/>
          <p:cNvSpPr txBox="1"/>
          <p:nvPr/>
        </p:nvSpPr>
        <p:spPr>
          <a:xfrm>
            <a:off x="6903720" y="2432304"/>
            <a:ext cx="1188720" cy="246888"/>
          </a:xfrm>
          <a:prstGeom prst="rect">
            <a:avLst/>
          </a:prstGeom>
          <a:noFill/>
        </p:spPr>
        <p:txBody>
          <a:bodyPr wrap="square">
            <a:spAutoFit/>
          </a:bodyPr>
          <a:lstStyle/>
          <a:p>
            <a:pPr algn="l"/>
            <a:r>
              <a:rPr sz="800" b="0" i="0">
                <a:solidFill>
                  <a:srgbClr val="000000"/>
                </a:solidFill>
                <a:latin typeface="Calibri"/>
              </a:rPr>
              <a:t>0.1993</a:t>
            </a:r>
          </a:p>
        </p:txBody>
      </p:sp>
      <p:sp>
        <p:nvSpPr>
          <p:cNvPr id="62" name="Rectangle 61"/>
          <p:cNvSpPr/>
          <p:nvPr/>
        </p:nvSpPr>
        <p:spPr>
          <a:xfrm>
            <a:off x="182880" y="2660904"/>
            <a:ext cx="11823192" cy="24688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228600" y="2679192"/>
            <a:ext cx="1645920" cy="246888"/>
          </a:xfrm>
          <a:prstGeom prst="rect">
            <a:avLst/>
          </a:prstGeom>
          <a:noFill/>
        </p:spPr>
        <p:txBody>
          <a:bodyPr wrap="square">
            <a:spAutoFit/>
          </a:bodyPr>
          <a:lstStyle/>
          <a:p>
            <a:pPr algn="l"/>
            <a:r>
              <a:rPr sz="800" b="0" i="0">
                <a:solidFill>
                  <a:srgbClr val="000000"/>
                </a:solidFill>
                <a:latin typeface="Calibri"/>
              </a:rPr>
              <a:t>DXY (Lag 1)</a:t>
            </a:r>
          </a:p>
        </p:txBody>
      </p:sp>
      <p:sp>
        <p:nvSpPr>
          <p:cNvPr id="64" name="TextBox 63"/>
          <p:cNvSpPr txBox="1"/>
          <p:nvPr/>
        </p:nvSpPr>
        <p:spPr>
          <a:xfrm>
            <a:off x="1874520" y="2679192"/>
            <a:ext cx="1005840" cy="246888"/>
          </a:xfrm>
          <a:prstGeom prst="rect">
            <a:avLst/>
          </a:prstGeom>
          <a:noFill/>
        </p:spPr>
        <p:txBody>
          <a:bodyPr wrap="square">
            <a:spAutoFit/>
          </a:bodyPr>
          <a:lstStyle/>
          <a:p>
            <a:pPr algn="l"/>
            <a:r>
              <a:rPr sz="800" b="0" i="0">
                <a:solidFill>
                  <a:srgbClr val="000000"/>
                </a:solidFill>
                <a:latin typeface="Calibri"/>
              </a:rPr>
              <a:t>0.9916</a:t>
            </a:r>
          </a:p>
        </p:txBody>
      </p:sp>
      <p:sp>
        <p:nvSpPr>
          <p:cNvPr id="65" name="TextBox 64"/>
          <p:cNvSpPr txBox="1"/>
          <p:nvPr/>
        </p:nvSpPr>
        <p:spPr>
          <a:xfrm>
            <a:off x="2880360" y="2679192"/>
            <a:ext cx="1005840" cy="246888"/>
          </a:xfrm>
          <a:prstGeom prst="rect">
            <a:avLst/>
          </a:prstGeom>
          <a:noFill/>
        </p:spPr>
        <p:txBody>
          <a:bodyPr wrap="square">
            <a:spAutoFit/>
          </a:bodyPr>
          <a:lstStyle/>
          <a:p>
            <a:pPr algn="l"/>
            <a:r>
              <a:rPr sz="800" b="0" i="0">
                <a:solidFill>
                  <a:srgbClr val="000000"/>
                </a:solidFill>
                <a:latin typeface="Calibri"/>
              </a:rPr>
              <a:t>0.0326</a:t>
            </a:r>
          </a:p>
        </p:txBody>
      </p:sp>
      <p:sp>
        <p:nvSpPr>
          <p:cNvPr id="66" name="TextBox 65"/>
          <p:cNvSpPr txBox="1"/>
          <p:nvPr/>
        </p:nvSpPr>
        <p:spPr>
          <a:xfrm>
            <a:off x="3886200" y="2679192"/>
            <a:ext cx="914400" cy="246888"/>
          </a:xfrm>
          <a:prstGeom prst="rect">
            <a:avLst/>
          </a:prstGeom>
          <a:noFill/>
        </p:spPr>
        <p:txBody>
          <a:bodyPr wrap="square">
            <a:spAutoFit/>
          </a:bodyPr>
          <a:lstStyle/>
          <a:p>
            <a:pPr algn="l"/>
            <a:r>
              <a:rPr sz="800" b="0" i="0">
                <a:solidFill>
                  <a:srgbClr val="000000"/>
                </a:solidFill>
                <a:latin typeface="Calibri"/>
              </a:rPr>
              <a:t>30.4510</a:t>
            </a:r>
          </a:p>
        </p:txBody>
      </p:sp>
      <p:sp>
        <p:nvSpPr>
          <p:cNvPr id="67" name="TextBox 66"/>
          <p:cNvSpPr txBox="1"/>
          <p:nvPr/>
        </p:nvSpPr>
        <p:spPr>
          <a:xfrm>
            <a:off x="4800600" y="2679192"/>
            <a:ext cx="914400" cy="246888"/>
          </a:xfrm>
          <a:prstGeom prst="rect">
            <a:avLst/>
          </a:prstGeom>
          <a:noFill/>
        </p:spPr>
        <p:txBody>
          <a:bodyPr wrap="square">
            <a:spAutoFit/>
          </a:bodyPr>
          <a:lstStyle/>
          <a:p>
            <a:pPr algn="l"/>
            <a:r>
              <a:rPr sz="800" b="0" i="0">
                <a:solidFill>
                  <a:srgbClr val="000000"/>
                </a:solidFill>
                <a:latin typeface="Calibri"/>
              </a:rPr>
              <a:t>0.00e+00</a:t>
            </a:r>
          </a:p>
        </p:txBody>
      </p:sp>
      <p:sp>
        <p:nvSpPr>
          <p:cNvPr id="68" name="TextBox 67"/>
          <p:cNvSpPr txBox="1"/>
          <p:nvPr/>
        </p:nvSpPr>
        <p:spPr>
          <a:xfrm>
            <a:off x="5715000" y="2679192"/>
            <a:ext cx="1188720" cy="246888"/>
          </a:xfrm>
          <a:prstGeom prst="rect">
            <a:avLst/>
          </a:prstGeom>
          <a:noFill/>
        </p:spPr>
        <p:txBody>
          <a:bodyPr wrap="square">
            <a:spAutoFit/>
          </a:bodyPr>
          <a:lstStyle/>
          <a:p>
            <a:pPr algn="l"/>
            <a:r>
              <a:rPr sz="800" b="0" i="0">
                <a:solidFill>
                  <a:srgbClr val="000000"/>
                </a:solidFill>
                <a:latin typeface="Calibri"/>
              </a:rPr>
              <a:t>0.9277</a:t>
            </a:r>
          </a:p>
        </p:txBody>
      </p:sp>
      <p:sp>
        <p:nvSpPr>
          <p:cNvPr id="69" name="TextBox 68"/>
          <p:cNvSpPr txBox="1"/>
          <p:nvPr/>
        </p:nvSpPr>
        <p:spPr>
          <a:xfrm>
            <a:off x="6903720" y="2679192"/>
            <a:ext cx="1188720" cy="246888"/>
          </a:xfrm>
          <a:prstGeom prst="rect">
            <a:avLst/>
          </a:prstGeom>
          <a:noFill/>
        </p:spPr>
        <p:txBody>
          <a:bodyPr wrap="square">
            <a:spAutoFit/>
          </a:bodyPr>
          <a:lstStyle/>
          <a:p>
            <a:pPr algn="l"/>
            <a:r>
              <a:rPr sz="800" b="0" i="0">
                <a:solidFill>
                  <a:srgbClr val="000000"/>
                </a:solidFill>
                <a:latin typeface="Calibri"/>
              </a:rPr>
              <a:t>1.0554</a:t>
            </a:r>
          </a:p>
        </p:txBody>
      </p:sp>
      <p:sp>
        <p:nvSpPr>
          <p:cNvPr id="70" name="TextBox 69"/>
          <p:cNvSpPr txBox="1"/>
          <p:nvPr/>
        </p:nvSpPr>
        <p:spPr>
          <a:xfrm>
            <a:off x="182880" y="3044952"/>
            <a:ext cx="11823192" cy="3721608"/>
          </a:xfrm>
          <a:prstGeom prst="rect">
            <a:avLst/>
          </a:prstGeom>
          <a:noFill/>
        </p:spPr>
        <p:txBody>
          <a:bodyPr wrap="square">
            <a:spAutoFit/>
          </a:bodyPr>
          <a:lstStyle/>
          <a:p>
            <a:pPr algn="just">
              <a:spcBef>
                <a:spcPts val="500"/>
              </a:spcBef>
            </a:pPr>
            <a:r>
              <a:rPr sz="900" b="0">
                <a:solidFill>
                  <a:srgbClr val="333333"/>
                </a:solidFill>
                <a:latin typeface="Calibri"/>
              </a:rPr>
              <a:t>R² = 0.959   |   Adj. R² = 0.955   |   F-stat = 337.7   |   DW = 1.310   |   Skew = −0.069   |   Kurtosis = 3.046</a:t>
            </a:r>
          </a:p>
          <a:p>
            <a:pPr algn="just">
              <a:spcBef>
                <a:spcPts val="500"/>
              </a:spcBef>
            </a:pPr>
            <a:r>
              <a:rPr sz="900" b="0">
                <a:solidFill>
                  <a:srgbClr val="333333"/>
                </a:solidFill>
                <a:latin typeface="Calibri"/>
              </a:rPr>
              <a:t>Lagged DXY is the only statistically significant regressor (p ≈ 0). All other fundamentals are insignificant conditional on the lagged level — consistent with near-unit-root exchange rate behavior.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02920"/>
          </a:xfrm>
          <a:prstGeom prst="rect">
            <a:avLst/>
          </a:prstGeom>
          <a:solidFill>
            <a:srgbClr val="6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2880" y="45720"/>
            <a:ext cx="11823192" cy="502920"/>
          </a:xfrm>
          <a:prstGeom prst="rect">
            <a:avLst/>
          </a:prstGeom>
          <a:noFill/>
        </p:spPr>
        <p:txBody>
          <a:bodyPr wrap="square">
            <a:spAutoFit/>
          </a:bodyPr>
          <a:lstStyle/>
          <a:p>
            <a:pPr algn="l"/>
            <a:r>
              <a:rPr sz="1800" b="1" i="0">
                <a:solidFill>
                  <a:srgbClr val="FFFFFF"/>
                </a:solidFill>
                <a:latin typeface="Calibri"/>
              </a:rPr>
              <a:t>MODEL 2: US DOLLAR INDEX (DXY)</a:t>
            </a:r>
          </a:p>
        </p:txBody>
      </p:sp>
      <p:sp>
        <p:nvSpPr>
          <p:cNvPr id="4" name="Rectangle 3"/>
          <p:cNvSpPr/>
          <p:nvPr/>
        </p:nvSpPr>
        <p:spPr>
          <a:xfrm>
            <a:off x="0" y="502920"/>
            <a:ext cx="12188952" cy="274320"/>
          </a:xfrm>
          <a:prstGeom prst="rect">
            <a:avLst/>
          </a:prstGeom>
          <a:solidFill>
            <a:srgbClr val="A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82880" y="530352"/>
            <a:ext cx="11823192" cy="274320"/>
          </a:xfrm>
          <a:prstGeom prst="rect">
            <a:avLst/>
          </a:prstGeom>
          <a:noFill/>
        </p:spPr>
        <p:txBody>
          <a:bodyPr wrap="square">
            <a:spAutoFit/>
          </a:bodyPr>
          <a:lstStyle/>
          <a:p>
            <a:pPr algn="l"/>
            <a:r>
              <a:rPr sz="1100" b="0" i="1">
                <a:solidFill>
                  <a:srgbClr val="FFFFFF"/>
                </a:solidFill>
                <a:latin typeface="Calibri"/>
              </a:rPr>
              <a:t>Coefficient Analysis</a:t>
            </a:r>
          </a:p>
        </p:txBody>
      </p:sp>
      <p:sp>
        <p:nvSpPr>
          <p:cNvPr id="6" name="TextBox 5"/>
          <p:cNvSpPr txBox="1"/>
          <p:nvPr/>
        </p:nvSpPr>
        <p:spPr>
          <a:xfrm>
            <a:off x="182880" y="886968"/>
            <a:ext cx="11823192" cy="5879592"/>
          </a:xfrm>
          <a:prstGeom prst="rect">
            <a:avLst/>
          </a:prstGeom>
          <a:noFill/>
        </p:spPr>
        <p:txBody>
          <a:bodyPr wrap="square">
            <a:spAutoFit/>
          </a:bodyPr>
          <a:lstStyle/>
          <a:p>
            <a:pPr algn="just">
              <a:spcBef>
                <a:spcPts val="500"/>
              </a:spcBef>
            </a:pPr>
            <a:r>
              <a:rPr sz="950" b="0">
                <a:solidFill>
                  <a:srgbClr val="000000"/>
                </a:solidFill>
                <a:latin typeface="Calibri"/>
              </a:rPr>
              <a:t>Lagged DXY (coeff. = 0.992, 95% CI: [+0.928, +1.055]):</a:t>
            </a:r>
          </a:p>
          <a:p>
            <a:pPr algn="just">
              <a:spcBef>
                <a:spcPts val="500"/>
              </a:spcBef>
            </a:pPr>
            <a:r>
              <a:rPr sz="950" b="0">
                <a:solidFill>
                  <a:srgbClr val="000000"/>
                </a:solidFill>
                <a:latin typeface="Calibri"/>
              </a:rPr>
              <a:t>Statistically indistinguishable from 1.0. The DXY follows a near-unit-root process — highly persistent and mean-reverting only extremely slowly. Our model confirms that the best predictor of the dollar next quarter is the dollar this quarter. Fundamentals are priced in continuously and do not provide additional predictive power over the lagged level at quarterly frequency. They drive the dollar through unexpected changes, not their levels.</a:t>
            </a:r>
          </a:p>
          <a:p>
            <a:pPr algn="just">
              <a:spcBef>
                <a:spcPts val="500"/>
              </a:spcBef>
            </a:pPr>
            <a:r>
              <a:rPr sz="950" b="0">
                <a:solidFill>
                  <a:srgbClr val="000000"/>
                </a:solidFill>
                <a:latin typeface="Calibri"/>
              </a:rPr>
              <a:t>Rate Differential (coeff. = −0.010): Completely insignificant — the lagged DXY encodes the history of all past rate differentials already priced in.</a:t>
            </a:r>
          </a:p>
          <a:p>
            <a:pPr algn="just">
              <a:spcBef>
                <a:spcPts val="500"/>
              </a:spcBef>
            </a:pPr>
            <a:r>
              <a:rPr sz="950" b="0">
                <a:solidFill>
                  <a:srgbClr val="000000"/>
                </a:solidFill>
                <a:latin typeface="Calibri"/>
              </a:rPr>
              <a:t>Inflation Differential (coeff. = −0.031): Absorbed by the lag. The negative sign is consistent with PPP theory, but PPP operates over 3–5 year horizons, not quarters.</a:t>
            </a:r>
          </a:p>
          <a:p>
            <a:pPr algn="just">
              <a:spcBef>
                <a:spcPts val="500"/>
              </a:spcBef>
            </a:pPr>
            <a:r>
              <a:rPr sz="950" b="0">
                <a:solidFill>
                  <a:srgbClr val="000000"/>
                </a:solidFill>
                <a:latin typeface="Calibri"/>
              </a:rPr>
              <a:t>Trade Balance (coeff. = −0.009): Theoretically correct sign (wider deficit weakens dollar), but not significant. A $10bn quarterly deterioration associates with ~0.09 point DXY decline — economically small.</a:t>
            </a:r>
          </a:p>
          <a:p>
            <a:pPr algn="just">
              <a:spcBef>
                <a:spcPts val="500"/>
              </a:spcBef>
            </a:pPr>
            <a:r>
              <a:rPr sz="950" b="0">
                <a:solidFill>
                  <a:srgbClr val="000000"/>
                </a:solidFill>
                <a:latin typeface="Calibri"/>
              </a:rPr>
              <a:t>Fed Funds Rate (coeff. = −0.257): Counterintuitively negative, reflecting collinearity with rate differential.</a:t>
            </a:r>
          </a:p>
          <a:p>
            <a:pPr algn="just">
              <a:spcBef>
                <a:spcPts val="500"/>
              </a:spcBef>
            </a:pPr>
            <a:r>
              <a:rPr sz="950" b="0">
                <a:solidFill>
                  <a:srgbClr val="000000"/>
                </a:solidFill>
                <a:latin typeface="Calibri"/>
              </a:rPr>
              <a:t>VIX (coeff. = +0.082, 95% CI: [−0.036, +0.199]): Expected positive sign (safe-haven effect) but marginally insignificant. The safe-haven dollar effect is most visible during crisis episodes (March 2020) but averages out at quarterly frequency as crises resolve within quarters.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02920"/>
          </a:xfrm>
          <a:prstGeom prst="rect">
            <a:avLst/>
          </a:prstGeom>
          <a:solidFill>
            <a:srgbClr val="6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2880" y="45720"/>
            <a:ext cx="11823192" cy="502920"/>
          </a:xfrm>
          <a:prstGeom prst="rect">
            <a:avLst/>
          </a:prstGeom>
          <a:noFill/>
        </p:spPr>
        <p:txBody>
          <a:bodyPr wrap="square">
            <a:spAutoFit/>
          </a:bodyPr>
          <a:lstStyle/>
          <a:p>
            <a:pPr algn="l"/>
            <a:r>
              <a:rPr sz="1800" b="1" i="0">
                <a:solidFill>
                  <a:srgbClr val="FFFFFF"/>
                </a:solidFill>
                <a:latin typeface="Calibri"/>
              </a:rPr>
              <a:t>MODEL 3: US IMPORT GROWTH</a:t>
            </a:r>
          </a:p>
        </p:txBody>
      </p:sp>
      <p:sp>
        <p:nvSpPr>
          <p:cNvPr id="4" name="Rectangle 3"/>
          <p:cNvSpPr/>
          <p:nvPr/>
        </p:nvSpPr>
        <p:spPr>
          <a:xfrm>
            <a:off x="0" y="502920"/>
            <a:ext cx="12188952" cy="274320"/>
          </a:xfrm>
          <a:prstGeom prst="rect">
            <a:avLst/>
          </a:prstGeom>
          <a:solidFill>
            <a:srgbClr val="A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82880" y="530352"/>
            <a:ext cx="11823192" cy="274320"/>
          </a:xfrm>
          <a:prstGeom prst="rect">
            <a:avLst/>
          </a:prstGeom>
          <a:noFill/>
        </p:spPr>
        <p:txBody>
          <a:bodyPr wrap="square">
            <a:spAutoFit/>
          </a:bodyPr>
          <a:lstStyle/>
          <a:p>
            <a:pPr algn="l"/>
            <a:r>
              <a:rPr sz="1100" b="0" i="1">
                <a:solidFill>
                  <a:srgbClr val="FFFFFF"/>
                </a:solidFill>
                <a:latin typeface="Calibri"/>
              </a:rPr>
              <a:t>Model Specification &amp; Overall Fit</a:t>
            </a:r>
          </a:p>
        </p:txBody>
      </p:sp>
      <p:sp>
        <p:nvSpPr>
          <p:cNvPr id="6" name="TextBox 5"/>
          <p:cNvSpPr txBox="1"/>
          <p:nvPr/>
        </p:nvSpPr>
        <p:spPr>
          <a:xfrm>
            <a:off x="6473952" y="886968"/>
            <a:ext cx="5486400" cy="228600"/>
          </a:xfrm>
          <a:prstGeom prst="rect">
            <a:avLst/>
          </a:prstGeom>
          <a:noFill/>
        </p:spPr>
        <p:txBody>
          <a:bodyPr wrap="square">
            <a:spAutoFit/>
          </a:bodyPr>
          <a:lstStyle/>
          <a:p>
            <a:pPr algn="l"/>
            <a:r>
              <a:rPr sz="900" b="1" i="0">
                <a:solidFill>
                  <a:srgbClr val="000000"/>
                </a:solidFill>
                <a:latin typeface="Calibri"/>
              </a:rPr>
              <a:t>Exhibit 9</a:t>
            </a:r>
          </a:p>
        </p:txBody>
      </p:sp>
      <p:pic>
        <p:nvPicPr>
          <p:cNvPr id="7" name="Picture 6" descr="imports_model.png"/>
          <p:cNvPicPr>
            <a:picLocks noChangeAspect="1"/>
          </p:cNvPicPr>
          <p:nvPr/>
        </p:nvPicPr>
        <p:blipFill>
          <a:blip r:embed="rId2"/>
          <a:stretch>
            <a:fillRect/>
          </a:stretch>
        </p:blipFill>
        <p:spPr>
          <a:xfrm>
            <a:off x="6473952" y="1115568"/>
            <a:ext cx="5486400" cy="4892040"/>
          </a:xfrm>
          <a:prstGeom prst="rect">
            <a:avLst/>
          </a:prstGeom>
        </p:spPr>
      </p:pic>
      <p:sp>
        <p:nvSpPr>
          <p:cNvPr id="8" name="TextBox 7"/>
          <p:cNvSpPr txBox="1"/>
          <p:nvPr/>
        </p:nvSpPr>
        <p:spPr>
          <a:xfrm>
            <a:off x="182880" y="886968"/>
            <a:ext cx="6108192" cy="5879592"/>
          </a:xfrm>
          <a:prstGeom prst="rect">
            <a:avLst/>
          </a:prstGeom>
          <a:noFill/>
        </p:spPr>
        <p:txBody>
          <a:bodyPr wrap="square">
            <a:spAutoFit/>
          </a:bodyPr>
          <a:lstStyle/>
          <a:p>
            <a:pPr algn="just">
              <a:spcBef>
                <a:spcPts val="400"/>
              </a:spcBef>
            </a:pPr>
            <a:r>
              <a:rPr sz="950">
                <a:solidFill>
                  <a:srgbClr val="000000"/>
                </a:solidFill>
                <a:latin typeface="Calibri"/>
              </a:rPr>
              <a:t>Model 3 estimates the year-over-year percentage change in real US imports of goods and services as a function of four main regressors: the AFE US Dollar Index, the Year-over-year change in real US GDP, the year-over-year change in WTI oil prices, and one lag of the dependent variable (imports). Sample: 2006 Q2 to 2025 Q4, 79 observations. Standard errors are Newey-West HAC with 4 lags.</a:t>
            </a:r>
          </a:p>
          <a:p>
            <a:pPr algn="just">
              <a:spcBef>
                <a:spcPts val="400"/>
              </a:spcBef>
            </a:pPr>
            <a:r>
              <a:rPr sz="950">
                <a:solidFill>
                  <a:srgbClr val="000000"/>
                </a:solidFill>
                <a:latin typeface="Calibri"/>
              </a:rPr>
              <a:t>R² = 0.812   |   Adj. R² = 0.801   |   F-stat = 239.1</a:t>
            </a:r>
          </a:p>
          <a:p>
            <a:pPr algn="just">
              <a:spcBef>
                <a:spcPts val="400"/>
              </a:spcBef>
            </a:pPr>
            <a:r>
              <a:rPr sz="950">
                <a:solidFill>
                  <a:srgbClr val="000000"/>
                </a:solidFill>
                <a:latin typeface="Calibri"/>
              </a:rPr>
              <a:t>AIC = 413.14   |   BIC = 424.99</a:t>
            </a:r>
          </a:p>
          <a:p>
            <a:pPr algn="just">
              <a:spcBef>
                <a:spcPts val="400"/>
              </a:spcBef>
            </a:pPr>
            <a:r>
              <a:rPr sz="950">
                <a:solidFill>
                  <a:srgbClr val="000000"/>
                </a:solidFill>
                <a:latin typeface="Calibri"/>
              </a:rPr>
              <a:t>Approximately 81% of variance in quarterly import growth is explained by the four regressors. The fit is slightly lower than Model 1, reflecting the greater heterogeneity of the import bucket — imports span consumer goods, capital equipment, energy, and intermediates, each responding differently to macro drivers.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02920"/>
          </a:xfrm>
          <a:prstGeom prst="rect">
            <a:avLst/>
          </a:prstGeom>
          <a:solidFill>
            <a:srgbClr val="6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2880" y="45720"/>
            <a:ext cx="11823192" cy="502920"/>
          </a:xfrm>
          <a:prstGeom prst="rect">
            <a:avLst/>
          </a:prstGeom>
          <a:noFill/>
        </p:spPr>
        <p:txBody>
          <a:bodyPr wrap="square">
            <a:spAutoFit/>
          </a:bodyPr>
          <a:lstStyle/>
          <a:p>
            <a:pPr algn="l"/>
            <a:r>
              <a:rPr sz="1800" b="1" i="0">
                <a:solidFill>
                  <a:srgbClr val="FFFFFF"/>
                </a:solidFill>
                <a:latin typeface="Calibri"/>
              </a:rPr>
              <a:t>MODEL 3: US IMPORT GROWTH</a:t>
            </a:r>
          </a:p>
        </p:txBody>
      </p:sp>
      <p:sp>
        <p:nvSpPr>
          <p:cNvPr id="4" name="Rectangle 3"/>
          <p:cNvSpPr/>
          <p:nvPr/>
        </p:nvSpPr>
        <p:spPr>
          <a:xfrm>
            <a:off x="0" y="502920"/>
            <a:ext cx="12188952" cy="274320"/>
          </a:xfrm>
          <a:prstGeom prst="rect">
            <a:avLst/>
          </a:prstGeom>
          <a:solidFill>
            <a:srgbClr val="A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82880" y="530352"/>
            <a:ext cx="11823192" cy="274320"/>
          </a:xfrm>
          <a:prstGeom prst="rect">
            <a:avLst/>
          </a:prstGeom>
          <a:noFill/>
        </p:spPr>
        <p:txBody>
          <a:bodyPr wrap="square">
            <a:spAutoFit/>
          </a:bodyPr>
          <a:lstStyle/>
          <a:p>
            <a:pPr algn="l"/>
            <a:r>
              <a:rPr sz="1100" b="0" i="1">
                <a:solidFill>
                  <a:srgbClr val="FFFFFF"/>
                </a:solidFill>
                <a:latin typeface="Calibri"/>
              </a:rPr>
              <a:t>Regression Results (HAC SE)</a:t>
            </a:r>
          </a:p>
        </p:txBody>
      </p:sp>
      <p:sp>
        <p:nvSpPr>
          <p:cNvPr id="6" name="Rectangle 5"/>
          <p:cNvSpPr/>
          <p:nvPr/>
        </p:nvSpPr>
        <p:spPr>
          <a:xfrm>
            <a:off x="182880" y="932688"/>
            <a:ext cx="11823192" cy="246888"/>
          </a:xfrm>
          <a:prstGeom prst="rect">
            <a:avLst/>
          </a:prstGeom>
          <a:solidFill>
            <a:srgbClr val="6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28600" y="950976"/>
            <a:ext cx="1645920" cy="246888"/>
          </a:xfrm>
          <a:prstGeom prst="rect">
            <a:avLst/>
          </a:prstGeom>
          <a:noFill/>
        </p:spPr>
        <p:txBody>
          <a:bodyPr wrap="square">
            <a:spAutoFit/>
          </a:bodyPr>
          <a:lstStyle/>
          <a:p>
            <a:pPr algn="l"/>
            <a:r>
              <a:rPr sz="850" b="1" i="0">
                <a:solidFill>
                  <a:srgbClr val="FFFFFF"/>
                </a:solidFill>
                <a:latin typeface="Calibri"/>
              </a:rPr>
              <a:t>Variable</a:t>
            </a:r>
          </a:p>
        </p:txBody>
      </p:sp>
      <p:sp>
        <p:nvSpPr>
          <p:cNvPr id="8" name="TextBox 7"/>
          <p:cNvSpPr txBox="1"/>
          <p:nvPr/>
        </p:nvSpPr>
        <p:spPr>
          <a:xfrm>
            <a:off x="1874520" y="950976"/>
            <a:ext cx="1005840" cy="246888"/>
          </a:xfrm>
          <a:prstGeom prst="rect">
            <a:avLst/>
          </a:prstGeom>
          <a:noFill/>
        </p:spPr>
        <p:txBody>
          <a:bodyPr wrap="square">
            <a:spAutoFit/>
          </a:bodyPr>
          <a:lstStyle/>
          <a:p>
            <a:pPr algn="l"/>
            <a:r>
              <a:rPr sz="850" b="1" i="0">
                <a:solidFill>
                  <a:srgbClr val="FFFFFF"/>
                </a:solidFill>
                <a:latin typeface="Calibri"/>
              </a:rPr>
              <a:t>Coeff.</a:t>
            </a:r>
          </a:p>
        </p:txBody>
      </p:sp>
      <p:sp>
        <p:nvSpPr>
          <p:cNvPr id="9" name="TextBox 8"/>
          <p:cNvSpPr txBox="1"/>
          <p:nvPr/>
        </p:nvSpPr>
        <p:spPr>
          <a:xfrm>
            <a:off x="2880360" y="950976"/>
            <a:ext cx="1005840" cy="246888"/>
          </a:xfrm>
          <a:prstGeom prst="rect">
            <a:avLst/>
          </a:prstGeom>
          <a:noFill/>
        </p:spPr>
        <p:txBody>
          <a:bodyPr wrap="square">
            <a:spAutoFit/>
          </a:bodyPr>
          <a:lstStyle/>
          <a:p>
            <a:pPr algn="l"/>
            <a:r>
              <a:rPr sz="850" b="1" i="0">
                <a:solidFill>
                  <a:srgbClr val="FFFFFF"/>
                </a:solidFill>
                <a:latin typeface="Calibri"/>
              </a:rPr>
              <a:t>Std. Error</a:t>
            </a:r>
          </a:p>
        </p:txBody>
      </p:sp>
      <p:sp>
        <p:nvSpPr>
          <p:cNvPr id="10" name="TextBox 9"/>
          <p:cNvSpPr txBox="1"/>
          <p:nvPr/>
        </p:nvSpPr>
        <p:spPr>
          <a:xfrm>
            <a:off x="3886200" y="950976"/>
            <a:ext cx="914400" cy="246888"/>
          </a:xfrm>
          <a:prstGeom prst="rect">
            <a:avLst/>
          </a:prstGeom>
          <a:noFill/>
        </p:spPr>
        <p:txBody>
          <a:bodyPr wrap="square">
            <a:spAutoFit/>
          </a:bodyPr>
          <a:lstStyle/>
          <a:p>
            <a:pPr algn="l"/>
            <a:r>
              <a:rPr sz="850" b="1" i="0">
                <a:solidFill>
                  <a:srgbClr val="FFFFFF"/>
                </a:solidFill>
                <a:latin typeface="Calibri"/>
              </a:rPr>
              <a:t>t-stat</a:t>
            </a:r>
          </a:p>
        </p:txBody>
      </p:sp>
      <p:sp>
        <p:nvSpPr>
          <p:cNvPr id="11" name="TextBox 10"/>
          <p:cNvSpPr txBox="1"/>
          <p:nvPr/>
        </p:nvSpPr>
        <p:spPr>
          <a:xfrm>
            <a:off x="4800600" y="950976"/>
            <a:ext cx="914400" cy="246888"/>
          </a:xfrm>
          <a:prstGeom prst="rect">
            <a:avLst/>
          </a:prstGeom>
          <a:noFill/>
        </p:spPr>
        <p:txBody>
          <a:bodyPr wrap="square">
            <a:spAutoFit/>
          </a:bodyPr>
          <a:lstStyle/>
          <a:p>
            <a:pPr algn="l"/>
            <a:r>
              <a:rPr sz="850" b="1" i="0">
                <a:solidFill>
                  <a:srgbClr val="FFFFFF"/>
                </a:solidFill>
                <a:latin typeface="Calibri"/>
              </a:rPr>
              <a:t>p-value</a:t>
            </a:r>
          </a:p>
        </p:txBody>
      </p:sp>
      <p:sp>
        <p:nvSpPr>
          <p:cNvPr id="12" name="TextBox 11"/>
          <p:cNvSpPr txBox="1"/>
          <p:nvPr/>
        </p:nvSpPr>
        <p:spPr>
          <a:xfrm>
            <a:off x="5715000" y="950976"/>
            <a:ext cx="1188720" cy="246888"/>
          </a:xfrm>
          <a:prstGeom prst="rect">
            <a:avLst/>
          </a:prstGeom>
          <a:noFill/>
        </p:spPr>
        <p:txBody>
          <a:bodyPr wrap="square">
            <a:spAutoFit/>
          </a:bodyPr>
          <a:lstStyle/>
          <a:p>
            <a:pPr algn="l"/>
            <a:r>
              <a:rPr sz="850" b="1" i="0">
                <a:solidFill>
                  <a:srgbClr val="FFFFFF"/>
                </a:solidFill>
                <a:latin typeface="Calibri"/>
              </a:rPr>
              <a:t>CI Lower (95%)</a:t>
            </a:r>
          </a:p>
        </p:txBody>
      </p:sp>
      <p:sp>
        <p:nvSpPr>
          <p:cNvPr id="13" name="TextBox 12"/>
          <p:cNvSpPr txBox="1"/>
          <p:nvPr/>
        </p:nvSpPr>
        <p:spPr>
          <a:xfrm>
            <a:off x="6903720" y="950976"/>
            <a:ext cx="1188720" cy="246888"/>
          </a:xfrm>
          <a:prstGeom prst="rect">
            <a:avLst/>
          </a:prstGeom>
          <a:noFill/>
        </p:spPr>
        <p:txBody>
          <a:bodyPr wrap="square">
            <a:spAutoFit/>
          </a:bodyPr>
          <a:lstStyle/>
          <a:p>
            <a:pPr algn="l"/>
            <a:r>
              <a:rPr sz="850" b="1" i="0">
                <a:solidFill>
                  <a:srgbClr val="FFFFFF"/>
                </a:solidFill>
                <a:latin typeface="Calibri"/>
              </a:rPr>
              <a:t>CI Upper (95%)</a:t>
            </a:r>
          </a:p>
        </p:txBody>
      </p:sp>
      <p:sp>
        <p:nvSpPr>
          <p:cNvPr id="14" name="Rectangle 13"/>
          <p:cNvSpPr/>
          <p:nvPr/>
        </p:nvSpPr>
        <p:spPr>
          <a:xfrm>
            <a:off x="182880" y="1179576"/>
            <a:ext cx="11823192" cy="24688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28600" y="1197864"/>
            <a:ext cx="1645920" cy="246888"/>
          </a:xfrm>
          <a:prstGeom prst="rect">
            <a:avLst/>
          </a:prstGeom>
          <a:noFill/>
        </p:spPr>
        <p:txBody>
          <a:bodyPr wrap="square">
            <a:spAutoFit/>
          </a:bodyPr>
          <a:lstStyle/>
          <a:p>
            <a:pPr algn="l"/>
            <a:r>
              <a:rPr sz="800" b="0" i="0">
                <a:solidFill>
                  <a:srgbClr val="000000"/>
                </a:solidFill>
                <a:latin typeface="Calibri"/>
              </a:rPr>
              <a:t>Constant</a:t>
            </a:r>
          </a:p>
        </p:txBody>
      </p:sp>
      <p:sp>
        <p:nvSpPr>
          <p:cNvPr id="16" name="TextBox 15"/>
          <p:cNvSpPr txBox="1"/>
          <p:nvPr/>
        </p:nvSpPr>
        <p:spPr>
          <a:xfrm>
            <a:off x="1874520" y="1197864"/>
            <a:ext cx="1005840" cy="246888"/>
          </a:xfrm>
          <a:prstGeom prst="rect">
            <a:avLst/>
          </a:prstGeom>
          <a:noFill/>
        </p:spPr>
        <p:txBody>
          <a:bodyPr wrap="square">
            <a:spAutoFit/>
          </a:bodyPr>
          <a:lstStyle/>
          <a:p>
            <a:pPr algn="l"/>
            <a:r>
              <a:rPr sz="800" b="0" i="0">
                <a:solidFill>
                  <a:srgbClr val="000000"/>
                </a:solidFill>
                <a:latin typeface="Calibri"/>
              </a:rPr>
              <a:t>0.9917</a:t>
            </a:r>
          </a:p>
        </p:txBody>
      </p:sp>
      <p:sp>
        <p:nvSpPr>
          <p:cNvPr id="17" name="TextBox 16"/>
          <p:cNvSpPr txBox="1"/>
          <p:nvPr/>
        </p:nvSpPr>
        <p:spPr>
          <a:xfrm>
            <a:off x="2880360" y="1197864"/>
            <a:ext cx="1005840" cy="246888"/>
          </a:xfrm>
          <a:prstGeom prst="rect">
            <a:avLst/>
          </a:prstGeom>
          <a:noFill/>
        </p:spPr>
        <p:txBody>
          <a:bodyPr wrap="square">
            <a:spAutoFit/>
          </a:bodyPr>
          <a:lstStyle/>
          <a:p>
            <a:pPr algn="l"/>
            <a:r>
              <a:rPr sz="800" b="0" i="0">
                <a:solidFill>
                  <a:srgbClr val="000000"/>
                </a:solidFill>
                <a:latin typeface="Calibri"/>
              </a:rPr>
              <a:t>4.2533</a:t>
            </a:r>
          </a:p>
        </p:txBody>
      </p:sp>
      <p:sp>
        <p:nvSpPr>
          <p:cNvPr id="18" name="TextBox 17"/>
          <p:cNvSpPr txBox="1"/>
          <p:nvPr/>
        </p:nvSpPr>
        <p:spPr>
          <a:xfrm>
            <a:off x="3886200" y="1197864"/>
            <a:ext cx="914400" cy="246888"/>
          </a:xfrm>
          <a:prstGeom prst="rect">
            <a:avLst/>
          </a:prstGeom>
          <a:noFill/>
        </p:spPr>
        <p:txBody>
          <a:bodyPr wrap="square">
            <a:spAutoFit/>
          </a:bodyPr>
          <a:lstStyle/>
          <a:p>
            <a:pPr algn="l"/>
            <a:r>
              <a:rPr sz="800" b="0" i="0">
                <a:solidFill>
                  <a:srgbClr val="000000"/>
                </a:solidFill>
                <a:latin typeface="Calibri"/>
              </a:rPr>
              <a:t>0.2332</a:t>
            </a:r>
          </a:p>
        </p:txBody>
      </p:sp>
      <p:sp>
        <p:nvSpPr>
          <p:cNvPr id="19" name="TextBox 18"/>
          <p:cNvSpPr txBox="1"/>
          <p:nvPr/>
        </p:nvSpPr>
        <p:spPr>
          <a:xfrm>
            <a:off x="4800600" y="1197864"/>
            <a:ext cx="914400" cy="246888"/>
          </a:xfrm>
          <a:prstGeom prst="rect">
            <a:avLst/>
          </a:prstGeom>
          <a:noFill/>
        </p:spPr>
        <p:txBody>
          <a:bodyPr wrap="square">
            <a:spAutoFit/>
          </a:bodyPr>
          <a:lstStyle/>
          <a:p>
            <a:pPr algn="l"/>
            <a:r>
              <a:rPr sz="800" b="0" i="0">
                <a:solidFill>
                  <a:srgbClr val="000000"/>
                </a:solidFill>
                <a:latin typeface="Calibri"/>
              </a:rPr>
              <a:t>0.8156</a:t>
            </a:r>
          </a:p>
        </p:txBody>
      </p:sp>
      <p:sp>
        <p:nvSpPr>
          <p:cNvPr id="20" name="TextBox 19"/>
          <p:cNvSpPr txBox="1"/>
          <p:nvPr/>
        </p:nvSpPr>
        <p:spPr>
          <a:xfrm>
            <a:off x="5715000" y="1197864"/>
            <a:ext cx="1188720" cy="246888"/>
          </a:xfrm>
          <a:prstGeom prst="rect">
            <a:avLst/>
          </a:prstGeom>
          <a:noFill/>
        </p:spPr>
        <p:txBody>
          <a:bodyPr wrap="square">
            <a:spAutoFit/>
          </a:bodyPr>
          <a:lstStyle/>
          <a:p>
            <a:pPr algn="l"/>
            <a:r>
              <a:rPr sz="800" b="0" i="0">
                <a:solidFill>
                  <a:srgbClr val="000000"/>
                </a:solidFill>
                <a:latin typeface="Calibri"/>
              </a:rPr>
              <a:t>-7.3446</a:t>
            </a:r>
          </a:p>
        </p:txBody>
      </p:sp>
      <p:sp>
        <p:nvSpPr>
          <p:cNvPr id="21" name="TextBox 20"/>
          <p:cNvSpPr txBox="1"/>
          <p:nvPr/>
        </p:nvSpPr>
        <p:spPr>
          <a:xfrm>
            <a:off x="6903720" y="1197864"/>
            <a:ext cx="1188720" cy="246888"/>
          </a:xfrm>
          <a:prstGeom prst="rect">
            <a:avLst/>
          </a:prstGeom>
          <a:noFill/>
        </p:spPr>
        <p:txBody>
          <a:bodyPr wrap="square">
            <a:spAutoFit/>
          </a:bodyPr>
          <a:lstStyle/>
          <a:p>
            <a:pPr algn="l"/>
            <a:r>
              <a:rPr sz="800" b="0" i="0">
                <a:solidFill>
                  <a:srgbClr val="000000"/>
                </a:solidFill>
                <a:latin typeface="Calibri"/>
              </a:rPr>
              <a:t>9.3281</a:t>
            </a:r>
          </a:p>
        </p:txBody>
      </p:sp>
      <p:sp>
        <p:nvSpPr>
          <p:cNvPr id="22" name="Rectangle 21"/>
          <p:cNvSpPr/>
          <p:nvPr/>
        </p:nvSpPr>
        <p:spPr>
          <a:xfrm>
            <a:off x="182880" y="1426464"/>
            <a:ext cx="11823192" cy="2468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28600" y="1444752"/>
            <a:ext cx="1645920" cy="246888"/>
          </a:xfrm>
          <a:prstGeom prst="rect">
            <a:avLst/>
          </a:prstGeom>
          <a:noFill/>
        </p:spPr>
        <p:txBody>
          <a:bodyPr wrap="square">
            <a:spAutoFit/>
          </a:bodyPr>
          <a:lstStyle/>
          <a:p>
            <a:pPr algn="l"/>
            <a:r>
              <a:rPr sz="800" b="0" i="0">
                <a:solidFill>
                  <a:srgbClr val="000000"/>
                </a:solidFill>
                <a:latin typeface="Calibri"/>
              </a:rPr>
              <a:t>DXY (DTWEXAFEGS)</a:t>
            </a:r>
          </a:p>
        </p:txBody>
      </p:sp>
      <p:sp>
        <p:nvSpPr>
          <p:cNvPr id="24" name="TextBox 23"/>
          <p:cNvSpPr txBox="1"/>
          <p:nvPr/>
        </p:nvSpPr>
        <p:spPr>
          <a:xfrm>
            <a:off x="1874520" y="1444752"/>
            <a:ext cx="1005840" cy="246888"/>
          </a:xfrm>
          <a:prstGeom prst="rect">
            <a:avLst/>
          </a:prstGeom>
          <a:noFill/>
        </p:spPr>
        <p:txBody>
          <a:bodyPr wrap="square">
            <a:spAutoFit/>
          </a:bodyPr>
          <a:lstStyle/>
          <a:p>
            <a:pPr algn="l"/>
            <a:r>
              <a:rPr sz="800" b="0" i="0">
                <a:solidFill>
                  <a:srgbClr val="000000"/>
                </a:solidFill>
                <a:latin typeface="Calibri"/>
              </a:rPr>
              <a:t>-0.0299</a:t>
            </a:r>
          </a:p>
        </p:txBody>
      </p:sp>
      <p:sp>
        <p:nvSpPr>
          <p:cNvPr id="25" name="TextBox 24"/>
          <p:cNvSpPr txBox="1"/>
          <p:nvPr/>
        </p:nvSpPr>
        <p:spPr>
          <a:xfrm>
            <a:off x="2880360" y="1444752"/>
            <a:ext cx="1005840" cy="246888"/>
          </a:xfrm>
          <a:prstGeom prst="rect">
            <a:avLst/>
          </a:prstGeom>
          <a:noFill/>
        </p:spPr>
        <p:txBody>
          <a:bodyPr wrap="square">
            <a:spAutoFit/>
          </a:bodyPr>
          <a:lstStyle/>
          <a:p>
            <a:pPr algn="l"/>
            <a:r>
              <a:rPr sz="800" b="0" i="0">
                <a:solidFill>
                  <a:srgbClr val="000000"/>
                </a:solidFill>
                <a:latin typeface="Calibri"/>
              </a:rPr>
              <a:t>0.0411</a:t>
            </a:r>
          </a:p>
        </p:txBody>
      </p:sp>
      <p:sp>
        <p:nvSpPr>
          <p:cNvPr id="26" name="TextBox 25"/>
          <p:cNvSpPr txBox="1"/>
          <p:nvPr/>
        </p:nvSpPr>
        <p:spPr>
          <a:xfrm>
            <a:off x="3886200" y="1444752"/>
            <a:ext cx="914400" cy="246888"/>
          </a:xfrm>
          <a:prstGeom prst="rect">
            <a:avLst/>
          </a:prstGeom>
          <a:noFill/>
        </p:spPr>
        <p:txBody>
          <a:bodyPr wrap="square">
            <a:spAutoFit/>
          </a:bodyPr>
          <a:lstStyle/>
          <a:p>
            <a:pPr algn="l"/>
            <a:r>
              <a:rPr sz="800" b="0" i="0">
                <a:solidFill>
                  <a:srgbClr val="000000"/>
                </a:solidFill>
                <a:latin typeface="Calibri"/>
              </a:rPr>
              <a:t>-0.7278</a:t>
            </a:r>
          </a:p>
        </p:txBody>
      </p:sp>
      <p:sp>
        <p:nvSpPr>
          <p:cNvPr id="27" name="TextBox 26"/>
          <p:cNvSpPr txBox="1"/>
          <p:nvPr/>
        </p:nvSpPr>
        <p:spPr>
          <a:xfrm>
            <a:off x="4800600" y="1444752"/>
            <a:ext cx="914400" cy="246888"/>
          </a:xfrm>
          <a:prstGeom prst="rect">
            <a:avLst/>
          </a:prstGeom>
          <a:noFill/>
        </p:spPr>
        <p:txBody>
          <a:bodyPr wrap="square">
            <a:spAutoFit/>
          </a:bodyPr>
          <a:lstStyle/>
          <a:p>
            <a:pPr algn="l"/>
            <a:r>
              <a:rPr sz="800" b="0" i="0">
                <a:solidFill>
                  <a:srgbClr val="000000"/>
                </a:solidFill>
                <a:latin typeface="Calibri"/>
              </a:rPr>
              <a:t>0.4667</a:t>
            </a:r>
          </a:p>
        </p:txBody>
      </p:sp>
      <p:sp>
        <p:nvSpPr>
          <p:cNvPr id="28" name="TextBox 27"/>
          <p:cNvSpPr txBox="1"/>
          <p:nvPr/>
        </p:nvSpPr>
        <p:spPr>
          <a:xfrm>
            <a:off x="5715000" y="1444752"/>
            <a:ext cx="1188720" cy="246888"/>
          </a:xfrm>
          <a:prstGeom prst="rect">
            <a:avLst/>
          </a:prstGeom>
          <a:noFill/>
        </p:spPr>
        <p:txBody>
          <a:bodyPr wrap="square">
            <a:spAutoFit/>
          </a:bodyPr>
          <a:lstStyle/>
          <a:p>
            <a:pPr algn="l"/>
            <a:r>
              <a:rPr sz="800" b="0" i="0">
                <a:solidFill>
                  <a:srgbClr val="000000"/>
                </a:solidFill>
                <a:latin typeface="Calibri"/>
              </a:rPr>
              <a:t>-0.1104</a:t>
            </a:r>
          </a:p>
        </p:txBody>
      </p:sp>
      <p:sp>
        <p:nvSpPr>
          <p:cNvPr id="29" name="TextBox 28"/>
          <p:cNvSpPr txBox="1"/>
          <p:nvPr/>
        </p:nvSpPr>
        <p:spPr>
          <a:xfrm>
            <a:off x="6903720" y="1444752"/>
            <a:ext cx="1188720" cy="246888"/>
          </a:xfrm>
          <a:prstGeom prst="rect">
            <a:avLst/>
          </a:prstGeom>
          <a:noFill/>
        </p:spPr>
        <p:txBody>
          <a:bodyPr wrap="square">
            <a:spAutoFit/>
          </a:bodyPr>
          <a:lstStyle/>
          <a:p>
            <a:pPr algn="l"/>
            <a:r>
              <a:rPr sz="800" b="0" i="0">
                <a:solidFill>
                  <a:srgbClr val="000000"/>
                </a:solidFill>
                <a:latin typeface="Calibri"/>
              </a:rPr>
              <a:t>0.0506</a:t>
            </a:r>
          </a:p>
        </p:txBody>
      </p:sp>
      <p:sp>
        <p:nvSpPr>
          <p:cNvPr id="30" name="Rectangle 29"/>
          <p:cNvSpPr/>
          <p:nvPr/>
        </p:nvSpPr>
        <p:spPr>
          <a:xfrm>
            <a:off x="182880" y="1673352"/>
            <a:ext cx="11823192" cy="24688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28600" y="1691640"/>
            <a:ext cx="1645920" cy="246888"/>
          </a:xfrm>
          <a:prstGeom prst="rect">
            <a:avLst/>
          </a:prstGeom>
          <a:noFill/>
        </p:spPr>
        <p:txBody>
          <a:bodyPr wrap="square">
            <a:spAutoFit/>
          </a:bodyPr>
          <a:lstStyle/>
          <a:p>
            <a:pPr algn="l"/>
            <a:r>
              <a:rPr sz="800" b="0" i="0">
                <a:solidFill>
                  <a:srgbClr val="000000"/>
                </a:solidFill>
                <a:latin typeface="Calibri"/>
              </a:rPr>
              <a:t>GDP YoY</a:t>
            </a:r>
          </a:p>
        </p:txBody>
      </p:sp>
      <p:sp>
        <p:nvSpPr>
          <p:cNvPr id="32" name="TextBox 31"/>
          <p:cNvSpPr txBox="1"/>
          <p:nvPr/>
        </p:nvSpPr>
        <p:spPr>
          <a:xfrm>
            <a:off x="1874520" y="1691640"/>
            <a:ext cx="1005840" cy="246888"/>
          </a:xfrm>
          <a:prstGeom prst="rect">
            <a:avLst/>
          </a:prstGeom>
          <a:noFill/>
        </p:spPr>
        <p:txBody>
          <a:bodyPr wrap="square">
            <a:spAutoFit/>
          </a:bodyPr>
          <a:lstStyle/>
          <a:p>
            <a:pPr algn="l"/>
            <a:r>
              <a:rPr sz="800" b="0" i="0">
                <a:solidFill>
                  <a:srgbClr val="000000"/>
                </a:solidFill>
                <a:latin typeface="Calibri"/>
              </a:rPr>
              <a:t>1.8947</a:t>
            </a:r>
          </a:p>
        </p:txBody>
      </p:sp>
      <p:sp>
        <p:nvSpPr>
          <p:cNvPr id="33" name="TextBox 32"/>
          <p:cNvSpPr txBox="1"/>
          <p:nvPr/>
        </p:nvSpPr>
        <p:spPr>
          <a:xfrm>
            <a:off x="2880360" y="1691640"/>
            <a:ext cx="1005840" cy="246888"/>
          </a:xfrm>
          <a:prstGeom prst="rect">
            <a:avLst/>
          </a:prstGeom>
          <a:noFill/>
        </p:spPr>
        <p:txBody>
          <a:bodyPr wrap="square">
            <a:spAutoFit/>
          </a:bodyPr>
          <a:lstStyle/>
          <a:p>
            <a:pPr algn="l"/>
            <a:r>
              <a:rPr sz="800" b="0" i="0">
                <a:solidFill>
                  <a:srgbClr val="000000"/>
                </a:solidFill>
                <a:latin typeface="Calibri"/>
              </a:rPr>
              <a:t>0.2276</a:t>
            </a:r>
          </a:p>
        </p:txBody>
      </p:sp>
      <p:sp>
        <p:nvSpPr>
          <p:cNvPr id="34" name="TextBox 33"/>
          <p:cNvSpPr txBox="1"/>
          <p:nvPr/>
        </p:nvSpPr>
        <p:spPr>
          <a:xfrm>
            <a:off x="3886200" y="1691640"/>
            <a:ext cx="914400" cy="246888"/>
          </a:xfrm>
          <a:prstGeom prst="rect">
            <a:avLst/>
          </a:prstGeom>
          <a:noFill/>
        </p:spPr>
        <p:txBody>
          <a:bodyPr wrap="square">
            <a:spAutoFit/>
          </a:bodyPr>
          <a:lstStyle/>
          <a:p>
            <a:pPr algn="l"/>
            <a:r>
              <a:rPr sz="800" b="0" i="0">
                <a:solidFill>
                  <a:srgbClr val="000000"/>
                </a:solidFill>
                <a:latin typeface="Calibri"/>
              </a:rPr>
              <a:t>8.3264</a:t>
            </a:r>
          </a:p>
        </p:txBody>
      </p:sp>
      <p:sp>
        <p:nvSpPr>
          <p:cNvPr id="35" name="TextBox 34"/>
          <p:cNvSpPr txBox="1"/>
          <p:nvPr/>
        </p:nvSpPr>
        <p:spPr>
          <a:xfrm>
            <a:off x="4800600" y="1691640"/>
            <a:ext cx="914400" cy="246888"/>
          </a:xfrm>
          <a:prstGeom prst="rect">
            <a:avLst/>
          </a:prstGeom>
          <a:noFill/>
        </p:spPr>
        <p:txBody>
          <a:bodyPr wrap="square">
            <a:spAutoFit/>
          </a:bodyPr>
          <a:lstStyle/>
          <a:p>
            <a:pPr algn="l"/>
            <a:r>
              <a:rPr sz="800" b="0" i="0">
                <a:solidFill>
                  <a:srgbClr val="000000"/>
                </a:solidFill>
                <a:latin typeface="Calibri"/>
              </a:rPr>
              <a:t>0.00e+00</a:t>
            </a:r>
          </a:p>
        </p:txBody>
      </p:sp>
      <p:sp>
        <p:nvSpPr>
          <p:cNvPr id="36" name="TextBox 35"/>
          <p:cNvSpPr txBox="1"/>
          <p:nvPr/>
        </p:nvSpPr>
        <p:spPr>
          <a:xfrm>
            <a:off x="5715000" y="1691640"/>
            <a:ext cx="1188720" cy="246888"/>
          </a:xfrm>
          <a:prstGeom prst="rect">
            <a:avLst/>
          </a:prstGeom>
          <a:noFill/>
        </p:spPr>
        <p:txBody>
          <a:bodyPr wrap="square">
            <a:spAutoFit/>
          </a:bodyPr>
          <a:lstStyle/>
          <a:p>
            <a:pPr algn="l"/>
            <a:r>
              <a:rPr sz="800" b="0" i="0">
                <a:solidFill>
                  <a:srgbClr val="000000"/>
                </a:solidFill>
                <a:latin typeface="Calibri"/>
              </a:rPr>
              <a:t>1.4487</a:t>
            </a:r>
          </a:p>
        </p:txBody>
      </p:sp>
      <p:sp>
        <p:nvSpPr>
          <p:cNvPr id="37" name="TextBox 36"/>
          <p:cNvSpPr txBox="1"/>
          <p:nvPr/>
        </p:nvSpPr>
        <p:spPr>
          <a:xfrm>
            <a:off x="6903720" y="1691640"/>
            <a:ext cx="1188720" cy="246888"/>
          </a:xfrm>
          <a:prstGeom prst="rect">
            <a:avLst/>
          </a:prstGeom>
          <a:noFill/>
        </p:spPr>
        <p:txBody>
          <a:bodyPr wrap="square">
            <a:spAutoFit/>
          </a:bodyPr>
          <a:lstStyle/>
          <a:p>
            <a:pPr algn="l"/>
            <a:r>
              <a:rPr sz="800" b="0" i="0">
                <a:solidFill>
                  <a:srgbClr val="000000"/>
                </a:solidFill>
                <a:latin typeface="Calibri"/>
              </a:rPr>
              <a:t>2.3407</a:t>
            </a:r>
          </a:p>
        </p:txBody>
      </p:sp>
      <p:sp>
        <p:nvSpPr>
          <p:cNvPr id="38" name="Rectangle 37"/>
          <p:cNvSpPr/>
          <p:nvPr/>
        </p:nvSpPr>
        <p:spPr>
          <a:xfrm>
            <a:off x="182880" y="1920240"/>
            <a:ext cx="11823192" cy="2468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228600" y="1938528"/>
            <a:ext cx="1645920" cy="246888"/>
          </a:xfrm>
          <a:prstGeom prst="rect">
            <a:avLst/>
          </a:prstGeom>
          <a:noFill/>
        </p:spPr>
        <p:txBody>
          <a:bodyPr wrap="square">
            <a:spAutoFit/>
          </a:bodyPr>
          <a:lstStyle/>
          <a:p>
            <a:pPr algn="l"/>
            <a:r>
              <a:rPr sz="800" b="0" i="0">
                <a:solidFill>
                  <a:srgbClr val="000000"/>
                </a:solidFill>
                <a:latin typeface="Calibri"/>
              </a:rPr>
              <a:t>Oil YoY (WTI)</a:t>
            </a:r>
          </a:p>
        </p:txBody>
      </p:sp>
      <p:sp>
        <p:nvSpPr>
          <p:cNvPr id="40" name="TextBox 39"/>
          <p:cNvSpPr txBox="1"/>
          <p:nvPr/>
        </p:nvSpPr>
        <p:spPr>
          <a:xfrm>
            <a:off x="1874520" y="1938528"/>
            <a:ext cx="1005840" cy="246888"/>
          </a:xfrm>
          <a:prstGeom prst="rect">
            <a:avLst/>
          </a:prstGeom>
          <a:noFill/>
        </p:spPr>
        <p:txBody>
          <a:bodyPr wrap="square">
            <a:spAutoFit/>
          </a:bodyPr>
          <a:lstStyle/>
          <a:p>
            <a:pPr algn="l"/>
            <a:r>
              <a:rPr sz="800" b="0" i="0">
                <a:solidFill>
                  <a:srgbClr val="000000"/>
                </a:solidFill>
                <a:latin typeface="Calibri"/>
              </a:rPr>
              <a:t>0.0261</a:t>
            </a:r>
          </a:p>
        </p:txBody>
      </p:sp>
      <p:sp>
        <p:nvSpPr>
          <p:cNvPr id="41" name="TextBox 40"/>
          <p:cNvSpPr txBox="1"/>
          <p:nvPr/>
        </p:nvSpPr>
        <p:spPr>
          <a:xfrm>
            <a:off x="2880360" y="1938528"/>
            <a:ext cx="1005840" cy="246888"/>
          </a:xfrm>
          <a:prstGeom prst="rect">
            <a:avLst/>
          </a:prstGeom>
          <a:noFill/>
        </p:spPr>
        <p:txBody>
          <a:bodyPr wrap="square">
            <a:spAutoFit/>
          </a:bodyPr>
          <a:lstStyle/>
          <a:p>
            <a:pPr algn="l"/>
            <a:r>
              <a:rPr sz="800" b="0" i="0">
                <a:solidFill>
                  <a:srgbClr val="000000"/>
                </a:solidFill>
                <a:latin typeface="Calibri"/>
              </a:rPr>
              <a:t>0.0138</a:t>
            </a:r>
          </a:p>
        </p:txBody>
      </p:sp>
      <p:sp>
        <p:nvSpPr>
          <p:cNvPr id="42" name="TextBox 41"/>
          <p:cNvSpPr txBox="1"/>
          <p:nvPr/>
        </p:nvSpPr>
        <p:spPr>
          <a:xfrm>
            <a:off x="3886200" y="1938528"/>
            <a:ext cx="914400" cy="246888"/>
          </a:xfrm>
          <a:prstGeom prst="rect">
            <a:avLst/>
          </a:prstGeom>
          <a:noFill/>
        </p:spPr>
        <p:txBody>
          <a:bodyPr wrap="square">
            <a:spAutoFit/>
          </a:bodyPr>
          <a:lstStyle/>
          <a:p>
            <a:pPr algn="l"/>
            <a:r>
              <a:rPr sz="800" b="0" i="0">
                <a:solidFill>
                  <a:srgbClr val="000000"/>
                </a:solidFill>
                <a:latin typeface="Calibri"/>
              </a:rPr>
              <a:t>1.8853</a:t>
            </a:r>
          </a:p>
        </p:txBody>
      </p:sp>
      <p:sp>
        <p:nvSpPr>
          <p:cNvPr id="43" name="TextBox 42"/>
          <p:cNvSpPr txBox="1"/>
          <p:nvPr/>
        </p:nvSpPr>
        <p:spPr>
          <a:xfrm>
            <a:off x="4800600" y="1938528"/>
            <a:ext cx="914400" cy="246888"/>
          </a:xfrm>
          <a:prstGeom prst="rect">
            <a:avLst/>
          </a:prstGeom>
          <a:noFill/>
        </p:spPr>
        <p:txBody>
          <a:bodyPr wrap="square">
            <a:spAutoFit/>
          </a:bodyPr>
          <a:lstStyle/>
          <a:p>
            <a:pPr algn="l"/>
            <a:r>
              <a:rPr sz="800" b="0" i="0">
                <a:solidFill>
                  <a:srgbClr val="000000"/>
                </a:solidFill>
                <a:latin typeface="Calibri"/>
              </a:rPr>
              <a:t>0.0594</a:t>
            </a:r>
          </a:p>
        </p:txBody>
      </p:sp>
      <p:sp>
        <p:nvSpPr>
          <p:cNvPr id="44" name="TextBox 43"/>
          <p:cNvSpPr txBox="1"/>
          <p:nvPr/>
        </p:nvSpPr>
        <p:spPr>
          <a:xfrm>
            <a:off x="5715000" y="1938528"/>
            <a:ext cx="1188720" cy="246888"/>
          </a:xfrm>
          <a:prstGeom prst="rect">
            <a:avLst/>
          </a:prstGeom>
          <a:noFill/>
        </p:spPr>
        <p:txBody>
          <a:bodyPr wrap="square">
            <a:spAutoFit/>
          </a:bodyPr>
          <a:lstStyle/>
          <a:p>
            <a:pPr algn="l"/>
            <a:r>
              <a:rPr sz="800" b="0" i="0">
                <a:solidFill>
                  <a:srgbClr val="000000"/>
                </a:solidFill>
                <a:latin typeface="Calibri"/>
              </a:rPr>
              <a:t>-0.0010</a:t>
            </a:r>
          </a:p>
        </p:txBody>
      </p:sp>
      <p:sp>
        <p:nvSpPr>
          <p:cNvPr id="45" name="TextBox 44"/>
          <p:cNvSpPr txBox="1"/>
          <p:nvPr/>
        </p:nvSpPr>
        <p:spPr>
          <a:xfrm>
            <a:off x="6903720" y="1938528"/>
            <a:ext cx="1188720" cy="246888"/>
          </a:xfrm>
          <a:prstGeom prst="rect">
            <a:avLst/>
          </a:prstGeom>
          <a:noFill/>
        </p:spPr>
        <p:txBody>
          <a:bodyPr wrap="square">
            <a:spAutoFit/>
          </a:bodyPr>
          <a:lstStyle/>
          <a:p>
            <a:pPr algn="l"/>
            <a:r>
              <a:rPr sz="800" b="0" i="0">
                <a:solidFill>
                  <a:srgbClr val="000000"/>
                </a:solidFill>
                <a:latin typeface="Calibri"/>
              </a:rPr>
              <a:t>0.0532</a:t>
            </a:r>
          </a:p>
        </p:txBody>
      </p:sp>
      <p:sp>
        <p:nvSpPr>
          <p:cNvPr id="46" name="Rectangle 45"/>
          <p:cNvSpPr/>
          <p:nvPr/>
        </p:nvSpPr>
        <p:spPr>
          <a:xfrm>
            <a:off x="182880" y="2167128"/>
            <a:ext cx="11823192" cy="24688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28600" y="2185416"/>
            <a:ext cx="1645920" cy="246888"/>
          </a:xfrm>
          <a:prstGeom prst="rect">
            <a:avLst/>
          </a:prstGeom>
          <a:noFill/>
        </p:spPr>
        <p:txBody>
          <a:bodyPr wrap="square">
            <a:spAutoFit/>
          </a:bodyPr>
          <a:lstStyle/>
          <a:p>
            <a:pPr algn="l"/>
            <a:r>
              <a:rPr sz="800" b="0" i="0">
                <a:solidFill>
                  <a:srgbClr val="000000"/>
                </a:solidFill>
                <a:latin typeface="Calibri"/>
              </a:rPr>
              <a:t>Imports (Lag 1)</a:t>
            </a:r>
          </a:p>
        </p:txBody>
      </p:sp>
      <p:sp>
        <p:nvSpPr>
          <p:cNvPr id="48" name="TextBox 47"/>
          <p:cNvSpPr txBox="1"/>
          <p:nvPr/>
        </p:nvSpPr>
        <p:spPr>
          <a:xfrm>
            <a:off x="1874520" y="2185416"/>
            <a:ext cx="1005840" cy="246888"/>
          </a:xfrm>
          <a:prstGeom prst="rect">
            <a:avLst/>
          </a:prstGeom>
          <a:noFill/>
        </p:spPr>
        <p:txBody>
          <a:bodyPr wrap="square">
            <a:spAutoFit/>
          </a:bodyPr>
          <a:lstStyle/>
          <a:p>
            <a:pPr algn="l"/>
            <a:r>
              <a:rPr sz="800" b="0" i="0">
                <a:solidFill>
                  <a:srgbClr val="000000"/>
                </a:solidFill>
                <a:latin typeface="Calibri"/>
              </a:rPr>
              <a:t>0.3242</a:t>
            </a:r>
          </a:p>
        </p:txBody>
      </p:sp>
      <p:sp>
        <p:nvSpPr>
          <p:cNvPr id="49" name="TextBox 48"/>
          <p:cNvSpPr txBox="1"/>
          <p:nvPr/>
        </p:nvSpPr>
        <p:spPr>
          <a:xfrm>
            <a:off x="2880360" y="2185416"/>
            <a:ext cx="1005840" cy="246888"/>
          </a:xfrm>
          <a:prstGeom prst="rect">
            <a:avLst/>
          </a:prstGeom>
          <a:noFill/>
        </p:spPr>
        <p:txBody>
          <a:bodyPr wrap="square">
            <a:spAutoFit/>
          </a:bodyPr>
          <a:lstStyle/>
          <a:p>
            <a:pPr algn="l"/>
            <a:r>
              <a:rPr sz="800" b="0" i="0">
                <a:solidFill>
                  <a:srgbClr val="000000"/>
                </a:solidFill>
                <a:latin typeface="Calibri"/>
              </a:rPr>
              <a:t>0.1067</a:t>
            </a:r>
          </a:p>
        </p:txBody>
      </p:sp>
      <p:sp>
        <p:nvSpPr>
          <p:cNvPr id="50" name="TextBox 49"/>
          <p:cNvSpPr txBox="1"/>
          <p:nvPr/>
        </p:nvSpPr>
        <p:spPr>
          <a:xfrm>
            <a:off x="3886200" y="2185416"/>
            <a:ext cx="914400" cy="246888"/>
          </a:xfrm>
          <a:prstGeom prst="rect">
            <a:avLst/>
          </a:prstGeom>
          <a:noFill/>
        </p:spPr>
        <p:txBody>
          <a:bodyPr wrap="square">
            <a:spAutoFit/>
          </a:bodyPr>
          <a:lstStyle/>
          <a:p>
            <a:pPr algn="l"/>
            <a:r>
              <a:rPr sz="800" b="0" i="0">
                <a:solidFill>
                  <a:srgbClr val="000000"/>
                </a:solidFill>
                <a:latin typeface="Calibri"/>
              </a:rPr>
              <a:t>3.0399</a:t>
            </a:r>
          </a:p>
        </p:txBody>
      </p:sp>
      <p:sp>
        <p:nvSpPr>
          <p:cNvPr id="51" name="TextBox 50"/>
          <p:cNvSpPr txBox="1"/>
          <p:nvPr/>
        </p:nvSpPr>
        <p:spPr>
          <a:xfrm>
            <a:off x="4800600" y="2185416"/>
            <a:ext cx="914400" cy="246888"/>
          </a:xfrm>
          <a:prstGeom prst="rect">
            <a:avLst/>
          </a:prstGeom>
          <a:noFill/>
        </p:spPr>
        <p:txBody>
          <a:bodyPr wrap="square">
            <a:spAutoFit/>
          </a:bodyPr>
          <a:lstStyle/>
          <a:p>
            <a:pPr algn="l"/>
            <a:r>
              <a:rPr sz="800" b="0" i="0">
                <a:solidFill>
                  <a:srgbClr val="000000"/>
                </a:solidFill>
                <a:latin typeface="Calibri"/>
              </a:rPr>
              <a:t>0.0024</a:t>
            </a:r>
          </a:p>
        </p:txBody>
      </p:sp>
      <p:sp>
        <p:nvSpPr>
          <p:cNvPr id="52" name="TextBox 51"/>
          <p:cNvSpPr txBox="1"/>
          <p:nvPr/>
        </p:nvSpPr>
        <p:spPr>
          <a:xfrm>
            <a:off x="5715000" y="2185416"/>
            <a:ext cx="1188720" cy="246888"/>
          </a:xfrm>
          <a:prstGeom prst="rect">
            <a:avLst/>
          </a:prstGeom>
          <a:noFill/>
        </p:spPr>
        <p:txBody>
          <a:bodyPr wrap="square">
            <a:spAutoFit/>
          </a:bodyPr>
          <a:lstStyle/>
          <a:p>
            <a:pPr algn="l"/>
            <a:r>
              <a:rPr sz="800" b="0" i="0">
                <a:solidFill>
                  <a:srgbClr val="000000"/>
                </a:solidFill>
                <a:latin typeface="Calibri"/>
              </a:rPr>
              <a:t>0.1152</a:t>
            </a:r>
          </a:p>
        </p:txBody>
      </p:sp>
      <p:sp>
        <p:nvSpPr>
          <p:cNvPr id="53" name="TextBox 52"/>
          <p:cNvSpPr txBox="1"/>
          <p:nvPr/>
        </p:nvSpPr>
        <p:spPr>
          <a:xfrm>
            <a:off x="6903720" y="2185416"/>
            <a:ext cx="1188720" cy="246888"/>
          </a:xfrm>
          <a:prstGeom prst="rect">
            <a:avLst/>
          </a:prstGeom>
          <a:noFill/>
        </p:spPr>
        <p:txBody>
          <a:bodyPr wrap="square">
            <a:spAutoFit/>
          </a:bodyPr>
          <a:lstStyle/>
          <a:p>
            <a:pPr algn="l"/>
            <a:r>
              <a:rPr sz="800" b="0" i="0">
                <a:solidFill>
                  <a:srgbClr val="000000"/>
                </a:solidFill>
                <a:latin typeface="Calibri"/>
              </a:rPr>
              <a:t>0.5333</a:t>
            </a:r>
          </a:p>
        </p:txBody>
      </p:sp>
      <p:sp>
        <p:nvSpPr>
          <p:cNvPr id="54" name="TextBox 53"/>
          <p:cNvSpPr txBox="1"/>
          <p:nvPr/>
        </p:nvSpPr>
        <p:spPr>
          <a:xfrm>
            <a:off x="182880" y="2551176"/>
            <a:ext cx="11823192" cy="4215384"/>
          </a:xfrm>
          <a:prstGeom prst="rect">
            <a:avLst/>
          </a:prstGeom>
          <a:noFill/>
        </p:spPr>
        <p:txBody>
          <a:bodyPr wrap="square">
            <a:spAutoFit/>
          </a:bodyPr>
          <a:lstStyle/>
          <a:p>
            <a:pPr algn="just">
              <a:spcBef>
                <a:spcPts val="500"/>
              </a:spcBef>
            </a:pPr>
            <a:r>
              <a:rPr sz="900" b="0">
                <a:solidFill>
                  <a:srgbClr val="333333"/>
                </a:solidFill>
                <a:latin typeface="Calibri"/>
              </a:rPr>
              <a:t>R² = 0.812   |   Adj. R² = 0.801   |   F-stat = 239.1   |   DW = 1.080 (strongest autocorrelation of 3 models)   |   Skew = +0.880   |   Kurtosis = 4.530</a:t>
            </a:r>
          </a:p>
          <a:p>
            <a:pPr algn="just">
              <a:spcBef>
                <a:spcPts val="500"/>
              </a:spcBef>
            </a:pPr>
            <a:r>
              <a:rPr sz="900" b="0">
                <a:solidFill>
                  <a:srgbClr val="333333"/>
                </a:solidFill>
                <a:latin typeface="Calibri"/>
              </a:rPr>
              <a:t>GDP YoY is highly significant (p ≈ 0). Oil is marginally significant (p = 0.059). DXY is insignificant — consistent with exchange rate pass-through lags of 4–8 quarters.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02920"/>
          </a:xfrm>
          <a:prstGeom prst="rect">
            <a:avLst/>
          </a:prstGeom>
          <a:solidFill>
            <a:srgbClr val="6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2880" y="45720"/>
            <a:ext cx="11823192" cy="502920"/>
          </a:xfrm>
          <a:prstGeom prst="rect">
            <a:avLst/>
          </a:prstGeom>
          <a:noFill/>
        </p:spPr>
        <p:txBody>
          <a:bodyPr wrap="square">
            <a:spAutoFit/>
          </a:bodyPr>
          <a:lstStyle/>
          <a:p>
            <a:pPr algn="l"/>
            <a:r>
              <a:rPr sz="1800" b="1" i="0">
                <a:solidFill>
                  <a:srgbClr val="FFFFFF"/>
                </a:solidFill>
                <a:latin typeface="Calibri"/>
              </a:rPr>
              <a:t>MODEL 3: US IMPORT GROWTH</a:t>
            </a:r>
          </a:p>
        </p:txBody>
      </p:sp>
      <p:sp>
        <p:nvSpPr>
          <p:cNvPr id="4" name="Rectangle 3"/>
          <p:cNvSpPr/>
          <p:nvPr/>
        </p:nvSpPr>
        <p:spPr>
          <a:xfrm>
            <a:off x="0" y="502920"/>
            <a:ext cx="12188952" cy="274320"/>
          </a:xfrm>
          <a:prstGeom prst="rect">
            <a:avLst/>
          </a:prstGeom>
          <a:solidFill>
            <a:srgbClr val="A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82880" y="530352"/>
            <a:ext cx="11823192" cy="274320"/>
          </a:xfrm>
          <a:prstGeom prst="rect">
            <a:avLst/>
          </a:prstGeom>
          <a:noFill/>
        </p:spPr>
        <p:txBody>
          <a:bodyPr wrap="square">
            <a:spAutoFit/>
          </a:bodyPr>
          <a:lstStyle/>
          <a:p>
            <a:pPr algn="l"/>
            <a:r>
              <a:rPr sz="1100" b="0" i="1">
                <a:solidFill>
                  <a:srgbClr val="FFFFFF"/>
                </a:solidFill>
                <a:latin typeface="Calibri"/>
              </a:rPr>
              <a:t>Coefficient Analysis</a:t>
            </a:r>
          </a:p>
        </p:txBody>
      </p:sp>
      <p:sp>
        <p:nvSpPr>
          <p:cNvPr id="6" name="TextBox 5"/>
          <p:cNvSpPr txBox="1"/>
          <p:nvPr/>
        </p:nvSpPr>
        <p:spPr>
          <a:xfrm>
            <a:off x="6931152" y="886968"/>
            <a:ext cx="5029200" cy="228600"/>
          </a:xfrm>
          <a:prstGeom prst="rect">
            <a:avLst/>
          </a:prstGeom>
          <a:noFill/>
        </p:spPr>
        <p:txBody>
          <a:bodyPr wrap="square">
            <a:spAutoFit/>
          </a:bodyPr>
          <a:lstStyle/>
          <a:p>
            <a:pPr algn="l"/>
            <a:r>
              <a:rPr sz="900" b="1" i="0">
                <a:solidFill>
                  <a:srgbClr val="000000"/>
                </a:solidFill>
                <a:latin typeface="Calibri"/>
              </a:rPr>
              <a:t>Exhibit 10</a:t>
            </a:r>
          </a:p>
        </p:txBody>
      </p:sp>
      <p:pic>
        <p:nvPicPr>
          <p:cNvPr id="7" name="Picture 6" descr="table_model3_imports.png"/>
          <p:cNvPicPr>
            <a:picLocks noChangeAspect="1"/>
          </p:cNvPicPr>
          <p:nvPr/>
        </p:nvPicPr>
        <p:blipFill>
          <a:blip r:embed="rId2"/>
          <a:stretch>
            <a:fillRect/>
          </a:stretch>
        </p:blipFill>
        <p:spPr>
          <a:xfrm>
            <a:off x="6931152" y="1115568"/>
            <a:ext cx="5029200" cy="4892040"/>
          </a:xfrm>
          <a:prstGeom prst="rect">
            <a:avLst/>
          </a:prstGeom>
        </p:spPr>
      </p:pic>
      <p:sp>
        <p:nvSpPr>
          <p:cNvPr id="8" name="TextBox 7"/>
          <p:cNvSpPr txBox="1"/>
          <p:nvPr/>
        </p:nvSpPr>
        <p:spPr>
          <a:xfrm>
            <a:off x="182880" y="886968"/>
            <a:ext cx="6565392" cy="5879592"/>
          </a:xfrm>
          <a:prstGeom prst="rect">
            <a:avLst/>
          </a:prstGeom>
          <a:noFill/>
        </p:spPr>
        <p:txBody>
          <a:bodyPr wrap="square">
            <a:spAutoFit/>
          </a:bodyPr>
          <a:lstStyle/>
          <a:p>
            <a:pPr algn="just">
              <a:spcBef>
                <a:spcPts val="400"/>
              </a:spcBef>
            </a:pPr>
            <a:r>
              <a:rPr sz="919">
                <a:solidFill>
                  <a:srgbClr val="000000"/>
                </a:solidFill>
                <a:latin typeface="Calibri"/>
              </a:rPr>
              <a:t>GDP YoY (coeff. = 1.895, 95% CI: [+1.449, +2.341]):</a:t>
            </a:r>
          </a:p>
          <a:p>
            <a:pPr algn="just">
              <a:spcBef>
                <a:spcPts val="400"/>
              </a:spcBef>
            </a:pPr>
            <a:r>
              <a:rPr sz="919">
                <a:solidFill>
                  <a:srgbClr val="000000"/>
                </a:solidFill>
                <a:latin typeface="Calibri"/>
              </a:rPr>
              <a:t>The strongest and most impactful result of this model. A 1 pp acceleration in US real GDP growth is associated with approximately 1.9 pp increase in real import growth. Imports are driven by domestic demand — when US GDP grows, a substantial fraction of additional demand is satisfied by foreign goods. This reflects the savings-investment gap identity: a country running persistent current account deficits is investing more than it saves, with excess demand met by foreign production. Critically, when the Fed cuts rates and stimulates GDP growth, imports will rise almost twice as fast as GDP, widening the deficit. This confirms that trade deficits are a structural feature of high-growth, low-saving economies and cannot be solved by exchange rate adjustments alone.</a:t>
            </a:r>
          </a:p>
          <a:p>
            <a:pPr algn="just">
              <a:spcBef>
                <a:spcPts val="400"/>
              </a:spcBef>
            </a:pPr>
            <a:r>
              <a:rPr sz="919">
                <a:solidFill>
                  <a:srgbClr val="000000"/>
                </a:solidFill>
                <a:latin typeface="Calibri"/>
              </a:rPr>
              <a:t>Imports (Lag 1) (coeff. = 0.324, 95% CI: [+0.115, +0.533]):</a:t>
            </a:r>
          </a:p>
          <a:p>
            <a:pPr algn="just">
              <a:spcBef>
                <a:spcPts val="400"/>
              </a:spcBef>
            </a:pPr>
            <a:r>
              <a:rPr sz="919">
                <a:solidFill>
                  <a:srgbClr val="000000"/>
                </a:solidFill>
                <a:latin typeface="Calibri"/>
              </a:rPr>
              <a:t>Approximately ⅓ of prior quarter import growth momentum carries forward. Slightly higher persistence than Model 1, consistent with consumer goods imports being more stable and habit-driven than export flows.</a:t>
            </a:r>
          </a:p>
          <a:p>
            <a:pPr algn="just">
              <a:spcBef>
                <a:spcPts val="400"/>
              </a:spcBef>
            </a:pPr>
            <a:r>
              <a:rPr sz="919">
                <a:solidFill>
                  <a:srgbClr val="000000"/>
                </a:solidFill>
                <a:latin typeface="Calibri"/>
              </a:rPr>
              <a:t>Oil YoY (coeff. = 0.026, p = 0.060):</a:t>
            </a:r>
          </a:p>
          <a:p>
            <a:pPr algn="just">
              <a:spcBef>
                <a:spcPts val="400"/>
              </a:spcBef>
            </a:pPr>
            <a:r>
              <a:rPr sz="919">
                <a:solidFill>
                  <a:srgbClr val="000000"/>
                </a:solidFill>
                <a:latin typeface="Calibri"/>
              </a:rPr>
              <a:t>Marginally significant. The positive sign reflects that higher oil prices raise the nominal value of energy imports. The marginal significance reflects the partially offsetting effect: higher oil prices suppress consumer purchasing power and slow GDP growth.</a:t>
            </a:r>
          </a:p>
          <a:p>
            <a:pPr algn="just">
              <a:spcBef>
                <a:spcPts val="400"/>
              </a:spcBef>
            </a:pPr>
            <a:r>
              <a:rPr sz="919">
                <a:solidFill>
                  <a:srgbClr val="000000"/>
                </a:solidFill>
                <a:latin typeface="Calibri"/>
              </a:rPr>
              <a:t>DXY (coeff. = −0.030): Negative but insignificant — the exchange rate pass-through argument applies symmetrically. Lagged imports absorb much of the slow-moving dollar signal.</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02920"/>
          </a:xfrm>
          <a:prstGeom prst="rect">
            <a:avLst/>
          </a:prstGeom>
          <a:solidFill>
            <a:srgbClr val="6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2880" y="45720"/>
            <a:ext cx="11823192" cy="502920"/>
          </a:xfrm>
          <a:prstGeom prst="rect">
            <a:avLst/>
          </a:prstGeom>
          <a:noFill/>
        </p:spPr>
        <p:txBody>
          <a:bodyPr wrap="square">
            <a:spAutoFit/>
          </a:bodyPr>
          <a:lstStyle/>
          <a:p>
            <a:pPr algn="l"/>
            <a:r>
              <a:rPr sz="1800" b="1" i="0">
                <a:solidFill>
                  <a:srgbClr val="FFFFFF"/>
                </a:solidFill>
                <a:latin typeface="Calibri"/>
              </a:rPr>
              <a:t>CROSS-MODEL ANALYSIS</a:t>
            </a:r>
          </a:p>
        </p:txBody>
      </p:sp>
      <p:sp>
        <p:nvSpPr>
          <p:cNvPr id="4" name="Rectangle 3"/>
          <p:cNvSpPr/>
          <p:nvPr/>
        </p:nvSpPr>
        <p:spPr>
          <a:xfrm>
            <a:off x="0" y="502920"/>
            <a:ext cx="12188952" cy="274320"/>
          </a:xfrm>
          <a:prstGeom prst="rect">
            <a:avLst/>
          </a:prstGeom>
          <a:solidFill>
            <a:srgbClr val="A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82880" y="530352"/>
            <a:ext cx="11823192" cy="274320"/>
          </a:xfrm>
          <a:prstGeom prst="rect">
            <a:avLst/>
          </a:prstGeom>
          <a:noFill/>
        </p:spPr>
        <p:txBody>
          <a:bodyPr wrap="square">
            <a:spAutoFit/>
          </a:bodyPr>
          <a:lstStyle/>
          <a:p>
            <a:pPr algn="l"/>
            <a:r>
              <a:rPr sz="1100" b="0" i="1">
                <a:solidFill>
                  <a:srgbClr val="FFFFFF"/>
                </a:solidFill>
                <a:latin typeface="Calibri"/>
              </a:rPr>
              <a:t>Key Findings Across All Three Models</a:t>
            </a:r>
          </a:p>
        </p:txBody>
      </p:sp>
      <p:sp>
        <p:nvSpPr>
          <p:cNvPr id="6" name="TextBox 5"/>
          <p:cNvSpPr txBox="1"/>
          <p:nvPr/>
        </p:nvSpPr>
        <p:spPr>
          <a:xfrm>
            <a:off x="182880" y="886968"/>
            <a:ext cx="11823192" cy="5879592"/>
          </a:xfrm>
          <a:prstGeom prst="rect">
            <a:avLst/>
          </a:prstGeom>
          <a:noFill/>
        </p:spPr>
        <p:txBody>
          <a:bodyPr wrap="square">
            <a:spAutoFit/>
          </a:bodyPr>
          <a:lstStyle/>
          <a:p>
            <a:pPr algn="just">
              <a:spcBef>
                <a:spcPts val="500"/>
              </a:spcBef>
            </a:pPr>
            <a:r>
              <a:rPr sz="980" b="0">
                <a:solidFill>
                  <a:srgbClr val="000000"/>
                </a:solidFill>
                <a:latin typeface="Calibri"/>
              </a:rPr>
              <a:t>1. The Dollar Has a Consistent Null Result</a:t>
            </a:r>
          </a:p>
          <a:p>
            <a:pPr algn="just">
              <a:spcBef>
                <a:spcPts val="500"/>
              </a:spcBef>
            </a:pPr>
            <a:r>
              <a:rPr sz="980" b="0">
                <a:solidFill>
                  <a:srgbClr val="000000"/>
                </a:solidFill>
                <a:latin typeface="Calibri"/>
              </a:rPr>
              <a:t>Across both Model 1 and 3, the dollar index is consistently negative in sign but statistically insignificant. This does not mean the dollar is irrelevant to trade — rather, the quarterly sampling frequency cannot detect the effect because of exchange rate pass-through lags of 4–8 quarters.</a:t>
            </a:r>
          </a:p>
          <a:p>
            <a:pPr algn="just">
              <a:spcBef>
                <a:spcPts val="500"/>
              </a:spcBef>
            </a:pPr>
            <a:r>
              <a:rPr sz="980" b="0">
                <a:solidFill>
                  <a:srgbClr val="000000"/>
                </a:solidFill>
                <a:latin typeface="Calibri"/>
              </a:rPr>
              <a:t>2. Supply vs. Demand Asymmetry</a:t>
            </a:r>
          </a:p>
          <a:p>
            <a:pPr algn="just">
              <a:spcBef>
                <a:spcPts val="500"/>
              </a:spcBef>
            </a:pPr>
            <a:r>
              <a:rPr sz="980" b="0">
                <a:solidFill>
                  <a:srgbClr val="000000"/>
                </a:solidFill>
                <a:latin typeface="Calibri"/>
              </a:rPr>
              <a:t>One of the key structural findings across the two trade models was the asymmetry between what drives exports vs. imports. Exports are supply-driven at quarterly frequency, with industrial production capacity as the dominant factor. Imports are demand-driven, with US GDP as the dominant factor. In other words: exports rely on what the US can produce, imports rely on what Americans want to buy. This asymmetry has direct policy implications — dollar depreciation alone cannot close the trade deficit, because the deficit reflects a fundamental demand-savings gap, not just price misalignment.</a:t>
            </a:r>
          </a:p>
          <a:p>
            <a:pPr algn="just">
              <a:spcBef>
                <a:spcPts val="500"/>
              </a:spcBef>
            </a:pPr>
            <a:r>
              <a:rPr sz="980" b="0">
                <a:solidFill>
                  <a:srgbClr val="000000"/>
                </a:solidFill>
                <a:latin typeface="Calibri"/>
              </a:rPr>
              <a:t>3. The Importance of Newey-West Correction</a:t>
            </a:r>
          </a:p>
          <a:p>
            <a:pPr algn="just">
              <a:spcBef>
                <a:spcPts val="500"/>
              </a:spcBef>
            </a:pPr>
            <a:r>
              <a:rPr sz="980" b="0">
                <a:solidFill>
                  <a:srgbClr val="000000"/>
                </a:solidFill>
                <a:latin typeface="Calibri"/>
              </a:rPr>
              <a:t>All three models were estimated with HAC standard errors. This is the correct approach, as variables exhibit variance of shocks changing across time (particularly around the GFC and COVID), and residuals show serial autocorrelation. Without this correction, OLS standard errors would have been understated by an estimated 15–30%, making variables appear more significant than they are.</a:t>
            </a:r>
          </a:p>
          <a:p>
            <a:pPr algn="just">
              <a:spcBef>
                <a:spcPts val="500"/>
              </a:spcBef>
            </a:pPr>
            <a:r>
              <a:rPr sz="980" b="0">
                <a:solidFill>
                  <a:srgbClr val="000000"/>
                </a:solidFill>
                <a:latin typeface="Calibri"/>
              </a:rPr>
              <a:t>4. Multicollinearity — Indicator Analysis</a:t>
            </a:r>
          </a:p>
          <a:p>
            <a:pPr algn="just">
              <a:spcBef>
                <a:spcPts val="500"/>
              </a:spcBef>
            </a:pPr>
            <a:r>
              <a:rPr sz="980" b="0">
                <a:solidFill>
                  <a:srgbClr val="000000"/>
                </a:solidFill>
                <a:latin typeface="Calibri"/>
              </a:rPr>
              <a:t>Maximum VIF in Model 1 is 1.89; in Model 3 is 2.03. Both well below the threshold of 5–10. Coefficient estimates are stable and individually interpretable. Model 2 has somewhat higher VIF for rate-related variables, reflecting structural overlap between the Fed Funds Level and the US-EU differential.</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02920"/>
          </a:xfrm>
          <a:prstGeom prst="rect">
            <a:avLst/>
          </a:prstGeom>
          <a:solidFill>
            <a:srgbClr val="6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2880" y="45720"/>
            <a:ext cx="11823192" cy="502920"/>
          </a:xfrm>
          <a:prstGeom prst="rect">
            <a:avLst/>
          </a:prstGeom>
          <a:noFill/>
        </p:spPr>
        <p:txBody>
          <a:bodyPr wrap="square">
            <a:spAutoFit/>
          </a:bodyPr>
          <a:lstStyle/>
          <a:p>
            <a:pPr algn="l"/>
            <a:r>
              <a:rPr sz="1800" b="1" i="0">
                <a:solidFill>
                  <a:srgbClr val="FFFFFF"/>
                </a:solidFill>
                <a:latin typeface="Calibri"/>
              </a:rPr>
              <a:t>INDICATOR ANALYSIS</a:t>
            </a:r>
          </a:p>
        </p:txBody>
      </p:sp>
      <p:sp>
        <p:nvSpPr>
          <p:cNvPr id="4" name="Rectangle 3"/>
          <p:cNvSpPr/>
          <p:nvPr/>
        </p:nvSpPr>
        <p:spPr>
          <a:xfrm>
            <a:off x="0" y="502920"/>
            <a:ext cx="12188952" cy="274320"/>
          </a:xfrm>
          <a:prstGeom prst="rect">
            <a:avLst/>
          </a:prstGeom>
          <a:solidFill>
            <a:srgbClr val="A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82880" y="530352"/>
            <a:ext cx="11823192" cy="274320"/>
          </a:xfrm>
          <a:prstGeom prst="rect">
            <a:avLst/>
          </a:prstGeom>
          <a:noFill/>
        </p:spPr>
        <p:txBody>
          <a:bodyPr wrap="square">
            <a:spAutoFit/>
          </a:bodyPr>
          <a:lstStyle/>
          <a:p>
            <a:pPr algn="l"/>
            <a:r>
              <a:rPr sz="1100" b="0" i="1">
                <a:solidFill>
                  <a:srgbClr val="FFFFFF"/>
                </a:solidFill>
                <a:latin typeface="Calibri"/>
              </a:rPr>
              <a:t>Trade Balance Trend &amp; US Dollar Index</a:t>
            </a:r>
          </a:p>
        </p:txBody>
      </p:sp>
      <p:sp>
        <p:nvSpPr>
          <p:cNvPr id="6" name="TextBox 5"/>
          <p:cNvSpPr txBox="1"/>
          <p:nvPr/>
        </p:nvSpPr>
        <p:spPr>
          <a:xfrm>
            <a:off x="182880" y="886968"/>
            <a:ext cx="5303520" cy="228600"/>
          </a:xfrm>
          <a:prstGeom prst="rect">
            <a:avLst/>
          </a:prstGeom>
          <a:noFill/>
        </p:spPr>
        <p:txBody>
          <a:bodyPr wrap="square">
            <a:spAutoFit/>
          </a:bodyPr>
          <a:lstStyle/>
          <a:p>
            <a:pPr algn="l"/>
            <a:r>
              <a:rPr sz="900" b="1" i="0">
                <a:solidFill>
                  <a:srgbClr val="000000"/>
                </a:solidFill>
                <a:latin typeface="Calibri"/>
              </a:rPr>
              <a:t>Exhibit 11</a:t>
            </a:r>
          </a:p>
        </p:txBody>
      </p:sp>
      <p:pic>
        <p:nvPicPr>
          <p:cNvPr id="7" name="Picture 6" descr="imports_corr.png"/>
          <p:cNvPicPr>
            <a:picLocks noChangeAspect="1"/>
          </p:cNvPicPr>
          <p:nvPr/>
        </p:nvPicPr>
        <p:blipFill>
          <a:blip r:embed="rId2"/>
          <a:stretch>
            <a:fillRect/>
          </a:stretch>
        </p:blipFill>
        <p:spPr>
          <a:xfrm>
            <a:off x="182880" y="1115568"/>
            <a:ext cx="5303520" cy="4892040"/>
          </a:xfrm>
          <a:prstGeom prst="rect">
            <a:avLst/>
          </a:prstGeom>
        </p:spPr>
      </p:pic>
      <p:sp>
        <p:nvSpPr>
          <p:cNvPr id="8" name="TextBox 7"/>
          <p:cNvSpPr txBox="1"/>
          <p:nvPr/>
        </p:nvSpPr>
        <p:spPr>
          <a:xfrm>
            <a:off x="5715000" y="886968"/>
            <a:ext cx="6291072" cy="5879592"/>
          </a:xfrm>
          <a:prstGeom prst="rect">
            <a:avLst/>
          </a:prstGeom>
          <a:noFill/>
        </p:spPr>
        <p:txBody>
          <a:bodyPr wrap="square">
            <a:spAutoFit/>
          </a:bodyPr>
          <a:lstStyle/>
          <a:p>
            <a:pPr algn="just">
              <a:spcBef>
                <a:spcPts val="400"/>
              </a:spcBef>
            </a:pPr>
            <a:r>
              <a:rPr sz="930">
                <a:solidFill>
                  <a:srgbClr val="000000"/>
                </a:solidFill>
                <a:latin typeface="Calibri"/>
              </a:rPr>
              <a:t>Trade Balance Trend</a:t>
            </a:r>
          </a:p>
          <a:p>
            <a:pPr algn="just">
              <a:spcBef>
                <a:spcPts val="400"/>
              </a:spcBef>
            </a:pPr>
            <a:r>
              <a:rPr sz="930">
                <a:solidFill>
                  <a:srgbClr val="000000"/>
                </a:solidFill>
                <a:latin typeface="Calibri"/>
              </a:rPr>
              <a:t>Goods vs. Services: The US economy illustrates a persistent structural divide in its trade balance. Based on both historic and early 2026 data, the United States runs a substantial deficit in goods trade, softened by a steady surplus in services.</a:t>
            </a:r>
          </a:p>
          <a:p>
            <a:pPr algn="just">
              <a:spcBef>
                <a:spcPts val="400"/>
              </a:spcBef>
            </a:pPr>
            <a:r>
              <a:rPr sz="930">
                <a:solidFill>
                  <a:srgbClr val="000000"/>
                </a:solidFill>
                <a:latin typeface="Calibri"/>
              </a:rPr>
              <a:t>Monthly Deficit Trend: The total monthly trade deficit has remained wide historically, generally moving between $60 and $75 billion per month in recent quarters, driven by domestic demand for foreign goods.</a:t>
            </a:r>
          </a:p>
          <a:p>
            <a:pPr algn="just">
              <a:spcBef>
                <a:spcPts val="400"/>
              </a:spcBef>
            </a:pPr>
            <a:r>
              <a:rPr sz="930">
                <a:solidFill>
                  <a:srgbClr val="000000"/>
                </a:solidFill>
                <a:latin typeface="Calibri"/>
              </a:rPr>
              <a:t>Percent of GDP: The current account deficit continues to hover around the 3%–4% range of total US GDP, largely driven by the trade shortfall.</a:t>
            </a:r>
          </a:p>
          <a:p>
            <a:pPr algn="just">
              <a:spcBef>
                <a:spcPts val="400"/>
              </a:spcBef>
            </a:pPr>
            <a:r>
              <a:rPr sz="930">
                <a:solidFill>
                  <a:srgbClr val="000000"/>
                </a:solidFill>
                <a:latin typeface="Calibri"/>
              </a:rPr>
              <a:t>US Dollar Index (DXY)</a:t>
            </a:r>
          </a:p>
          <a:p>
            <a:pPr algn="just">
              <a:spcBef>
                <a:spcPts val="400"/>
              </a:spcBef>
            </a:pPr>
            <a:r>
              <a:rPr sz="930">
                <a:solidFill>
                  <a:srgbClr val="000000"/>
                </a:solidFill>
                <a:latin typeface="Calibri"/>
              </a:rPr>
              <a:t>3-Year Trend: Reaching a peak in late 2022, the trade-weighted dollar depreciated steadily throughout 2024, eventually stabilizing in 2025. The dollar remains at elevated levels compared to its historical average, despite this recent pullback.</a:t>
            </a:r>
          </a:p>
          <a:p>
            <a:pPr algn="just">
              <a:spcBef>
                <a:spcPts val="400"/>
              </a:spcBef>
            </a:pPr>
            <a:r>
              <a:rPr sz="930">
                <a:solidFill>
                  <a:srgbClr val="000000"/>
                </a:solidFill>
                <a:latin typeface="Calibri"/>
              </a:rPr>
              <a:t>Correlation with Trade Balance: The DXY exhibits a moderate negative correlation of −0.48 with the trade balance. This aligns with economic theory that a stronger dollar makes US exports more expensive and imports cheaper, widening the trade deficit. The dollar's direction appears to be driven by its momentum and broader monetary policy factors rather than immediate trade flows.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02920"/>
          </a:xfrm>
          <a:prstGeom prst="rect">
            <a:avLst/>
          </a:prstGeom>
          <a:solidFill>
            <a:srgbClr val="6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2880" y="45720"/>
            <a:ext cx="11823192" cy="502920"/>
          </a:xfrm>
          <a:prstGeom prst="rect">
            <a:avLst/>
          </a:prstGeom>
          <a:noFill/>
        </p:spPr>
        <p:txBody>
          <a:bodyPr wrap="square">
            <a:spAutoFit/>
          </a:bodyPr>
          <a:lstStyle/>
          <a:p>
            <a:pPr algn="l"/>
            <a:r>
              <a:rPr sz="1800" b="1" i="0">
                <a:solidFill>
                  <a:srgbClr val="FFFFFF"/>
                </a:solidFill>
                <a:latin typeface="Calibri"/>
              </a:rPr>
              <a:t>INDICATOR ANALYSIS</a:t>
            </a:r>
          </a:p>
        </p:txBody>
      </p:sp>
      <p:sp>
        <p:nvSpPr>
          <p:cNvPr id="4" name="Rectangle 3"/>
          <p:cNvSpPr/>
          <p:nvPr/>
        </p:nvSpPr>
        <p:spPr>
          <a:xfrm>
            <a:off x="0" y="502920"/>
            <a:ext cx="12188952" cy="274320"/>
          </a:xfrm>
          <a:prstGeom prst="rect">
            <a:avLst/>
          </a:prstGeom>
          <a:solidFill>
            <a:srgbClr val="A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82880" y="530352"/>
            <a:ext cx="11823192" cy="274320"/>
          </a:xfrm>
          <a:prstGeom prst="rect">
            <a:avLst/>
          </a:prstGeom>
          <a:noFill/>
        </p:spPr>
        <p:txBody>
          <a:bodyPr wrap="square">
            <a:spAutoFit/>
          </a:bodyPr>
          <a:lstStyle/>
          <a:p>
            <a:pPr algn="l"/>
            <a:r>
              <a:rPr sz="1100" b="0" i="1">
                <a:solidFill>
                  <a:srgbClr val="FFFFFF"/>
                </a:solidFill>
                <a:latin typeface="Calibri"/>
              </a:rPr>
              <a:t>Interest Rates, Global Growth, Oil &amp; Import Composition</a:t>
            </a:r>
          </a:p>
        </p:txBody>
      </p:sp>
      <p:sp>
        <p:nvSpPr>
          <p:cNvPr id="6" name="TextBox 5"/>
          <p:cNvSpPr txBox="1"/>
          <p:nvPr/>
        </p:nvSpPr>
        <p:spPr>
          <a:xfrm>
            <a:off x="182880" y="886968"/>
            <a:ext cx="11823192" cy="5879592"/>
          </a:xfrm>
          <a:prstGeom prst="rect">
            <a:avLst/>
          </a:prstGeom>
          <a:noFill/>
        </p:spPr>
        <p:txBody>
          <a:bodyPr wrap="square">
            <a:spAutoFit/>
          </a:bodyPr>
          <a:lstStyle/>
          <a:p>
            <a:pPr algn="just">
              <a:spcBef>
                <a:spcPts val="500"/>
              </a:spcBef>
            </a:pPr>
            <a:r>
              <a:rPr sz="950" b="0">
                <a:solidFill>
                  <a:srgbClr val="000000"/>
                </a:solidFill>
                <a:latin typeface="Calibri"/>
              </a:rPr>
              <a:t>Interest Rate Differentials (Fed vs ECB &amp; BOJ):</a:t>
            </a:r>
          </a:p>
          <a:p>
            <a:pPr algn="just">
              <a:spcBef>
                <a:spcPts val="500"/>
              </a:spcBef>
            </a:pPr>
            <a:r>
              <a:rPr sz="950" b="0">
                <a:solidFill>
                  <a:srgbClr val="000000"/>
                </a:solidFill>
                <a:latin typeface="Calibri"/>
              </a:rPr>
              <a:t>The gap in interest rates between countries is a major factor in currency value, illustrating a strong positive relationship of 0.53 with the DXY. Capital flows toward higher-yielding currencies. US interest rates have remained higher than both Europe and Japan, attracting global capital and keeping the US Dollar strong relative to the Euro and the Yen.</a:t>
            </a:r>
          </a:p>
          <a:p>
            <a:pPr algn="just">
              <a:spcBef>
                <a:spcPts val="500"/>
              </a:spcBef>
            </a:pPr>
            <a:r>
              <a:rPr sz="950" b="0">
                <a:solidFill>
                  <a:srgbClr val="000000"/>
                </a:solidFill>
                <a:latin typeface="Calibri"/>
              </a:rPr>
              <a:t>Global Growth Indicators:</a:t>
            </a:r>
          </a:p>
          <a:p>
            <a:pPr algn="just">
              <a:spcBef>
                <a:spcPts val="500"/>
              </a:spcBef>
            </a:pPr>
            <a:r>
              <a:rPr sz="950" b="0">
                <a:solidFill>
                  <a:srgbClr val="000000"/>
                </a:solidFill>
                <a:latin typeface="Calibri"/>
              </a:rPr>
              <a:t>China Industrial Production: China's factory output is beginning to steady, growing approximately 4.5%–5% YoY, largely due to targeted government support in the manufacturing sector.</a:t>
            </a:r>
          </a:p>
          <a:p>
            <a:pPr algn="just">
              <a:spcBef>
                <a:spcPts val="500"/>
              </a:spcBef>
            </a:pPr>
            <a:r>
              <a:rPr sz="950" b="0">
                <a:solidFill>
                  <a:srgbClr val="000000"/>
                </a:solidFill>
                <a:latin typeface="Calibri"/>
              </a:rPr>
              <a:t>Eurozone PMI: The Eurozone economy is exhibiting sluggish growth, with the composite PMI barely hovering above the 50-point threshold. The manufacturing sector — specifically due to a severe slowdown in German industry — is dragging overall growth down.</a:t>
            </a:r>
          </a:p>
          <a:p>
            <a:pPr algn="just">
              <a:spcBef>
                <a:spcPts val="500"/>
              </a:spcBef>
            </a:pPr>
            <a:r>
              <a:rPr sz="950" b="0">
                <a:solidFill>
                  <a:srgbClr val="000000"/>
                </a:solidFill>
                <a:latin typeface="Calibri"/>
              </a:rPr>
              <a:t>Oil Prices:</a:t>
            </a:r>
          </a:p>
          <a:p>
            <a:pPr algn="just">
              <a:spcBef>
                <a:spcPts val="500"/>
              </a:spcBef>
            </a:pPr>
            <a:r>
              <a:rPr sz="950" b="0">
                <a:solidFill>
                  <a:srgbClr val="000000"/>
                </a:solidFill>
                <a:latin typeface="Calibri"/>
              </a:rPr>
              <a:t>The data illustrates a strong link between oil price changes and the growth of both US imports (0.58) and exports (0.67). Expensive oil causes domestic inflation, forcing the central bank to keep rates high, ultimately strengthening the dollar. Although higher oil prices make energy exports more valuable, a very strong dollar will hurt exports overall.</a:t>
            </a:r>
          </a:p>
          <a:p>
            <a:pPr algn="just">
              <a:spcBef>
                <a:spcPts val="500"/>
              </a:spcBef>
            </a:pPr>
            <a:r>
              <a:rPr sz="950" b="0">
                <a:solidFill>
                  <a:srgbClr val="000000"/>
                </a:solidFill>
                <a:latin typeface="Calibri"/>
              </a:rPr>
              <a:t>Import Composition:</a:t>
            </a:r>
          </a:p>
          <a:p>
            <a:pPr algn="just">
              <a:spcBef>
                <a:spcPts val="500"/>
              </a:spcBef>
            </a:pPr>
            <a:r>
              <a:rPr sz="950" b="0">
                <a:solidFill>
                  <a:srgbClr val="000000"/>
                </a:solidFill>
                <a:latin typeface="Calibri"/>
              </a:rPr>
              <a:t>Americans purchase large amounts of foreign consumer goods and technology — the main driver of the persistent US trade deficit. The US has made major strides in cutting energy imports over the recent decade, exporting more of certain petroleum products than it imports, given domestic production levels.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02920"/>
          </a:xfrm>
          <a:prstGeom prst="rect">
            <a:avLst/>
          </a:prstGeom>
          <a:solidFill>
            <a:srgbClr val="6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2880" y="45720"/>
            <a:ext cx="11823192" cy="502920"/>
          </a:xfrm>
          <a:prstGeom prst="rect">
            <a:avLst/>
          </a:prstGeom>
          <a:noFill/>
        </p:spPr>
        <p:txBody>
          <a:bodyPr wrap="square">
            <a:spAutoFit/>
          </a:bodyPr>
          <a:lstStyle/>
          <a:p>
            <a:pPr algn="l"/>
            <a:r>
              <a:rPr sz="1800" b="1" i="0">
                <a:solidFill>
                  <a:srgbClr val="FFFFFF"/>
                </a:solidFill>
                <a:latin typeface="Calibri"/>
              </a:rPr>
              <a:t>FORECAST</a:t>
            </a:r>
          </a:p>
        </p:txBody>
      </p:sp>
      <p:sp>
        <p:nvSpPr>
          <p:cNvPr id="4" name="Rectangle 3"/>
          <p:cNvSpPr/>
          <p:nvPr/>
        </p:nvSpPr>
        <p:spPr>
          <a:xfrm>
            <a:off x="0" y="502920"/>
            <a:ext cx="12188952" cy="274320"/>
          </a:xfrm>
          <a:prstGeom prst="rect">
            <a:avLst/>
          </a:prstGeom>
          <a:solidFill>
            <a:srgbClr val="A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82880" y="530352"/>
            <a:ext cx="11823192" cy="274320"/>
          </a:xfrm>
          <a:prstGeom prst="rect">
            <a:avLst/>
          </a:prstGeom>
          <a:noFill/>
        </p:spPr>
        <p:txBody>
          <a:bodyPr wrap="square">
            <a:spAutoFit/>
          </a:bodyPr>
          <a:lstStyle/>
          <a:p>
            <a:pPr algn="l"/>
            <a:r>
              <a:rPr sz="1100" b="0" i="1">
                <a:solidFill>
                  <a:srgbClr val="FFFFFF"/>
                </a:solidFill>
                <a:latin typeface="Calibri"/>
              </a:rPr>
              <a:t>Baseline Scenario</a:t>
            </a:r>
          </a:p>
        </p:txBody>
      </p:sp>
      <p:sp>
        <p:nvSpPr>
          <p:cNvPr id="6" name="TextBox 5"/>
          <p:cNvSpPr txBox="1"/>
          <p:nvPr/>
        </p:nvSpPr>
        <p:spPr>
          <a:xfrm>
            <a:off x="182880" y="886968"/>
            <a:ext cx="5486400" cy="228600"/>
          </a:xfrm>
          <a:prstGeom prst="rect">
            <a:avLst/>
          </a:prstGeom>
          <a:noFill/>
        </p:spPr>
        <p:txBody>
          <a:bodyPr wrap="square">
            <a:spAutoFit/>
          </a:bodyPr>
          <a:lstStyle/>
          <a:p>
            <a:pPr algn="l"/>
            <a:r>
              <a:rPr sz="900" b="1" i="0">
                <a:solidFill>
                  <a:srgbClr val="000000"/>
                </a:solidFill>
                <a:latin typeface="Calibri"/>
              </a:rPr>
              <a:t>Exhibit 12</a:t>
            </a:r>
          </a:p>
        </p:txBody>
      </p:sp>
      <p:pic>
        <p:nvPicPr>
          <p:cNvPr id="7" name="Picture 6" descr="forecast_exports.png"/>
          <p:cNvPicPr>
            <a:picLocks noChangeAspect="1"/>
          </p:cNvPicPr>
          <p:nvPr/>
        </p:nvPicPr>
        <p:blipFill>
          <a:blip r:embed="rId2"/>
          <a:stretch>
            <a:fillRect/>
          </a:stretch>
        </p:blipFill>
        <p:spPr>
          <a:xfrm>
            <a:off x="182880" y="1115568"/>
            <a:ext cx="5486400" cy="4892040"/>
          </a:xfrm>
          <a:prstGeom prst="rect">
            <a:avLst/>
          </a:prstGeom>
        </p:spPr>
      </p:pic>
      <p:sp>
        <p:nvSpPr>
          <p:cNvPr id="8" name="TextBox 7"/>
          <p:cNvSpPr txBox="1"/>
          <p:nvPr/>
        </p:nvSpPr>
        <p:spPr>
          <a:xfrm>
            <a:off x="5897880" y="886968"/>
            <a:ext cx="6108192" cy="5879592"/>
          </a:xfrm>
          <a:prstGeom prst="rect">
            <a:avLst/>
          </a:prstGeom>
          <a:noFill/>
        </p:spPr>
        <p:txBody>
          <a:bodyPr wrap="square">
            <a:spAutoFit/>
          </a:bodyPr>
          <a:lstStyle/>
          <a:p>
            <a:pPr algn="just">
              <a:spcBef>
                <a:spcPts val="400"/>
              </a:spcBef>
            </a:pPr>
            <a:r>
              <a:rPr sz="950">
                <a:solidFill>
                  <a:srgbClr val="000000"/>
                </a:solidFill>
                <a:latin typeface="Calibri"/>
              </a:rPr>
              <a:t>Assumptions:</a:t>
            </a:r>
          </a:p>
          <a:p>
            <a:pPr algn="just">
              <a:spcBef>
                <a:spcPts val="400"/>
              </a:spcBef>
            </a:pPr>
            <a:r>
              <a:rPr sz="950">
                <a:solidFill>
                  <a:srgbClr val="000000"/>
                </a:solidFill>
                <a:latin typeface="Calibri"/>
              </a:rPr>
              <a:t>Global growth is steady and avoids a recession. The FED will begin small interest rate cuts over the year. Interest rate differentials will slightly narrow, leading to a marginally weaker U.S. dollar. Oil prices will stabilize, and global industrial production improves gradually.</a:t>
            </a:r>
          </a:p>
          <a:p>
            <a:pPr algn="just">
              <a:spcBef>
                <a:spcPts val="400"/>
              </a:spcBef>
            </a:pPr>
            <a:r>
              <a:rPr sz="950">
                <a:solidFill>
                  <a:srgbClr val="000000"/>
                </a:solidFill>
                <a:latin typeface="Calibri"/>
              </a:rPr>
              <a:t>Economic Transmission:</a:t>
            </a:r>
          </a:p>
          <a:p>
            <a:pPr algn="just">
              <a:spcBef>
                <a:spcPts val="400"/>
              </a:spcBef>
            </a:pPr>
            <a:r>
              <a:rPr sz="950">
                <a:solidFill>
                  <a:srgbClr val="000000"/>
                </a:solidFill>
                <a:latin typeface="Calibri"/>
              </a:rPr>
              <a:t>The gradual decrease in interest rates allows the dollar to depreciate slightly over the forecast horizon. A weaker dollar improves U.S. export competitiveness, while steady domestic demand slows import growth. Stable global activity supports steady demand for U.S. goods.</a:t>
            </a:r>
          </a:p>
          <a:p>
            <a:pPr algn="just">
              <a:spcBef>
                <a:spcPts val="400"/>
              </a:spcBef>
            </a:pPr>
            <a:r>
              <a:rPr sz="950">
                <a:solidFill>
                  <a:srgbClr val="000000"/>
                </a:solidFill>
                <a:latin typeface="Calibri"/>
              </a:rPr>
              <a:t>Forecast Implications:</a:t>
            </a:r>
          </a:p>
          <a:p>
            <a:pPr algn="just">
              <a:spcBef>
                <a:spcPts val="400"/>
              </a:spcBef>
            </a:pPr>
            <a:r>
              <a:rPr sz="950">
                <a:solidFill>
                  <a:srgbClr val="000000"/>
                </a:solidFill>
                <a:latin typeface="Calibri"/>
              </a:rPr>
              <a:t>Real export growth increases gradually, reaching approximately 3–4% year-over-year by the end of the forecast period. Real import growth will slow but remain positive. The dollar declines modestly, and the trade deficit will narrow slightly but remain structurally negative.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02920"/>
          </a:xfrm>
          <a:prstGeom prst="rect">
            <a:avLst/>
          </a:prstGeom>
          <a:solidFill>
            <a:srgbClr val="6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2880" y="45720"/>
            <a:ext cx="11823192" cy="502920"/>
          </a:xfrm>
          <a:prstGeom prst="rect">
            <a:avLst/>
          </a:prstGeom>
          <a:noFill/>
        </p:spPr>
        <p:txBody>
          <a:bodyPr wrap="square">
            <a:spAutoFit/>
          </a:bodyPr>
          <a:lstStyle/>
          <a:p>
            <a:pPr algn="l"/>
            <a:r>
              <a:rPr sz="1800" b="1" i="0">
                <a:solidFill>
                  <a:srgbClr val="FFFFFF"/>
                </a:solidFill>
                <a:latin typeface="Calibri"/>
              </a:rPr>
              <a:t>FORECAST</a:t>
            </a:r>
          </a:p>
        </p:txBody>
      </p:sp>
      <p:sp>
        <p:nvSpPr>
          <p:cNvPr id="4" name="Rectangle 3"/>
          <p:cNvSpPr/>
          <p:nvPr/>
        </p:nvSpPr>
        <p:spPr>
          <a:xfrm>
            <a:off x="0" y="502920"/>
            <a:ext cx="12188952" cy="274320"/>
          </a:xfrm>
          <a:prstGeom prst="rect">
            <a:avLst/>
          </a:prstGeom>
          <a:solidFill>
            <a:srgbClr val="A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82880" y="530352"/>
            <a:ext cx="11823192" cy="274320"/>
          </a:xfrm>
          <a:prstGeom prst="rect">
            <a:avLst/>
          </a:prstGeom>
          <a:noFill/>
        </p:spPr>
        <p:txBody>
          <a:bodyPr wrap="square">
            <a:spAutoFit/>
          </a:bodyPr>
          <a:lstStyle/>
          <a:p>
            <a:pPr algn="l"/>
            <a:r>
              <a:rPr sz="1100" b="0" i="1">
                <a:solidFill>
                  <a:srgbClr val="FFFFFF"/>
                </a:solidFill>
                <a:latin typeface="Calibri"/>
              </a:rPr>
              <a:t>Upside &amp; Downside Scenarios</a:t>
            </a:r>
          </a:p>
        </p:txBody>
      </p:sp>
      <p:sp>
        <p:nvSpPr>
          <p:cNvPr id="6" name="TextBox 5"/>
          <p:cNvSpPr txBox="1"/>
          <p:nvPr/>
        </p:nvSpPr>
        <p:spPr>
          <a:xfrm>
            <a:off x="6656832" y="886968"/>
            <a:ext cx="5303520" cy="228600"/>
          </a:xfrm>
          <a:prstGeom prst="rect">
            <a:avLst/>
          </a:prstGeom>
          <a:noFill/>
        </p:spPr>
        <p:txBody>
          <a:bodyPr wrap="square">
            <a:spAutoFit/>
          </a:bodyPr>
          <a:lstStyle/>
          <a:p>
            <a:pPr algn="l"/>
            <a:r>
              <a:rPr sz="900" b="1" i="0">
                <a:solidFill>
                  <a:srgbClr val="000000"/>
                </a:solidFill>
                <a:latin typeface="Calibri"/>
              </a:rPr>
              <a:t>Exhibit 13</a:t>
            </a:r>
          </a:p>
        </p:txBody>
      </p:sp>
      <p:pic>
        <p:nvPicPr>
          <p:cNvPr id="7" name="Picture 6" descr="forecast_imports.png"/>
          <p:cNvPicPr>
            <a:picLocks noChangeAspect="1"/>
          </p:cNvPicPr>
          <p:nvPr/>
        </p:nvPicPr>
        <p:blipFill>
          <a:blip r:embed="rId2"/>
          <a:stretch>
            <a:fillRect/>
          </a:stretch>
        </p:blipFill>
        <p:spPr>
          <a:xfrm>
            <a:off x="6656832" y="1115568"/>
            <a:ext cx="5303520" cy="4892040"/>
          </a:xfrm>
          <a:prstGeom prst="rect">
            <a:avLst/>
          </a:prstGeom>
        </p:spPr>
      </p:pic>
      <p:sp>
        <p:nvSpPr>
          <p:cNvPr id="8" name="TextBox 7"/>
          <p:cNvSpPr txBox="1"/>
          <p:nvPr/>
        </p:nvSpPr>
        <p:spPr>
          <a:xfrm>
            <a:off x="182880" y="886968"/>
            <a:ext cx="6291072" cy="5879592"/>
          </a:xfrm>
          <a:prstGeom prst="rect">
            <a:avLst/>
          </a:prstGeom>
          <a:noFill/>
        </p:spPr>
        <p:txBody>
          <a:bodyPr wrap="square">
            <a:spAutoFit/>
          </a:bodyPr>
          <a:lstStyle/>
          <a:p>
            <a:pPr algn="just">
              <a:spcBef>
                <a:spcPts val="400"/>
              </a:spcBef>
            </a:pPr>
            <a:r>
              <a:rPr sz="900">
                <a:solidFill>
                  <a:srgbClr val="000000"/>
                </a:solidFill>
                <a:latin typeface="Calibri"/>
              </a:rPr>
              <a:t>Upside Scenario</a:t>
            </a:r>
          </a:p>
          <a:p>
            <a:pPr algn="just">
              <a:spcBef>
                <a:spcPts val="400"/>
              </a:spcBef>
            </a:pPr>
            <a:r>
              <a:rPr sz="900">
                <a:solidFill>
                  <a:srgbClr val="000000"/>
                </a:solidFill>
                <a:latin typeface="Calibri"/>
              </a:rPr>
              <a:t>Assumptions: Stronger global growth and a faster pace of rate cuts. Tightening interest rate differentials lead to a more noticeable dollar devaluation. Foreign industrial production speeds up, supporting external demand.</a:t>
            </a:r>
          </a:p>
          <a:p>
            <a:pPr algn="just">
              <a:spcBef>
                <a:spcPts val="400"/>
              </a:spcBef>
            </a:pPr>
            <a:r>
              <a:rPr sz="900">
                <a:solidFill>
                  <a:srgbClr val="000000"/>
                </a:solidFill>
                <a:latin typeface="Calibri"/>
              </a:rPr>
              <a:t>Economic Transmission: A weaker dollar significantly improves US price competitiveness abroad. Stronger foreign growth boosts exports. Imports continue to grow due to solid domestic demand, but export growth outpaces import growth.</a:t>
            </a:r>
          </a:p>
          <a:p>
            <a:pPr algn="just">
              <a:spcBef>
                <a:spcPts val="400"/>
              </a:spcBef>
            </a:pPr>
            <a:r>
              <a:rPr sz="900">
                <a:solidFill>
                  <a:srgbClr val="000000"/>
                </a:solidFill>
                <a:latin typeface="Calibri"/>
              </a:rPr>
              <a:t>Forecast Implications: Real export growth accelerates to approximately 6–7% YoY by end of forecast period. Import growth remains moderate at ~4–5%. The dollar declines sharply and the trade deficit narrows significantly.</a:t>
            </a:r>
          </a:p>
          <a:p>
            <a:pPr algn="just">
              <a:spcBef>
                <a:spcPts val="400"/>
              </a:spcBef>
            </a:pPr>
            <a:r>
              <a:rPr sz="900">
                <a:solidFill>
                  <a:srgbClr val="000000"/>
                </a:solidFill>
                <a:latin typeface="Calibri"/>
              </a:rPr>
              <a:t>─────────────────────────────────────────────────────────</a:t>
            </a:r>
          </a:p>
          <a:p>
            <a:pPr algn="just">
              <a:spcBef>
                <a:spcPts val="400"/>
              </a:spcBef>
            </a:pPr>
            <a:r>
              <a:rPr sz="900">
                <a:solidFill>
                  <a:srgbClr val="000000"/>
                </a:solidFill>
                <a:latin typeface="Calibri"/>
              </a:rPr>
              <a:t>Downside Scenario</a:t>
            </a:r>
          </a:p>
          <a:p>
            <a:pPr algn="just">
              <a:spcBef>
                <a:spcPts val="400"/>
              </a:spcBef>
            </a:pPr>
            <a:r>
              <a:rPr sz="900">
                <a:solidFill>
                  <a:srgbClr val="000000"/>
                </a:solidFill>
                <a:latin typeface="Calibri"/>
              </a:rPr>
              <a:t>Assumptions: Global recession accompanied by a rocky financial environment. Capital flows into the US toward safe, fixed-income assets, driving significant dollar appreciation. Oil demand weakens sharply; global industrial production tightens.</a:t>
            </a:r>
          </a:p>
          <a:p>
            <a:pPr algn="just">
              <a:spcBef>
                <a:spcPts val="400"/>
              </a:spcBef>
            </a:pPr>
            <a:r>
              <a:rPr sz="900">
                <a:solidFill>
                  <a:srgbClr val="000000"/>
                </a:solidFill>
                <a:latin typeface="Calibri"/>
              </a:rPr>
              <a:t>Economic Transmission: Capital flows into the U.S. strengthen the dollar, reducing export competitiveness. Global contraction suppresses foreign demand for U.S. goods. Domestic weakness reduces import demand; however, exports decline more sharply due to currency appreciation and weak global activity.</a:t>
            </a:r>
          </a:p>
          <a:p>
            <a:pPr algn="just">
              <a:spcBef>
                <a:spcPts val="400"/>
              </a:spcBef>
            </a:pPr>
            <a:r>
              <a:rPr sz="900">
                <a:solidFill>
                  <a:srgbClr val="000000"/>
                </a:solidFill>
                <a:latin typeface="Calibri"/>
              </a:rPr>
              <a:t>Forecast Implications: Real exports contract sharply, declining approximately 5–6% YoY. Imports also fall significantly. The dollar appreciates toward the $115–$116 range, and the trade deficit widens again despite weaker imports. Net exports become a drag on GDP.</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502920"/>
          </a:xfrm>
          <a:prstGeom prst="rect">
            <a:avLst/>
          </a:prstGeom>
          <a:solidFill>
            <a:srgbClr val="6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2880" y="45720"/>
            <a:ext cx="11823192" cy="502920"/>
          </a:xfrm>
          <a:prstGeom prst="rect">
            <a:avLst/>
          </a:prstGeom>
          <a:noFill/>
        </p:spPr>
        <p:txBody>
          <a:bodyPr wrap="square">
            <a:spAutoFit/>
          </a:bodyPr>
          <a:lstStyle/>
          <a:p>
            <a:pPr algn="l"/>
            <a:r>
              <a:rPr sz="1800" b="1" i="0">
                <a:solidFill>
                  <a:srgbClr val="FFFFFF"/>
                </a:solidFill>
                <a:latin typeface="Calibri"/>
              </a:rPr>
              <a:t>LIMITATIONS</a:t>
            </a:r>
          </a:p>
        </p:txBody>
      </p:sp>
      <p:sp>
        <p:nvSpPr>
          <p:cNvPr id="4" name="TextBox 3"/>
          <p:cNvSpPr txBox="1"/>
          <p:nvPr/>
        </p:nvSpPr>
        <p:spPr>
          <a:xfrm>
            <a:off x="182880" y="612648"/>
            <a:ext cx="11823192" cy="6153912"/>
          </a:xfrm>
          <a:prstGeom prst="rect">
            <a:avLst/>
          </a:prstGeom>
          <a:noFill/>
        </p:spPr>
        <p:txBody>
          <a:bodyPr wrap="square">
            <a:spAutoFit/>
          </a:bodyPr>
          <a:lstStyle/>
          <a:p>
            <a:pPr algn="just">
              <a:spcBef>
                <a:spcPts val="500"/>
              </a:spcBef>
            </a:pPr>
            <a:r>
              <a:rPr sz="950" b="0">
                <a:solidFill>
                  <a:srgbClr val="000000"/>
                </a:solidFill>
                <a:latin typeface="Calibri"/>
              </a:rPr>
              <a:t>Exchange Rate Pass-Through Lag</a:t>
            </a:r>
          </a:p>
          <a:p>
            <a:pPr algn="just">
              <a:spcBef>
                <a:spcPts val="500"/>
              </a:spcBef>
            </a:pPr>
            <a:r>
              <a:rPr sz="950" b="0">
                <a:solidFill>
                  <a:srgbClr val="000000"/>
                </a:solidFill>
                <a:latin typeface="Calibri"/>
              </a:rPr>
              <a:t>A core limitation across both trade models is the inability to capture exchange rate effects at quarterly frequency. The dollar's structural impact on the trade deficit is best interpreted over a multi-year horizon and should not be evaluated on a quarter-to-quarter basis. This also extends to the indicator analysis and forecast, where dollar depreciation is presented as a driver of export improvement — in practice, this adjustment will be slower and more gradual.</a:t>
            </a:r>
          </a:p>
          <a:p>
            <a:pPr algn="just">
              <a:spcBef>
                <a:spcPts val="500"/>
              </a:spcBef>
            </a:pPr>
            <a:r>
              <a:rPr sz="950" b="0">
                <a:solidFill>
                  <a:srgbClr val="000000"/>
                </a:solidFill>
                <a:latin typeface="Calibri"/>
              </a:rPr>
              <a:t>Stable Policy and Structural Assumptions</a:t>
            </a:r>
          </a:p>
          <a:p>
            <a:pPr algn="just">
              <a:spcBef>
                <a:spcPts val="500"/>
              </a:spcBef>
            </a:pPr>
            <a:r>
              <a:rPr sz="950" b="0">
                <a:solidFill>
                  <a:srgbClr val="000000"/>
                </a:solidFill>
                <a:latin typeface="Calibri"/>
              </a:rPr>
              <a:t>All three OLS models assume a stable underlying relationship across the full 2006–2025 sample period, which spans materially different policy regimes. The coefficients reflect long-run average sensitivities. Any structural break — large-scale tariff escalation, supply chain rewiring, or abrupt Fed policy shift — would not be captured.</a:t>
            </a:r>
          </a:p>
          <a:p>
            <a:pPr algn="just">
              <a:spcBef>
                <a:spcPts val="500"/>
              </a:spcBef>
            </a:pPr>
            <a:r>
              <a:rPr sz="950" b="0">
                <a:solidFill>
                  <a:srgbClr val="000000"/>
                </a:solidFill>
                <a:latin typeface="Calibri"/>
              </a:rPr>
              <a:t>Geopolitical Risk</a:t>
            </a:r>
          </a:p>
          <a:p>
            <a:pPr algn="just">
              <a:spcBef>
                <a:spcPts val="500"/>
              </a:spcBef>
            </a:pPr>
            <a:r>
              <a:rPr sz="950" b="0">
                <a:solidFill>
                  <a:srgbClr val="000000"/>
                </a:solidFill>
                <a:latin typeface="Calibri"/>
              </a:rPr>
              <a:t>The report does not formally account for geopolitical risk. Trade flow disruptions driven by tariffs, sanctions, export controls, or bilateral restrictions operate independently of macroeconomic fundamentals and fall outside the scope of all three models — particularly relevant given the current elevated tariff environment.</a:t>
            </a:r>
          </a:p>
          <a:p>
            <a:pPr algn="just">
              <a:spcBef>
                <a:spcPts val="500"/>
              </a:spcBef>
            </a:pPr>
            <a:r>
              <a:rPr sz="950" b="0">
                <a:solidFill>
                  <a:srgbClr val="000000"/>
                </a:solidFill>
                <a:latin typeface="Calibri"/>
              </a:rPr>
              <a:t>Energy Price Volatility</a:t>
            </a:r>
          </a:p>
          <a:p>
            <a:pPr algn="just">
              <a:spcBef>
                <a:spcPts val="500"/>
              </a:spcBef>
            </a:pPr>
            <a:r>
              <a:rPr sz="950" b="0">
                <a:solidFill>
                  <a:srgbClr val="000000"/>
                </a:solidFill>
                <a:latin typeface="Calibri"/>
              </a:rPr>
              <a:t>WTI crude has historically moved by more than 50% YoY within a single cycle (−56% in 2020; +90% in 2021–2022). Any significant energy price deviation will propagate directly into both export and import growth projections.</a:t>
            </a:r>
          </a:p>
          <a:p>
            <a:pPr algn="just">
              <a:spcBef>
                <a:spcPts val="500"/>
              </a:spcBef>
            </a:pPr>
            <a:r>
              <a:rPr sz="950" b="0">
                <a:solidFill>
                  <a:srgbClr val="000000"/>
                </a:solidFill>
                <a:latin typeface="Calibri"/>
              </a:rPr>
              <a:t>Data Constraints</a:t>
            </a:r>
          </a:p>
          <a:p>
            <a:pPr algn="just">
              <a:spcBef>
                <a:spcPts val="500"/>
              </a:spcBef>
            </a:pPr>
            <a:r>
              <a:rPr sz="950" b="0">
                <a:solidFill>
                  <a:srgbClr val="000000"/>
                </a:solidFill>
                <a:latin typeface="Calibri"/>
              </a:rPr>
              <a:t>Global GDP growth could not be included in Model 1 due to World Bank API data availability constraints — industrial production is used as a proxy. The sample begins in 2006, excluding pre-GFC dynamics. DTWEXAFEGS is a proxy for the ICE DXY and small compositional differences may affect coefficient interpretation.</a:t>
            </a:r>
          </a:p>
          <a:p>
            <a:pPr algn="just">
              <a:spcBef>
                <a:spcPts val="500"/>
              </a:spcBef>
            </a:pPr>
            <a:r>
              <a:rPr sz="950" b="0">
                <a:solidFill>
                  <a:srgbClr val="000000"/>
                </a:solidFill>
                <a:latin typeface="Calibri"/>
              </a:rPr>
              <a:t>Quarterly Frequency Constraint</a:t>
            </a:r>
          </a:p>
          <a:p>
            <a:pPr algn="just">
              <a:spcBef>
                <a:spcPts val="500"/>
              </a:spcBef>
            </a:pPr>
            <a:r>
              <a:rPr sz="950" b="0">
                <a:solidFill>
                  <a:srgbClr val="000000"/>
                </a:solidFill>
                <a:latin typeface="Calibri"/>
              </a:rPr>
              <a:t>All models operate at quarterly frequency, limiting the ability to capture within-quarter dynamics and high-frequency market reactions. Forecasts are better interpreted as directional projections over a 12-month horizon rather than precise quarter-by-quarter predictions.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457200"/>
          </a:xfrm>
          <a:prstGeom prst="rect">
            <a:avLst/>
          </a:prstGeom>
          <a:solidFill>
            <a:srgbClr val="6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2880" y="36576"/>
            <a:ext cx="11823192" cy="457200"/>
          </a:xfrm>
          <a:prstGeom prst="rect">
            <a:avLst/>
          </a:prstGeom>
          <a:noFill/>
        </p:spPr>
        <p:txBody>
          <a:bodyPr wrap="square">
            <a:spAutoFit/>
          </a:bodyPr>
          <a:lstStyle/>
          <a:p>
            <a:pPr algn="l"/>
            <a:r>
              <a:rPr sz="1100" b="1" i="0">
                <a:solidFill>
                  <a:srgbClr val="FFFFFF"/>
                </a:solidFill>
                <a:latin typeface="Calibri"/>
              </a:rPr>
              <a:t>Appendix (1)  US Export Growth — Model Overview  |  Source: FRED / BEA</a:t>
            </a:r>
          </a:p>
        </p:txBody>
      </p:sp>
      <p:pic>
        <p:nvPicPr>
          <p:cNvPr id="4" name="Picture 3" descr="exports_data_overview.png"/>
          <p:cNvPicPr>
            <a:picLocks noChangeAspect="1"/>
          </p:cNvPicPr>
          <p:nvPr/>
        </p:nvPicPr>
        <p:blipFill>
          <a:blip r:embed="rId2"/>
          <a:stretch>
            <a:fillRect/>
          </a:stretch>
        </p:blipFill>
        <p:spPr>
          <a:xfrm>
            <a:off x="182880" y="548640"/>
            <a:ext cx="11823192" cy="621792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457200"/>
          </a:xfrm>
          <a:prstGeom prst="rect">
            <a:avLst/>
          </a:prstGeom>
          <a:solidFill>
            <a:srgbClr val="6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2880" y="36576"/>
            <a:ext cx="11823192" cy="457200"/>
          </a:xfrm>
          <a:prstGeom prst="rect">
            <a:avLst/>
          </a:prstGeom>
          <a:noFill/>
        </p:spPr>
        <p:txBody>
          <a:bodyPr wrap="square">
            <a:spAutoFit/>
          </a:bodyPr>
          <a:lstStyle/>
          <a:p>
            <a:pPr algn="l"/>
            <a:r>
              <a:rPr sz="1100" b="1" i="0">
                <a:solidFill>
                  <a:srgbClr val="FFFFFF"/>
                </a:solidFill>
                <a:latin typeface="Calibri"/>
              </a:rPr>
              <a:t>Appendix (2)  US Export Growth — OLS Model Fit  |  Source: FRED / BEA</a:t>
            </a:r>
          </a:p>
        </p:txBody>
      </p:sp>
      <p:pic>
        <p:nvPicPr>
          <p:cNvPr id="4" name="Picture 3" descr="exports_model.png"/>
          <p:cNvPicPr>
            <a:picLocks noChangeAspect="1"/>
          </p:cNvPicPr>
          <p:nvPr/>
        </p:nvPicPr>
        <p:blipFill>
          <a:blip r:embed="rId2"/>
          <a:stretch>
            <a:fillRect/>
          </a:stretch>
        </p:blipFill>
        <p:spPr>
          <a:xfrm>
            <a:off x="182880" y="548640"/>
            <a:ext cx="11823192" cy="621792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457200"/>
          </a:xfrm>
          <a:prstGeom prst="rect">
            <a:avLst/>
          </a:prstGeom>
          <a:solidFill>
            <a:srgbClr val="6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2880" y="36576"/>
            <a:ext cx="11823192" cy="457200"/>
          </a:xfrm>
          <a:prstGeom prst="rect">
            <a:avLst/>
          </a:prstGeom>
          <a:noFill/>
        </p:spPr>
        <p:txBody>
          <a:bodyPr wrap="square">
            <a:spAutoFit/>
          </a:bodyPr>
          <a:lstStyle/>
          <a:p>
            <a:pPr algn="l"/>
            <a:r>
              <a:rPr sz="1100" b="1" i="0">
                <a:solidFill>
                  <a:srgbClr val="FFFFFF"/>
                </a:solidFill>
                <a:latin typeface="Calibri"/>
              </a:rPr>
              <a:t>Appendix (3)  US Export Growth — Correlation Matrix  |  Source: FRED / BEA</a:t>
            </a:r>
          </a:p>
        </p:txBody>
      </p:sp>
      <p:pic>
        <p:nvPicPr>
          <p:cNvPr id="4" name="Picture 3" descr="exports_corr.png"/>
          <p:cNvPicPr>
            <a:picLocks noChangeAspect="1"/>
          </p:cNvPicPr>
          <p:nvPr/>
        </p:nvPicPr>
        <p:blipFill>
          <a:blip r:embed="rId2"/>
          <a:stretch>
            <a:fillRect/>
          </a:stretch>
        </p:blipFill>
        <p:spPr>
          <a:xfrm>
            <a:off x="182880" y="548640"/>
            <a:ext cx="11823192" cy="621792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457200"/>
          </a:xfrm>
          <a:prstGeom prst="rect">
            <a:avLst/>
          </a:prstGeom>
          <a:solidFill>
            <a:srgbClr val="6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2880" y="36576"/>
            <a:ext cx="11823192" cy="457200"/>
          </a:xfrm>
          <a:prstGeom prst="rect">
            <a:avLst/>
          </a:prstGeom>
          <a:noFill/>
        </p:spPr>
        <p:txBody>
          <a:bodyPr wrap="square">
            <a:spAutoFit/>
          </a:bodyPr>
          <a:lstStyle/>
          <a:p>
            <a:pPr algn="l"/>
            <a:r>
              <a:rPr sz="1100" b="1" i="0">
                <a:solidFill>
                  <a:srgbClr val="FFFFFF"/>
                </a:solidFill>
                <a:latin typeface="Calibri"/>
              </a:rPr>
              <a:t>Appendix (4)  Model 1 Regression Table  |  Source: Authors</a:t>
            </a:r>
          </a:p>
        </p:txBody>
      </p:sp>
      <p:pic>
        <p:nvPicPr>
          <p:cNvPr id="4" name="Picture 3" descr="table_model1_exports.png"/>
          <p:cNvPicPr>
            <a:picLocks noChangeAspect="1"/>
          </p:cNvPicPr>
          <p:nvPr/>
        </p:nvPicPr>
        <p:blipFill>
          <a:blip r:embed="rId2"/>
          <a:stretch>
            <a:fillRect/>
          </a:stretch>
        </p:blipFill>
        <p:spPr>
          <a:xfrm>
            <a:off x="182880" y="548640"/>
            <a:ext cx="11823192" cy="621792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457200"/>
          </a:xfrm>
          <a:prstGeom prst="rect">
            <a:avLst/>
          </a:prstGeom>
          <a:solidFill>
            <a:srgbClr val="6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2880" y="36576"/>
            <a:ext cx="11823192" cy="457200"/>
          </a:xfrm>
          <a:prstGeom prst="rect">
            <a:avLst/>
          </a:prstGeom>
          <a:noFill/>
        </p:spPr>
        <p:txBody>
          <a:bodyPr wrap="square">
            <a:spAutoFit/>
          </a:bodyPr>
          <a:lstStyle/>
          <a:p>
            <a:pPr algn="l"/>
            <a:r>
              <a:rPr sz="1100" b="1" i="0">
                <a:solidFill>
                  <a:srgbClr val="FFFFFF"/>
                </a:solidFill>
                <a:latin typeface="Calibri"/>
              </a:rPr>
              <a:t>Appendix (5)  US Dollar Index (DXY) — Data Overview  |  Source: FRED / ICE</a:t>
            </a:r>
          </a:p>
        </p:txBody>
      </p:sp>
      <p:pic>
        <p:nvPicPr>
          <p:cNvPr id="4" name="Picture 3" descr="dxy_data_overview.png"/>
          <p:cNvPicPr>
            <a:picLocks noChangeAspect="1"/>
          </p:cNvPicPr>
          <p:nvPr/>
        </p:nvPicPr>
        <p:blipFill>
          <a:blip r:embed="rId2"/>
          <a:stretch>
            <a:fillRect/>
          </a:stretch>
        </p:blipFill>
        <p:spPr>
          <a:xfrm>
            <a:off x="182880" y="548640"/>
            <a:ext cx="11823192" cy="621792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457200"/>
          </a:xfrm>
          <a:prstGeom prst="rect">
            <a:avLst/>
          </a:prstGeom>
          <a:solidFill>
            <a:srgbClr val="6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2880" y="36576"/>
            <a:ext cx="11823192" cy="457200"/>
          </a:xfrm>
          <a:prstGeom prst="rect">
            <a:avLst/>
          </a:prstGeom>
          <a:noFill/>
        </p:spPr>
        <p:txBody>
          <a:bodyPr wrap="square">
            <a:spAutoFit/>
          </a:bodyPr>
          <a:lstStyle/>
          <a:p>
            <a:pPr algn="l"/>
            <a:r>
              <a:rPr sz="1100" b="1" i="0">
                <a:solidFill>
                  <a:srgbClr val="FFFFFF"/>
                </a:solidFill>
                <a:latin typeface="Calibri"/>
              </a:rPr>
              <a:t>Appendix (6)  US Dollar Index (DXY) — OLS Model Fit  |  Source: FRED / ICE</a:t>
            </a:r>
          </a:p>
        </p:txBody>
      </p:sp>
      <p:pic>
        <p:nvPicPr>
          <p:cNvPr id="4" name="Picture 3" descr="dxy_model.png"/>
          <p:cNvPicPr>
            <a:picLocks noChangeAspect="1"/>
          </p:cNvPicPr>
          <p:nvPr/>
        </p:nvPicPr>
        <p:blipFill>
          <a:blip r:embed="rId2"/>
          <a:stretch>
            <a:fillRect/>
          </a:stretch>
        </p:blipFill>
        <p:spPr>
          <a:xfrm>
            <a:off x="182880" y="548640"/>
            <a:ext cx="11823192" cy="621792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457200"/>
          </a:xfrm>
          <a:prstGeom prst="rect">
            <a:avLst/>
          </a:prstGeom>
          <a:solidFill>
            <a:srgbClr val="6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2880" y="36576"/>
            <a:ext cx="11823192" cy="457200"/>
          </a:xfrm>
          <a:prstGeom prst="rect">
            <a:avLst/>
          </a:prstGeom>
          <a:noFill/>
        </p:spPr>
        <p:txBody>
          <a:bodyPr wrap="square">
            <a:spAutoFit/>
          </a:bodyPr>
          <a:lstStyle/>
          <a:p>
            <a:pPr algn="l"/>
            <a:r>
              <a:rPr sz="1100" b="1" i="0">
                <a:solidFill>
                  <a:srgbClr val="FFFFFF"/>
                </a:solidFill>
                <a:latin typeface="Calibri"/>
              </a:rPr>
              <a:t>Appendix (7)  US Dollar Index (DXY) — Correlation Matrix  |  Source: FRED / ICE</a:t>
            </a:r>
          </a:p>
        </p:txBody>
      </p:sp>
      <p:pic>
        <p:nvPicPr>
          <p:cNvPr id="4" name="Picture 3" descr="dxy_corr.png"/>
          <p:cNvPicPr>
            <a:picLocks noChangeAspect="1"/>
          </p:cNvPicPr>
          <p:nvPr/>
        </p:nvPicPr>
        <p:blipFill>
          <a:blip r:embed="rId2"/>
          <a:stretch>
            <a:fillRect/>
          </a:stretch>
        </p:blipFill>
        <p:spPr>
          <a:xfrm>
            <a:off x="182880" y="548640"/>
            <a:ext cx="11823192" cy="621792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457200"/>
          </a:xfrm>
          <a:prstGeom prst="rect">
            <a:avLst/>
          </a:prstGeom>
          <a:solidFill>
            <a:srgbClr val="6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2880" y="36576"/>
            <a:ext cx="11823192" cy="457200"/>
          </a:xfrm>
          <a:prstGeom prst="rect">
            <a:avLst/>
          </a:prstGeom>
          <a:noFill/>
        </p:spPr>
        <p:txBody>
          <a:bodyPr wrap="square">
            <a:spAutoFit/>
          </a:bodyPr>
          <a:lstStyle/>
          <a:p>
            <a:pPr algn="l"/>
            <a:r>
              <a:rPr sz="1100" b="1" i="0">
                <a:solidFill>
                  <a:srgbClr val="FFFFFF"/>
                </a:solidFill>
                <a:latin typeface="Calibri"/>
              </a:rPr>
              <a:t>Appendix (8)  Model 2 Regression Table  |  Source: Authors</a:t>
            </a:r>
          </a:p>
        </p:txBody>
      </p:sp>
      <p:pic>
        <p:nvPicPr>
          <p:cNvPr id="4" name="Picture 3" descr="table_model2_dxy.png"/>
          <p:cNvPicPr>
            <a:picLocks noChangeAspect="1"/>
          </p:cNvPicPr>
          <p:nvPr/>
        </p:nvPicPr>
        <p:blipFill>
          <a:blip r:embed="rId2"/>
          <a:stretch>
            <a:fillRect/>
          </a:stretch>
        </p:blipFill>
        <p:spPr>
          <a:xfrm>
            <a:off x="182880" y="548640"/>
            <a:ext cx="11823192" cy="621792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457200"/>
          </a:xfrm>
          <a:prstGeom prst="rect">
            <a:avLst/>
          </a:prstGeom>
          <a:solidFill>
            <a:srgbClr val="6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2880" y="36576"/>
            <a:ext cx="11823192" cy="457200"/>
          </a:xfrm>
          <a:prstGeom prst="rect">
            <a:avLst/>
          </a:prstGeom>
          <a:noFill/>
        </p:spPr>
        <p:txBody>
          <a:bodyPr wrap="square">
            <a:spAutoFit/>
          </a:bodyPr>
          <a:lstStyle/>
          <a:p>
            <a:pPr algn="l"/>
            <a:r>
              <a:rPr sz="1100" b="1" i="0">
                <a:solidFill>
                  <a:srgbClr val="FFFFFF"/>
                </a:solidFill>
                <a:latin typeface="Calibri"/>
              </a:rPr>
              <a:t>Appendix (9)  US Import Growth — Data Overview  |  Source: FRED / BEA</a:t>
            </a:r>
          </a:p>
        </p:txBody>
      </p:sp>
      <p:pic>
        <p:nvPicPr>
          <p:cNvPr id="4" name="Picture 3" descr="imports_data_overview.png"/>
          <p:cNvPicPr>
            <a:picLocks noChangeAspect="1"/>
          </p:cNvPicPr>
          <p:nvPr/>
        </p:nvPicPr>
        <p:blipFill>
          <a:blip r:embed="rId2"/>
          <a:stretch>
            <a:fillRect/>
          </a:stretch>
        </p:blipFill>
        <p:spPr>
          <a:xfrm>
            <a:off x="182880" y="548640"/>
            <a:ext cx="11823192" cy="621792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457200"/>
          </a:xfrm>
          <a:prstGeom prst="rect">
            <a:avLst/>
          </a:prstGeom>
          <a:solidFill>
            <a:srgbClr val="6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2880" y="36576"/>
            <a:ext cx="11823192" cy="457200"/>
          </a:xfrm>
          <a:prstGeom prst="rect">
            <a:avLst/>
          </a:prstGeom>
          <a:noFill/>
        </p:spPr>
        <p:txBody>
          <a:bodyPr wrap="square">
            <a:spAutoFit/>
          </a:bodyPr>
          <a:lstStyle/>
          <a:p>
            <a:pPr algn="l"/>
            <a:r>
              <a:rPr sz="1100" b="1" i="0">
                <a:solidFill>
                  <a:srgbClr val="FFFFFF"/>
                </a:solidFill>
                <a:latin typeface="Calibri"/>
              </a:rPr>
              <a:t>Appendix (10)  US Import Growth — OLS Model Fit  |  Source: FRED / BEA</a:t>
            </a:r>
          </a:p>
        </p:txBody>
      </p:sp>
      <p:pic>
        <p:nvPicPr>
          <p:cNvPr id="4" name="Picture 3" descr="imports_model.png"/>
          <p:cNvPicPr>
            <a:picLocks noChangeAspect="1"/>
          </p:cNvPicPr>
          <p:nvPr/>
        </p:nvPicPr>
        <p:blipFill>
          <a:blip r:embed="rId2"/>
          <a:stretch>
            <a:fillRect/>
          </a:stretch>
        </p:blipFill>
        <p:spPr>
          <a:xfrm>
            <a:off x="182880" y="548640"/>
            <a:ext cx="11823192" cy="621792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457200"/>
          </a:xfrm>
          <a:prstGeom prst="rect">
            <a:avLst/>
          </a:prstGeom>
          <a:solidFill>
            <a:srgbClr val="6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2880" y="36576"/>
            <a:ext cx="11823192" cy="457200"/>
          </a:xfrm>
          <a:prstGeom prst="rect">
            <a:avLst/>
          </a:prstGeom>
          <a:noFill/>
        </p:spPr>
        <p:txBody>
          <a:bodyPr wrap="square">
            <a:spAutoFit/>
          </a:bodyPr>
          <a:lstStyle/>
          <a:p>
            <a:pPr algn="l"/>
            <a:r>
              <a:rPr sz="1100" b="1" i="0">
                <a:solidFill>
                  <a:srgbClr val="FFFFFF"/>
                </a:solidFill>
                <a:latin typeface="Calibri"/>
              </a:rPr>
              <a:t>Appendix (11)  US Import Growth — Correlation Matrix  |  Source: FRED / BEA</a:t>
            </a:r>
          </a:p>
        </p:txBody>
      </p:sp>
      <p:pic>
        <p:nvPicPr>
          <p:cNvPr id="4" name="Picture 3" descr="imports_corr.png"/>
          <p:cNvPicPr>
            <a:picLocks noChangeAspect="1"/>
          </p:cNvPicPr>
          <p:nvPr/>
        </p:nvPicPr>
        <p:blipFill>
          <a:blip r:embed="rId2"/>
          <a:stretch>
            <a:fillRect/>
          </a:stretch>
        </p:blipFill>
        <p:spPr>
          <a:xfrm>
            <a:off x="182880" y="548640"/>
            <a:ext cx="11823192" cy="621792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457200"/>
          </a:xfrm>
          <a:prstGeom prst="rect">
            <a:avLst/>
          </a:prstGeom>
          <a:solidFill>
            <a:srgbClr val="6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2880" y="36576"/>
            <a:ext cx="11823192" cy="457200"/>
          </a:xfrm>
          <a:prstGeom prst="rect">
            <a:avLst/>
          </a:prstGeom>
          <a:noFill/>
        </p:spPr>
        <p:txBody>
          <a:bodyPr wrap="square">
            <a:spAutoFit/>
          </a:bodyPr>
          <a:lstStyle/>
          <a:p>
            <a:pPr algn="l"/>
            <a:r>
              <a:rPr sz="1100" b="1" i="0">
                <a:solidFill>
                  <a:srgbClr val="FFFFFF"/>
                </a:solidFill>
                <a:latin typeface="Calibri"/>
              </a:rPr>
              <a:t>Appendix (12)  Model 3 Regression Table  |  Source: Authors</a:t>
            </a:r>
          </a:p>
        </p:txBody>
      </p:sp>
      <p:pic>
        <p:nvPicPr>
          <p:cNvPr id="4" name="Picture 3" descr="table_model3_imports.png"/>
          <p:cNvPicPr>
            <a:picLocks noChangeAspect="1"/>
          </p:cNvPicPr>
          <p:nvPr/>
        </p:nvPicPr>
        <p:blipFill>
          <a:blip r:embed="rId2"/>
          <a:stretch>
            <a:fillRect/>
          </a:stretch>
        </p:blipFill>
        <p:spPr>
          <a:xfrm>
            <a:off x="182880" y="548640"/>
            <a:ext cx="11823192" cy="621792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457200"/>
          </a:xfrm>
          <a:prstGeom prst="rect">
            <a:avLst/>
          </a:prstGeom>
          <a:solidFill>
            <a:srgbClr val="6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2880" y="36576"/>
            <a:ext cx="11823192" cy="457200"/>
          </a:xfrm>
          <a:prstGeom prst="rect">
            <a:avLst/>
          </a:prstGeom>
          <a:noFill/>
        </p:spPr>
        <p:txBody>
          <a:bodyPr wrap="square">
            <a:spAutoFit/>
          </a:bodyPr>
          <a:lstStyle/>
          <a:p>
            <a:pPr algn="l"/>
            <a:r>
              <a:rPr sz="1100" b="1" i="0">
                <a:solidFill>
                  <a:srgbClr val="FFFFFF"/>
                </a:solidFill>
                <a:latin typeface="Calibri"/>
              </a:rPr>
              <a:t>Appendix (13)  Forecast — Export Growth Scenarios  |  Source: Authors</a:t>
            </a:r>
          </a:p>
        </p:txBody>
      </p:sp>
      <p:pic>
        <p:nvPicPr>
          <p:cNvPr id="4" name="Picture 3" descr="forecast_exports.png"/>
          <p:cNvPicPr>
            <a:picLocks noChangeAspect="1"/>
          </p:cNvPicPr>
          <p:nvPr/>
        </p:nvPicPr>
        <p:blipFill>
          <a:blip r:embed="rId2"/>
          <a:stretch>
            <a:fillRect/>
          </a:stretch>
        </p:blipFill>
        <p:spPr>
          <a:xfrm>
            <a:off x="182880" y="548640"/>
            <a:ext cx="11823192" cy="621792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457200"/>
          </a:xfrm>
          <a:prstGeom prst="rect">
            <a:avLst/>
          </a:prstGeom>
          <a:solidFill>
            <a:srgbClr val="6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2880" y="36576"/>
            <a:ext cx="11823192" cy="457200"/>
          </a:xfrm>
          <a:prstGeom prst="rect">
            <a:avLst/>
          </a:prstGeom>
          <a:noFill/>
        </p:spPr>
        <p:txBody>
          <a:bodyPr wrap="square">
            <a:spAutoFit/>
          </a:bodyPr>
          <a:lstStyle/>
          <a:p>
            <a:pPr algn="l"/>
            <a:r>
              <a:rPr sz="1100" b="1" i="0">
                <a:solidFill>
                  <a:srgbClr val="FFFFFF"/>
                </a:solidFill>
                <a:latin typeface="Calibri"/>
              </a:rPr>
              <a:t>Appendix (14)  Forecast — Import Growth Scenarios  |  Source: Authors</a:t>
            </a:r>
          </a:p>
        </p:txBody>
      </p:sp>
      <p:pic>
        <p:nvPicPr>
          <p:cNvPr id="4" name="Picture 3" descr="forecast_imports.png"/>
          <p:cNvPicPr>
            <a:picLocks noChangeAspect="1"/>
          </p:cNvPicPr>
          <p:nvPr/>
        </p:nvPicPr>
        <p:blipFill>
          <a:blip r:embed="rId2"/>
          <a:stretch>
            <a:fillRect/>
          </a:stretch>
        </p:blipFill>
        <p:spPr>
          <a:xfrm>
            <a:off x="182880" y="548640"/>
            <a:ext cx="11823192" cy="621792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457200"/>
          </a:xfrm>
          <a:prstGeom prst="rect">
            <a:avLst/>
          </a:prstGeom>
          <a:solidFill>
            <a:srgbClr val="6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2880" y="36576"/>
            <a:ext cx="11823192" cy="457200"/>
          </a:xfrm>
          <a:prstGeom prst="rect">
            <a:avLst/>
          </a:prstGeom>
          <a:noFill/>
        </p:spPr>
        <p:txBody>
          <a:bodyPr wrap="square">
            <a:spAutoFit/>
          </a:bodyPr>
          <a:lstStyle/>
          <a:p>
            <a:pPr algn="l"/>
            <a:r>
              <a:rPr sz="1100" b="1" i="0">
                <a:solidFill>
                  <a:srgbClr val="FFFFFF"/>
                </a:solidFill>
                <a:latin typeface="Calibri"/>
              </a:rPr>
              <a:t>Appendix (15)  Forecast — DXY Scenarios  |  Source: Authors</a:t>
            </a:r>
          </a:p>
        </p:txBody>
      </p:sp>
      <p:pic>
        <p:nvPicPr>
          <p:cNvPr id="4" name="Picture 3" descr="forecast_dxy.png"/>
          <p:cNvPicPr>
            <a:picLocks noChangeAspect="1"/>
          </p:cNvPicPr>
          <p:nvPr/>
        </p:nvPicPr>
        <p:blipFill>
          <a:blip r:embed="rId2"/>
          <a:stretch>
            <a:fillRect/>
          </a:stretch>
        </p:blipFill>
        <p:spPr>
          <a:xfrm>
            <a:off x="182880" y="548640"/>
            <a:ext cx="11823192" cy="621792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457200"/>
          </a:xfrm>
          <a:prstGeom prst="rect">
            <a:avLst/>
          </a:prstGeom>
          <a:solidFill>
            <a:srgbClr val="6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2880" y="36576"/>
            <a:ext cx="11823192" cy="457200"/>
          </a:xfrm>
          <a:prstGeom prst="rect">
            <a:avLst/>
          </a:prstGeom>
          <a:noFill/>
        </p:spPr>
        <p:txBody>
          <a:bodyPr wrap="square">
            <a:spAutoFit/>
          </a:bodyPr>
          <a:lstStyle/>
          <a:p>
            <a:pPr algn="l"/>
            <a:r>
              <a:rPr sz="1100" b="1" i="0">
                <a:solidFill>
                  <a:srgbClr val="FFFFFF"/>
                </a:solidFill>
                <a:latin typeface="Calibri"/>
              </a:rPr>
              <a:t>Appendix (16)  Forecast — Trade Balance Scenarios  |  Source: Authors</a:t>
            </a:r>
          </a:p>
        </p:txBody>
      </p:sp>
      <p:pic>
        <p:nvPicPr>
          <p:cNvPr id="4" name="Picture 3" descr="forecast_tradebalance.png"/>
          <p:cNvPicPr>
            <a:picLocks noChangeAspect="1"/>
          </p:cNvPicPr>
          <p:nvPr/>
        </p:nvPicPr>
        <p:blipFill>
          <a:blip r:embed="rId2"/>
          <a:stretch>
            <a:fillRect/>
          </a:stretch>
        </p:blipFill>
        <p:spPr>
          <a:xfrm>
            <a:off x="182880" y="548640"/>
            <a:ext cx="11823192" cy="621792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457200"/>
          </a:xfrm>
          <a:prstGeom prst="rect">
            <a:avLst/>
          </a:prstGeom>
          <a:solidFill>
            <a:srgbClr val="6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2880" y="36576"/>
            <a:ext cx="11823192" cy="457200"/>
          </a:xfrm>
          <a:prstGeom prst="rect">
            <a:avLst/>
          </a:prstGeom>
          <a:noFill/>
        </p:spPr>
        <p:txBody>
          <a:bodyPr wrap="square">
            <a:spAutoFit/>
          </a:bodyPr>
          <a:lstStyle/>
          <a:p>
            <a:pPr algn="l"/>
            <a:r>
              <a:rPr sz="1100" b="1" i="0">
                <a:solidFill>
                  <a:srgbClr val="FFFFFF"/>
                </a:solidFill>
                <a:latin typeface="Calibri"/>
              </a:rPr>
              <a:t>Appendix (17)  Forecast Summary  |  Source: Authors</a:t>
            </a:r>
          </a:p>
        </p:txBody>
      </p:sp>
      <p:pic>
        <p:nvPicPr>
          <p:cNvPr id="4" name="Picture 3" descr="forecast_summary.png"/>
          <p:cNvPicPr>
            <a:picLocks noChangeAspect="1"/>
          </p:cNvPicPr>
          <p:nvPr/>
        </p:nvPicPr>
        <p:blipFill>
          <a:blip r:embed="rId2"/>
          <a:stretch>
            <a:fillRect/>
          </a:stretch>
        </p:blipFill>
        <p:spPr>
          <a:xfrm>
            <a:off x="182880" y="548640"/>
            <a:ext cx="11823192" cy="62179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Custom</PresentationFormat>
  <Paragraphs>0</Paragraphs>
  <Slides>39</Slides>
  <Notes>0</Notes>
  <HiddenSlides>0</HiddenSlides>
  <MMClips>0</MMClips>
  <ScaleCrop>false</ScaleCrop>
  <HeadingPairs>
    <vt:vector size="4" baseType="variant">
      <vt:variant>
        <vt:lpstr>Theme</vt:lpstr>
      </vt:variant>
      <vt:variant>
        <vt:i4>1</vt:i4>
      </vt:variant>
      <vt:variant>
        <vt:lpstr>Slide Titles</vt:lpstr>
      </vt:variant>
      <vt:variant>
        <vt:i4>39</vt:i4>
      </vt:variant>
    </vt:vector>
  </HeadingPairs>
  <TitlesOfParts>
    <vt:vector size="4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2</cp:revision>
  <dcterms:created xsi:type="dcterms:W3CDTF">2013-01-27T09:14:16Z</dcterms:created>
  <dcterms:modified xsi:type="dcterms:W3CDTF">2026-05-28T21:18:28Z</dcterms:modified>
  <cp:category/>
</cp:coreProperties>
</file>