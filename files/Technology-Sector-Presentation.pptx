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7" r:id="rId12"/>
    <p:sldId id="268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/>
    <p:restoredTop sz="94645"/>
  </p:normalViewPr>
  <p:slideViewPr>
    <p:cSldViewPr snapToGrid="0">
      <p:cViewPr varScale="1">
        <p:scale>
          <a:sx n="68" d="100"/>
          <a:sy n="68" d="100"/>
        </p:scale>
        <p:origin x="79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7607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5394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TECHNOLOGY SECTOR INDUSTRY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8368"/>
            <a:ext cx="116403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dirty="0">
                <a:solidFill>
                  <a:srgbClr val="FFFFFF"/>
                </a:solidFill>
                <a:latin typeface="Calibri"/>
              </a:rPr>
              <a:t>Arnie Mathur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  <a:latin typeface="Calibri"/>
              </a:rPr>
              <a:t>S&amp;P North American Technology Sector  |  SPGSTI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908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>
                <a:solidFill>
                  <a:srgbClr val="555555"/>
                </a:solidFill>
                <a:latin typeface="Calibri"/>
              </a:rPr>
              <a:t>May 2026  |  Sector Analysis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SECTOR DESCRIPTION</a:t>
            </a:r>
            <a:endParaRPr lang="en-US" sz="2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S&amp;P North American Technology Sector (SPGSTI)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914400"/>
            <a:ext cx="5806440" cy="45961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1F3864"/>
                </a:solidFill>
                <a:latin typeface="Calibri"/>
              </a:rPr>
              <a:t>Sector Overview</a:t>
            </a:r>
            <a:endParaRPr lang="en-US" sz="3200" b="1" dirty="0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2400" b="1" dirty="0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SPGSTI covers all GICS Information Technology securities plus internet retail, interactive home entertainment, and interactive media sub-industries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10-year return of 706.33% versus 249.89% for the S&amp;P 500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Outperformed the S&amp;P 500 over 1, 3, 5, and 10 year periods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20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99632" y="914400"/>
            <a:ext cx="5806440" cy="54476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dirty="0">
                <a:solidFill>
                  <a:srgbClr val="1F3864"/>
                </a:solidFill>
                <a:latin typeface="Calibri"/>
              </a:rPr>
              <a:t>Three Key Sub-Industries</a:t>
            </a:r>
            <a:endParaRPr sz="2000" b="1" dirty="0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1" dirty="0">
                <a:solidFill>
                  <a:srgbClr val="000000"/>
                </a:solidFill>
                <a:latin typeface="Calibri"/>
              </a:rPr>
              <a:t>•  Semiconductors (SOX)  |  39.63% of sector</a:t>
            </a:r>
            <a:endParaRPr sz="2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Computer chips powering AI, smartphones, cars, medical equipment</a:t>
            </a:r>
            <a:endParaRPr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Revenue up 148% from 2019 to 2025</a:t>
            </a:r>
            <a:endParaRPr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1" dirty="0">
                <a:solidFill>
                  <a:srgbClr val="000000"/>
                </a:solidFill>
                <a:latin typeface="Calibri"/>
              </a:rPr>
              <a:t>•  Software Infrastructure (NQRPCI)  |  20.04% of sector</a:t>
            </a:r>
            <a:endParaRPr sz="2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Cloud computing, SaaS, enterprise platforms</a:t>
            </a:r>
            <a:endParaRPr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Highest gross margins (73 to 77%) and EPS growth (241%)</a:t>
            </a:r>
            <a:endParaRPr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1" dirty="0">
                <a:solidFill>
                  <a:srgbClr val="000000"/>
                </a:solidFill>
                <a:latin typeface="Calibri"/>
              </a:rPr>
              <a:t>•  Consumer Electronics (S5CONE)  |  16.24% of sector</a:t>
            </a:r>
            <a:endParaRPr sz="20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Led by Apple with 21% global market share</a:t>
            </a:r>
            <a:endParaRPr sz="20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     •  Services segment growing 15 to 20% annually at 70% gross margins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ECONOMIC AND SOCIAL FACTORS</a:t>
            </a:r>
            <a:endParaRPr lang="en-US" sz="2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Key Drivers Affecting Technology Sector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914400"/>
            <a:ext cx="5748946" cy="39241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Economic Factors</a:t>
            </a:r>
            <a:endParaRPr lang="en-US" sz="2400" b="1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1100" b="1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Interest rates and disposable income  |  sector is sensitive to economic cycles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Manufacturing and component costs  |  fragile global supply chains create margin risk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Corporate IT budgets  |  AI investment is accelerating but freezes during uncertainty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R&amp;D intensity  |  companies must innovate continuously or risk obsolescence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Inflation  |  thins margins but benefits companies with pricing power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9632" y="914400"/>
            <a:ext cx="5806440" cy="33829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2400" b="1">
                <a:solidFill>
                  <a:srgbClr val="1F3864"/>
                </a:solidFill>
                <a:latin typeface="Calibri"/>
              </a:rPr>
              <a:t>Social Factors</a:t>
            </a:r>
            <a:endParaRPr lang="en-US" sz="2400" b="1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1600" b="1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Digital literacy and adoption rates determine how quickly the sector can grow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If technology is too difficult to use or does not fit societal needs, the market stalls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Demographic shifts, including aging populations, reshape demand across sub-industries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Consumer brand loyalty is a key competitive advantage in consumer electronics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PERFORMANCE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Sector and Sub-Industry Index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914400"/>
            <a:ext cx="5806440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 dirty="0">
                <a:solidFill>
                  <a:srgbClr val="1F3864"/>
                </a:solidFill>
                <a:latin typeface="Calibri"/>
              </a:rPr>
              <a:t>SPGSTI vs. S&amp;P 500</a:t>
            </a:r>
            <a:endParaRPr b="1" dirty="0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Calibri"/>
              </a:rPr>
              <a:t>•  SPGSTI 10-year return: 706.33%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Calibri"/>
              </a:rPr>
              <a:t>•  S&amp;P 500 10-year return: 249.89%  (2.8x difference)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 dirty="0">
                <a:solidFill>
                  <a:srgbClr val="000000"/>
                </a:solidFill>
                <a:latin typeface="Calibri"/>
              </a:rPr>
              <a:t>•  Tech sector outperformed over all measured time horizons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 (YTD – 10 Years)</a:t>
            </a:r>
            <a:endParaRPr b="0" dirty="0">
              <a:solidFill>
                <a:srgbClr val="000000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105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" y="2926080"/>
            <a:ext cx="580644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F3864"/>
                </a:solidFill>
                <a:latin typeface="Calibri"/>
              </a:rPr>
              <a:t>Sub-Industry </a:t>
            </a:r>
            <a:r>
              <a:rPr lang="en-US" sz="2000" b="1">
                <a:solidFill>
                  <a:srgbClr val="1F3864"/>
                </a:solidFill>
                <a:latin typeface="Calibri"/>
              </a:rPr>
              <a:t>3-Year</a:t>
            </a:r>
            <a:r>
              <a:rPr sz="2000" b="1">
                <a:solidFill>
                  <a:srgbClr val="1F3864"/>
                </a:solidFill>
                <a:latin typeface="Calibri"/>
              </a:rPr>
              <a:t>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3326190"/>
            <a:ext cx="5806440" cy="13926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dirty="0">
                <a:solidFill>
                  <a:srgbClr val="1F3864"/>
                </a:solidFill>
                <a:latin typeface="Calibri"/>
              </a:rPr>
              <a:t>• </a:t>
            </a:r>
            <a:r>
              <a:rPr dirty="0">
                <a:latin typeface="Calibri"/>
              </a:rPr>
              <a:t> Semiconductors (SOX): +275.43%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dirty="0">
                <a:latin typeface="Calibri"/>
              </a:rPr>
              <a:t>•  Software Infrastructure (NQRPCI): +74.54%</a:t>
            </a:r>
            <a:endParaRPr dirty="0"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dirty="0">
                <a:latin typeface="Calibri"/>
              </a:rPr>
              <a:t>•  Consumer Electronics (S5CONE): +133.12%</a:t>
            </a:r>
            <a:endParaRPr dirty="0"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dirty="0">
                <a:latin typeface="Calibri"/>
              </a:rPr>
              <a:t>•  S&amp;P 500: +77.91%</a:t>
            </a:r>
            <a:endParaRPr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99632" y="886968"/>
            <a:ext cx="5806440" cy="228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Calibri"/>
              </a:rPr>
              <a:t>Exhibit 1  |  </a:t>
            </a:r>
            <a:r>
              <a:rPr lang="en-US" sz="900" b="1">
                <a:solidFill>
                  <a:srgbClr val="000000"/>
                </a:solidFill>
                <a:latin typeface="Calibri"/>
              </a:rPr>
              <a:t>SPGSTI</a:t>
            </a:r>
            <a:r>
              <a:rPr sz="900" b="1">
                <a:solidFill>
                  <a:srgbClr val="000000"/>
                </a:solidFill>
                <a:latin typeface="Calibri"/>
              </a:rPr>
              <a:t> vs. S&amp;P 500  (</a:t>
            </a:r>
            <a:r>
              <a:rPr lang="en-US" sz="900" b="1">
                <a:solidFill>
                  <a:srgbClr val="000000"/>
                </a:solidFill>
                <a:latin typeface="Calibri"/>
              </a:rPr>
              <a:t>10 Years</a:t>
            </a:r>
            <a:r>
              <a:rPr sz="900" b="1">
                <a:solidFill>
                  <a:srgbClr val="000000"/>
                </a:solidFill>
                <a:latin typeface="Calibri"/>
              </a:rPr>
              <a:t>)</a:t>
            </a:r>
            <a:endParaRPr lang="en-US" sz="900" b="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" name="Picture 10" descr="A graph with a red line and black line&#10;&#10;AI-generated content may be incorrect.">
            <a:extLst>
              <a:ext uri="{FF2B5EF4-FFF2-40B4-BE49-F238E27FC236}">
                <a16:creationId xmlns:a16="http://schemas.microsoft.com/office/drawing/2014/main" id="{CB143D1A-4E39-B835-8053-36628AA5E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172" y="1237627"/>
            <a:ext cx="5514289" cy="3786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FINANCIAL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Revenue and EPS Growth Across All Three Sub-Industries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2  |  Indexed Revenue Growth  (2019 = 100)</a:t>
            </a:r>
          </a:p>
        </p:txBody>
      </p:sp>
      <p:pic>
        <p:nvPicPr>
          <p:cNvPr id="7" name="Picture 6" descr="rev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58064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9632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3  |  Indexed EPS Growth  (2019 = 100)</a:t>
            </a:r>
          </a:p>
        </p:txBody>
      </p:sp>
      <p:pic>
        <p:nvPicPr>
          <p:cNvPr id="9" name="Picture 8" descr="eps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15568"/>
            <a:ext cx="58064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FINANCIAL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Margin Comparison Across All Three Sub-Industries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4  |  Gross Margin Comparison</a:t>
            </a:r>
          </a:p>
        </p:txBody>
      </p:sp>
      <p:pic>
        <p:nvPicPr>
          <p:cNvPr id="7" name="Picture 6" descr="g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5806440" cy="4645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9632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5  |  Operating Margin Comparison</a:t>
            </a:r>
          </a:p>
        </p:txBody>
      </p:sp>
      <p:pic>
        <p:nvPicPr>
          <p:cNvPr id="9" name="Picture 8" descr="om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115568"/>
            <a:ext cx="5806440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FINANCIAL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Sub-Industry Financial Highlights (2019 to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914400"/>
            <a:ext cx="5806440" cy="4957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dirty="0">
                <a:solidFill>
                  <a:srgbClr val="1F3864"/>
                </a:solidFill>
                <a:latin typeface="Calibri"/>
              </a:rPr>
              <a:t>Semiconductors (SOX)</a:t>
            </a:r>
            <a:endParaRPr sz="1400" b="1" dirty="0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Revenue per share: +148% ($347.7 to $862.4)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EPS: +97% ($97.2 to $191.5)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R&amp;D investment up 141%, reaching $140.9 per share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Cyclical downturn in 2022 to 2023, sharp recovery by 2025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endParaRPr sz="1100" b="0" dirty="0">
              <a:solidFill>
                <a:srgbClr val="000000"/>
              </a:solidFill>
              <a:latin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800" b="1" dirty="0">
                <a:solidFill>
                  <a:srgbClr val="1F3864"/>
                </a:solidFill>
                <a:latin typeface="Calibri"/>
              </a:rPr>
              <a:t>Consumer Electronics (S5CONE)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Revenue per share: +46% ($412.8 to $604.7)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EPS: +93%, largely buyback-driven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Gross margin expanded from 38.2% to 46.2%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Services segment growing 15 to 20% annually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914400"/>
            <a:ext cx="5806440" cy="3834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lang="en-US" sz="3200" b="1" dirty="0">
                <a:solidFill>
                  <a:srgbClr val="1F3864"/>
                </a:solidFill>
                <a:latin typeface="Calibri"/>
              </a:rPr>
              <a:t>Software Infrastructure (NQRPCI)</a:t>
            </a:r>
            <a:endParaRPr lang="en-US" sz="1600" b="1" dirty="0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0" dirty="0">
                <a:solidFill>
                  <a:srgbClr val="000000"/>
                </a:solidFill>
                <a:latin typeface="Calibri"/>
              </a:rPr>
              <a:t>•  EPS: +241% ($38.5 to $131.4), strongest growth of all three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0" dirty="0">
                <a:solidFill>
                  <a:srgbClr val="000000"/>
                </a:solidFill>
                <a:latin typeface="Calibri"/>
              </a:rPr>
              <a:t>•  Gross margins 73 to 77%, highest in the sector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0" dirty="0">
                <a:solidFill>
                  <a:srgbClr val="000000"/>
                </a:solidFill>
                <a:latin typeface="Calibri"/>
              </a:rPr>
              <a:t>•  Operating margin expanded from 22% to 36%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lang="en-US" sz="2400" b="0" dirty="0">
                <a:solidFill>
                  <a:srgbClr val="000000"/>
                </a:solidFill>
                <a:latin typeface="Calibri"/>
              </a:rPr>
              <a:t>•  Cloud providers committing $100B+ in combined capex for 2025</a:t>
            </a:r>
            <a:endParaRPr lang="en-US" sz="12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VALUATION MULTIPLIERS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Historical Multiples and Current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6  |  Historical P/E Ratio (2018 to 2025)</a:t>
            </a:r>
          </a:p>
        </p:txBody>
      </p:sp>
      <p:pic>
        <p:nvPicPr>
          <p:cNvPr id="7" name="Picture 6" descr="p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15568"/>
            <a:ext cx="580644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160520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7  |  Historical EV/EBITDA (2018 to 2025)</a:t>
            </a:r>
          </a:p>
        </p:txBody>
      </p:sp>
      <p:pic>
        <p:nvPicPr>
          <p:cNvPr id="9" name="Picture 8" descr="ev_ebit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389120"/>
            <a:ext cx="580644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9632" y="914400"/>
            <a:ext cx="5806440" cy="4639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dirty="0">
                <a:solidFill>
                  <a:srgbClr val="1F3864"/>
                </a:solidFill>
                <a:latin typeface="Calibri"/>
              </a:rPr>
              <a:t>Key Valuation Takeaways</a:t>
            </a:r>
            <a:endParaRPr sz="2000" b="1" dirty="0">
              <a:solidFill>
                <a:srgbClr val="1F3864"/>
              </a:solidFill>
              <a:latin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All three sub-industries trade at a significant premium to the S&amp;P 500 (~21x P/E)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SOX trailing P/E of 54.2x compresses to 28.8x on 2026 forward earnings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Software Infrastructure: highest quality premium, 77% gross margins justify 49x P/E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Consumer Electronics: most reasonable valuation at 29x trailing P/E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P/Book for Consumer Electronics (43.7x) is distorted by Apple buybacks, not a reliable metric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000" b="0" dirty="0">
                <a:solidFill>
                  <a:srgbClr val="000000"/>
                </a:solidFill>
                <a:latin typeface="Calibri"/>
              </a:rPr>
              <a:t>•  EV/EBITDA across sub-industries has trended up consistently, reflecting AI premium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VALUATION MULTIPLIERS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Valuation and Profitability Summary Table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886968"/>
            <a:ext cx="5806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Exhibit 8  |  Valuation Multiples and Profitability by Segment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828278"/>
              </p:ext>
            </p:extLst>
          </p:nvPr>
        </p:nvGraphicFramePr>
        <p:xfrm>
          <a:off x="182880" y="1170432"/>
          <a:ext cx="1182319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43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Semiconductors (SOX)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Software Infrastructure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Consumer Electronics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P/E (Trailing)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~21.0x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54.2x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49.1x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29.4x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P/E (Forward 2026E)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~18.5x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28.8x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39.0x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26.0x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P/Book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~4.5x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6.7x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19.8x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43.7x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P/Cash Flow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~18.0x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27.8x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28.5x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27.5x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~15.0x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28.9x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32.7x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22.4x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FCF Yield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~4.5%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3.1%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46.2%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Calibri"/>
                        </a:rPr>
                        <a:t>Operating Margin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~17%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16.0%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35.8%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0000"/>
                          </a:solidFill>
                          <a:latin typeface="Calibri"/>
                        </a:rPr>
                        <a:t>32.3%</a:t>
                      </a:r>
                    </a:p>
                  </a:txBody>
                  <a:tcPr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al_snapshot.png">
            <a:extLst>
              <a:ext uri="{FF2B5EF4-FFF2-40B4-BE49-F238E27FC236}">
                <a16:creationId xmlns:a16="http://schemas.microsoft.com/office/drawing/2014/main" id="{B9D81F69-60F8-37AE-6B35-3EDB03681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0" y="1010346"/>
            <a:ext cx="12026724" cy="483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788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PORTER'S FIVE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Competitive Dynamics Across All Three Sub-Industries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E7B476-50CA-8D6A-4E65-CDA9F3508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79" y="777240"/>
            <a:ext cx="11515066" cy="60220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88952" cy="274320"/>
          </a:xfrm>
          <a:prstGeom prst="rect">
            <a:avLst/>
          </a:prstGeom>
          <a:solidFill>
            <a:srgbClr val="2E74B5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11823192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SECTOR RECOMMENDATIONS</a:t>
            </a:r>
            <a:endParaRPr lang="en-US" sz="2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" y="530352"/>
            <a:ext cx="118231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Investment Recommendations  |  Technology Sector (SPGSTI)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87596"/>
            <a:ext cx="5806440" cy="61093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Sector Call: OVERWEIGHT vs. S&amp;P 500</a:t>
            </a:r>
            <a:endParaRPr lang="en-US" sz="2400" b="1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AI is a structural, multi-year investment cycle across chips, cloud, and devices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706% ten-year sector return reflects sustained fundamental outperformance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•  Forward 2026 multiples compress materially as earnings catch up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400" b="1">
                <a:solidFill>
                  <a:srgbClr val="1F3864"/>
                </a:solidFill>
                <a:latin typeface="Calibri"/>
              </a:rPr>
              <a:t>Sub-Industry Rankings</a:t>
            </a:r>
            <a:endParaRPr sz="2400" b="1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0000"/>
                </a:solidFill>
                <a:latin typeface="Calibri"/>
              </a:rPr>
              <a:t>•  No. 1  |  Software Infrastructure  (OVERWEIGHT)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     •  Best risk-adjusted returns. Recurring revenue, 77% gross margins, AI cloud tailwind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     •  Preferred names: Microsoft, Salesforce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0000"/>
                </a:solidFill>
                <a:latin typeface="Calibri"/>
              </a:rPr>
              <a:t>•  No. 2  |  Semiconductors  (OVERWEIGHT, higher risk)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     •  Highest earnings growth but cyclical. Size position with caution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     •  Preferred names: NVIDIA, Broadcom, TSMC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1">
                <a:solidFill>
                  <a:srgbClr val="000000"/>
                </a:solidFill>
                <a:latin typeface="Calibri"/>
              </a:rPr>
              <a:t>•  No. 3  |  Consumer Electronics  (NEUTRAL)</a:t>
            </a:r>
            <a:endParaRPr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b="0">
                <a:solidFill>
                  <a:srgbClr val="000000"/>
                </a:solidFill>
                <a:latin typeface="Calibri"/>
              </a:rPr>
              <a:t>     •  Hold, do not add. </a:t>
            </a:r>
            <a:endParaRPr b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9632" y="808730"/>
            <a:ext cx="5806440" cy="46371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dirty="0">
                <a:solidFill>
                  <a:srgbClr val="1F3864"/>
                </a:solidFill>
                <a:latin typeface="Calibri"/>
              </a:rPr>
              <a:t>Key Risks to the Thesis</a:t>
            </a:r>
            <a:endParaRPr lang="en-US" sz="3200" b="1" dirty="0">
              <a:solidFill>
                <a:srgbClr val="1F3864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U.S. and China trade tensions and export controls on advanced chips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Federal Reserve rate increases would compress elevated growth multiples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AI capex slowdown if enterprise ROI on AI investments is questioned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Semiconductor inventory correction cycle (has repeated every 2 to 3 years)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•  Antitrust and regulatory risk for Microsoft, Google, and Apple</a:t>
            </a:r>
            <a:endParaRPr sz="24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09929af-2d25-45bf-9837-089eb9cfbd01}" enabled="0" method="" siteId="{809929af-2d25-45bf-9837-089eb9cfbd0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1119</Words>
  <Application>Microsoft Office PowerPoint</Application>
  <PresentationFormat>Custom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Arnav Mathur</dc:creator>
  <cp:keywords/>
  <dc:description>generated using python-pptx</dc:description>
  <cp:lastModifiedBy>Mathur, Arnie (Student)</cp:lastModifiedBy>
  <cp:revision>2</cp:revision>
  <dcterms:created xsi:type="dcterms:W3CDTF">2013-01-27T09:14:16Z</dcterms:created>
  <dcterms:modified xsi:type="dcterms:W3CDTF">2026-05-28T21:20:34Z</dcterms:modified>
  <cp:category/>
</cp:coreProperties>
</file>