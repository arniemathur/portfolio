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7772400" cy="1005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5"/>
  </p:normalViewPr>
  <p:slideViewPr>
    <p:cSldViewPr snapToGrid="0" snapToObjects="1">
      <p:cViewPr>
        <p:scale>
          <a:sx n="144" d="100"/>
          <a:sy n="144" d="100"/>
        </p:scale>
        <p:origin x="1360" y="-14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64008"/>
            <a:ext cx="3200400" cy="384048"/>
          </a:xfrm>
          <a:prstGeom prst="rect">
            <a:avLst/>
          </a:prstGeom>
          <a:noFill/>
        </p:spPr>
        <p:txBody>
          <a:bodyPr wrap="square">
            <a:spAutoFit/>
          </a:bodyPr>
          <a:lstStyle/>
          <a:p>
            <a:pPr algn="l"/>
            <a:r>
              <a:rPr sz="1000" b="1" i="0">
                <a:solidFill>
                  <a:srgbClr val="FFFFFF"/>
                </a:solidFill>
                <a:latin typeface="Calibri"/>
              </a:rPr>
              <a:t>NVDA  |  EQUITY RESEARCH</a:t>
            </a:r>
          </a:p>
        </p:txBody>
      </p:sp>
      <p:sp>
        <p:nvSpPr>
          <p:cNvPr id="4" name="TextBox 3"/>
          <p:cNvSpPr txBox="1"/>
          <p:nvPr/>
        </p:nvSpPr>
        <p:spPr>
          <a:xfrm>
            <a:off x="2286000" y="64008"/>
            <a:ext cx="4114800" cy="384048"/>
          </a:xfrm>
          <a:prstGeom prst="rect">
            <a:avLst/>
          </a:prstGeom>
          <a:noFill/>
        </p:spPr>
        <p:txBody>
          <a:bodyPr wrap="square">
            <a:spAutoFit/>
          </a:bodyPr>
          <a:lstStyle/>
          <a:p>
            <a:pPr algn="ctr"/>
            <a:r>
              <a:rPr sz="1100" b="1" i="0">
                <a:solidFill>
                  <a:srgbClr val="76B900"/>
                </a:solidFill>
                <a:latin typeface="Calibri"/>
              </a:rPr>
              <a:t>EQUITY RESEARCH  |  INITIATING COVERAGE</a:t>
            </a:r>
          </a:p>
        </p:txBody>
      </p:sp>
      <p:sp>
        <p:nvSpPr>
          <p:cNvPr id="5" name="TextBox 4"/>
          <p:cNvSpPr txBox="1"/>
          <p:nvPr/>
        </p:nvSpPr>
        <p:spPr>
          <a:xfrm>
            <a:off x="5669280" y="64008"/>
            <a:ext cx="1920240" cy="384048"/>
          </a:xfrm>
          <a:prstGeom prst="rect">
            <a:avLst/>
          </a:prstGeom>
          <a:noFill/>
        </p:spPr>
        <p:txBody>
          <a:bodyPr wrap="square">
            <a:spAutoFit/>
          </a:bodyPr>
          <a:lstStyle/>
          <a:p>
            <a:pPr algn="r"/>
            <a:r>
              <a:rPr sz="850" b="0" i="0">
                <a:solidFill>
                  <a:srgbClr val="FFFFFF"/>
                </a:solidFill>
                <a:latin typeface="Calibri"/>
              </a:rPr>
              <a:t>April 2026  |  FIN 431</a:t>
            </a:r>
          </a:p>
        </p:txBody>
      </p:sp>
      <p:sp>
        <p:nvSpPr>
          <p:cNvPr id="6" name="Rectangle 5"/>
          <p:cNvSpPr/>
          <p:nvPr/>
        </p:nvSpPr>
        <p:spPr>
          <a:xfrm>
            <a:off x="0" y="502920"/>
            <a:ext cx="77724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 y="9811512"/>
            <a:ext cx="5943600" cy="237744"/>
          </a:xfrm>
          <a:prstGeom prst="rect">
            <a:avLst/>
          </a:prstGeom>
          <a:noFill/>
        </p:spPr>
        <p:txBody>
          <a:bodyPr wrap="square">
            <a:spAutoFit/>
          </a:bodyPr>
          <a:lstStyle/>
          <a:p>
            <a:pPr algn="l"/>
            <a:r>
              <a:rPr sz="700" b="0" i="0">
                <a:solidFill>
                  <a:srgbClr val="BBBBBB"/>
                </a:solidFill>
                <a:latin typeface="Calibri"/>
              </a:rPr>
              <a:t>NVIDIA Corporation (NVDA)  |  Equity Research  |  FIN 431  |  Portfolio Analysis</a:t>
            </a:r>
          </a:p>
        </p:txBody>
      </p:sp>
      <p:sp>
        <p:nvSpPr>
          <p:cNvPr id="9" name="TextBox 8"/>
          <p:cNvSpPr txBox="1"/>
          <p:nvPr/>
        </p:nvSpPr>
        <p:spPr>
          <a:xfrm>
            <a:off x="7132320" y="9811512"/>
            <a:ext cx="502920" cy="237744"/>
          </a:xfrm>
          <a:prstGeom prst="rect">
            <a:avLst/>
          </a:prstGeom>
          <a:noFill/>
        </p:spPr>
        <p:txBody>
          <a:bodyPr wrap="square">
            <a:spAutoFit/>
          </a:bodyPr>
          <a:lstStyle/>
          <a:p>
            <a:pPr algn="r"/>
            <a:r>
              <a:rPr sz="700" b="0" i="0">
                <a:solidFill>
                  <a:srgbClr val="BBBBBB"/>
                </a:solidFill>
                <a:latin typeface="Calibri"/>
              </a:rPr>
              <a:t>Page 1</a:t>
            </a:r>
          </a:p>
        </p:txBody>
      </p:sp>
      <p:sp>
        <p:nvSpPr>
          <p:cNvPr id="10" name="Rectangle 9"/>
          <p:cNvSpPr/>
          <p:nvPr/>
        </p:nvSpPr>
        <p:spPr>
          <a:xfrm>
            <a:off x="0" y="557784"/>
            <a:ext cx="7772400" cy="64008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 y="594360"/>
            <a:ext cx="5029200" cy="320040"/>
          </a:xfrm>
          <a:prstGeom prst="rect">
            <a:avLst/>
          </a:prstGeom>
          <a:noFill/>
        </p:spPr>
        <p:txBody>
          <a:bodyPr wrap="square">
            <a:spAutoFit/>
          </a:bodyPr>
          <a:lstStyle/>
          <a:p>
            <a:pPr algn="l"/>
            <a:r>
              <a:rPr sz="2000" b="1" i="0">
                <a:solidFill>
                  <a:srgbClr val="FFFFFF"/>
                </a:solidFill>
                <a:latin typeface="Calibri"/>
              </a:rPr>
              <a:t>NVIDIA CORPORATION</a:t>
            </a:r>
          </a:p>
        </p:txBody>
      </p:sp>
      <p:sp>
        <p:nvSpPr>
          <p:cNvPr id="12" name="TextBox 11"/>
          <p:cNvSpPr txBox="1"/>
          <p:nvPr/>
        </p:nvSpPr>
        <p:spPr>
          <a:xfrm>
            <a:off x="182880" y="886968"/>
            <a:ext cx="2286000" cy="201168"/>
          </a:xfrm>
          <a:prstGeom prst="rect">
            <a:avLst/>
          </a:prstGeom>
          <a:noFill/>
        </p:spPr>
        <p:txBody>
          <a:bodyPr wrap="square">
            <a:spAutoFit/>
          </a:bodyPr>
          <a:lstStyle/>
          <a:p>
            <a:pPr algn="l"/>
            <a:r>
              <a:rPr sz="900" b="0" i="0">
                <a:solidFill>
                  <a:srgbClr val="AAAAAA"/>
                </a:solidFill>
                <a:latin typeface="Calibri"/>
              </a:rPr>
              <a:t>NASDAQ: NVDA</a:t>
            </a:r>
          </a:p>
        </p:txBody>
      </p:sp>
      <p:sp>
        <p:nvSpPr>
          <p:cNvPr id="13" name="Rectangle 12"/>
          <p:cNvSpPr/>
          <p:nvPr/>
        </p:nvSpPr>
        <p:spPr>
          <a:xfrm>
            <a:off x="5852160" y="612648"/>
            <a:ext cx="804672" cy="3200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861304" y="621792"/>
            <a:ext cx="786384" cy="301752"/>
          </a:xfrm>
          <a:prstGeom prst="rect">
            <a:avLst/>
          </a:prstGeom>
          <a:noFill/>
        </p:spPr>
        <p:txBody>
          <a:bodyPr wrap="square">
            <a:spAutoFit/>
          </a:bodyPr>
          <a:lstStyle/>
          <a:p>
            <a:pPr algn="ctr"/>
            <a:r>
              <a:rPr sz="1600" b="1" i="0">
                <a:solidFill>
                  <a:srgbClr val="FFFFFF"/>
                </a:solidFill>
                <a:latin typeface="Calibri"/>
              </a:rPr>
              <a:t>BUY</a:t>
            </a:r>
          </a:p>
        </p:txBody>
      </p:sp>
      <p:sp>
        <p:nvSpPr>
          <p:cNvPr id="15" name="TextBox 14"/>
          <p:cNvSpPr txBox="1"/>
          <p:nvPr/>
        </p:nvSpPr>
        <p:spPr>
          <a:xfrm>
            <a:off x="6693408" y="612648"/>
            <a:ext cx="914400" cy="164592"/>
          </a:xfrm>
          <a:prstGeom prst="rect">
            <a:avLst/>
          </a:prstGeom>
          <a:noFill/>
        </p:spPr>
        <p:txBody>
          <a:bodyPr wrap="square">
            <a:spAutoFit/>
          </a:bodyPr>
          <a:lstStyle/>
          <a:p>
            <a:pPr algn="l"/>
            <a:r>
              <a:rPr sz="750" b="1" i="0">
                <a:solidFill>
                  <a:srgbClr val="AAAAAA"/>
                </a:solidFill>
                <a:latin typeface="Calibri"/>
              </a:rPr>
              <a:t>12-Month Price Target:</a:t>
            </a:r>
          </a:p>
        </p:txBody>
      </p:sp>
      <p:sp>
        <p:nvSpPr>
          <p:cNvPr id="16" name="TextBox 15"/>
          <p:cNvSpPr txBox="1"/>
          <p:nvPr/>
        </p:nvSpPr>
        <p:spPr>
          <a:xfrm>
            <a:off x="6693408" y="845989"/>
            <a:ext cx="914400" cy="219456"/>
          </a:xfrm>
          <a:prstGeom prst="rect">
            <a:avLst/>
          </a:prstGeom>
          <a:noFill/>
        </p:spPr>
        <p:txBody>
          <a:bodyPr wrap="square">
            <a:spAutoFit/>
          </a:bodyPr>
          <a:lstStyle/>
          <a:p>
            <a:pPr algn="l"/>
            <a:r>
              <a:rPr sz="1300" b="1" i="0" dirty="0">
                <a:solidFill>
                  <a:srgbClr val="76B900"/>
                </a:solidFill>
                <a:latin typeface="Calibri"/>
              </a:rPr>
              <a:t>$220.00</a:t>
            </a:r>
          </a:p>
        </p:txBody>
      </p:sp>
      <p:sp>
        <p:nvSpPr>
          <p:cNvPr id="17" name="Rectangle 16"/>
          <p:cNvSpPr/>
          <p:nvPr/>
        </p:nvSpPr>
        <p:spPr>
          <a:xfrm>
            <a:off x="0" y="1216152"/>
            <a:ext cx="1295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 y="1234440"/>
            <a:ext cx="1203960" cy="182880"/>
          </a:xfrm>
          <a:prstGeom prst="rect">
            <a:avLst/>
          </a:prstGeom>
          <a:noFill/>
        </p:spPr>
        <p:txBody>
          <a:bodyPr wrap="square">
            <a:spAutoFit/>
          </a:bodyPr>
          <a:lstStyle/>
          <a:p>
            <a:pPr algn="ctr"/>
            <a:r>
              <a:rPr sz="700" b="0" i="0">
                <a:solidFill>
                  <a:srgbClr val="AAAAAA"/>
                </a:solidFill>
                <a:latin typeface="Calibri"/>
              </a:rPr>
              <a:t>Current Price</a:t>
            </a:r>
          </a:p>
        </p:txBody>
      </p:sp>
      <p:sp>
        <p:nvSpPr>
          <p:cNvPr id="19" name="TextBox 18"/>
          <p:cNvSpPr txBox="1"/>
          <p:nvPr/>
        </p:nvSpPr>
        <p:spPr>
          <a:xfrm>
            <a:off x="45720" y="1417320"/>
            <a:ext cx="1203960" cy="256032"/>
          </a:xfrm>
          <a:prstGeom prst="rect">
            <a:avLst/>
          </a:prstGeom>
          <a:noFill/>
        </p:spPr>
        <p:txBody>
          <a:bodyPr wrap="square">
            <a:spAutoFit/>
          </a:bodyPr>
          <a:lstStyle/>
          <a:p>
            <a:pPr algn="ctr"/>
            <a:r>
              <a:rPr sz="1050" b="1" i="0">
                <a:solidFill>
                  <a:srgbClr val="FFFFFF"/>
                </a:solidFill>
                <a:latin typeface="Calibri"/>
              </a:rPr>
              <a:t>$177.39</a:t>
            </a:r>
          </a:p>
        </p:txBody>
      </p:sp>
      <p:sp>
        <p:nvSpPr>
          <p:cNvPr id="20" name="Rectangle 19"/>
          <p:cNvSpPr/>
          <p:nvPr/>
        </p:nvSpPr>
        <p:spPr>
          <a:xfrm>
            <a:off x="1295400" y="1216152"/>
            <a:ext cx="1295400" cy="50292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41120" y="1234440"/>
            <a:ext cx="1203960" cy="182880"/>
          </a:xfrm>
          <a:prstGeom prst="rect">
            <a:avLst/>
          </a:prstGeom>
          <a:noFill/>
        </p:spPr>
        <p:txBody>
          <a:bodyPr wrap="square">
            <a:spAutoFit/>
          </a:bodyPr>
          <a:lstStyle/>
          <a:p>
            <a:pPr algn="ctr"/>
            <a:r>
              <a:rPr sz="700" b="0" i="0">
                <a:solidFill>
                  <a:srgbClr val="AAAAAA"/>
                </a:solidFill>
                <a:latin typeface="Calibri"/>
              </a:rPr>
              <a:t>Market Cap</a:t>
            </a:r>
          </a:p>
        </p:txBody>
      </p:sp>
      <p:sp>
        <p:nvSpPr>
          <p:cNvPr id="22" name="TextBox 21"/>
          <p:cNvSpPr txBox="1"/>
          <p:nvPr/>
        </p:nvSpPr>
        <p:spPr>
          <a:xfrm>
            <a:off x="1341120" y="1417320"/>
            <a:ext cx="1203960" cy="256032"/>
          </a:xfrm>
          <a:prstGeom prst="rect">
            <a:avLst/>
          </a:prstGeom>
          <a:noFill/>
        </p:spPr>
        <p:txBody>
          <a:bodyPr wrap="square">
            <a:spAutoFit/>
          </a:bodyPr>
          <a:lstStyle/>
          <a:p>
            <a:pPr algn="ctr"/>
            <a:r>
              <a:rPr sz="1050" b="1" i="0">
                <a:solidFill>
                  <a:srgbClr val="FFFFFF"/>
                </a:solidFill>
                <a:latin typeface="Calibri"/>
              </a:rPr>
              <a:t>~$4.3T</a:t>
            </a:r>
          </a:p>
        </p:txBody>
      </p:sp>
      <p:sp>
        <p:nvSpPr>
          <p:cNvPr id="23" name="Rectangle 22"/>
          <p:cNvSpPr/>
          <p:nvPr/>
        </p:nvSpPr>
        <p:spPr>
          <a:xfrm>
            <a:off x="2590800" y="1216152"/>
            <a:ext cx="1295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36520" y="1234440"/>
            <a:ext cx="1203960" cy="182880"/>
          </a:xfrm>
          <a:prstGeom prst="rect">
            <a:avLst/>
          </a:prstGeom>
          <a:noFill/>
        </p:spPr>
        <p:txBody>
          <a:bodyPr wrap="square">
            <a:spAutoFit/>
          </a:bodyPr>
          <a:lstStyle/>
          <a:p>
            <a:pPr algn="ctr"/>
            <a:r>
              <a:rPr sz="700" b="0" i="0">
                <a:solidFill>
                  <a:srgbClr val="AAAAAA"/>
                </a:solidFill>
                <a:latin typeface="Calibri"/>
              </a:rPr>
              <a:t>52-Week Range</a:t>
            </a:r>
          </a:p>
        </p:txBody>
      </p:sp>
      <p:sp>
        <p:nvSpPr>
          <p:cNvPr id="25" name="TextBox 24"/>
          <p:cNvSpPr txBox="1"/>
          <p:nvPr/>
        </p:nvSpPr>
        <p:spPr>
          <a:xfrm>
            <a:off x="2636520" y="1417320"/>
            <a:ext cx="1203960" cy="256032"/>
          </a:xfrm>
          <a:prstGeom prst="rect">
            <a:avLst/>
          </a:prstGeom>
          <a:noFill/>
        </p:spPr>
        <p:txBody>
          <a:bodyPr wrap="square">
            <a:spAutoFit/>
          </a:bodyPr>
          <a:lstStyle/>
          <a:p>
            <a:pPr algn="ctr"/>
            <a:r>
              <a:rPr sz="1050" b="1" i="0">
                <a:solidFill>
                  <a:srgbClr val="FFFFFF"/>
                </a:solidFill>
                <a:latin typeface="Calibri"/>
              </a:rPr>
              <a:t>$86 - $180</a:t>
            </a:r>
          </a:p>
        </p:txBody>
      </p:sp>
      <p:sp>
        <p:nvSpPr>
          <p:cNvPr id="26" name="Rectangle 25"/>
          <p:cNvSpPr/>
          <p:nvPr/>
        </p:nvSpPr>
        <p:spPr>
          <a:xfrm>
            <a:off x="3886200" y="1216152"/>
            <a:ext cx="1295400" cy="50292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931920" y="1234440"/>
            <a:ext cx="1203960" cy="182880"/>
          </a:xfrm>
          <a:prstGeom prst="rect">
            <a:avLst/>
          </a:prstGeom>
          <a:noFill/>
        </p:spPr>
        <p:txBody>
          <a:bodyPr wrap="square">
            <a:spAutoFit/>
          </a:bodyPr>
          <a:lstStyle/>
          <a:p>
            <a:pPr algn="ctr"/>
            <a:r>
              <a:rPr sz="700" b="0" i="0">
                <a:solidFill>
                  <a:srgbClr val="AAAAAA"/>
                </a:solidFill>
                <a:latin typeface="Calibri"/>
              </a:rPr>
              <a:t>FY26E Revenue</a:t>
            </a:r>
          </a:p>
        </p:txBody>
      </p:sp>
      <p:sp>
        <p:nvSpPr>
          <p:cNvPr id="28" name="TextBox 27"/>
          <p:cNvSpPr txBox="1"/>
          <p:nvPr/>
        </p:nvSpPr>
        <p:spPr>
          <a:xfrm>
            <a:off x="3931920" y="1417320"/>
            <a:ext cx="1203960" cy="256032"/>
          </a:xfrm>
          <a:prstGeom prst="rect">
            <a:avLst/>
          </a:prstGeom>
          <a:noFill/>
        </p:spPr>
        <p:txBody>
          <a:bodyPr wrap="square">
            <a:spAutoFit/>
          </a:bodyPr>
          <a:lstStyle/>
          <a:p>
            <a:pPr algn="ctr"/>
            <a:r>
              <a:rPr sz="1050" b="1" i="0">
                <a:solidFill>
                  <a:srgbClr val="FFFFFF"/>
                </a:solidFill>
                <a:latin typeface="Calibri"/>
              </a:rPr>
              <a:t>$215.9B</a:t>
            </a:r>
          </a:p>
        </p:txBody>
      </p:sp>
      <p:sp>
        <p:nvSpPr>
          <p:cNvPr id="29" name="Rectangle 28"/>
          <p:cNvSpPr/>
          <p:nvPr/>
        </p:nvSpPr>
        <p:spPr>
          <a:xfrm>
            <a:off x="5181600" y="1216152"/>
            <a:ext cx="1295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227320" y="1234440"/>
            <a:ext cx="1203960" cy="182880"/>
          </a:xfrm>
          <a:prstGeom prst="rect">
            <a:avLst/>
          </a:prstGeom>
          <a:noFill/>
        </p:spPr>
        <p:txBody>
          <a:bodyPr wrap="square">
            <a:spAutoFit/>
          </a:bodyPr>
          <a:lstStyle/>
          <a:p>
            <a:pPr algn="ctr"/>
            <a:r>
              <a:rPr sz="700" b="0" i="0">
                <a:solidFill>
                  <a:srgbClr val="AAAAAA"/>
                </a:solidFill>
                <a:latin typeface="Calibri"/>
              </a:rPr>
              <a:t>FY26E FCF Margin</a:t>
            </a:r>
          </a:p>
        </p:txBody>
      </p:sp>
      <p:sp>
        <p:nvSpPr>
          <p:cNvPr id="31" name="TextBox 30"/>
          <p:cNvSpPr txBox="1"/>
          <p:nvPr/>
        </p:nvSpPr>
        <p:spPr>
          <a:xfrm>
            <a:off x="5227320" y="1417320"/>
            <a:ext cx="1203960" cy="256032"/>
          </a:xfrm>
          <a:prstGeom prst="rect">
            <a:avLst/>
          </a:prstGeom>
          <a:noFill/>
        </p:spPr>
        <p:txBody>
          <a:bodyPr wrap="square">
            <a:spAutoFit/>
          </a:bodyPr>
          <a:lstStyle/>
          <a:p>
            <a:pPr algn="ctr"/>
            <a:r>
              <a:rPr sz="1050" b="1" i="0">
                <a:solidFill>
                  <a:srgbClr val="FFFFFF"/>
                </a:solidFill>
                <a:latin typeface="Calibri"/>
              </a:rPr>
              <a:t>44.7%</a:t>
            </a:r>
          </a:p>
        </p:txBody>
      </p:sp>
      <p:sp>
        <p:nvSpPr>
          <p:cNvPr id="32" name="Rectangle 31"/>
          <p:cNvSpPr/>
          <p:nvPr/>
        </p:nvSpPr>
        <p:spPr>
          <a:xfrm>
            <a:off x="6477000" y="1216152"/>
            <a:ext cx="1295400" cy="50292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22720" y="1234440"/>
            <a:ext cx="1203960" cy="182880"/>
          </a:xfrm>
          <a:prstGeom prst="rect">
            <a:avLst/>
          </a:prstGeom>
          <a:noFill/>
        </p:spPr>
        <p:txBody>
          <a:bodyPr wrap="square">
            <a:spAutoFit/>
          </a:bodyPr>
          <a:lstStyle/>
          <a:p>
            <a:pPr algn="ctr"/>
            <a:r>
              <a:rPr sz="700" b="0" i="0">
                <a:solidFill>
                  <a:srgbClr val="AAAAAA"/>
                </a:solidFill>
                <a:latin typeface="Calibri"/>
              </a:rPr>
              <a:t>FY26E P/FCF</a:t>
            </a:r>
          </a:p>
        </p:txBody>
      </p:sp>
      <p:sp>
        <p:nvSpPr>
          <p:cNvPr id="34" name="TextBox 33"/>
          <p:cNvSpPr txBox="1"/>
          <p:nvPr/>
        </p:nvSpPr>
        <p:spPr>
          <a:xfrm>
            <a:off x="6522720" y="1417320"/>
            <a:ext cx="1203960" cy="256032"/>
          </a:xfrm>
          <a:prstGeom prst="rect">
            <a:avLst/>
          </a:prstGeom>
          <a:noFill/>
        </p:spPr>
        <p:txBody>
          <a:bodyPr wrap="square">
            <a:spAutoFit/>
          </a:bodyPr>
          <a:lstStyle/>
          <a:p>
            <a:pPr algn="ctr"/>
            <a:r>
              <a:rPr sz="1050" b="1" i="0">
                <a:solidFill>
                  <a:srgbClr val="FFFFFF"/>
                </a:solidFill>
                <a:latin typeface="Calibri"/>
              </a:rPr>
              <a:t>45.0x</a:t>
            </a:r>
          </a:p>
        </p:txBody>
      </p:sp>
      <p:sp>
        <p:nvSpPr>
          <p:cNvPr id="35" name="Rectangle 34"/>
          <p:cNvSpPr/>
          <p:nvPr/>
        </p:nvSpPr>
        <p:spPr>
          <a:xfrm>
            <a:off x="182880" y="1764792"/>
            <a:ext cx="201168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37744" y="1783080"/>
            <a:ext cx="1901952" cy="164592"/>
          </a:xfrm>
          <a:prstGeom prst="rect">
            <a:avLst/>
          </a:prstGeom>
          <a:noFill/>
        </p:spPr>
        <p:txBody>
          <a:bodyPr wrap="square">
            <a:spAutoFit/>
          </a:bodyPr>
          <a:lstStyle/>
          <a:p>
            <a:pPr algn="l"/>
            <a:r>
              <a:rPr sz="750" b="1" i="0">
                <a:solidFill>
                  <a:srgbClr val="FFFFFF"/>
                </a:solidFill>
                <a:latin typeface="Calibri"/>
              </a:rPr>
              <a:t>BUSINESS DESCRIPTION</a:t>
            </a:r>
          </a:p>
        </p:txBody>
      </p:sp>
      <p:sp>
        <p:nvSpPr>
          <p:cNvPr id="37" name="TextBox 36"/>
          <p:cNvSpPr txBox="1"/>
          <p:nvPr/>
        </p:nvSpPr>
        <p:spPr>
          <a:xfrm>
            <a:off x="182880" y="1993392"/>
            <a:ext cx="3611880" cy="2011680"/>
          </a:xfrm>
          <a:prstGeom prst="rect">
            <a:avLst/>
          </a:prstGeom>
          <a:noFill/>
        </p:spPr>
        <p:txBody>
          <a:bodyPr wrap="square">
            <a:spAutoFit/>
          </a:bodyPr>
          <a:lstStyle/>
          <a:p>
            <a:pPr algn="l"/>
            <a:r>
              <a:rPr sz="819" b="0" i="0">
                <a:solidFill>
                  <a:srgbClr val="1F1F1F"/>
                </a:solidFill>
                <a:latin typeface="Calibri"/>
              </a:rPr>
              <a:t>NVIDIA Corporation, founded in 1993 by Jensen Huang, Chris Malachowsky, and Curtis Priem, designs and sells graphics processing units, system-on-chip units, and application programming interfaces for data center workloads, artificial intelligence, and professional visualization. The company operates two reportable segments: Compute and Networking, which now accounts for roughly 90 percent of consolidated revenue, and Graphics, which serves the gaming and professional visualization markets.
NVIDIA pioneered the CUDA parallel computing platform in 2006, establishing a software ecosystem that remains a core competitive advantage. Its flagship H100 and H200 Hopper GPU architecture and the next-generation Blackwell B100 and B200 platform are purpose-built for large language model training and real-time AI inference. Major hyperscalers including Microsoft, Google, Amazon, and Meta collectively account for over 40 percent of data center revenue, with demand consistently exceeding supply since fiscal year 2024.</a:t>
            </a:r>
          </a:p>
        </p:txBody>
      </p:sp>
      <p:sp>
        <p:nvSpPr>
          <p:cNvPr id="38" name="Rectangle 37"/>
          <p:cNvSpPr/>
          <p:nvPr/>
        </p:nvSpPr>
        <p:spPr>
          <a:xfrm>
            <a:off x="182880" y="4050792"/>
            <a:ext cx="201168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37744" y="4069080"/>
            <a:ext cx="1901952" cy="164592"/>
          </a:xfrm>
          <a:prstGeom prst="rect">
            <a:avLst/>
          </a:prstGeom>
          <a:noFill/>
        </p:spPr>
        <p:txBody>
          <a:bodyPr wrap="square">
            <a:spAutoFit/>
          </a:bodyPr>
          <a:lstStyle/>
          <a:p>
            <a:pPr algn="l"/>
            <a:r>
              <a:rPr sz="750" b="1" i="0">
                <a:solidFill>
                  <a:srgbClr val="FFFFFF"/>
                </a:solidFill>
                <a:latin typeface="Calibri"/>
              </a:rPr>
              <a:t>INVESTMENT THESIS</a:t>
            </a:r>
          </a:p>
        </p:txBody>
      </p:sp>
      <p:sp>
        <p:nvSpPr>
          <p:cNvPr id="40" name="TextBox 39"/>
          <p:cNvSpPr txBox="1"/>
          <p:nvPr/>
        </p:nvSpPr>
        <p:spPr>
          <a:xfrm>
            <a:off x="182880" y="4279392"/>
            <a:ext cx="3611880" cy="2377440"/>
          </a:xfrm>
          <a:prstGeom prst="rect">
            <a:avLst/>
          </a:prstGeom>
          <a:noFill/>
        </p:spPr>
        <p:txBody>
          <a:bodyPr wrap="square">
            <a:spAutoFit/>
          </a:bodyPr>
          <a:lstStyle/>
          <a:p>
            <a:pPr algn="l"/>
            <a:r>
              <a:rPr sz="800" b="0">
                <a:solidFill>
                  <a:srgbClr val="1F1F1F"/>
                </a:solidFill>
                <a:latin typeface="Calibri"/>
              </a:rPr>
              <a:t>Hyperscaler Capital Expenditure Supercycle. Microsoft, Google, Amazon, and Meta have collectively guided for over $300 billion in combined capital expenditure in calendar year 2025, with AI infrastructure representing the largest single growth category. NVIDIA's H100 and B200 GPU clusters remain the default substrate for frontier model training and inference serving at scale, creating a multi-year demand runway that extends well beyond the current fiscal year.</a:t>
            </a:r>
          </a:p>
          <a:p>
            <a:pPr algn="l"/>
            <a:endParaRPr sz="800" b="0">
              <a:solidFill>
                <a:srgbClr val="1F1F1F"/>
              </a:solidFill>
              <a:latin typeface="Calibri"/>
            </a:endParaRPr>
          </a:p>
          <a:p>
            <a:pPr algn="l"/>
            <a:r>
              <a:rPr sz="800" b="0">
                <a:solidFill>
                  <a:srgbClr val="1F1F1F"/>
                </a:solidFill>
                <a:latin typeface="Calibri"/>
              </a:rPr>
              <a:t>Blackwell Architecture Upgrade Cycle. The transition from Hopper to Blackwell represents a step-change in compute density and energy efficiency. B200 delivers up to 30x inference throughput improvements versus H100, and the GB200 NVL72 rack-scale system delivers aggregate bandwidth that custom ASICs cannot replicate at comparable scale today. Management guided $78 billion in Q1 FY27 revenue, implying a $312 billion annualized run rate.</a:t>
            </a:r>
          </a:p>
          <a:p>
            <a:pPr algn="l"/>
            <a:endParaRPr sz="800" b="0">
              <a:solidFill>
                <a:srgbClr val="1F1F1F"/>
              </a:solidFill>
              <a:latin typeface="Calibri"/>
            </a:endParaRPr>
          </a:p>
          <a:p>
            <a:pPr algn="l"/>
            <a:r>
              <a:rPr sz="800" b="0">
                <a:solidFill>
                  <a:srgbClr val="1F1F1F"/>
                </a:solidFill>
                <a:latin typeface="Calibri"/>
              </a:rPr>
              <a:t>Full-Stack AI Delivery. NVIDIA's competitive moat extends beyond silicon to include the CUDA software stack, cuDNN libraries, NeMo and TensorRT frameworks, and the DGX Cloud managed service. This vertical integration creates meaningful switching costs and allows NVIDIA to capture value across hardware, software, and services simultaneously.</a:t>
            </a:r>
          </a:p>
        </p:txBody>
      </p:sp>
      <p:sp>
        <p:nvSpPr>
          <p:cNvPr id="41" name="Rectangle 40"/>
          <p:cNvSpPr/>
          <p:nvPr/>
        </p:nvSpPr>
        <p:spPr>
          <a:xfrm>
            <a:off x="3977639" y="1764792"/>
            <a:ext cx="361188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032503" y="1783080"/>
            <a:ext cx="3502152" cy="164592"/>
          </a:xfrm>
          <a:prstGeom prst="rect">
            <a:avLst/>
          </a:prstGeom>
          <a:noFill/>
        </p:spPr>
        <p:txBody>
          <a:bodyPr wrap="square">
            <a:spAutoFit/>
          </a:bodyPr>
          <a:lstStyle/>
          <a:p>
            <a:pPr algn="l"/>
            <a:r>
              <a:rPr sz="750" b="1" i="0">
                <a:solidFill>
                  <a:srgbClr val="FFFFFF"/>
                </a:solidFill>
                <a:latin typeface="Calibri"/>
              </a:rPr>
              <a:t>FIGURE 1: NVDA PRICE HISTORY</a:t>
            </a:r>
          </a:p>
        </p:txBody>
      </p:sp>
      <p:pic>
        <p:nvPicPr>
          <p:cNvPr id="43" name="Picture 42" descr="image.png"/>
          <p:cNvPicPr>
            <a:picLocks noChangeAspect="1"/>
          </p:cNvPicPr>
          <p:nvPr/>
        </p:nvPicPr>
        <p:blipFill>
          <a:blip r:embed="rId2"/>
          <a:stretch>
            <a:fillRect/>
          </a:stretch>
        </p:blipFill>
        <p:spPr>
          <a:xfrm>
            <a:off x="3977639" y="1993392"/>
            <a:ext cx="3611880" cy="2194560"/>
          </a:xfrm>
          <a:prstGeom prst="rect">
            <a:avLst/>
          </a:prstGeom>
        </p:spPr>
      </p:pic>
      <p:sp>
        <p:nvSpPr>
          <p:cNvPr id="44" name="Rectangle 43"/>
          <p:cNvSpPr/>
          <p:nvPr/>
        </p:nvSpPr>
        <p:spPr>
          <a:xfrm>
            <a:off x="3977639" y="4233672"/>
            <a:ext cx="361188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032503" y="4251960"/>
            <a:ext cx="3502152" cy="164592"/>
          </a:xfrm>
          <a:prstGeom prst="rect">
            <a:avLst/>
          </a:prstGeom>
          <a:noFill/>
        </p:spPr>
        <p:txBody>
          <a:bodyPr wrap="square">
            <a:spAutoFit/>
          </a:bodyPr>
          <a:lstStyle/>
          <a:p>
            <a:pPr algn="l"/>
            <a:r>
              <a:rPr sz="750" b="1" i="0">
                <a:solidFill>
                  <a:srgbClr val="FFFFFF"/>
                </a:solidFill>
                <a:latin typeface="Calibri"/>
              </a:rPr>
              <a:t>FIGURE 2: PERFORMANCE VS. SOX, AMD, QQQ</a:t>
            </a:r>
          </a:p>
        </p:txBody>
      </p:sp>
      <p:pic>
        <p:nvPicPr>
          <p:cNvPr id="46" name="Picture 45" descr="image.png"/>
          <p:cNvPicPr>
            <a:picLocks noChangeAspect="1"/>
          </p:cNvPicPr>
          <p:nvPr/>
        </p:nvPicPr>
        <p:blipFill>
          <a:blip r:embed="rId3"/>
          <a:stretch>
            <a:fillRect/>
          </a:stretch>
        </p:blipFill>
        <p:spPr>
          <a:xfrm>
            <a:off x="3977639" y="4462272"/>
            <a:ext cx="3611880" cy="2194560"/>
          </a:xfrm>
          <a:prstGeom prst="rect">
            <a:avLst/>
          </a:prstGeom>
        </p:spPr>
      </p:pic>
      <p:sp>
        <p:nvSpPr>
          <p:cNvPr id="47" name="Rectangle 46"/>
          <p:cNvSpPr/>
          <p:nvPr/>
        </p:nvSpPr>
        <p:spPr>
          <a:xfrm>
            <a:off x="182880" y="6720840"/>
            <a:ext cx="201168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37744" y="6739128"/>
            <a:ext cx="1901952" cy="164592"/>
          </a:xfrm>
          <a:prstGeom prst="rect">
            <a:avLst/>
          </a:prstGeom>
          <a:noFill/>
        </p:spPr>
        <p:txBody>
          <a:bodyPr wrap="square">
            <a:spAutoFit/>
          </a:bodyPr>
          <a:lstStyle/>
          <a:p>
            <a:pPr algn="l"/>
            <a:r>
              <a:rPr sz="750" b="1" i="0">
                <a:solidFill>
                  <a:srgbClr val="FFFFFF"/>
                </a:solidFill>
                <a:latin typeface="Calibri"/>
              </a:rPr>
              <a:t>FINANCIAL SNAPSHOT</a:t>
            </a:r>
          </a:p>
        </p:txBody>
      </p:sp>
      <p:sp>
        <p:nvSpPr>
          <p:cNvPr id="49" name="Rectangle 48"/>
          <p:cNvSpPr/>
          <p:nvPr/>
        </p:nvSpPr>
        <p:spPr>
          <a:xfrm>
            <a:off x="182880" y="6940296"/>
            <a:ext cx="164592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219456" y="6958584"/>
            <a:ext cx="1572768" cy="178308"/>
          </a:xfrm>
          <a:prstGeom prst="rect">
            <a:avLst/>
          </a:prstGeom>
          <a:noFill/>
        </p:spPr>
        <p:txBody>
          <a:bodyPr wrap="square">
            <a:spAutoFit/>
          </a:bodyPr>
          <a:lstStyle/>
          <a:p>
            <a:pPr algn="ctr"/>
            <a:r>
              <a:rPr sz="800" b="1" i="0">
                <a:solidFill>
                  <a:srgbClr val="FFFFFF"/>
                </a:solidFill>
                <a:latin typeface="Calibri"/>
              </a:rPr>
              <a:t>Metric</a:t>
            </a:r>
          </a:p>
        </p:txBody>
      </p:sp>
      <p:sp>
        <p:nvSpPr>
          <p:cNvPr id="51" name="Rectangle 50"/>
          <p:cNvSpPr/>
          <p:nvPr/>
        </p:nvSpPr>
        <p:spPr>
          <a:xfrm>
            <a:off x="1828800" y="6940296"/>
            <a:ext cx="123444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865376" y="6958584"/>
            <a:ext cx="1161288" cy="178308"/>
          </a:xfrm>
          <a:prstGeom prst="rect">
            <a:avLst/>
          </a:prstGeom>
          <a:noFill/>
        </p:spPr>
        <p:txBody>
          <a:bodyPr wrap="square">
            <a:spAutoFit/>
          </a:bodyPr>
          <a:lstStyle/>
          <a:p>
            <a:pPr algn="ctr"/>
            <a:r>
              <a:rPr sz="800" b="1" i="0">
                <a:solidFill>
                  <a:srgbClr val="FFFFFF"/>
                </a:solidFill>
                <a:latin typeface="Calibri"/>
              </a:rPr>
              <a:t>FY24</a:t>
            </a:r>
          </a:p>
        </p:txBody>
      </p:sp>
      <p:sp>
        <p:nvSpPr>
          <p:cNvPr id="53" name="Rectangle 52"/>
          <p:cNvSpPr/>
          <p:nvPr/>
        </p:nvSpPr>
        <p:spPr>
          <a:xfrm>
            <a:off x="3063240" y="6940296"/>
            <a:ext cx="123444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3099816" y="6958584"/>
            <a:ext cx="1161288" cy="178308"/>
          </a:xfrm>
          <a:prstGeom prst="rect">
            <a:avLst/>
          </a:prstGeom>
          <a:noFill/>
        </p:spPr>
        <p:txBody>
          <a:bodyPr wrap="square">
            <a:spAutoFit/>
          </a:bodyPr>
          <a:lstStyle/>
          <a:p>
            <a:pPr algn="ctr"/>
            <a:r>
              <a:rPr sz="800" b="1" i="0">
                <a:solidFill>
                  <a:srgbClr val="FFFFFF"/>
                </a:solidFill>
                <a:latin typeface="Calibri"/>
              </a:rPr>
              <a:t>FY25</a:t>
            </a:r>
          </a:p>
        </p:txBody>
      </p:sp>
      <p:sp>
        <p:nvSpPr>
          <p:cNvPr id="55" name="Rectangle 54"/>
          <p:cNvSpPr/>
          <p:nvPr/>
        </p:nvSpPr>
        <p:spPr>
          <a:xfrm>
            <a:off x="4297680" y="6940296"/>
            <a:ext cx="123444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4334256" y="6958584"/>
            <a:ext cx="1161288" cy="178308"/>
          </a:xfrm>
          <a:prstGeom prst="rect">
            <a:avLst/>
          </a:prstGeom>
          <a:noFill/>
        </p:spPr>
        <p:txBody>
          <a:bodyPr wrap="square">
            <a:spAutoFit/>
          </a:bodyPr>
          <a:lstStyle/>
          <a:p>
            <a:pPr algn="ctr"/>
            <a:r>
              <a:rPr sz="800" b="1" i="0">
                <a:solidFill>
                  <a:srgbClr val="FFFFFF"/>
                </a:solidFill>
                <a:latin typeface="Calibri"/>
              </a:rPr>
              <a:t>FY26E</a:t>
            </a:r>
          </a:p>
        </p:txBody>
      </p:sp>
      <p:sp>
        <p:nvSpPr>
          <p:cNvPr id="57" name="Rectangle 56"/>
          <p:cNvSpPr/>
          <p:nvPr/>
        </p:nvSpPr>
        <p:spPr>
          <a:xfrm>
            <a:off x="5532120" y="6940296"/>
            <a:ext cx="123444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5568696" y="6958584"/>
            <a:ext cx="1161288" cy="178308"/>
          </a:xfrm>
          <a:prstGeom prst="rect">
            <a:avLst/>
          </a:prstGeom>
          <a:noFill/>
        </p:spPr>
        <p:txBody>
          <a:bodyPr wrap="square">
            <a:spAutoFit/>
          </a:bodyPr>
          <a:lstStyle/>
          <a:p>
            <a:pPr algn="ctr"/>
            <a:r>
              <a:rPr sz="800" b="1" i="0">
                <a:solidFill>
                  <a:srgbClr val="FFFFFF"/>
                </a:solidFill>
                <a:latin typeface="Calibri"/>
              </a:rPr>
              <a:t>FY27E</a:t>
            </a:r>
          </a:p>
        </p:txBody>
      </p:sp>
      <p:sp>
        <p:nvSpPr>
          <p:cNvPr id="59" name="Rectangle 58"/>
          <p:cNvSpPr/>
          <p:nvPr/>
        </p:nvSpPr>
        <p:spPr>
          <a:xfrm>
            <a:off x="182880" y="7155180"/>
            <a:ext cx="16459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19456" y="7173468"/>
            <a:ext cx="1572768" cy="178308"/>
          </a:xfrm>
          <a:prstGeom prst="rect">
            <a:avLst/>
          </a:prstGeom>
          <a:noFill/>
        </p:spPr>
        <p:txBody>
          <a:bodyPr wrap="square">
            <a:spAutoFit/>
          </a:bodyPr>
          <a:lstStyle/>
          <a:p>
            <a:pPr algn="l"/>
            <a:r>
              <a:rPr sz="800" b="1" i="0">
                <a:solidFill>
                  <a:srgbClr val="1F1F1F"/>
                </a:solidFill>
                <a:latin typeface="Calibri"/>
              </a:rPr>
              <a:t>Revenue ($M)</a:t>
            </a:r>
          </a:p>
        </p:txBody>
      </p:sp>
      <p:sp>
        <p:nvSpPr>
          <p:cNvPr id="61" name="Rectangle 60"/>
          <p:cNvSpPr/>
          <p:nvPr/>
        </p:nvSpPr>
        <p:spPr>
          <a:xfrm>
            <a:off x="1828800" y="7155180"/>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865376" y="7173468"/>
            <a:ext cx="1161288" cy="178308"/>
          </a:xfrm>
          <a:prstGeom prst="rect">
            <a:avLst/>
          </a:prstGeom>
          <a:noFill/>
        </p:spPr>
        <p:txBody>
          <a:bodyPr wrap="square">
            <a:spAutoFit/>
          </a:bodyPr>
          <a:lstStyle/>
          <a:p>
            <a:pPr algn="ctr"/>
            <a:r>
              <a:rPr sz="800" b="0" i="0">
                <a:solidFill>
                  <a:srgbClr val="1F1F1F"/>
                </a:solidFill>
                <a:latin typeface="Calibri"/>
              </a:rPr>
              <a:t>$60,922</a:t>
            </a:r>
          </a:p>
        </p:txBody>
      </p:sp>
      <p:sp>
        <p:nvSpPr>
          <p:cNvPr id="63" name="Rectangle 62"/>
          <p:cNvSpPr/>
          <p:nvPr/>
        </p:nvSpPr>
        <p:spPr>
          <a:xfrm>
            <a:off x="3063240" y="7155180"/>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3099816" y="7173468"/>
            <a:ext cx="1161288" cy="178308"/>
          </a:xfrm>
          <a:prstGeom prst="rect">
            <a:avLst/>
          </a:prstGeom>
          <a:noFill/>
        </p:spPr>
        <p:txBody>
          <a:bodyPr wrap="square">
            <a:spAutoFit/>
          </a:bodyPr>
          <a:lstStyle/>
          <a:p>
            <a:pPr algn="ctr"/>
            <a:r>
              <a:rPr sz="800" b="0" i="0">
                <a:solidFill>
                  <a:srgbClr val="1F1F1F"/>
                </a:solidFill>
                <a:latin typeface="Calibri"/>
              </a:rPr>
              <a:t>$130,497</a:t>
            </a:r>
          </a:p>
        </p:txBody>
      </p:sp>
      <p:sp>
        <p:nvSpPr>
          <p:cNvPr id="65" name="Rectangle 64"/>
          <p:cNvSpPr/>
          <p:nvPr/>
        </p:nvSpPr>
        <p:spPr>
          <a:xfrm>
            <a:off x="4297680" y="7155180"/>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334256" y="7173468"/>
            <a:ext cx="1161288" cy="178308"/>
          </a:xfrm>
          <a:prstGeom prst="rect">
            <a:avLst/>
          </a:prstGeom>
          <a:noFill/>
        </p:spPr>
        <p:txBody>
          <a:bodyPr wrap="square">
            <a:spAutoFit/>
          </a:bodyPr>
          <a:lstStyle/>
          <a:p>
            <a:pPr algn="ctr"/>
            <a:r>
              <a:rPr sz="800" b="0" i="0">
                <a:solidFill>
                  <a:srgbClr val="1F1F1F"/>
                </a:solidFill>
                <a:latin typeface="Calibri"/>
              </a:rPr>
              <a:t>$215,900</a:t>
            </a:r>
          </a:p>
        </p:txBody>
      </p:sp>
      <p:sp>
        <p:nvSpPr>
          <p:cNvPr id="67" name="Rectangle 66"/>
          <p:cNvSpPr/>
          <p:nvPr/>
        </p:nvSpPr>
        <p:spPr>
          <a:xfrm>
            <a:off x="5532120" y="7155180"/>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5568696" y="7173468"/>
            <a:ext cx="1161288" cy="178308"/>
          </a:xfrm>
          <a:prstGeom prst="rect">
            <a:avLst/>
          </a:prstGeom>
          <a:noFill/>
        </p:spPr>
        <p:txBody>
          <a:bodyPr wrap="square">
            <a:spAutoFit/>
          </a:bodyPr>
          <a:lstStyle/>
          <a:p>
            <a:pPr algn="ctr"/>
            <a:r>
              <a:rPr sz="800" b="0" i="0">
                <a:solidFill>
                  <a:srgbClr val="1F1F1F"/>
                </a:solidFill>
                <a:latin typeface="Calibri"/>
              </a:rPr>
              <a:t>$280,170</a:t>
            </a:r>
          </a:p>
        </p:txBody>
      </p:sp>
      <p:sp>
        <p:nvSpPr>
          <p:cNvPr id="69" name="Rectangle 68"/>
          <p:cNvSpPr/>
          <p:nvPr/>
        </p:nvSpPr>
        <p:spPr>
          <a:xfrm>
            <a:off x="182880" y="7370064"/>
            <a:ext cx="16459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219456" y="7388352"/>
            <a:ext cx="1572768" cy="178308"/>
          </a:xfrm>
          <a:prstGeom prst="rect">
            <a:avLst/>
          </a:prstGeom>
          <a:noFill/>
        </p:spPr>
        <p:txBody>
          <a:bodyPr wrap="square">
            <a:spAutoFit/>
          </a:bodyPr>
          <a:lstStyle/>
          <a:p>
            <a:pPr algn="l"/>
            <a:r>
              <a:rPr sz="800" b="1" i="0">
                <a:solidFill>
                  <a:srgbClr val="1F1F1F"/>
                </a:solidFill>
                <a:latin typeface="Calibri"/>
              </a:rPr>
              <a:t>Adj. EBITDA ($M)</a:t>
            </a:r>
          </a:p>
        </p:txBody>
      </p:sp>
      <p:sp>
        <p:nvSpPr>
          <p:cNvPr id="71" name="Rectangle 70"/>
          <p:cNvSpPr/>
          <p:nvPr/>
        </p:nvSpPr>
        <p:spPr>
          <a:xfrm>
            <a:off x="1828800" y="7370064"/>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865376" y="7388352"/>
            <a:ext cx="1161288" cy="178308"/>
          </a:xfrm>
          <a:prstGeom prst="rect">
            <a:avLst/>
          </a:prstGeom>
          <a:noFill/>
        </p:spPr>
        <p:txBody>
          <a:bodyPr wrap="square">
            <a:spAutoFit/>
          </a:bodyPr>
          <a:lstStyle/>
          <a:p>
            <a:pPr algn="ctr"/>
            <a:r>
              <a:rPr sz="800" b="0" i="0">
                <a:solidFill>
                  <a:srgbClr val="1F1F1F"/>
                </a:solidFill>
                <a:latin typeface="Calibri"/>
              </a:rPr>
              <a:t>$34,800</a:t>
            </a:r>
          </a:p>
        </p:txBody>
      </p:sp>
      <p:sp>
        <p:nvSpPr>
          <p:cNvPr id="73" name="Rectangle 72"/>
          <p:cNvSpPr/>
          <p:nvPr/>
        </p:nvSpPr>
        <p:spPr>
          <a:xfrm>
            <a:off x="3063240" y="7370064"/>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099816" y="7388352"/>
            <a:ext cx="1161288" cy="178308"/>
          </a:xfrm>
          <a:prstGeom prst="rect">
            <a:avLst/>
          </a:prstGeom>
          <a:noFill/>
        </p:spPr>
        <p:txBody>
          <a:bodyPr wrap="square">
            <a:spAutoFit/>
          </a:bodyPr>
          <a:lstStyle/>
          <a:p>
            <a:pPr algn="ctr"/>
            <a:r>
              <a:rPr sz="800" b="0" i="0">
                <a:solidFill>
                  <a:srgbClr val="1F1F1F"/>
                </a:solidFill>
                <a:latin typeface="Calibri"/>
              </a:rPr>
              <a:t>$86,600</a:t>
            </a:r>
          </a:p>
        </p:txBody>
      </p:sp>
      <p:sp>
        <p:nvSpPr>
          <p:cNvPr id="75" name="Rectangle 74"/>
          <p:cNvSpPr/>
          <p:nvPr/>
        </p:nvSpPr>
        <p:spPr>
          <a:xfrm>
            <a:off x="4297680" y="7370064"/>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4334256" y="7388352"/>
            <a:ext cx="1161288" cy="178308"/>
          </a:xfrm>
          <a:prstGeom prst="rect">
            <a:avLst/>
          </a:prstGeom>
          <a:noFill/>
        </p:spPr>
        <p:txBody>
          <a:bodyPr wrap="square">
            <a:spAutoFit/>
          </a:bodyPr>
          <a:lstStyle/>
          <a:p>
            <a:pPr algn="ctr"/>
            <a:r>
              <a:rPr sz="800" b="0" i="0">
                <a:solidFill>
                  <a:srgbClr val="1F1F1F"/>
                </a:solidFill>
                <a:latin typeface="Calibri"/>
              </a:rPr>
              <a:t>$141,200</a:t>
            </a:r>
          </a:p>
        </p:txBody>
      </p:sp>
      <p:sp>
        <p:nvSpPr>
          <p:cNvPr id="77" name="Rectangle 76"/>
          <p:cNvSpPr/>
          <p:nvPr/>
        </p:nvSpPr>
        <p:spPr>
          <a:xfrm>
            <a:off x="5532120" y="7370064"/>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5568696" y="7388352"/>
            <a:ext cx="1161288" cy="178308"/>
          </a:xfrm>
          <a:prstGeom prst="rect">
            <a:avLst/>
          </a:prstGeom>
          <a:noFill/>
        </p:spPr>
        <p:txBody>
          <a:bodyPr wrap="square">
            <a:spAutoFit/>
          </a:bodyPr>
          <a:lstStyle/>
          <a:p>
            <a:pPr algn="ctr"/>
            <a:r>
              <a:rPr sz="800" b="0" i="0">
                <a:solidFill>
                  <a:srgbClr val="1F1F1F"/>
                </a:solidFill>
                <a:latin typeface="Calibri"/>
              </a:rPr>
              <a:t>$183,560</a:t>
            </a:r>
          </a:p>
        </p:txBody>
      </p:sp>
      <p:sp>
        <p:nvSpPr>
          <p:cNvPr id="79" name="Rectangle 78"/>
          <p:cNvSpPr/>
          <p:nvPr/>
        </p:nvSpPr>
        <p:spPr>
          <a:xfrm>
            <a:off x="182880" y="7584948"/>
            <a:ext cx="16459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219456" y="7603236"/>
            <a:ext cx="1572768" cy="178308"/>
          </a:xfrm>
          <a:prstGeom prst="rect">
            <a:avLst/>
          </a:prstGeom>
          <a:noFill/>
        </p:spPr>
        <p:txBody>
          <a:bodyPr wrap="square">
            <a:spAutoFit/>
          </a:bodyPr>
          <a:lstStyle/>
          <a:p>
            <a:pPr algn="l"/>
            <a:r>
              <a:rPr sz="800" b="1" i="0">
                <a:solidFill>
                  <a:srgbClr val="1F1F1F"/>
                </a:solidFill>
                <a:latin typeface="Calibri"/>
              </a:rPr>
              <a:t>Adj. EPS</a:t>
            </a:r>
          </a:p>
        </p:txBody>
      </p:sp>
      <p:sp>
        <p:nvSpPr>
          <p:cNvPr id="81" name="Rectangle 80"/>
          <p:cNvSpPr/>
          <p:nvPr/>
        </p:nvSpPr>
        <p:spPr>
          <a:xfrm>
            <a:off x="1828800" y="7584948"/>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1865376" y="7603236"/>
            <a:ext cx="1161288" cy="178308"/>
          </a:xfrm>
          <a:prstGeom prst="rect">
            <a:avLst/>
          </a:prstGeom>
          <a:noFill/>
        </p:spPr>
        <p:txBody>
          <a:bodyPr wrap="square">
            <a:spAutoFit/>
          </a:bodyPr>
          <a:lstStyle/>
          <a:p>
            <a:pPr algn="ctr"/>
            <a:r>
              <a:rPr sz="800" b="0" i="0">
                <a:solidFill>
                  <a:srgbClr val="1F1F1F"/>
                </a:solidFill>
                <a:latin typeface="Calibri"/>
              </a:rPr>
              <a:t>$1.30</a:t>
            </a:r>
          </a:p>
        </p:txBody>
      </p:sp>
      <p:sp>
        <p:nvSpPr>
          <p:cNvPr id="83" name="Rectangle 82"/>
          <p:cNvSpPr/>
          <p:nvPr/>
        </p:nvSpPr>
        <p:spPr>
          <a:xfrm>
            <a:off x="3063240" y="7584948"/>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3099816" y="7603236"/>
            <a:ext cx="1161288" cy="178308"/>
          </a:xfrm>
          <a:prstGeom prst="rect">
            <a:avLst/>
          </a:prstGeom>
          <a:noFill/>
        </p:spPr>
        <p:txBody>
          <a:bodyPr wrap="square">
            <a:spAutoFit/>
          </a:bodyPr>
          <a:lstStyle/>
          <a:p>
            <a:pPr algn="ctr"/>
            <a:r>
              <a:rPr sz="800" b="0" i="0">
                <a:solidFill>
                  <a:srgbClr val="1F1F1F"/>
                </a:solidFill>
                <a:latin typeface="Calibri"/>
              </a:rPr>
              <a:t>$2.99</a:t>
            </a:r>
          </a:p>
        </p:txBody>
      </p:sp>
      <p:sp>
        <p:nvSpPr>
          <p:cNvPr id="85" name="Rectangle 84"/>
          <p:cNvSpPr/>
          <p:nvPr/>
        </p:nvSpPr>
        <p:spPr>
          <a:xfrm>
            <a:off x="4297680" y="7584948"/>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TextBox 85"/>
          <p:cNvSpPr txBox="1"/>
          <p:nvPr/>
        </p:nvSpPr>
        <p:spPr>
          <a:xfrm>
            <a:off x="4334256" y="7603236"/>
            <a:ext cx="1161288" cy="178308"/>
          </a:xfrm>
          <a:prstGeom prst="rect">
            <a:avLst/>
          </a:prstGeom>
          <a:noFill/>
        </p:spPr>
        <p:txBody>
          <a:bodyPr wrap="square">
            <a:spAutoFit/>
          </a:bodyPr>
          <a:lstStyle/>
          <a:p>
            <a:pPr algn="ctr"/>
            <a:r>
              <a:rPr sz="800" b="0" i="0">
                <a:solidFill>
                  <a:srgbClr val="1F1F1F"/>
                </a:solidFill>
                <a:latin typeface="Calibri"/>
              </a:rPr>
              <a:t>$4.77</a:t>
            </a:r>
          </a:p>
        </p:txBody>
      </p:sp>
      <p:sp>
        <p:nvSpPr>
          <p:cNvPr id="87" name="Rectangle 86"/>
          <p:cNvSpPr/>
          <p:nvPr/>
        </p:nvSpPr>
        <p:spPr>
          <a:xfrm>
            <a:off x="5532120" y="7584948"/>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568696" y="7603236"/>
            <a:ext cx="1161288" cy="178308"/>
          </a:xfrm>
          <a:prstGeom prst="rect">
            <a:avLst/>
          </a:prstGeom>
          <a:noFill/>
        </p:spPr>
        <p:txBody>
          <a:bodyPr wrap="square">
            <a:spAutoFit/>
          </a:bodyPr>
          <a:lstStyle/>
          <a:p>
            <a:pPr algn="ctr"/>
            <a:r>
              <a:rPr sz="800" b="0" i="0">
                <a:solidFill>
                  <a:srgbClr val="1F1F1F"/>
                </a:solidFill>
                <a:latin typeface="Calibri"/>
              </a:rPr>
              <a:t>$6.19</a:t>
            </a:r>
          </a:p>
        </p:txBody>
      </p:sp>
      <p:sp>
        <p:nvSpPr>
          <p:cNvPr id="89" name="Rectangle 88"/>
          <p:cNvSpPr/>
          <p:nvPr/>
        </p:nvSpPr>
        <p:spPr>
          <a:xfrm>
            <a:off x="182880" y="7799832"/>
            <a:ext cx="16459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219456" y="7818120"/>
            <a:ext cx="1572768" cy="178308"/>
          </a:xfrm>
          <a:prstGeom prst="rect">
            <a:avLst/>
          </a:prstGeom>
          <a:noFill/>
        </p:spPr>
        <p:txBody>
          <a:bodyPr wrap="square">
            <a:spAutoFit/>
          </a:bodyPr>
          <a:lstStyle/>
          <a:p>
            <a:pPr algn="l"/>
            <a:r>
              <a:rPr sz="800" b="1" i="0">
                <a:solidFill>
                  <a:srgbClr val="1F1F1F"/>
                </a:solidFill>
                <a:latin typeface="Calibri"/>
              </a:rPr>
              <a:t>FCF ($M)</a:t>
            </a:r>
          </a:p>
        </p:txBody>
      </p:sp>
      <p:sp>
        <p:nvSpPr>
          <p:cNvPr id="91" name="Rectangle 90"/>
          <p:cNvSpPr/>
          <p:nvPr/>
        </p:nvSpPr>
        <p:spPr>
          <a:xfrm>
            <a:off x="1828800" y="7799832"/>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865376" y="7818120"/>
            <a:ext cx="1161288" cy="178308"/>
          </a:xfrm>
          <a:prstGeom prst="rect">
            <a:avLst/>
          </a:prstGeom>
          <a:noFill/>
        </p:spPr>
        <p:txBody>
          <a:bodyPr wrap="square">
            <a:spAutoFit/>
          </a:bodyPr>
          <a:lstStyle/>
          <a:p>
            <a:pPr algn="ctr"/>
            <a:r>
              <a:rPr sz="800" b="0" i="0">
                <a:solidFill>
                  <a:srgbClr val="1F1F1F"/>
                </a:solidFill>
                <a:latin typeface="Calibri"/>
              </a:rPr>
              <a:t>$27,022</a:t>
            </a:r>
          </a:p>
        </p:txBody>
      </p:sp>
      <p:sp>
        <p:nvSpPr>
          <p:cNvPr id="93" name="Rectangle 92"/>
          <p:cNvSpPr/>
          <p:nvPr/>
        </p:nvSpPr>
        <p:spPr>
          <a:xfrm>
            <a:off x="3063240" y="7799832"/>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3099816" y="7818120"/>
            <a:ext cx="1161288" cy="178308"/>
          </a:xfrm>
          <a:prstGeom prst="rect">
            <a:avLst/>
          </a:prstGeom>
          <a:noFill/>
        </p:spPr>
        <p:txBody>
          <a:bodyPr wrap="square">
            <a:spAutoFit/>
          </a:bodyPr>
          <a:lstStyle/>
          <a:p>
            <a:pPr algn="ctr"/>
            <a:r>
              <a:rPr sz="800" b="0" i="0">
                <a:solidFill>
                  <a:srgbClr val="1F1F1F"/>
                </a:solidFill>
                <a:latin typeface="Calibri"/>
              </a:rPr>
              <a:t>$60,840</a:t>
            </a:r>
          </a:p>
        </p:txBody>
      </p:sp>
      <p:sp>
        <p:nvSpPr>
          <p:cNvPr id="95" name="Rectangle 94"/>
          <p:cNvSpPr/>
          <p:nvPr/>
        </p:nvSpPr>
        <p:spPr>
          <a:xfrm>
            <a:off x="4297680" y="7799832"/>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4334256" y="7818120"/>
            <a:ext cx="1161288" cy="178308"/>
          </a:xfrm>
          <a:prstGeom prst="rect">
            <a:avLst/>
          </a:prstGeom>
          <a:noFill/>
        </p:spPr>
        <p:txBody>
          <a:bodyPr wrap="square">
            <a:spAutoFit/>
          </a:bodyPr>
          <a:lstStyle/>
          <a:p>
            <a:pPr algn="ctr"/>
            <a:r>
              <a:rPr sz="800" b="0" i="0">
                <a:solidFill>
                  <a:srgbClr val="1F1F1F"/>
                </a:solidFill>
                <a:latin typeface="Calibri"/>
              </a:rPr>
              <a:t>$96,575</a:t>
            </a:r>
          </a:p>
        </p:txBody>
      </p:sp>
      <p:sp>
        <p:nvSpPr>
          <p:cNvPr id="97" name="Rectangle 96"/>
          <p:cNvSpPr/>
          <p:nvPr/>
        </p:nvSpPr>
        <p:spPr>
          <a:xfrm>
            <a:off x="5532120" y="7799832"/>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568696" y="7818120"/>
            <a:ext cx="1161288" cy="178308"/>
          </a:xfrm>
          <a:prstGeom prst="rect">
            <a:avLst/>
          </a:prstGeom>
          <a:noFill/>
        </p:spPr>
        <p:txBody>
          <a:bodyPr wrap="square">
            <a:spAutoFit/>
          </a:bodyPr>
          <a:lstStyle/>
          <a:p>
            <a:pPr algn="ctr"/>
            <a:r>
              <a:rPr sz="800" b="0" i="0">
                <a:solidFill>
                  <a:srgbClr val="1F1F1F"/>
                </a:solidFill>
                <a:latin typeface="Calibri"/>
              </a:rPr>
              <a:t>$125,347</a:t>
            </a:r>
          </a:p>
        </p:txBody>
      </p:sp>
      <p:sp>
        <p:nvSpPr>
          <p:cNvPr id="99" name="Rectangle 98"/>
          <p:cNvSpPr/>
          <p:nvPr/>
        </p:nvSpPr>
        <p:spPr>
          <a:xfrm>
            <a:off x="182880" y="8014716"/>
            <a:ext cx="16459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TextBox 99"/>
          <p:cNvSpPr txBox="1"/>
          <p:nvPr/>
        </p:nvSpPr>
        <p:spPr>
          <a:xfrm>
            <a:off x="219456" y="8033004"/>
            <a:ext cx="1572768" cy="178308"/>
          </a:xfrm>
          <a:prstGeom prst="rect">
            <a:avLst/>
          </a:prstGeom>
          <a:noFill/>
        </p:spPr>
        <p:txBody>
          <a:bodyPr wrap="square">
            <a:spAutoFit/>
          </a:bodyPr>
          <a:lstStyle/>
          <a:p>
            <a:pPr algn="l"/>
            <a:r>
              <a:rPr sz="800" b="1" i="0">
                <a:solidFill>
                  <a:srgbClr val="1F1F1F"/>
                </a:solidFill>
                <a:latin typeface="Calibri"/>
              </a:rPr>
              <a:t>FCF Margin</a:t>
            </a:r>
          </a:p>
        </p:txBody>
      </p:sp>
      <p:sp>
        <p:nvSpPr>
          <p:cNvPr id="101" name="Rectangle 100"/>
          <p:cNvSpPr/>
          <p:nvPr/>
        </p:nvSpPr>
        <p:spPr>
          <a:xfrm>
            <a:off x="1828800" y="8014716"/>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1865376" y="8033004"/>
            <a:ext cx="1161288" cy="178308"/>
          </a:xfrm>
          <a:prstGeom prst="rect">
            <a:avLst/>
          </a:prstGeom>
          <a:noFill/>
        </p:spPr>
        <p:txBody>
          <a:bodyPr wrap="square">
            <a:spAutoFit/>
          </a:bodyPr>
          <a:lstStyle/>
          <a:p>
            <a:pPr algn="ctr"/>
            <a:r>
              <a:rPr sz="800" b="0" i="0">
                <a:solidFill>
                  <a:srgbClr val="1F1F1F"/>
                </a:solidFill>
                <a:latin typeface="Calibri"/>
              </a:rPr>
              <a:t>44.4%</a:t>
            </a:r>
          </a:p>
        </p:txBody>
      </p:sp>
      <p:sp>
        <p:nvSpPr>
          <p:cNvPr id="103" name="Rectangle 102"/>
          <p:cNvSpPr/>
          <p:nvPr/>
        </p:nvSpPr>
        <p:spPr>
          <a:xfrm>
            <a:off x="3063240" y="8014716"/>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3099816" y="8033004"/>
            <a:ext cx="1161288" cy="178308"/>
          </a:xfrm>
          <a:prstGeom prst="rect">
            <a:avLst/>
          </a:prstGeom>
          <a:noFill/>
        </p:spPr>
        <p:txBody>
          <a:bodyPr wrap="square">
            <a:spAutoFit/>
          </a:bodyPr>
          <a:lstStyle/>
          <a:p>
            <a:pPr algn="ctr"/>
            <a:r>
              <a:rPr sz="800" b="0" i="0">
                <a:solidFill>
                  <a:srgbClr val="1F1F1F"/>
                </a:solidFill>
                <a:latin typeface="Calibri"/>
              </a:rPr>
              <a:t>46.6%</a:t>
            </a:r>
          </a:p>
        </p:txBody>
      </p:sp>
      <p:sp>
        <p:nvSpPr>
          <p:cNvPr id="105" name="Rectangle 104"/>
          <p:cNvSpPr/>
          <p:nvPr/>
        </p:nvSpPr>
        <p:spPr>
          <a:xfrm>
            <a:off x="4297680" y="8014716"/>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TextBox 105"/>
          <p:cNvSpPr txBox="1"/>
          <p:nvPr/>
        </p:nvSpPr>
        <p:spPr>
          <a:xfrm>
            <a:off x="4334256" y="8033004"/>
            <a:ext cx="1161288" cy="178308"/>
          </a:xfrm>
          <a:prstGeom prst="rect">
            <a:avLst/>
          </a:prstGeom>
          <a:noFill/>
        </p:spPr>
        <p:txBody>
          <a:bodyPr wrap="square">
            <a:spAutoFit/>
          </a:bodyPr>
          <a:lstStyle/>
          <a:p>
            <a:pPr algn="ctr"/>
            <a:r>
              <a:rPr sz="800" b="0" i="0">
                <a:solidFill>
                  <a:srgbClr val="1F1F1F"/>
                </a:solidFill>
                <a:latin typeface="Calibri"/>
              </a:rPr>
              <a:t>44.7%</a:t>
            </a:r>
          </a:p>
        </p:txBody>
      </p:sp>
      <p:sp>
        <p:nvSpPr>
          <p:cNvPr id="107" name="Rectangle 106"/>
          <p:cNvSpPr/>
          <p:nvPr/>
        </p:nvSpPr>
        <p:spPr>
          <a:xfrm>
            <a:off x="5532120" y="8014716"/>
            <a:ext cx="1234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TextBox 107"/>
          <p:cNvSpPr txBox="1"/>
          <p:nvPr/>
        </p:nvSpPr>
        <p:spPr>
          <a:xfrm>
            <a:off x="5568696" y="8033004"/>
            <a:ext cx="1161288" cy="178308"/>
          </a:xfrm>
          <a:prstGeom prst="rect">
            <a:avLst/>
          </a:prstGeom>
          <a:noFill/>
        </p:spPr>
        <p:txBody>
          <a:bodyPr wrap="square">
            <a:spAutoFit/>
          </a:bodyPr>
          <a:lstStyle/>
          <a:p>
            <a:pPr algn="ctr"/>
            <a:r>
              <a:rPr sz="800" b="0" i="0">
                <a:solidFill>
                  <a:srgbClr val="1F1F1F"/>
                </a:solidFill>
                <a:latin typeface="Calibri"/>
              </a:rPr>
              <a:t>44.7%</a:t>
            </a:r>
          </a:p>
        </p:txBody>
      </p:sp>
      <p:sp>
        <p:nvSpPr>
          <p:cNvPr id="109" name="Rectangle 108"/>
          <p:cNvSpPr/>
          <p:nvPr/>
        </p:nvSpPr>
        <p:spPr>
          <a:xfrm>
            <a:off x="182880" y="8229600"/>
            <a:ext cx="16459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TextBox 109"/>
          <p:cNvSpPr txBox="1"/>
          <p:nvPr/>
        </p:nvSpPr>
        <p:spPr>
          <a:xfrm>
            <a:off x="219456" y="8247888"/>
            <a:ext cx="1572768" cy="178308"/>
          </a:xfrm>
          <a:prstGeom prst="rect">
            <a:avLst/>
          </a:prstGeom>
          <a:noFill/>
        </p:spPr>
        <p:txBody>
          <a:bodyPr wrap="square">
            <a:spAutoFit/>
          </a:bodyPr>
          <a:lstStyle/>
          <a:p>
            <a:pPr algn="l"/>
            <a:r>
              <a:rPr sz="800" b="1" i="0">
                <a:solidFill>
                  <a:srgbClr val="1F1F1F"/>
                </a:solidFill>
                <a:latin typeface="Calibri"/>
              </a:rPr>
              <a:t>Rev. Growth YoY</a:t>
            </a:r>
          </a:p>
        </p:txBody>
      </p:sp>
      <p:sp>
        <p:nvSpPr>
          <p:cNvPr id="111" name="Rectangle 110"/>
          <p:cNvSpPr/>
          <p:nvPr/>
        </p:nvSpPr>
        <p:spPr>
          <a:xfrm>
            <a:off x="1828800" y="8229600"/>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TextBox 111"/>
          <p:cNvSpPr txBox="1"/>
          <p:nvPr/>
        </p:nvSpPr>
        <p:spPr>
          <a:xfrm>
            <a:off x="1865376" y="8247888"/>
            <a:ext cx="1161288" cy="178308"/>
          </a:xfrm>
          <a:prstGeom prst="rect">
            <a:avLst/>
          </a:prstGeom>
          <a:noFill/>
        </p:spPr>
        <p:txBody>
          <a:bodyPr wrap="square">
            <a:spAutoFit/>
          </a:bodyPr>
          <a:lstStyle/>
          <a:p>
            <a:pPr algn="ctr"/>
            <a:r>
              <a:rPr sz="800" b="0" i="0">
                <a:solidFill>
                  <a:srgbClr val="1F1F1F"/>
                </a:solidFill>
                <a:latin typeface="Calibri"/>
              </a:rPr>
              <a:t>122%</a:t>
            </a:r>
          </a:p>
        </p:txBody>
      </p:sp>
      <p:sp>
        <p:nvSpPr>
          <p:cNvPr id="113" name="Rectangle 112"/>
          <p:cNvSpPr/>
          <p:nvPr/>
        </p:nvSpPr>
        <p:spPr>
          <a:xfrm>
            <a:off x="3063240" y="8229600"/>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TextBox 113"/>
          <p:cNvSpPr txBox="1"/>
          <p:nvPr/>
        </p:nvSpPr>
        <p:spPr>
          <a:xfrm>
            <a:off x="3099816" y="8247888"/>
            <a:ext cx="1161288" cy="178308"/>
          </a:xfrm>
          <a:prstGeom prst="rect">
            <a:avLst/>
          </a:prstGeom>
          <a:noFill/>
        </p:spPr>
        <p:txBody>
          <a:bodyPr wrap="square">
            <a:spAutoFit/>
          </a:bodyPr>
          <a:lstStyle/>
          <a:p>
            <a:pPr algn="ctr"/>
            <a:r>
              <a:rPr sz="800" b="0" i="0">
                <a:solidFill>
                  <a:srgbClr val="1F1F1F"/>
                </a:solidFill>
                <a:latin typeface="Calibri"/>
              </a:rPr>
              <a:t>114%</a:t>
            </a:r>
          </a:p>
        </p:txBody>
      </p:sp>
      <p:sp>
        <p:nvSpPr>
          <p:cNvPr id="115" name="Rectangle 114"/>
          <p:cNvSpPr/>
          <p:nvPr/>
        </p:nvSpPr>
        <p:spPr>
          <a:xfrm>
            <a:off x="4297680" y="8229600"/>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4334256" y="8247888"/>
            <a:ext cx="1161288" cy="178308"/>
          </a:xfrm>
          <a:prstGeom prst="rect">
            <a:avLst/>
          </a:prstGeom>
          <a:noFill/>
        </p:spPr>
        <p:txBody>
          <a:bodyPr wrap="square">
            <a:spAutoFit/>
          </a:bodyPr>
          <a:lstStyle/>
          <a:p>
            <a:pPr algn="ctr"/>
            <a:r>
              <a:rPr sz="800" b="0" i="0">
                <a:solidFill>
                  <a:srgbClr val="1F1F1F"/>
                </a:solidFill>
                <a:latin typeface="Calibri"/>
              </a:rPr>
              <a:t>65%</a:t>
            </a:r>
          </a:p>
        </p:txBody>
      </p:sp>
      <p:sp>
        <p:nvSpPr>
          <p:cNvPr id="117" name="Rectangle 116"/>
          <p:cNvSpPr/>
          <p:nvPr/>
        </p:nvSpPr>
        <p:spPr>
          <a:xfrm>
            <a:off x="5532120" y="8229600"/>
            <a:ext cx="1234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5568696" y="8247888"/>
            <a:ext cx="1161288" cy="178308"/>
          </a:xfrm>
          <a:prstGeom prst="rect">
            <a:avLst/>
          </a:prstGeom>
          <a:noFill/>
        </p:spPr>
        <p:txBody>
          <a:bodyPr wrap="square">
            <a:spAutoFit/>
          </a:bodyPr>
          <a:lstStyle/>
          <a:p>
            <a:pPr algn="ctr"/>
            <a:r>
              <a:rPr sz="800" b="0" i="0">
                <a:solidFill>
                  <a:srgbClr val="1F1F1F"/>
                </a:solidFill>
                <a:latin typeface="Calibri"/>
              </a:rPr>
              <a:t>30%</a:t>
            </a:r>
          </a:p>
        </p:txBody>
      </p:sp>
      <p:sp>
        <p:nvSpPr>
          <p:cNvPr id="119" name="Rectangle 118"/>
          <p:cNvSpPr/>
          <p:nvPr/>
        </p:nvSpPr>
        <p:spPr>
          <a:xfrm>
            <a:off x="182880" y="8595360"/>
            <a:ext cx="7406640" cy="1078992"/>
          </a:xfrm>
          <a:prstGeom prst="rect">
            <a:avLst/>
          </a:prstGeom>
          <a:solidFill>
            <a:srgbClr val="E8F5D0"/>
          </a:solidFill>
          <a:ln w="1905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TextBox 119"/>
          <p:cNvSpPr txBox="1"/>
          <p:nvPr/>
        </p:nvSpPr>
        <p:spPr>
          <a:xfrm>
            <a:off x="274320" y="8622792"/>
            <a:ext cx="4572000" cy="201168"/>
          </a:xfrm>
          <a:prstGeom prst="rect">
            <a:avLst/>
          </a:prstGeom>
          <a:noFill/>
        </p:spPr>
        <p:txBody>
          <a:bodyPr wrap="square">
            <a:spAutoFit/>
          </a:bodyPr>
          <a:lstStyle/>
          <a:p>
            <a:pPr algn="l"/>
            <a:r>
              <a:rPr sz="900" b="1" i="0">
                <a:solidFill>
                  <a:srgbClr val="1F1F1F"/>
                </a:solidFill>
                <a:latin typeface="Calibri"/>
              </a:rPr>
              <a:t>Recommendation Summary</a:t>
            </a:r>
          </a:p>
        </p:txBody>
      </p:sp>
      <p:sp>
        <p:nvSpPr>
          <p:cNvPr id="121" name="TextBox 120"/>
          <p:cNvSpPr txBox="1"/>
          <p:nvPr/>
        </p:nvSpPr>
        <p:spPr>
          <a:xfrm>
            <a:off x="274320" y="8823960"/>
            <a:ext cx="7223760" cy="822960"/>
          </a:xfrm>
          <a:prstGeom prst="rect">
            <a:avLst/>
          </a:prstGeom>
          <a:noFill/>
        </p:spPr>
        <p:txBody>
          <a:bodyPr wrap="square">
            <a:spAutoFit/>
          </a:bodyPr>
          <a:lstStyle/>
          <a:p>
            <a:pPr algn="l"/>
            <a:r>
              <a:rPr sz="800" b="0" i="0">
                <a:solidFill>
                  <a:srgbClr val="1F1F1F"/>
                </a:solidFill>
                <a:latin typeface="Calibri"/>
              </a:rPr>
              <a:t>We initiate coverage of NVIDIA Corporation with a BUY recommendation and a 12-month price target of $220.00, representing 24.1 percent upside from the current price of $177.39. Our target is derived from a blended valuation of our Free Cash Flow Model (P1 = $216.85), Market Multipliers composite ($183.63), and a forward earnings multiple of 30x on FY27E Non-GAAP EPS of $6.19 (implied target $231.00). The primary investment catalysts are the Blackwell GPU ramp, ongoing hyperscaler AI capital expenditure commitments, and NVIDIA's unmatched full-stack software ecosystem centered on the CUDA platform.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64008"/>
            <a:ext cx="3200400" cy="384048"/>
          </a:xfrm>
          <a:prstGeom prst="rect">
            <a:avLst/>
          </a:prstGeom>
          <a:noFill/>
        </p:spPr>
        <p:txBody>
          <a:bodyPr wrap="square">
            <a:spAutoFit/>
          </a:bodyPr>
          <a:lstStyle/>
          <a:p>
            <a:pPr algn="l"/>
            <a:r>
              <a:rPr sz="1000" b="1" i="0">
                <a:solidFill>
                  <a:srgbClr val="FFFFFF"/>
                </a:solidFill>
                <a:latin typeface="Calibri"/>
              </a:rPr>
              <a:t>NVDA  |  EQUITY RESEARCH</a:t>
            </a:r>
          </a:p>
        </p:txBody>
      </p:sp>
      <p:sp>
        <p:nvSpPr>
          <p:cNvPr id="4" name="TextBox 3"/>
          <p:cNvSpPr txBox="1"/>
          <p:nvPr/>
        </p:nvSpPr>
        <p:spPr>
          <a:xfrm>
            <a:off x="2286000" y="64008"/>
            <a:ext cx="4114800" cy="384048"/>
          </a:xfrm>
          <a:prstGeom prst="rect">
            <a:avLst/>
          </a:prstGeom>
          <a:noFill/>
        </p:spPr>
        <p:txBody>
          <a:bodyPr wrap="square">
            <a:spAutoFit/>
          </a:bodyPr>
          <a:lstStyle/>
          <a:p>
            <a:pPr algn="ctr"/>
            <a:r>
              <a:rPr sz="1100" b="1" i="0">
                <a:solidFill>
                  <a:srgbClr val="76B900"/>
                </a:solidFill>
                <a:latin typeface="Calibri"/>
              </a:rPr>
              <a:t>PERFORMANCE &amp; COMPETITIVE POSITIONING</a:t>
            </a:r>
          </a:p>
        </p:txBody>
      </p:sp>
      <p:sp>
        <p:nvSpPr>
          <p:cNvPr id="5" name="TextBox 4"/>
          <p:cNvSpPr txBox="1"/>
          <p:nvPr/>
        </p:nvSpPr>
        <p:spPr>
          <a:xfrm>
            <a:off x="5669280" y="64008"/>
            <a:ext cx="1920240" cy="384048"/>
          </a:xfrm>
          <a:prstGeom prst="rect">
            <a:avLst/>
          </a:prstGeom>
          <a:noFill/>
        </p:spPr>
        <p:txBody>
          <a:bodyPr wrap="square">
            <a:spAutoFit/>
          </a:bodyPr>
          <a:lstStyle/>
          <a:p>
            <a:pPr algn="r"/>
            <a:r>
              <a:rPr sz="850" b="0" i="0">
                <a:solidFill>
                  <a:srgbClr val="FFFFFF"/>
                </a:solidFill>
                <a:latin typeface="Calibri"/>
              </a:rPr>
              <a:t>April 2026  |  FIN 431</a:t>
            </a:r>
          </a:p>
        </p:txBody>
      </p:sp>
      <p:sp>
        <p:nvSpPr>
          <p:cNvPr id="6" name="Rectangle 5"/>
          <p:cNvSpPr/>
          <p:nvPr/>
        </p:nvSpPr>
        <p:spPr>
          <a:xfrm>
            <a:off x="0" y="502920"/>
            <a:ext cx="77724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 y="9811512"/>
            <a:ext cx="5943600" cy="237744"/>
          </a:xfrm>
          <a:prstGeom prst="rect">
            <a:avLst/>
          </a:prstGeom>
          <a:noFill/>
        </p:spPr>
        <p:txBody>
          <a:bodyPr wrap="square">
            <a:spAutoFit/>
          </a:bodyPr>
          <a:lstStyle/>
          <a:p>
            <a:pPr algn="l"/>
            <a:r>
              <a:rPr sz="700" b="0" i="0">
                <a:solidFill>
                  <a:srgbClr val="BBBBBB"/>
                </a:solidFill>
                <a:latin typeface="Calibri"/>
              </a:rPr>
              <a:t>NVIDIA Corporation (NVDA)  |  Equity Research  |  FIN 431  |  Portfolio Analysis</a:t>
            </a:r>
          </a:p>
        </p:txBody>
      </p:sp>
      <p:sp>
        <p:nvSpPr>
          <p:cNvPr id="9" name="TextBox 8"/>
          <p:cNvSpPr txBox="1"/>
          <p:nvPr/>
        </p:nvSpPr>
        <p:spPr>
          <a:xfrm>
            <a:off x="7132320" y="9811512"/>
            <a:ext cx="502920" cy="237744"/>
          </a:xfrm>
          <a:prstGeom prst="rect">
            <a:avLst/>
          </a:prstGeom>
          <a:noFill/>
        </p:spPr>
        <p:txBody>
          <a:bodyPr wrap="square">
            <a:spAutoFit/>
          </a:bodyPr>
          <a:lstStyle/>
          <a:p>
            <a:pPr algn="r"/>
            <a:r>
              <a:rPr sz="700" b="0" i="0">
                <a:solidFill>
                  <a:srgbClr val="BBBBBB"/>
                </a:solidFill>
                <a:latin typeface="Calibri"/>
              </a:rPr>
              <a:t>Page 2</a:t>
            </a:r>
          </a:p>
        </p:txBody>
      </p:sp>
      <p:sp>
        <p:nvSpPr>
          <p:cNvPr id="10" name="Rectangle 9"/>
          <p:cNvSpPr/>
          <p:nvPr/>
        </p:nvSpPr>
        <p:spPr>
          <a:xfrm>
            <a:off x="182880" y="621792"/>
            <a:ext cx="36576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7744" y="640080"/>
            <a:ext cx="3547872" cy="164592"/>
          </a:xfrm>
          <a:prstGeom prst="rect">
            <a:avLst/>
          </a:prstGeom>
          <a:noFill/>
        </p:spPr>
        <p:txBody>
          <a:bodyPr wrap="square">
            <a:spAutoFit/>
          </a:bodyPr>
          <a:lstStyle/>
          <a:p>
            <a:pPr algn="l"/>
            <a:r>
              <a:rPr sz="750" b="1" i="0">
                <a:solidFill>
                  <a:srgbClr val="FFFFFF"/>
                </a:solidFill>
                <a:latin typeface="Calibri"/>
              </a:rPr>
              <a:t>INDUSTRY OVERVIEW AND COMPETITIVE LANDSCAPE</a:t>
            </a:r>
          </a:p>
        </p:txBody>
      </p:sp>
      <p:sp>
        <p:nvSpPr>
          <p:cNvPr id="12" name="TextBox 11"/>
          <p:cNvSpPr txBox="1"/>
          <p:nvPr/>
        </p:nvSpPr>
        <p:spPr>
          <a:xfrm>
            <a:off x="182880" y="850392"/>
            <a:ext cx="7406640" cy="1005840"/>
          </a:xfrm>
          <a:prstGeom prst="rect">
            <a:avLst/>
          </a:prstGeom>
          <a:noFill/>
        </p:spPr>
        <p:txBody>
          <a:bodyPr wrap="square">
            <a:spAutoFit/>
          </a:bodyPr>
          <a:lstStyle/>
          <a:p>
            <a:pPr algn="l"/>
            <a:r>
              <a:rPr sz="819" b="0" i="0">
                <a:solidFill>
                  <a:srgbClr val="1F1F1F"/>
                </a:solidFill>
                <a:latin typeface="Calibri"/>
              </a:rPr>
              <a:t>The artificial intelligence accelerator market is undergoing one of the most rapid capacity buildouts in the history of the semiconductor industry. Global spending on AI compute infrastructure is projected to exceed $500 billion annually by calendar year 2027, driven by frontier model training at hyperscale and the proliferation of inference workloads at the network edge. NVIDIA occupies the dominant position in this market, commanding an estimated 88 percent share of AI training accelerators and approximately 70 percent of inference workloads as of early 2025.</a:t>
            </a:r>
          </a:p>
        </p:txBody>
      </p:sp>
      <p:sp>
        <p:nvSpPr>
          <p:cNvPr id="13" name="Rectangle 12"/>
          <p:cNvSpPr/>
          <p:nvPr/>
        </p:nvSpPr>
        <p:spPr>
          <a:xfrm>
            <a:off x="182880" y="1901952"/>
            <a:ext cx="36576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37744" y="1920240"/>
            <a:ext cx="3547872" cy="164592"/>
          </a:xfrm>
          <a:prstGeom prst="rect">
            <a:avLst/>
          </a:prstGeom>
          <a:noFill/>
        </p:spPr>
        <p:txBody>
          <a:bodyPr wrap="square">
            <a:spAutoFit/>
          </a:bodyPr>
          <a:lstStyle/>
          <a:p>
            <a:pPr algn="l"/>
            <a:r>
              <a:rPr sz="750" b="1" i="0">
                <a:solidFill>
                  <a:srgbClr val="FFFFFF"/>
                </a:solidFill>
                <a:latin typeface="Calibri"/>
              </a:rPr>
              <a:t>FIGURE 3: DATA CENTER SEGMENT YOY REVENUE GROWTH</a:t>
            </a:r>
          </a:p>
        </p:txBody>
      </p:sp>
      <p:pic>
        <p:nvPicPr>
          <p:cNvPr id="15" name="Picture 14" descr="image.png"/>
          <p:cNvPicPr>
            <a:picLocks noChangeAspect="1"/>
          </p:cNvPicPr>
          <p:nvPr/>
        </p:nvPicPr>
        <p:blipFill>
          <a:blip r:embed="rId2"/>
          <a:stretch>
            <a:fillRect/>
          </a:stretch>
        </p:blipFill>
        <p:spPr>
          <a:xfrm>
            <a:off x="182880" y="2130552"/>
            <a:ext cx="3657600" cy="2148840"/>
          </a:xfrm>
          <a:prstGeom prst="rect">
            <a:avLst/>
          </a:prstGeom>
        </p:spPr>
      </p:pic>
      <p:sp>
        <p:nvSpPr>
          <p:cNvPr id="16" name="Rectangle 15"/>
          <p:cNvSpPr/>
          <p:nvPr/>
        </p:nvSpPr>
        <p:spPr>
          <a:xfrm>
            <a:off x="3977639" y="1901952"/>
            <a:ext cx="361188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32503" y="1920240"/>
            <a:ext cx="3502152" cy="164592"/>
          </a:xfrm>
          <a:prstGeom prst="rect">
            <a:avLst/>
          </a:prstGeom>
          <a:noFill/>
        </p:spPr>
        <p:txBody>
          <a:bodyPr wrap="square">
            <a:spAutoFit/>
          </a:bodyPr>
          <a:lstStyle/>
          <a:p>
            <a:pPr algn="l"/>
            <a:r>
              <a:rPr sz="750" b="1" i="0">
                <a:solidFill>
                  <a:srgbClr val="FFFFFF"/>
                </a:solidFill>
                <a:latin typeface="Calibri"/>
              </a:rPr>
              <a:t>FIGURE 4: AI GPU MARKET SHARE (CY2025E)</a:t>
            </a:r>
          </a:p>
        </p:txBody>
      </p:sp>
      <p:pic>
        <p:nvPicPr>
          <p:cNvPr id="18" name="Picture 17" descr="image.png"/>
          <p:cNvPicPr>
            <a:picLocks noChangeAspect="1"/>
          </p:cNvPicPr>
          <p:nvPr/>
        </p:nvPicPr>
        <p:blipFill>
          <a:blip r:embed="rId3"/>
          <a:stretch>
            <a:fillRect/>
          </a:stretch>
        </p:blipFill>
        <p:spPr>
          <a:xfrm>
            <a:off x="3977639" y="2130552"/>
            <a:ext cx="3611880" cy="2148840"/>
          </a:xfrm>
          <a:prstGeom prst="rect">
            <a:avLst/>
          </a:prstGeom>
        </p:spPr>
      </p:pic>
      <p:sp>
        <p:nvSpPr>
          <p:cNvPr id="19" name="Rectangle 18"/>
          <p:cNvSpPr/>
          <p:nvPr/>
        </p:nvSpPr>
        <p:spPr>
          <a:xfrm>
            <a:off x="182880" y="4370832"/>
            <a:ext cx="347472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7744" y="4389120"/>
            <a:ext cx="3364992" cy="164592"/>
          </a:xfrm>
          <a:prstGeom prst="rect">
            <a:avLst/>
          </a:prstGeom>
          <a:noFill/>
        </p:spPr>
        <p:txBody>
          <a:bodyPr wrap="square">
            <a:spAutoFit/>
          </a:bodyPr>
          <a:lstStyle/>
          <a:p>
            <a:pPr algn="l"/>
            <a:r>
              <a:rPr sz="750" b="1" i="0">
                <a:solidFill>
                  <a:srgbClr val="FFFFFF"/>
                </a:solidFill>
                <a:latin typeface="Calibri"/>
              </a:rPr>
              <a:t>COMPETITIVE POSITIONING: NVDA VS. AMD VS. INTC</a:t>
            </a:r>
          </a:p>
        </p:txBody>
      </p:sp>
      <p:sp>
        <p:nvSpPr>
          <p:cNvPr id="21" name="TextBox 20"/>
          <p:cNvSpPr txBox="1"/>
          <p:nvPr/>
        </p:nvSpPr>
        <p:spPr>
          <a:xfrm>
            <a:off x="182880" y="4599432"/>
            <a:ext cx="3703320" cy="3291840"/>
          </a:xfrm>
          <a:prstGeom prst="rect">
            <a:avLst/>
          </a:prstGeom>
          <a:noFill/>
        </p:spPr>
        <p:txBody>
          <a:bodyPr wrap="square">
            <a:spAutoFit/>
          </a:bodyPr>
          <a:lstStyle/>
          <a:p>
            <a:pPr algn="l"/>
            <a:r>
              <a:rPr sz="800" b="0" i="0">
                <a:solidFill>
                  <a:srgbClr val="1F1F1F"/>
                </a:solidFill>
                <a:latin typeface="Calibri"/>
              </a:rPr>
              <a:t>Advanced Micro Devices (AMD) is NVIDIA's most credible near-term GPU competitor. The MI300X accelerator has gained traction with select hyperscaler inference workloads, and AMD's FY25 data center revenue grew 69 percent year over year to an estimated $13 billion. However, AMD's ROCm software ecosystem remains materially behind CUDA in developer adoption, library completeness, and enterprise tooling. Independent benchmarks consistently show MI300X achieving 60 to 80 percent of H100 throughput per dollar on transformer workloads, with the gap widening further in favor of NVIDIA on multi-node training.
Intel (INTC) continues to struggle with its Gaudi 3 accelerator program. Despite aggressive pricing, Gaudi 3 has achieved minimal commercial traction, and Intel's data center segment posted negative year-over-year growth in three of the last four fiscal years. Intel reported a net loss of approximately $18.8 billion in fiscal year 2024, and its balance sheet constraints limit its ability to fund the sustained R&amp;D investment required to close the architectural gap with NVIDIA.
Custom Application-Specific Integrated Circuits (ASICs) from Google (TPU v5), Amazon (Trainium 2), and Meta (MTIA) represent a structural risk to NVIDIA's long-term hyperscaler TAM. However, these proprietary chips are optimized for narrow internal workloads, lack the generality of NVIDIA's programmable GPU platform, and require multi-year development cycles that make rapid iteration challenging. We view ASIC competition as a meaningful but manageable risk over our 12-month horizon.</a:t>
            </a:r>
          </a:p>
        </p:txBody>
      </p:sp>
      <p:sp>
        <p:nvSpPr>
          <p:cNvPr id="22" name="Rectangle 21"/>
          <p:cNvSpPr/>
          <p:nvPr/>
        </p:nvSpPr>
        <p:spPr>
          <a:xfrm>
            <a:off x="3977639" y="4370832"/>
            <a:ext cx="361188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032503" y="4389120"/>
            <a:ext cx="3502152" cy="164592"/>
          </a:xfrm>
          <a:prstGeom prst="rect">
            <a:avLst/>
          </a:prstGeom>
          <a:noFill/>
        </p:spPr>
        <p:txBody>
          <a:bodyPr wrap="square">
            <a:spAutoFit/>
          </a:bodyPr>
          <a:lstStyle/>
          <a:p>
            <a:pPr algn="l"/>
            <a:r>
              <a:rPr sz="750" b="1" i="0">
                <a:solidFill>
                  <a:srgbClr val="FFFFFF"/>
                </a:solidFill>
                <a:latin typeface="Calibri"/>
              </a:rPr>
              <a:t>FIGURE 5: NVDA REVENUE AND FCF GROWTH</a:t>
            </a:r>
          </a:p>
        </p:txBody>
      </p:sp>
      <p:pic>
        <p:nvPicPr>
          <p:cNvPr id="24" name="Picture 23" descr="image.png"/>
          <p:cNvPicPr>
            <a:picLocks noChangeAspect="1"/>
          </p:cNvPicPr>
          <p:nvPr/>
        </p:nvPicPr>
        <p:blipFill>
          <a:blip r:embed="rId4"/>
          <a:stretch>
            <a:fillRect/>
          </a:stretch>
        </p:blipFill>
        <p:spPr>
          <a:xfrm>
            <a:off x="3977639" y="4599432"/>
            <a:ext cx="3611880" cy="2194560"/>
          </a:xfrm>
          <a:prstGeom prst="rect">
            <a:avLst/>
          </a:prstGeom>
        </p:spPr>
      </p:pic>
      <p:sp>
        <p:nvSpPr>
          <p:cNvPr id="25" name="Rectangle 24"/>
          <p:cNvSpPr/>
          <p:nvPr/>
        </p:nvSpPr>
        <p:spPr>
          <a:xfrm>
            <a:off x="3977639" y="6885432"/>
            <a:ext cx="361188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032503" y="6903720"/>
            <a:ext cx="3502152" cy="164592"/>
          </a:xfrm>
          <a:prstGeom prst="rect">
            <a:avLst/>
          </a:prstGeom>
          <a:noFill/>
        </p:spPr>
        <p:txBody>
          <a:bodyPr wrap="square">
            <a:spAutoFit/>
          </a:bodyPr>
          <a:lstStyle/>
          <a:p>
            <a:pPr algn="l"/>
            <a:r>
              <a:rPr sz="750" b="1" i="0">
                <a:solidFill>
                  <a:srgbClr val="FFFFFF"/>
                </a:solidFill>
                <a:latin typeface="Calibri"/>
              </a:rPr>
              <a:t>NEAR-TERM CATALYSTS</a:t>
            </a:r>
          </a:p>
        </p:txBody>
      </p:sp>
      <p:sp>
        <p:nvSpPr>
          <p:cNvPr id="27" name="Rectangle 26"/>
          <p:cNvSpPr/>
          <p:nvPr/>
        </p:nvSpPr>
        <p:spPr>
          <a:xfrm>
            <a:off x="3977639" y="7114032"/>
            <a:ext cx="237744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014215" y="7132320"/>
            <a:ext cx="2304288" cy="178308"/>
          </a:xfrm>
          <a:prstGeom prst="rect">
            <a:avLst/>
          </a:prstGeom>
          <a:noFill/>
        </p:spPr>
        <p:txBody>
          <a:bodyPr wrap="square">
            <a:spAutoFit/>
          </a:bodyPr>
          <a:lstStyle/>
          <a:p>
            <a:pPr algn="ctr"/>
            <a:r>
              <a:rPr sz="800" b="1" i="0">
                <a:solidFill>
                  <a:srgbClr val="FFFFFF"/>
                </a:solidFill>
                <a:latin typeface="Calibri"/>
              </a:rPr>
              <a:t>Catalyst</a:t>
            </a:r>
          </a:p>
        </p:txBody>
      </p:sp>
      <p:sp>
        <p:nvSpPr>
          <p:cNvPr id="29" name="Rectangle 28"/>
          <p:cNvSpPr/>
          <p:nvPr/>
        </p:nvSpPr>
        <p:spPr>
          <a:xfrm>
            <a:off x="6355079" y="7114032"/>
            <a:ext cx="114300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91655" y="7132320"/>
            <a:ext cx="1069848" cy="178308"/>
          </a:xfrm>
          <a:prstGeom prst="rect">
            <a:avLst/>
          </a:prstGeom>
          <a:noFill/>
        </p:spPr>
        <p:txBody>
          <a:bodyPr wrap="square">
            <a:spAutoFit/>
          </a:bodyPr>
          <a:lstStyle/>
          <a:p>
            <a:pPr algn="ctr"/>
            <a:r>
              <a:rPr sz="800" b="1" i="0">
                <a:solidFill>
                  <a:srgbClr val="FFFFFF"/>
                </a:solidFill>
                <a:latin typeface="Calibri"/>
              </a:rPr>
              <a:t>Expected Timing</a:t>
            </a:r>
          </a:p>
        </p:txBody>
      </p:sp>
      <p:sp>
        <p:nvSpPr>
          <p:cNvPr id="31" name="Rectangle 30"/>
          <p:cNvSpPr/>
          <p:nvPr/>
        </p:nvSpPr>
        <p:spPr>
          <a:xfrm>
            <a:off x="3977639" y="7328916"/>
            <a:ext cx="2377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014215" y="7347204"/>
            <a:ext cx="2304288" cy="178308"/>
          </a:xfrm>
          <a:prstGeom prst="rect">
            <a:avLst/>
          </a:prstGeom>
          <a:noFill/>
        </p:spPr>
        <p:txBody>
          <a:bodyPr wrap="square">
            <a:spAutoFit/>
          </a:bodyPr>
          <a:lstStyle/>
          <a:p>
            <a:pPr algn="l"/>
            <a:r>
              <a:rPr sz="800" b="1" i="0">
                <a:solidFill>
                  <a:srgbClr val="1F1F1F"/>
                </a:solidFill>
                <a:latin typeface="Calibri"/>
              </a:rPr>
              <a:t>Blackwell B200 volume ramp</a:t>
            </a:r>
          </a:p>
        </p:txBody>
      </p:sp>
      <p:sp>
        <p:nvSpPr>
          <p:cNvPr id="33" name="Rectangle 32"/>
          <p:cNvSpPr/>
          <p:nvPr/>
        </p:nvSpPr>
        <p:spPr>
          <a:xfrm>
            <a:off x="6355079" y="7328916"/>
            <a:ext cx="11430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91655" y="7347204"/>
            <a:ext cx="1069848" cy="178308"/>
          </a:xfrm>
          <a:prstGeom prst="rect">
            <a:avLst/>
          </a:prstGeom>
          <a:noFill/>
        </p:spPr>
        <p:txBody>
          <a:bodyPr wrap="square">
            <a:spAutoFit/>
          </a:bodyPr>
          <a:lstStyle/>
          <a:p>
            <a:pPr algn="ctr"/>
            <a:r>
              <a:rPr sz="800" b="0" i="0">
                <a:solidFill>
                  <a:srgbClr val="1F1F1F"/>
                </a:solidFill>
                <a:latin typeface="Calibri"/>
              </a:rPr>
              <a:t>Q1-Q2 FY27</a:t>
            </a:r>
          </a:p>
        </p:txBody>
      </p:sp>
      <p:sp>
        <p:nvSpPr>
          <p:cNvPr id="35" name="Rectangle 34"/>
          <p:cNvSpPr/>
          <p:nvPr/>
        </p:nvSpPr>
        <p:spPr>
          <a:xfrm>
            <a:off x="3977639" y="7543800"/>
            <a:ext cx="2377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014215" y="7562088"/>
            <a:ext cx="2304288" cy="178308"/>
          </a:xfrm>
          <a:prstGeom prst="rect">
            <a:avLst/>
          </a:prstGeom>
          <a:noFill/>
        </p:spPr>
        <p:txBody>
          <a:bodyPr wrap="square">
            <a:spAutoFit/>
          </a:bodyPr>
          <a:lstStyle/>
          <a:p>
            <a:pPr algn="l"/>
            <a:r>
              <a:rPr sz="800" b="1" i="0">
                <a:solidFill>
                  <a:srgbClr val="1F1F1F"/>
                </a:solidFill>
                <a:latin typeface="Calibri"/>
              </a:rPr>
              <a:t>Q1 FY27 earnings ($78B guidance)</a:t>
            </a:r>
          </a:p>
        </p:txBody>
      </p:sp>
      <p:sp>
        <p:nvSpPr>
          <p:cNvPr id="37" name="Rectangle 36"/>
          <p:cNvSpPr/>
          <p:nvPr/>
        </p:nvSpPr>
        <p:spPr>
          <a:xfrm>
            <a:off x="6355079" y="7543800"/>
            <a:ext cx="11430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91655" y="7562088"/>
            <a:ext cx="1069848" cy="178308"/>
          </a:xfrm>
          <a:prstGeom prst="rect">
            <a:avLst/>
          </a:prstGeom>
          <a:noFill/>
        </p:spPr>
        <p:txBody>
          <a:bodyPr wrap="square">
            <a:spAutoFit/>
          </a:bodyPr>
          <a:lstStyle/>
          <a:p>
            <a:pPr algn="ctr"/>
            <a:r>
              <a:rPr sz="800" b="0" i="0">
                <a:solidFill>
                  <a:srgbClr val="1F1F1F"/>
                </a:solidFill>
                <a:latin typeface="Calibri"/>
              </a:rPr>
              <a:t>May 2026</a:t>
            </a:r>
          </a:p>
        </p:txBody>
      </p:sp>
      <p:sp>
        <p:nvSpPr>
          <p:cNvPr id="39" name="Rectangle 38"/>
          <p:cNvSpPr/>
          <p:nvPr/>
        </p:nvSpPr>
        <p:spPr>
          <a:xfrm>
            <a:off x="3977639" y="7758684"/>
            <a:ext cx="2377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014215" y="7776972"/>
            <a:ext cx="2304288" cy="178308"/>
          </a:xfrm>
          <a:prstGeom prst="rect">
            <a:avLst/>
          </a:prstGeom>
          <a:noFill/>
        </p:spPr>
        <p:txBody>
          <a:bodyPr wrap="square">
            <a:spAutoFit/>
          </a:bodyPr>
          <a:lstStyle/>
          <a:p>
            <a:pPr algn="l"/>
            <a:r>
              <a:rPr sz="800" b="1" i="0">
                <a:solidFill>
                  <a:srgbClr val="1F1F1F"/>
                </a:solidFill>
                <a:latin typeface="Calibri"/>
              </a:rPr>
              <a:t>GB300 NVL72 rack system launch</a:t>
            </a:r>
          </a:p>
        </p:txBody>
      </p:sp>
      <p:sp>
        <p:nvSpPr>
          <p:cNvPr id="41" name="Rectangle 40"/>
          <p:cNvSpPr/>
          <p:nvPr/>
        </p:nvSpPr>
        <p:spPr>
          <a:xfrm>
            <a:off x="6355079" y="7758684"/>
            <a:ext cx="11430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391655" y="7776972"/>
            <a:ext cx="1069848" cy="178308"/>
          </a:xfrm>
          <a:prstGeom prst="rect">
            <a:avLst/>
          </a:prstGeom>
          <a:noFill/>
        </p:spPr>
        <p:txBody>
          <a:bodyPr wrap="square">
            <a:spAutoFit/>
          </a:bodyPr>
          <a:lstStyle/>
          <a:p>
            <a:pPr algn="ctr"/>
            <a:r>
              <a:rPr sz="800" b="0" i="0">
                <a:solidFill>
                  <a:srgbClr val="1F1F1F"/>
                </a:solidFill>
                <a:latin typeface="Calibri"/>
              </a:rPr>
              <a:t>H2 FY27E</a:t>
            </a:r>
          </a:p>
        </p:txBody>
      </p:sp>
      <p:sp>
        <p:nvSpPr>
          <p:cNvPr id="43" name="Rectangle 42"/>
          <p:cNvSpPr/>
          <p:nvPr/>
        </p:nvSpPr>
        <p:spPr>
          <a:xfrm>
            <a:off x="3977639" y="7973568"/>
            <a:ext cx="237744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014215" y="7991856"/>
            <a:ext cx="2304288" cy="178308"/>
          </a:xfrm>
          <a:prstGeom prst="rect">
            <a:avLst/>
          </a:prstGeom>
          <a:noFill/>
        </p:spPr>
        <p:txBody>
          <a:bodyPr wrap="square">
            <a:spAutoFit/>
          </a:bodyPr>
          <a:lstStyle/>
          <a:p>
            <a:pPr algn="l"/>
            <a:r>
              <a:rPr sz="800" b="1" i="0">
                <a:solidFill>
                  <a:srgbClr val="1F1F1F"/>
                </a:solidFill>
                <a:latin typeface="Calibri"/>
              </a:rPr>
              <a:t>Rubin architecture tape-out</a:t>
            </a:r>
          </a:p>
        </p:txBody>
      </p:sp>
      <p:sp>
        <p:nvSpPr>
          <p:cNvPr id="45" name="Rectangle 44"/>
          <p:cNvSpPr/>
          <p:nvPr/>
        </p:nvSpPr>
        <p:spPr>
          <a:xfrm>
            <a:off x="6355079" y="7973568"/>
            <a:ext cx="11430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91655" y="7991856"/>
            <a:ext cx="1069848" cy="178308"/>
          </a:xfrm>
          <a:prstGeom prst="rect">
            <a:avLst/>
          </a:prstGeom>
          <a:noFill/>
        </p:spPr>
        <p:txBody>
          <a:bodyPr wrap="square">
            <a:spAutoFit/>
          </a:bodyPr>
          <a:lstStyle/>
          <a:p>
            <a:pPr algn="ctr"/>
            <a:r>
              <a:rPr sz="800" b="0" i="0">
                <a:solidFill>
                  <a:srgbClr val="1F1F1F"/>
                </a:solidFill>
                <a:latin typeface="Calibri"/>
              </a:rPr>
              <a:t>CY2026</a:t>
            </a:r>
          </a:p>
        </p:txBody>
      </p:sp>
      <p:sp>
        <p:nvSpPr>
          <p:cNvPr id="47" name="Rectangle 46"/>
          <p:cNvSpPr/>
          <p:nvPr/>
        </p:nvSpPr>
        <p:spPr>
          <a:xfrm>
            <a:off x="3977639" y="8188452"/>
            <a:ext cx="237744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014215" y="8206740"/>
            <a:ext cx="2304288" cy="178308"/>
          </a:xfrm>
          <a:prstGeom prst="rect">
            <a:avLst/>
          </a:prstGeom>
          <a:noFill/>
        </p:spPr>
        <p:txBody>
          <a:bodyPr wrap="square">
            <a:spAutoFit/>
          </a:bodyPr>
          <a:lstStyle/>
          <a:p>
            <a:pPr algn="l"/>
            <a:r>
              <a:rPr sz="800" b="1" i="0">
                <a:solidFill>
                  <a:srgbClr val="1F1F1F"/>
                </a:solidFill>
                <a:latin typeface="Calibri"/>
              </a:rPr>
              <a:t>NIM microservice platform growth</a:t>
            </a:r>
          </a:p>
        </p:txBody>
      </p:sp>
      <p:sp>
        <p:nvSpPr>
          <p:cNvPr id="49" name="Rectangle 48"/>
          <p:cNvSpPr/>
          <p:nvPr/>
        </p:nvSpPr>
        <p:spPr>
          <a:xfrm>
            <a:off x="6355079" y="8188452"/>
            <a:ext cx="11430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91655" y="8206740"/>
            <a:ext cx="1069848" cy="178308"/>
          </a:xfrm>
          <a:prstGeom prst="rect">
            <a:avLst/>
          </a:prstGeom>
          <a:noFill/>
        </p:spPr>
        <p:txBody>
          <a:bodyPr wrap="square">
            <a:spAutoFit/>
          </a:bodyPr>
          <a:lstStyle/>
          <a:p>
            <a:pPr algn="ctr"/>
            <a:r>
              <a:rPr sz="800" b="0" i="0">
                <a:solidFill>
                  <a:srgbClr val="1F1F1F"/>
                </a:solidFill>
                <a:latin typeface="Calibri"/>
              </a:rPr>
              <a:t>Ongoing</a:t>
            </a:r>
          </a:p>
        </p:txBody>
      </p:sp>
      <p:sp>
        <p:nvSpPr>
          <p:cNvPr id="51" name="Rectangle 50"/>
          <p:cNvSpPr/>
          <p:nvPr/>
        </p:nvSpPr>
        <p:spPr>
          <a:xfrm>
            <a:off x="182880" y="8494776"/>
            <a:ext cx="1815084"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19456" y="8513064"/>
            <a:ext cx="1741932" cy="164592"/>
          </a:xfrm>
          <a:prstGeom prst="rect">
            <a:avLst/>
          </a:prstGeom>
          <a:noFill/>
        </p:spPr>
        <p:txBody>
          <a:bodyPr wrap="square">
            <a:spAutoFit/>
          </a:bodyPr>
          <a:lstStyle/>
          <a:p>
            <a:pPr algn="ctr"/>
            <a:r>
              <a:rPr sz="750" b="1" i="0">
                <a:solidFill>
                  <a:srgbClr val="FFFFFF"/>
                </a:solidFill>
                <a:latin typeface="Calibri"/>
              </a:rPr>
              <a:t>Strengths</a:t>
            </a:r>
          </a:p>
        </p:txBody>
      </p:sp>
      <p:sp>
        <p:nvSpPr>
          <p:cNvPr id="53" name="TextBox 52"/>
          <p:cNvSpPr txBox="1"/>
          <p:nvPr/>
        </p:nvSpPr>
        <p:spPr>
          <a:xfrm>
            <a:off x="219456" y="8723376"/>
            <a:ext cx="1778508" cy="457200"/>
          </a:xfrm>
          <a:prstGeom prst="rect">
            <a:avLst/>
          </a:prstGeom>
          <a:noFill/>
        </p:spPr>
        <p:txBody>
          <a:bodyPr wrap="square">
            <a:spAutoFit/>
          </a:bodyPr>
          <a:lstStyle/>
          <a:p>
            <a:pPr algn="l"/>
            <a:r>
              <a:rPr sz="700" b="0" i="0">
                <a:solidFill>
                  <a:srgbClr val="1F1F1F"/>
                </a:solidFill>
                <a:latin typeface="Calibri"/>
              </a:rPr>
              <a:t>88% training GPU share  |  CUDA ecosystem lock-in  |  44%+ FCF margins  |  Balance sheet ($43B cash)</a:t>
            </a:r>
          </a:p>
        </p:txBody>
      </p:sp>
      <p:sp>
        <p:nvSpPr>
          <p:cNvPr id="54" name="Rectangle 53"/>
          <p:cNvSpPr/>
          <p:nvPr/>
        </p:nvSpPr>
        <p:spPr>
          <a:xfrm>
            <a:off x="2034540" y="8494776"/>
            <a:ext cx="1815084" cy="20116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071116" y="8513064"/>
            <a:ext cx="1741932" cy="164592"/>
          </a:xfrm>
          <a:prstGeom prst="rect">
            <a:avLst/>
          </a:prstGeom>
          <a:noFill/>
        </p:spPr>
        <p:txBody>
          <a:bodyPr wrap="square">
            <a:spAutoFit/>
          </a:bodyPr>
          <a:lstStyle/>
          <a:p>
            <a:pPr algn="ctr"/>
            <a:r>
              <a:rPr sz="750" b="1" i="0">
                <a:solidFill>
                  <a:srgbClr val="FFFFFF"/>
                </a:solidFill>
                <a:latin typeface="Calibri"/>
              </a:rPr>
              <a:t>Weaknesses</a:t>
            </a:r>
          </a:p>
        </p:txBody>
      </p:sp>
      <p:sp>
        <p:nvSpPr>
          <p:cNvPr id="56" name="TextBox 55"/>
          <p:cNvSpPr txBox="1"/>
          <p:nvPr/>
        </p:nvSpPr>
        <p:spPr>
          <a:xfrm>
            <a:off x="2071116" y="8723376"/>
            <a:ext cx="1778508" cy="457200"/>
          </a:xfrm>
          <a:prstGeom prst="rect">
            <a:avLst/>
          </a:prstGeom>
          <a:noFill/>
        </p:spPr>
        <p:txBody>
          <a:bodyPr wrap="square">
            <a:spAutoFit/>
          </a:bodyPr>
          <a:lstStyle/>
          <a:p>
            <a:pPr algn="l"/>
            <a:r>
              <a:rPr sz="700" b="0" i="0">
                <a:solidFill>
                  <a:srgbClr val="1F1F1F"/>
                </a:solidFill>
                <a:latin typeface="Calibri"/>
              </a:rPr>
              <a:t>TSMC concentration (100% outsourced)  |  Export control restrictions  |  Cyclicality of gaming segment</a:t>
            </a:r>
          </a:p>
        </p:txBody>
      </p:sp>
      <p:sp>
        <p:nvSpPr>
          <p:cNvPr id="57" name="Rectangle 56"/>
          <p:cNvSpPr/>
          <p:nvPr/>
        </p:nvSpPr>
        <p:spPr>
          <a:xfrm>
            <a:off x="3886200" y="8494776"/>
            <a:ext cx="1815084" cy="20116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922776" y="8513064"/>
            <a:ext cx="1741932" cy="164592"/>
          </a:xfrm>
          <a:prstGeom prst="rect">
            <a:avLst/>
          </a:prstGeom>
          <a:noFill/>
        </p:spPr>
        <p:txBody>
          <a:bodyPr wrap="square">
            <a:spAutoFit/>
          </a:bodyPr>
          <a:lstStyle/>
          <a:p>
            <a:pPr algn="ctr"/>
            <a:r>
              <a:rPr sz="750" b="1" i="0">
                <a:solidFill>
                  <a:srgbClr val="FFFFFF"/>
                </a:solidFill>
                <a:latin typeface="Calibri"/>
              </a:rPr>
              <a:t>Opportunities</a:t>
            </a:r>
          </a:p>
        </p:txBody>
      </p:sp>
      <p:sp>
        <p:nvSpPr>
          <p:cNvPr id="59" name="TextBox 58"/>
          <p:cNvSpPr txBox="1"/>
          <p:nvPr/>
        </p:nvSpPr>
        <p:spPr>
          <a:xfrm>
            <a:off x="3922776" y="8723376"/>
            <a:ext cx="1778508" cy="457200"/>
          </a:xfrm>
          <a:prstGeom prst="rect">
            <a:avLst/>
          </a:prstGeom>
          <a:noFill/>
        </p:spPr>
        <p:txBody>
          <a:bodyPr wrap="square">
            <a:spAutoFit/>
          </a:bodyPr>
          <a:lstStyle/>
          <a:p>
            <a:pPr algn="l"/>
            <a:r>
              <a:rPr sz="700" b="0" i="0">
                <a:solidFill>
                  <a:srgbClr val="1F1F1F"/>
                </a:solidFill>
                <a:latin typeface="Calibri"/>
              </a:rPr>
              <a:t>Sovereign AI buildouts  |  Automotive autonomous driving (DRIVE Thor)  |  AI PC edge inference</a:t>
            </a:r>
          </a:p>
        </p:txBody>
      </p:sp>
      <p:sp>
        <p:nvSpPr>
          <p:cNvPr id="60" name="Rectangle 59"/>
          <p:cNvSpPr/>
          <p:nvPr/>
        </p:nvSpPr>
        <p:spPr>
          <a:xfrm>
            <a:off x="5737860" y="8494776"/>
            <a:ext cx="1815084" cy="201168"/>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774436" y="8513064"/>
            <a:ext cx="1741932" cy="164592"/>
          </a:xfrm>
          <a:prstGeom prst="rect">
            <a:avLst/>
          </a:prstGeom>
          <a:noFill/>
        </p:spPr>
        <p:txBody>
          <a:bodyPr wrap="square">
            <a:spAutoFit/>
          </a:bodyPr>
          <a:lstStyle/>
          <a:p>
            <a:pPr algn="ctr"/>
            <a:r>
              <a:rPr sz="750" b="1" i="0">
                <a:solidFill>
                  <a:srgbClr val="FFFFFF"/>
                </a:solidFill>
                <a:latin typeface="Calibri"/>
              </a:rPr>
              <a:t>Threats</a:t>
            </a:r>
          </a:p>
        </p:txBody>
      </p:sp>
      <p:sp>
        <p:nvSpPr>
          <p:cNvPr id="62" name="TextBox 61"/>
          <p:cNvSpPr txBox="1"/>
          <p:nvPr/>
        </p:nvSpPr>
        <p:spPr>
          <a:xfrm>
            <a:off x="5774436" y="8723376"/>
            <a:ext cx="1778508" cy="457200"/>
          </a:xfrm>
          <a:prstGeom prst="rect">
            <a:avLst/>
          </a:prstGeom>
          <a:noFill/>
        </p:spPr>
        <p:txBody>
          <a:bodyPr wrap="square">
            <a:spAutoFit/>
          </a:bodyPr>
          <a:lstStyle/>
          <a:p>
            <a:pPr algn="l"/>
            <a:r>
              <a:rPr sz="700" b="0" i="0">
                <a:solidFill>
                  <a:srgbClr val="1F1F1F"/>
                </a:solidFill>
                <a:latin typeface="Calibri"/>
              </a:rPr>
              <a:t>Hyperscaler ASIC development  |  US-China tech decoupling  |  AMD ROCm maturation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64008"/>
            <a:ext cx="3200400" cy="384048"/>
          </a:xfrm>
          <a:prstGeom prst="rect">
            <a:avLst/>
          </a:prstGeom>
          <a:noFill/>
        </p:spPr>
        <p:txBody>
          <a:bodyPr wrap="square">
            <a:spAutoFit/>
          </a:bodyPr>
          <a:lstStyle/>
          <a:p>
            <a:pPr algn="l"/>
            <a:r>
              <a:rPr sz="1000" b="1" i="0">
                <a:solidFill>
                  <a:srgbClr val="FFFFFF"/>
                </a:solidFill>
                <a:latin typeface="Calibri"/>
              </a:rPr>
              <a:t>NVDA  |  EQUITY RESEARCH</a:t>
            </a:r>
          </a:p>
        </p:txBody>
      </p:sp>
      <p:sp>
        <p:nvSpPr>
          <p:cNvPr id="4" name="TextBox 3"/>
          <p:cNvSpPr txBox="1"/>
          <p:nvPr/>
        </p:nvSpPr>
        <p:spPr>
          <a:xfrm>
            <a:off x="2286000" y="64008"/>
            <a:ext cx="4114800" cy="384048"/>
          </a:xfrm>
          <a:prstGeom prst="rect">
            <a:avLst/>
          </a:prstGeom>
          <a:noFill/>
        </p:spPr>
        <p:txBody>
          <a:bodyPr wrap="square">
            <a:spAutoFit/>
          </a:bodyPr>
          <a:lstStyle/>
          <a:p>
            <a:pPr algn="ctr"/>
            <a:r>
              <a:rPr sz="1100" b="1" i="0">
                <a:solidFill>
                  <a:srgbClr val="76B900"/>
                </a:solidFill>
                <a:latin typeface="Calibri"/>
              </a:rPr>
              <a:t>VALUATIONS &amp; FINANCIALS</a:t>
            </a:r>
          </a:p>
        </p:txBody>
      </p:sp>
      <p:sp>
        <p:nvSpPr>
          <p:cNvPr id="5" name="TextBox 4"/>
          <p:cNvSpPr txBox="1"/>
          <p:nvPr/>
        </p:nvSpPr>
        <p:spPr>
          <a:xfrm>
            <a:off x="5669280" y="64008"/>
            <a:ext cx="1920240" cy="384048"/>
          </a:xfrm>
          <a:prstGeom prst="rect">
            <a:avLst/>
          </a:prstGeom>
          <a:noFill/>
        </p:spPr>
        <p:txBody>
          <a:bodyPr wrap="square">
            <a:spAutoFit/>
          </a:bodyPr>
          <a:lstStyle/>
          <a:p>
            <a:pPr algn="r"/>
            <a:r>
              <a:rPr sz="850" b="0" i="0">
                <a:solidFill>
                  <a:srgbClr val="FFFFFF"/>
                </a:solidFill>
                <a:latin typeface="Calibri"/>
              </a:rPr>
              <a:t>April 2026  |  FIN 431</a:t>
            </a:r>
          </a:p>
        </p:txBody>
      </p:sp>
      <p:sp>
        <p:nvSpPr>
          <p:cNvPr id="6" name="Rectangle 5"/>
          <p:cNvSpPr/>
          <p:nvPr/>
        </p:nvSpPr>
        <p:spPr>
          <a:xfrm>
            <a:off x="0" y="502920"/>
            <a:ext cx="77724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 y="9811512"/>
            <a:ext cx="5943600" cy="237744"/>
          </a:xfrm>
          <a:prstGeom prst="rect">
            <a:avLst/>
          </a:prstGeom>
          <a:noFill/>
        </p:spPr>
        <p:txBody>
          <a:bodyPr wrap="square">
            <a:spAutoFit/>
          </a:bodyPr>
          <a:lstStyle/>
          <a:p>
            <a:pPr algn="l"/>
            <a:r>
              <a:rPr sz="700" b="0" i="0">
                <a:solidFill>
                  <a:srgbClr val="BBBBBB"/>
                </a:solidFill>
                <a:latin typeface="Calibri"/>
              </a:rPr>
              <a:t>NVIDIA Corporation (NVDA)  |  Equity Research  |  FIN 431  |  Portfolio Analysis</a:t>
            </a:r>
          </a:p>
        </p:txBody>
      </p:sp>
      <p:sp>
        <p:nvSpPr>
          <p:cNvPr id="9" name="TextBox 8"/>
          <p:cNvSpPr txBox="1"/>
          <p:nvPr/>
        </p:nvSpPr>
        <p:spPr>
          <a:xfrm>
            <a:off x="7132320" y="9811512"/>
            <a:ext cx="502920" cy="237744"/>
          </a:xfrm>
          <a:prstGeom prst="rect">
            <a:avLst/>
          </a:prstGeom>
          <a:noFill/>
        </p:spPr>
        <p:txBody>
          <a:bodyPr wrap="square">
            <a:spAutoFit/>
          </a:bodyPr>
          <a:lstStyle/>
          <a:p>
            <a:pPr algn="r"/>
            <a:r>
              <a:rPr sz="700" b="0" i="0">
                <a:solidFill>
                  <a:srgbClr val="BBBBBB"/>
                </a:solidFill>
                <a:latin typeface="Calibri"/>
              </a:rPr>
              <a:t>Page 3</a:t>
            </a:r>
          </a:p>
        </p:txBody>
      </p:sp>
      <p:sp>
        <p:nvSpPr>
          <p:cNvPr id="10" name="Rectangle 9"/>
          <p:cNvSpPr/>
          <p:nvPr/>
        </p:nvSpPr>
        <p:spPr>
          <a:xfrm>
            <a:off x="182880" y="621792"/>
            <a:ext cx="22860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7744" y="640080"/>
            <a:ext cx="2176272" cy="164592"/>
          </a:xfrm>
          <a:prstGeom prst="rect">
            <a:avLst/>
          </a:prstGeom>
          <a:noFill/>
        </p:spPr>
        <p:txBody>
          <a:bodyPr wrap="square">
            <a:spAutoFit/>
          </a:bodyPr>
          <a:lstStyle/>
          <a:p>
            <a:pPr algn="l"/>
            <a:r>
              <a:rPr sz="750" b="1" i="0">
                <a:solidFill>
                  <a:srgbClr val="FFFFFF"/>
                </a:solidFill>
                <a:latin typeface="Calibri"/>
              </a:rPr>
              <a:t>FIGURE 6: FINANCIAL SUMMARY</a:t>
            </a:r>
          </a:p>
        </p:txBody>
      </p:sp>
      <p:sp>
        <p:nvSpPr>
          <p:cNvPr id="12" name="Rectangle 11"/>
          <p:cNvSpPr/>
          <p:nvPr/>
        </p:nvSpPr>
        <p:spPr>
          <a:xfrm>
            <a:off x="182880" y="850392"/>
            <a:ext cx="182880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9456" y="868680"/>
            <a:ext cx="1755648" cy="178308"/>
          </a:xfrm>
          <a:prstGeom prst="rect">
            <a:avLst/>
          </a:prstGeom>
          <a:noFill/>
        </p:spPr>
        <p:txBody>
          <a:bodyPr wrap="square">
            <a:spAutoFit/>
          </a:bodyPr>
          <a:lstStyle/>
          <a:p>
            <a:pPr algn="ctr"/>
            <a:endParaRPr/>
          </a:p>
        </p:txBody>
      </p:sp>
      <p:sp>
        <p:nvSpPr>
          <p:cNvPr id="14" name="Rectangle 13"/>
          <p:cNvSpPr/>
          <p:nvPr/>
        </p:nvSpPr>
        <p:spPr>
          <a:xfrm>
            <a:off x="2011680" y="850392"/>
            <a:ext cx="118872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48256" y="868680"/>
            <a:ext cx="1115568" cy="178308"/>
          </a:xfrm>
          <a:prstGeom prst="rect">
            <a:avLst/>
          </a:prstGeom>
          <a:noFill/>
        </p:spPr>
        <p:txBody>
          <a:bodyPr wrap="square">
            <a:spAutoFit/>
          </a:bodyPr>
          <a:lstStyle/>
          <a:p>
            <a:pPr algn="ctr"/>
            <a:r>
              <a:rPr sz="800" b="1" i="0">
                <a:solidFill>
                  <a:srgbClr val="FFFFFF"/>
                </a:solidFill>
                <a:latin typeface="Calibri"/>
              </a:rPr>
              <a:t>FY24</a:t>
            </a:r>
          </a:p>
        </p:txBody>
      </p:sp>
      <p:sp>
        <p:nvSpPr>
          <p:cNvPr id="16" name="Rectangle 15"/>
          <p:cNvSpPr/>
          <p:nvPr/>
        </p:nvSpPr>
        <p:spPr>
          <a:xfrm>
            <a:off x="3200400" y="850392"/>
            <a:ext cx="118872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36976" y="868680"/>
            <a:ext cx="1115568" cy="178308"/>
          </a:xfrm>
          <a:prstGeom prst="rect">
            <a:avLst/>
          </a:prstGeom>
          <a:noFill/>
        </p:spPr>
        <p:txBody>
          <a:bodyPr wrap="square">
            <a:spAutoFit/>
          </a:bodyPr>
          <a:lstStyle/>
          <a:p>
            <a:pPr algn="ctr"/>
            <a:r>
              <a:rPr sz="800" b="1" i="0">
                <a:solidFill>
                  <a:srgbClr val="FFFFFF"/>
                </a:solidFill>
                <a:latin typeface="Calibri"/>
              </a:rPr>
              <a:t>FY25</a:t>
            </a:r>
          </a:p>
        </p:txBody>
      </p:sp>
      <p:sp>
        <p:nvSpPr>
          <p:cNvPr id="18" name="Rectangle 17"/>
          <p:cNvSpPr/>
          <p:nvPr/>
        </p:nvSpPr>
        <p:spPr>
          <a:xfrm>
            <a:off x="4389120" y="850392"/>
            <a:ext cx="118872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425696" y="868680"/>
            <a:ext cx="1115568" cy="178308"/>
          </a:xfrm>
          <a:prstGeom prst="rect">
            <a:avLst/>
          </a:prstGeom>
          <a:noFill/>
        </p:spPr>
        <p:txBody>
          <a:bodyPr wrap="square">
            <a:spAutoFit/>
          </a:bodyPr>
          <a:lstStyle/>
          <a:p>
            <a:pPr algn="ctr"/>
            <a:r>
              <a:rPr sz="800" b="1" i="0">
                <a:solidFill>
                  <a:srgbClr val="FFFFFF"/>
                </a:solidFill>
                <a:latin typeface="Calibri"/>
              </a:rPr>
              <a:t>FY26E</a:t>
            </a:r>
          </a:p>
        </p:txBody>
      </p:sp>
      <p:sp>
        <p:nvSpPr>
          <p:cNvPr id="20" name="Rectangle 19"/>
          <p:cNvSpPr/>
          <p:nvPr/>
        </p:nvSpPr>
        <p:spPr>
          <a:xfrm>
            <a:off x="5577840" y="850392"/>
            <a:ext cx="1188720" cy="21488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14416" y="868680"/>
            <a:ext cx="1115568" cy="178308"/>
          </a:xfrm>
          <a:prstGeom prst="rect">
            <a:avLst/>
          </a:prstGeom>
          <a:noFill/>
        </p:spPr>
        <p:txBody>
          <a:bodyPr wrap="square">
            <a:spAutoFit/>
          </a:bodyPr>
          <a:lstStyle/>
          <a:p>
            <a:pPr algn="ctr"/>
            <a:r>
              <a:rPr sz="800" b="1" i="0">
                <a:solidFill>
                  <a:srgbClr val="FFFFFF"/>
                </a:solidFill>
                <a:latin typeface="Calibri"/>
              </a:rPr>
              <a:t>FY27E</a:t>
            </a:r>
          </a:p>
        </p:txBody>
      </p:sp>
      <p:sp>
        <p:nvSpPr>
          <p:cNvPr id="22" name="Rectangle 21"/>
          <p:cNvSpPr/>
          <p:nvPr/>
        </p:nvSpPr>
        <p:spPr>
          <a:xfrm>
            <a:off x="182880" y="1065276"/>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19456" y="1083564"/>
            <a:ext cx="1755648" cy="178308"/>
          </a:xfrm>
          <a:prstGeom prst="rect">
            <a:avLst/>
          </a:prstGeom>
          <a:noFill/>
        </p:spPr>
        <p:txBody>
          <a:bodyPr wrap="square">
            <a:spAutoFit/>
          </a:bodyPr>
          <a:lstStyle/>
          <a:p>
            <a:pPr algn="l"/>
            <a:r>
              <a:rPr sz="800" b="1" i="0">
                <a:solidFill>
                  <a:srgbClr val="1F1F1F"/>
                </a:solidFill>
                <a:latin typeface="Calibri"/>
              </a:rPr>
              <a:t>Revenue ($M)</a:t>
            </a:r>
          </a:p>
        </p:txBody>
      </p:sp>
      <p:sp>
        <p:nvSpPr>
          <p:cNvPr id="24" name="Rectangle 23"/>
          <p:cNvSpPr/>
          <p:nvPr/>
        </p:nvSpPr>
        <p:spPr>
          <a:xfrm>
            <a:off x="2011680" y="106527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048256" y="1083564"/>
            <a:ext cx="1115568" cy="178308"/>
          </a:xfrm>
          <a:prstGeom prst="rect">
            <a:avLst/>
          </a:prstGeom>
          <a:noFill/>
        </p:spPr>
        <p:txBody>
          <a:bodyPr wrap="square">
            <a:spAutoFit/>
          </a:bodyPr>
          <a:lstStyle/>
          <a:p>
            <a:pPr algn="ctr"/>
            <a:r>
              <a:rPr sz="800" b="0" i="0">
                <a:solidFill>
                  <a:srgbClr val="1F1F1F"/>
                </a:solidFill>
                <a:latin typeface="Calibri"/>
              </a:rPr>
              <a:t>$60,922</a:t>
            </a:r>
          </a:p>
        </p:txBody>
      </p:sp>
      <p:sp>
        <p:nvSpPr>
          <p:cNvPr id="26" name="Rectangle 25"/>
          <p:cNvSpPr/>
          <p:nvPr/>
        </p:nvSpPr>
        <p:spPr>
          <a:xfrm>
            <a:off x="3200400" y="106527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36976" y="1083564"/>
            <a:ext cx="1115568" cy="178308"/>
          </a:xfrm>
          <a:prstGeom prst="rect">
            <a:avLst/>
          </a:prstGeom>
          <a:noFill/>
        </p:spPr>
        <p:txBody>
          <a:bodyPr wrap="square">
            <a:spAutoFit/>
          </a:bodyPr>
          <a:lstStyle/>
          <a:p>
            <a:pPr algn="ctr"/>
            <a:r>
              <a:rPr sz="800" b="0" i="0">
                <a:solidFill>
                  <a:srgbClr val="1F1F1F"/>
                </a:solidFill>
                <a:latin typeface="Calibri"/>
              </a:rPr>
              <a:t>$130,497</a:t>
            </a:r>
          </a:p>
        </p:txBody>
      </p:sp>
      <p:sp>
        <p:nvSpPr>
          <p:cNvPr id="28" name="Rectangle 27"/>
          <p:cNvSpPr/>
          <p:nvPr/>
        </p:nvSpPr>
        <p:spPr>
          <a:xfrm>
            <a:off x="4389120" y="106527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25696" y="1083564"/>
            <a:ext cx="1115568" cy="178308"/>
          </a:xfrm>
          <a:prstGeom prst="rect">
            <a:avLst/>
          </a:prstGeom>
          <a:noFill/>
        </p:spPr>
        <p:txBody>
          <a:bodyPr wrap="square">
            <a:spAutoFit/>
          </a:bodyPr>
          <a:lstStyle/>
          <a:p>
            <a:pPr algn="ctr"/>
            <a:r>
              <a:rPr sz="800" b="0" i="0">
                <a:solidFill>
                  <a:srgbClr val="1F1F1F"/>
                </a:solidFill>
                <a:latin typeface="Calibri"/>
              </a:rPr>
              <a:t>$215,900</a:t>
            </a:r>
          </a:p>
        </p:txBody>
      </p:sp>
      <p:sp>
        <p:nvSpPr>
          <p:cNvPr id="30" name="Rectangle 29"/>
          <p:cNvSpPr/>
          <p:nvPr/>
        </p:nvSpPr>
        <p:spPr>
          <a:xfrm>
            <a:off x="5577840" y="106527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14416" y="1083564"/>
            <a:ext cx="1115568" cy="178308"/>
          </a:xfrm>
          <a:prstGeom prst="rect">
            <a:avLst/>
          </a:prstGeom>
          <a:noFill/>
        </p:spPr>
        <p:txBody>
          <a:bodyPr wrap="square">
            <a:spAutoFit/>
          </a:bodyPr>
          <a:lstStyle/>
          <a:p>
            <a:pPr algn="ctr"/>
            <a:r>
              <a:rPr sz="800" b="0" i="0">
                <a:solidFill>
                  <a:srgbClr val="1F1F1F"/>
                </a:solidFill>
                <a:latin typeface="Calibri"/>
              </a:rPr>
              <a:t>$280,170</a:t>
            </a:r>
          </a:p>
        </p:txBody>
      </p:sp>
      <p:sp>
        <p:nvSpPr>
          <p:cNvPr id="32" name="Rectangle 31"/>
          <p:cNvSpPr/>
          <p:nvPr/>
        </p:nvSpPr>
        <p:spPr>
          <a:xfrm>
            <a:off x="182880" y="1280160"/>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19456" y="1298448"/>
            <a:ext cx="1755648" cy="178308"/>
          </a:xfrm>
          <a:prstGeom prst="rect">
            <a:avLst/>
          </a:prstGeom>
          <a:noFill/>
        </p:spPr>
        <p:txBody>
          <a:bodyPr wrap="square">
            <a:spAutoFit/>
          </a:bodyPr>
          <a:lstStyle/>
          <a:p>
            <a:pPr algn="l"/>
            <a:r>
              <a:rPr sz="800" b="1" i="0">
                <a:solidFill>
                  <a:srgbClr val="1F1F1F"/>
                </a:solidFill>
                <a:latin typeface="Calibri"/>
              </a:rPr>
              <a:t>Adj. EBITDA ($M)</a:t>
            </a:r>
          </a:p>
        </p:txBody>
      </p:sp>
      <p:sp>
        <p:nvSpPr>
          <p:cNvPr id="34" name="Rectangle 33"/>
          <p:cNvSpPr/>
          <p:nvPr/>
        </p:nvSpPr>
        <p:spPr>
          <a:xfrm>
            <a:off x="2011680" y="128016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048256" y="1298448"/>
            <a:ext cx="1115568" cy="178308"/>
          </a:xfrm>
          <a:prstGeom prst="rect">
            <a:avLst/>
          </a:prstGeom>
          <a:noFill/>
        </p:spPr>
        <p:txBody>
          <a:bodyPr wrap="square">
            <a:spAutoFit/>
          </a:bodyPr>
          <a:lstStyle/>
          <a:p>
            <a:pPr algn="ctr"/>
            <a:r>
              <a:rPr sz="800" b="0" i="0">
                <a:solidFill>
                  <a:srgbClr val="1F1F1F"/>
                </a:solidFill>
                <a:latin typeface="Calibri"/>
              </a:rPr>
              <a:t>$34,800</a:t>
            </a:r>
          </a:p>
        </p:txBody>
      </p:sp>
      <p:sp>
        <p:nvSpPr>
          <p:cNvPr id="36" name="Rectangle 35"/>
          <p:cNvSpPr/>
          <p:nvPr/>
        </p:nvSpPr>
        <p:spPr>
          <a:xfrm>
            <a:off x="3200400" y="128016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236976" y="1298448"/>
            <a:ext cx="1115568" cy="178308"/>
          </a:xfrm>
          <a:prstGeom prst="rect">
            <a:avLst/>
          </a:prstGeom>
          <a:noFill/>
        </p:spPr>
        <p:txBody>
          <a:bodyPr wrap="square">
            <a:spAutoFit/>
          </a:bodyPr>
          <a:lstStyle/>
          <a:p>
            <a:pPr algn="ctr"/>
            <a:r>
              <a:rPr sz="800" b="0" i="0">
                <a:solidFill>
                  <a:srgbClr val="1F1F1F"/>
                </a:solidFill>
                <a:latin typeface="Calibri"/>
              </a:rPr>
              <a:t>$86,600</a:t>
            </a:r>
          </a:p>
        </p:txBody>
      </p:sp>
      <p:sp>
        <p:nvSpPr>
          <p:cNvPr id="38" name="Rectangle 37"/>
          <p:cNvSpPr/>
          <p:nvPr/>
        </p:nvSpPr>
        <p:spPr>
          <a:xfrm>
            <a:off x="4389120" y="128016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25696" y="1298448"/>
            <a:ext cx="1115568" cy="178308"/>
          </a:xfrm>
          <a:prstGeom prst="rect">
            <a:avLst/>
          </a:prstGeom>
          <a:noFill/>
        </p:spPr>
        <p:txBody>
          <a:bodyPr wrap="square">
            <a:spAutoFit/>
          </a:bodyPr>
          <a:lstStyle/>
          <a:p>
            <a:pPr algn="ctr"/>
            <a:r>
              <a:rPr sz="800" b="0" i="0">
                <a:solidFill>
                  <a:srgbClr val="1F1F1F"/>
                </a:solidFill>
                <a:latin typeface="Calibri"/>
              </a:rPr>
              <a:t>$141,200</a:t>
            </a:r>
          </a:p>
        </p:txBody>
      </p:sp>
      <p:sp>
        <p:nvSpPr>
          <p:cNvPr id="40" name="Rectangle 39"/>
          <p:cNvSpPr/>
          <p:nvPr/>
        </p:nvSpPr>
        <p:spPr>
          <a:xfrm>
            <a:off x="5577840" y="128016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614416" y="1298448"/>
            <a:ext cx="1115568" cy="178308"/>
          </a:xfrm>
          <a:prstGeom prst="rect">
            <a:avLst/>
          </a:prstGeom>
          <a:noFill/>
        </p:spPr>
        <p:txBody>
          <a:bodyPr wrap="square">
            <a:spAutoFit/>
          </a:bodyPr>
          <a:lstStyle/>
          <a:p>
            <a:pPr algn="ctr"/>
            <a:r>
              <a:rPr sz="800" b="0" i="0">
                <a:solidFill>
                  <a:srgbClr val="1F1F1F"/>
                </a:solidFill>
                <a:latin typeface="Calibri"/>
              </a:rPr>
              <a:t>$183,560</a:t>
            </a:r>
          </a:p>
        </p:txBody>
      </p:sp>
      <p:sp>
        <p:nvSpPr>
          <p:cNvPr id="42" name="Rectangle 41"/>
          <p:cNvSpPr/>
          <p:nvPr/>
        </p:nvSpPr>
        <p:spPr>
          <a:xfrm>
            <a:off x="182880" y="1495044"/>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19456" y="1513332"/>
            <a:ext cx="1755648" cy="178308"/>
          </a:xfrm>
          <a:prstGeom prst="rect">
            <a:avLst/>
          </a:prstGeom>
          <a:noFill/>
        </p:spPr>
        <p:txBody>
          <a:bodyPr wrap="square">
            <a:spAutoFit/>
          </a:bodyPr>
          <a:lstStyle/>
          <a:p>
            <a:pPr algn="l"/>
            <a:r>
              <a:rPr sz="800" b="1" i="0">
                <a:solidFill>
                  <a:srgbClr val="1F1F1F"/>
                </a:solidFill>
                <a:latin typeface="Calibri"/>
              </a:rPr>
              <a:t>Adj. EPS</a:t>
            </a:r>
          </a:p>
        </p:txBody>
      </p:sp>
      <p:sp>
        <p:nvSpPr>
          <p:cNvPr id="44" name="Rectangle 43"/>
          <p:cNvSpPr/>
          <p:nvPr/>
        </p:nvSpPr>
        <p:spPr>
          <a:xfrm>
            <a:off x="2011680" y="149504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048256" y="1513332"/>
            <a:ext cx="1115568" cy="178308"/>
          </a:xfrm>
          <a:prstGeom prst="rect">
            <a:avLst/>
          </a:prstGeom>
          <a:noFill/>
        </p:spPr>
        <p:txBody>
          <a:bodyPr wrap="square">
            <a:spAutoFit/>
          </a:bodyPr>
          <a:lstStyle/>
          <a:p>
            <a:pPr algn="ctr"/>
            <a:r>
              <a:rPr sz="800" b="0" i="0">
                <a:solidFill>
                  <a:srgbClr val="1F1F1F"/>
                </a:solidFill>
                <a:latin typeface="Calibri"/>
              </a:rPr>
              <a:t>$1.30</a:t>
            </a:r>
          </a:p>
        </p:txBody>
      </p:sp>
      <p:sp>
        <p:nvSpPr>
          <p:cNvPr id="46" name="Rectangle 45"/>
          <p:cNvSpPr/>
          <p:nvPr/>
        </p:nvSpPr>
        <p:spPr>
          <a:xfrm>
            <a:off x="3200400" y="149504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236976" y="1513332"/>
            <a:ext cx="1115568" cy="178308"/>
          </a:xfrm>
          <a:prstGeom prst="rect">
            <a:avLst/>
          </a:prstGeom>
          <a:noFill/>
        </p:spPr>
        <p:txBody>
          <a:bodyPr wrap="square">
            <a:spAutoFit/>
          </a:bodyPr>
          <a:lstStyle/>
          <a:p>
            <a:pPr algn="ctr"/>
            <a:r>
              <a:rPr sz="800" b="0" i="0">
                <a:solidFill>
                  <a:srgbClr val="1F1F1F"/>
                </a:solidFill>
                <a:latin typeface="Calibri"/>
              </a:rPr>
              <a:t>$2.99</a:t>
            </a:r>
          </a:p>
        </p:txBody>
      </p:sp>
      <p:sp>
        <p:nvSpPr>
          <p:cNvPr id="48" name="Rectangle 47"/>
          <p:cNvSpPr/>
          <p:nvPr/>
        </p:nvSpPr>
        <p:spPr>
          <a:xfrm>
            <a:off x="4389120" y="149504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25696" y="1513332"/>
            <a:ext cx="1115568" cy="178308"/>
          </a:xfrm>
          <a:prstGeom prst="rect">
            <a:avLst/>
          </a:prstGeom>
          <a:noFill/>
        </p:spPr>
        <p:txBody>
          <a:bodyPr wrap="square">
            <a:spAutoFit/>
          </a:bodyPr>
          <a:lstStyle/>
          <a:p>
            <a:pPr algn="ctr"/>
            <a:r>
              <a:rPr sz="800" b="0" i="0">
                <a:solidFill>
                  <a:srgbClr val="1F1F1F"/>
                </a:solidFill>
                <a:latin typeface="Calibri"/>
              </a:rPr>
              <a:t>$4.77</a:t>
            </a:r>
          </a:p>
        </p:txBody>
      </p:sp>
      <p:sp>
        <p:nvSpPr>
          <p:cNvPr id="50" name="Rectangle 49"/>
          <p:cNvSpPr/>
          <p:nvPr/>
        </p:nvSpPr>
        <p:spPr>
          <a:xfrm>
            <a:off x="5577840" y="149504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614416" y="1513332"/>
            <a:ext cx="1115568" cy="178308"/>
          </a:xfrm>
          <a:prstGeom prst="rect">
            <a:avLst/>
          </a:prstGeom>
          <a:noFill/>
        </p:spPr>
        <p:txBody>
          <a:bodyPr wrap="square">
            <a:spAutoFit/>
          </a:bodyPr>
          <a:lstStyle/>
          <a:p>
            <a:pPr algn="ctr"/>
            <a:r>
              <a:rPr sz="800" b="0" i="0">
                <a:solidFill>
                  <a:srgbClr val="1F1F1F"/>
                </a:solidFill>
                <a:latin typeface="Calibri"/>
              </a:rPr>
              <a:t>$6.19</a:t>
            </a:r>
          </a:p>
        </p:txBody>
      </p:sp>
      <p:sp>
        <p:nvSpPr>
          <p:cNvPr id="52" name="Rectangle 51"/>
          <p:cNvSpPr/>
          <p:nvPr/>
        </p:nvSpPr>
        <p:spPr>
          <a:xfrm>
            <a:off x="182880" y="1709928"/>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19456" y="1728216"/>
            <a:ext cx="1755648" cy="178308"/>
          </a:xfrm>
          <a:prstGeom prst="rect">
            <a:avLst/>
          </a:prstGeom>
          <a:noFill/>
        </p:spPr>
        <p:txBody>
          <a:bodyPr wrap="square">
            <a:spAutoFit/>
          </a:bodyPr>
          <a:lstStyle/>
          <a:p>
            <a:pPr algn="l"/>
            <a:r>
              <a:rPr sz="800" b="1" i="0">
                <a:solidFill>
                  <a:srgbClr val="1F1F1F"/>
                </a:solidFill>
                <a:latin typeface="Calibri"/>
              </a:rPr>
              <a:t>Adj. Net Income ($M)</a:t>
            </a:r>
          </a:p>
        </p:txBody>
      </p:sp>
      <p:sp>
        <p:nvSpPr>
          <p:cNvPr id="54" name="Rectangle 53"/>
          <p:cNvSpPr/>
          <p:nvPr/>
        </p:nvSpPr>
        <p:spPr>
          <a:xfrm>
            <a:off x="2011680" y="1709928"/>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048256" y="1728216"/>
            <a:ext cx="1115568" cy="178308"/>
          </a:xfrm>
          <a:prstGeom prst="rect">
            <a:avLst/>
          </a:prstGeom>
          <a:noFill/>
        </p:spPr>
        <p:txBody>
          <a:bodyPr wrap="square">
            <a:spAutoFit/>
          </a:bodyPr>
          <a:lstStyle/>
          <a:p>
            <a:pPr algn="ctr"/>
            <a:r>
              <a:rPr sz="800" b="0" i="0">
                <a:solidFill>
                  <a:srgbClr val="1F1F1F"/>
                </a:solidFill>
                <a:latin typeface="Calibri"/>
              </a:rPr>
              <a:t>$29,015</a:t>
            </a:r>
          </a:p>
        </p:txBody>
      </p:sp>
      <p:sp>
        <p:nvSpPr>
          <p:cNvPr id="56" name="Rectangle 55"/>
          <p:cNvSpPr/>
          <p:nvPr/>
        </p:nvSpPr>
        <p:spPr>
          <a:xfrm>
            <a:off x="3200400" y="1709928"/>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3236976" y="1728216"/>
            <a:ext cx="1115568" cy="178308"/>
          </a:xfrm>
          <a:prstGeom prst="rect">
            <a:avLst/>
          </a:prstGeom>
          <a:noFill/>
        </p:spPr>
        <p:txBody>
          <a:bodyPr wrap="square">
            <a:spAutoFit/>
          </a:bodyPr>
          <a:lstStyle/>
          <a:p>
            <a:pPr algn="ctr"/>
            <a:r>
              <a:rPr sz="800" b="0" i="0">
                <a:solidFill>
                  <a:srgbClr val="1F1F1F"/>
                </a:solidFill>
                <a:latin typeface="Calibri"/>
              </a:rPr>
              <a:t>$71,871</a:t>
            </a:r>
          </a:p>
        </p:txBody>
      </p:sp>
      <p:sp>
        <p:nvSpPr>
          <p:cNvPr id="58" name="Rectangle 57"/>
          <p:cNvSpPr/>
          <p:nvPr/>
        </p:nvSpPr>
        <p:spPr>
          <a:xfrm>
            <a:off x="4389120" y="1709928"/>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4425696" y="1728216"/>
            <a:ext cx="1115568" cy="178308"/>
          </a:xfrm>
          <a:prstGeom prst="rect">
            <a:avLst/>
          </a:prstGeom>
          <a:noFill/>
        </p:spPr>
        <p:txBody>
          <a:bodyPr wrap="square">
            <a:spAutoFit/>
          </a:bodyPr>
          <a:lstStyle/>
          <a:p>
            <a:pPr algn="ctr"/>
            <a:r>
              <a:rPr sz="800" b="0" i="0">
                <a:solidFill>
                  <a:srgbClr val="1F1F1F"/>
                </a:solidFill>
                <a:latin typeface="Calibri"/>
              </a:rPr>
              <a:t>$114,741</a:t>
            </a:r>
          </a:p>
        </p:txBody>
      </p:sp>
      <p:sp>
        <p:nvSpPr>
          <p:cNvPr id="60" name="Rectangle 59"/>
          <p:cNvSpPr/>
          <p:nvPr/>
        </p:nvSpPr>
        <p:spPr>
          <a:xfrm>
            <a:off x="5577840" y="1709928"/>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5614416" y="1728216"/>
            <a:ext cx="1115568" cy="178308"/>
          </a:xfrm>
          <a:prstGeom prst="rect">
            <a:avLst/>
          </a:prstGeom>
          <a:noFill/>
        </p:spPr>
        <p:txBody>
          <a:bodyPr wrap="square">
            <a:spAutoFit/>
          </a:bodyPr>
          <a:lstStyle/>
          <a:p>
            <a:pPr algn="ctr"/>
            <a:r>
              <a:rPr sz="800" b="0" i="0">
                <a:solidFill>
                  <a:srgbClr val="1F1F1F"/>
                </a:solidFill>
                <a:latin typeface="Calibri"/>
              </a:rPr>
              <a:t>$149,163</a:t>
            </a:r>
          </a:p>
        </p:txBody>
      </p:sp>
      <p:sp>
        <p:nvSpPr>
          <p:cNvPr id="62" name="Rectangle 61"/>
          <p:cNvSpPr/>
          <p:nvPr/>
        </p:nvSpPr>
        <p:spPr>
          <a:xfrm>
            <a:off x="182880" y="1924812"/>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19456" y="1943100"/>
            <a:ext cx="1755648" cy="178308"/>
          </a:xfrm>
          <a:prstGeom prst="rect">
            <a:avLst/>
          </a:prstGeom>
          <a:noFill/>
        </p:spPr>
        <p:txBody>
          <a:bodyPr wrap="square">
            <a:spAutoFit/>
          </a:bodyPr>
          <a:lstStyle/>
          <a:p>
            <a:pPr algn="l"/>
            <a:r>
              <a:rPr sz="800" b="1" i="0">
                <a:solidFill>
                  <a:srgbClr val="1F1F1F"/>
                </a:solidFill>
                <a:latin typeface="Calibri"/>
              </a:rPr>
              <a:t>Free Cash Flow ($M)</a:t>
            </a:r>
          </a:p>
        </p:txBody>
      </p:sp>
      <p:sp>
        <p:nvSpPr>
          <p:cNvPr id="64" name="Rectangle 63"/>
          <p:cNvSpPr/>
          <p:nvPr/>
        </p:nvSpPr>
        <p:spPr>
          <a:xfrm>
            <a:off x="2011680" y="1924812"/>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048256" y="1943100"/>
            <a:ext cx="1115568" cy="178308"/>
          </a:xfrm>
          <a:prstGeom prst="rect">
            <a:avLst/>
          </a:prstGeom>
          <a:noFill/>
        </p:spPr>
        <p:txBody>
          <a:bodyPr wrap="square">
            <a:spAutoFit/>
          </a:bodyPr>
          <a:lstStyle/>
          <a:p>
            <a:pPr algn="ctr"/>
            <a:r>
              <a:rPr sz="800" b="0" i="0">
                <a:solidFill>
                  <a:srgbClr val="1F1F1F"/>
                </a:solidFill>
                <a:latin typeface="Calibri"/>
              </a:rPr>
              <a:t>$27,022</a:t>
            </a:r>
          </a:p>
        </p:txBody>
      </p:sp>
      <p:sp>
        <p:nvSpPr>
          <p:cNvPr id="66" name="Rectangle 65"/>
          <p:cNvSpPr/>
          <p:nvPr/>
        </p:nvSpPr>
        <p:spPr>
          <a:xfrm>
            <a:off x="3200400" y="1924812"/>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236976" y="1943100"/>
            <a:ext cx="1115568" cy="178308"/>
          </a:xfrm>
          <a:prstGeom prst="rect">
            <a:avLst/>
          </a:prstGeom>
          <a:noFill/>
        </p:spPr>
        <p:txBody>
          <a:bodyPr wrap="square">
            <a:spAutoFit/>
          </a:bodyPr>
          <a:lstStyle/>
          <a:p>
            <a:pPr algn="ctr"/>
            <a:r>
              <a:rPr sz="800" b="0" i="0">
                <a:solidFill>
                  <a:srgbClr val="1F1F1F"/>
                </a:solidFill>
                <a:latin typeface="Calibri"/>
              </a:rPr>
              <a:t>$60,840</a:t>
            </a:r>
          </a:p>
        </p:txBody>
      </p:sp>
      <p:sp>
        <p:nvSpPr>
          <p:cNvPr id="68" name="Rectangle 67"/>
          <p:cNvSpPr/>
          <p:nvPr/>
        </p:nvSpPr>
        <p:spPr>
          <a:xfrm>
            <a:off x="4389120" y="1924812"/>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4425696" y="1943100"/>
            <a:ext cx="1115568" cy="178308"/>
          </a:xfrm>
          <a:prstGeom prst="rect">
            <a:avLst/>
          </a:prstGeom>
          <a:noFill/>
        </p:spPr>
        <p:txBody>
          <a:bodyPr wrap="square">
            <a:spAutoFit/>
          </a:bodyPr>
          <a:lstStyle/>
          <a:p>
            <a:pPr algn="ctr"/>
            <a:r>
              <a:rPr sz="800" b="0" i="0">
                <a:solidFill>
                  <a:srgbClr val="1F1F1F"/>
                </a:solidFill>
                <a:latin typeface="Calibri"/>
              </a:rPr>
              <a:t>$96,575</a:t>
            </a:r>
          </a:p>
        </p:txBody>
      </p:sp>
      <p:sp>
        <p:nvSpPr>
          <p:cNvPr id="70" name="Rectangle 69"/>
          <p:cNvSpPr/>
          <p:nvPr/>
        </p:nvSpPr>
        <p:spPr>
          <a:xfrm>
            <a:off x="5577840" y="1924812"/>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614416" y="1943100"/>
            <a:ext cx="1115568" cy="178308"/>
          </a:xfrm>
          <a:prstGeom prst="rect">
            <a:avLst/>
          </a:prstGeom>
          <a:noFill/>
        </p:spPr>
        <p:txBody>
          <a:bodyPr wrap="square">
            <a:spAutoFit/>
          </a:bodyPr>
          <a:lstStyle/>
          <a:p>
            <a:pPr algn="ctr"/>
            <a:r>
              <a:rPr sz="800" b="0" i="0">
                <a:solidFill>
                  <a:srgbClr val="1F1F1F"/>
                </a:solidFill>
                <a:latin typeface="Calibri"/>
              </a:rPr>
              <a:t>$125,347</a:t>
            </a:r>
          </a:p>
        </p:txBody>
      </p:sp>
      <p:sp>
        <p:nvSpPr>
          <p:cNvPr id="72" name="Rectangle 71"/>
          <p:cNvSpPr/>
          <p:nvPr/>
        </p:nvSpPr>
        <p:spPr>
          <a:xfrm>
            <a:off x="182880" y="2139696"/>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219456" y="2157984"/>
            <a:ext cx="1755648" cy="178308"/>
          </a:xfrm>
          <a:prstGeom prst="rect">
            <a:avLst/>
          </a:prstGeom>
          <a:noFill/>
        </p:spPr>
        <p:txBody>
          <a:bodyPr wrap="square">
            <a:spAutoFit/>
          </a:bodyPr>
          <a:lstStyle/>
          <a:p>
            <a:pPr algn="l"/>
            <a:r>
              <a:rPr sz="800" b="1" i="0">
                <a:solidFill>
                  <a:srgbClr val="1F1F1F"/>
                </a:solidFill>
                <a:latin typeface="Calibri"/>
              </a:rPr>
              <a:t>Capital Expenditures</a:t>
            </a:r>
          </a:p>
        </p:txBody>
      </p:sp>
      <p:sp>
        <p:nvSpPr>
          <p:cNvPr id="74" name="Rectangle 73"/>
          <p:cNvSpPr/>
          <p:nvPr/>
        </p:nvSpPr>
        <p:spPr>
          <a:xfrm>
            <a:off x="2011680" y="2139696"/>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2048256" y="2157984"/>
            <a:ext cx="1115568" cy="178308"/>
          </a:xfrm>
          <a:prstGeom prst="rect">
            <a:avLst/>
          </a:prstGeom>
          <a:noFill/>
        </p:spPr>
        <p:txBody>
          <a:bodyPr wrap="square">
            <a:spAutoFit/>
          </a:bodyPr>
          <a:lstStyle/>
          <a:p>
            <a:pPr algn="ctr"/>
            <a:r>
              <a:rPr sz="800" b="0" i="0">
                <a:solidFill>
                  <a:srgbClr val="1F1F1F"/>
                </a:solidFill>
                <a:latin typeface="Calibri"/>
              </a:rPr>
              <a:t>$(1,069)</a:t>
            </a:r>
          </a:p>
        </p:txBody>
      </p:sp>
      <p:sp>
        <p:nvSpPr>
          <p:cNvPr id="76" name="Rectangle 75"/>
          <p:cNvSpPr/>
          <p:nvPr/>
        </p:nvSpPr>
        <p:spPr>
          <a:xfrm>
            <a:off x="3200400" y="2139696"/>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3236976" y="2157984"/>
            <a:ext cx="1115568" cy="178308"/>
          </a:xfrm>
          <a:prstGeom prst="rect">
            <a:avLst/>
          </a:prstGeom>
          <a:noFill/>
        </p:spPr>
        <p:txBody>
          <a:bodyPr wrap="square">
            <a:spAutoFit/>
          </a:bodyPr>
          <a:lstStyle/>
          <a:p>
            <a:pPr algn="ctr"/>
            <a:r>
              <a:rPr sz="800" b="0" i="0">
                <a:solidFill>
                  <a:srgbClr val="1F1F1F"/>
                </a:solidFill>
                <a:latin typeface="Calibri"/>
              </a:rPr>
              <a:t>$(3,730)</a:t>
            </a:r>
          </a:p>
        </p:txBody>
      </p:sp>
      <p:sp>
        <p:nvSpPr>
          <p:cNvPr id="78" name="Rectangle 77"/>
          <p:cNvSpPr/>
          <p:nvPr/>
        </p:nvSpPr>
        <p:spPr>
          <a:xfrm>
            <a:off x="4389120" y="2139696"/>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425696" y="2157984"/>
            <a:ext cx="1115568" cy="178308"/>
          </a:xfrm>
          <a:prstGeom prst="rect">
            <a:avLst/>
          </a:prstGeom>
          <a:noFill/>
        </p:spPr>
        <p:txBody>
          <a:bodyPr wrap="square">
            <a:spAutoFit/>
          </a:bodyPr>
          <a:lstStyle/>
          <a:p>
            <a:pPr algn="ctr"/>
            <a:r>
              <a:rPr sz="800" b="0" i="0">
                <a:solidFill>
                  <a:srgbClr val="1F1F1F"/>
                </a:solidFill>
                <a:latin typeface="Calibri"/>
              </a:rPr>
              <a:t>$(5,500)</a:t>
            </a:r>
          </a:p>
        </p:txBody>
      </p:sp>
      <p:sp>
        <p:nvSpPr>
          <p:cNvPr id="80" name="Rectangle 79"/>
          <p:cNvSpPr/>
          <p:nvPr/>
        </p:nvSpPr>
        <p:spPr>
          <a:xfrm>
            <a:off x="5577840" y="2139696"/>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5614416" y="2157984"/>
            <a:ext cx="1115568" cy="178308"/>
          </a:xfrm>
          <a:prstGeom prst="rect">
            <a:avLst/>
          </a:prstGeom>
          <a:noFill/>
        </p:spPr>
        <p:txBody>
          <a:bodyPr wrap="square">
            <a:spAutoFit/>
          </a:bodyPr>
          <a:lstStyle/>
          <a:p>
            <a:pPr algn="ctr"/>
            <a:r>
              <a:rPr sz="800" b="0" i="0">
                <a:solidFill>
                  <a:srgbClr val="1F1F1F"/>
                </a:solidFill>
                <a:latin typeface="Calibri"/>
              </a:rPr>
              <a:t>$(7,150)</a:t>
            </a:r>
          </a:p>
        </p:txBody>
      </p:sp>
      <p:sp>
        <p:nvSpPr>
          <p:cNvPr id="82" name="Rectangle 81"/>
          <p:cNvSpPr/>
          <p:nvPr/>
        </p:nvSpPr>
        <p:spPr>
          <a:xfrm>
            <a:off x="182880" y="2354580"/>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219456" y="2372868"/>
            <a:ext cx="1755648" cy="178308"/>
          </a:xfrm>
          <a:prstGeom prst="rect">
            <a:avLst/>
          </a:prstGeom>
          <a:noFill/>
        </p:spPr>
        <p:txBody>
          <a:bodyPr wrap="square">
            <a:spAutoFit/>
          </a:bodyPr>
          <a:lstStyle/>
          <a:p>
            <a:pPr algn="l"/>
            <a:r>
              <a:rPr sz="800" b="1" i="0">
                <a:solidFill>
                  <a:srgbClr val="1F1F1F"/>
                </a:solidFill>
                <a:latin typeface="Calibri"/>
              </a:rPr>
              <a:t>EV/EBITDA</a:t>
            </a:r>
          </a:p>
        </p:txBody>
      </p:sp>
      <p:sp>
        <p:nvSpPr>
          <p:cNvPr id="84" name="Rectangle 83"/>
          <p:cNvSpPr/>
          <p:nvPr/>
        </p:nvSpPr>
        <p:spPr>
          <a:xfrm>
            <a:off x="2011680" y="2354580"/>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2048256" y="2372868"/>
            <a:ext cx="1115568" cy="178308"/>
          </a:xfrm>
          <a:prstGeom prst="rect">
            <a:avLst/>
          </a:prstGeom>
          <a:noFill/>
        </p:spPr>
        <p:txBody>
          <a:bodyPr wrap="square">
            <a:spAutoFit/>
          </a:bodyPr>
          <a:lstStyle/>
          <a:p>
            <a:pPr algn="ctr"/>
            <a:r>
              <a:rPr sz="800" b="0" i="0">
                <a:solidFill>
                  <a:srgbClr val="1F1F1F"/>
                </a:solidFill>
                <a:latin typeface="Calibri"/>
              </a:rPr>
              <a:t>83.5x</a:t>
            </a:r>
          </a:p>
        </p:txBody>
      </p:sp>
      <p:sp>
        <p:nvSpPr>
          <p:cNvPr id="86" name="Rectangle 85"/>
          <p:cNvSpPr/>
          <p:nvPr/>
        </p:nvSpPr>
        <p:spPr>
          <a:xfrm>
            <a:off x="3200400" y="2354580"/>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3236976" y="2372868"/>
            <a:ext cx="1115568" cy="178308"/>
          </a:xfrm>
          <a:prstGeom prst="rect">
            <a:avLst/>
          </a:prstGeom>
          <a:noFill/>
        </p:spPr>
        <p:txBody>
          <a:bodyPr wrap="square">
            <a:spAutoFit/>
          </a:bodyPr>
          <a:lstStyle/>
          <a:p>
            <a:pPr algn="ctr"/>
            <a:r>
              <a:rPr sz="800" b="0" i="0">
                <a:solidFill>
                  <a:srgbClr val="1F1F1F"/>
                </a:solidFill>
                <a:latin typeface="Calibri"/>
              </a:rPr>
              <a:t>33.5x</a:t>
            </a:r>
          </a:p>
        </p:txBody>
      </p:sp>
      <p:sp>
        <p:nvSpPr>
          <p:cNvPr id="88" name="Rectangle 87"/>
          <p:cNvSpPr/>
          <p:nvPr/>
        </p:nvSpPr>
        <p:spPr>
          <a:xfrm>
            <a:off x="4389120" y="2354580"/>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4425696" y="2372868"/>
            <a:ext cx="1115568" cy="178308"/>
          </a:xfrm>
          <a:prstGeom prst="rect">
            <a:avLst/>
          </a:prstGeom>
          <a:noFill/>
        </p:spPr>
        <p:txBody>
          <a:bodyPr wrap="square">
            <a:spAutoFit/>
          </a:bodyPr>
          <a:lstStyle/>
          <a:p>
            <a:pPr algn="ctr"/>
            <a:r>
              <a:rPr sz="800" b="0" i="0">
                <a:solidFill>
                  <a:srgbClr val="1F1F1F"/>
                </a:solidFill>
                <a:latin typeface="Calibri"/>
              </a:rPr>
              <a:t>30.3x</a:t>
            </a:r>
          </a:p>
        </p:txBody>
      </p:sp>
      <p:sp>
        <p:nvSpPr>
          <p:cNvPr id="90" name="Rectangle 89"/>
          <p:cNvSpPr/>
          <p:nvPr/>
        </p:nvSpPr>
        <p:spPr>
          <a:xfrm>
            <a:off x="5577840" y="2354580"/>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5614416" y="2372868"/>
            <a:ext cx="1115568" cy="178308"/>
          </a:xfrm>
          <a:prstGeom prst="rect">
            <a:avLst/>
          </a:prstGeom>
          <a:noFill/>
        </p:spPr>
        <p:txBody>
          <a:bodyPr wrap="square">
            <a:spAutoFit/>
          </a:bodyPr>
          <a:lstStyle/>
          <a:p>
            <a:pPr algn="ctr"/>
            <a:r>
              <a:rPr sz="800" b="0" i="0">
                <a:solidFill>
                  <a:srgbClr val="1F1F1F"/>
                </a:solidFill>
                <a:latin typeface="Calibri"/>
              </a:rPr>
              <a:t>23.4x</a:t>
            </a:r>
          </a:p>
        </p:txBody>
      </p:sp>
      <p:sp>
        <p:nvSpPr>
          <p:cNvPr id="92" name="Rectangle 91"/>
          <p:cNvSpPr/>
          <p:nvPr/>
        </p:nvSpPr>
        <p:spPr>
          <a:xfrm>
            <a:off x="182880" y="2569464"/>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19456" y="2587752"/>
            <a:ext cx="1755648" cy="178308"/>
          </a:xfrm>
          <a:prstGeom prst="rect">
            <a:avLst/>
          </a:prstGeom>
          <a:noFill/>
        </p:spPr>
        <p:txBody>
          <a:bodyPr wrap="square">
            <a:spAutoFit/>
          </a:bodyPr>
          <a:lstStyle/>
          <a:p>
            <a:pPr algn="l"/>
            <a:r>
              <a:rPr sz="800" b="1" i="0">
                <a:solidFill>
                  <a:srgbClr val="1F1F1F"/>
                </a:solidFill>
                <a:latin typeface="Calibri"/>
              </a:rPr>
              <a:t>P/FCF</a:t>
            </a:r>
          </a:p>
        </p:txBody>
      </p:sp>
      <p:sp>
        <p:nvSpPr>
          <p:cNvPr id="94" name="Rectangle 93"/>
          <p:cNvSpPr/>
          <p:nvPr/>
        </p:nvSpPr>
        <p:spPr>
          <a:xfrm>
            <a:off x="2011680" y="2569464"/>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048256" y="2587752"/>
            <a:ext cx="1115568" cy="178308"/>
          </a:xfrm>
          <a:prstGeom prst="rect">
            <a:avLst/>
          </a:prstGeom>
          <a:noFill/>
        </p:spPr>
        <p:txBody>
          <a:bodyPr wrap="square">
            <a:spAutoFit/>
          </a:bodyPr>
          <a:lstStyle/>
          <a:p>
            <a:pPr algn="ctr"/>
            <a:r>
              <a:rPr sz="800" b="0" i="0">
                <a:solidFill>
                  <a:srgbClr val="1F1F1F"/>
                </a:solidFill>
                <a:latin typeface="Calibri"/>
              </a:rPr>
              <a:t>113.1x</a:t>
            </a:r>
          </a:p>
        </p:txBody>
      </p:sp>
      <p:sp>
        <p:nvSpPr>
          <p:cNvPr id="96" name="Rectangle 95"/>
          <p:cNvSpPr/>
          <p:nvPr/>
        </p:nvSpPr>
        <p:spPr>
          <a:xfrm>
            <a:off x="3200400" y="2569464"/>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3236976" y="2587752"/>
            <a:ext cx="1115568" cy="178308"/>
          </a:xfrm>
          <a:prstGeom prst="rect">
            <a:avLst/>
          </a:prstGeom>
          <a:noFill/>
        </p:spPr>
        <p:txBody>
          <a:bodyPr wrap="square">
            <a:spAutoFit/>
          </a:bodyPr>
          <a:lstStyle/>
          <a:p>
            <a:pPr algn="ctr"/>
            <a:r>
              <a:rPr sz="800" b="0" i="0">
                <a:solidFill>
                  <a:srgbClr val="1F1F1F"/>
                </a:solidFill>
                <a:latin typeface="Calibri"/>
              </a:rPr>
              <a:t>50.2x</a:t>
            </a:r>
          </a:p>
        </p:txBody>
      </p:sp>
      <p:sp>
        <p:nvSpPr>
          <p:cNvPr id="98" name="Rectangle 97"/>
          <p:cNvSpPr/>
          <p:nvPr/>
        </p:nvSpPr>
        <p:spPr>
          <a:xfrm>
            <a:off x="4389120" y="2569464"/>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4425696" y="2587752"/>
            <a:ext cx="1115568" cy="178308"/>
          </a:xfrm>
          <a:prstGeom prst="rect">
            <a:avLst/>
          </a:prstGeom>
          <a:noFill/>
        </p:spPr>
        <p:txBody>
          <a:bodyPr wrap="square">
            <a:spAutoFit/>
          </a:bodyPr>
          <a:lstStyle/>
          <a:p>
            <a:pPr algn="ctr"/>
            <a:r>
              <a:rPr sz="800" b="0" i="0">
                <a:solidFill>
                  <a:srgbClr val="1F1F1F"/>
                </a:solidFill>
                <a:latin typeface="Calibri"/>
              </a:rPr>
              <a:t>45.0x</a:t>
            </a:r>
          </a:p>
        </p:txBody>
      </p:sp>
      <p:sp>
        <p:nvSpPr>
          <p:cNvPr id="100" name="Rectangle 99"/>
          <p:cNvSpPr/>
          <p:nvPr/>
        </p:nvSpPr>
        <p:spPr>
          <a:xfrm>
            <a:off x="5577840" y="2569464"/>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5614416" y="2587752"/>
            <a:ext cx="1115568" cy="178308"/>
          </a:xfrm>
          <a:prstGeom prst="rect">
            <a:avLst/>
          </a:prstGeom>
          <a:noFill/>
        </p:spPr>
        <p:txBody>
          <a:bodyPr wrap="square">
            <a:spAutoFit/>
          </a:bodyPr>
          <a:lstStyle/>
          <a:p>
            <a:pPr algn="ctr"/>
            <a:r>
              <a:rPr sz="800" b="0" i="0">
                <a:solidFill>
                  <a:srgbClr val="1F1F1F"/>
                </a:solidFill>
                <a:latin typeface="Calibri"/>
              </a:rPr>
              <a:t>34.7x</a:t>
            </a:r>
          </a:p>
        </p:txBody>
      </p:sp>
      <p:sp>
        <p:nvSpPr>
          <p:cNvPr id="102" name="Rectangle 101"/>
          <p:cNvSpPr/>
          <p:nvPr/>
        </p:nvSpPr>
        <p:spPr>
          <a:xfrm>
            <a:off x="182880" y="2784348"/>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219456" y="2802636"/>
            <a:ext cx="1755648" cy="178308"/>
          </a:xfrm>
          <a:prstGeom prst="rect">
            <a:avLst/>
          </a:prstGeom>
          <a:noFill/>
        </p:spPr>
        <p:txBody>
          <a:bodyPr wrap="square">
            <a:spAutoFit/>
          </a:bodyPr>
          <a:lstStyle/>
          <a:p>
            <a:pPr algn="l"/>
            <a:r>
              <a:rPr sz="800" b="1" i="0">
                <a:solidFill>
                  <a:srgbClr val="1F1F1F"/>
                </a:solidFill>
                <a:latin typeface="Calibri"/>
              </a:rPr>
              <a:t>P/E (Non-GAAP)</a:t>
            </a:r>
          </a:p>
        </p:txBody>
      </p:sp>
      <p:sp>
        <p:nvSpPr>
          <p:cNvPr id="104" name="Rectangle 103"/>
          <p:cNvSpPr/>
          <p:nvPr/>
        </p:nvSpPr>
        <p:spPr>
          <a:xfrm>
            <a:off x="2011680" y="2784348"/>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2048256" y="2802636"/>
            <a:ext cx="1115568" cy="178308"/>
          </a:xfrm>
          <a:prstGeom prst="rect">
            <a:avLst/>
          </a:prstGeom>
          <a:noFill/>
        </p:spPr>
        <p:txBody>
          <a:bodyPr wrap="square">
            <a:spAutoFit/>
          </a:bodyPr>
          <a:lstStyle/>
          <a:p>
            <a:pPr algn="ctr"/>
            <a:r>
              <a:rPr sz="800" b="0" i="0">
                <a:solidFill>
                  <a:srgbClr val="1F1F1F"/>
                </a:solidFill>
                <a:latin typeface="Calibri"/>
              </a:rPr>
              <a:t>264.4x</a:t>
            </a:r>
          </a:p>
        </p:txBody>
      </p:sp>
      <p:sp>
        <p:nvSpPr>
          <p:cNvPr id="106" name="Rectangle 105"/>
          <p:cNvSpPr/>
          <p:nvPr/>
        </p:nvSpPr>
        <p:spPr>
          <a:xfrm>
            <a:off x="3200400" y="2784348"/>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3236976" y="2802636"/>
            <a:ext cx="1115568" cy="178308"/>
          </a:xfrm>
          <a:prstGeom prst="rect">
            <a:avLst/>
          </a:prstGeom>
          <a:noFill/>
        </p:spPr>
        <p:txBody>
          <a:bodyPr wrap="square">
            <a:spAutoFit/>
          </a:bodyPr>
          <a:lstStyle/>
          <a:p>
            <a:pPr algn="ctr"/>
            <a:r>
              <a:rPr sz="800" b="0" i="0">
                <a:solidFill>
                  <a:srgbClr val="1F1F1F"/>
                </a:solidFill>
                <a:latin typeface="Calibri"/>
              </a:rPr>
              <a:t>108.2x</a:t>
            </a:r>
          </a:p>
        </p:txBody>
      </p:sp>
      <p:sp>
        <p:nvSpPr>
          <p:cNvPr id="108" name="Rectangle 107"/>
          <p:cNvSpPr/>
          <p:nvPr/>
        </p:nvSpPr>
        <p:spPr>
          <a:xfrm>
            <a:off x="4389120" y="2784348"/>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4425696" y="2802636"/>
            <a:ext cx="1115568" cy="178308"/>
          </a:xfrm>
          <a:prstGeom prst="rect">
            <a:avLst/>
          </a:prstGeom>
          <a:noFill/>
        </p:spPr>
        <p:txBody>
          <a:bodyPr wrap="square">
            <a:spAutoFit/>
          </a:bodyPr>
          <a:lstStyle/>
          <a:p>
            <a:pPr algn="ctr"/>
            <a:r>
              <a:rPr sz="800" b="0" i="0">
                <a:solidFill>
                  <a:srgbClr val="1F1F1F"/>
                </a:solidFill>
                <a:latin typeface="Calibri"/>
              </a:rPr>
              <a:t>37.2x</a:t>
            </a:r>
          </a:p>
        </p:txBody>
      </p:sp>
      <p:sp>
        <p:nvSpPr>
          <p:cNvPr id="110" name="Rectangle 109"/>
          <p:cNvSpPr/>
          <p:nvPr/>
        </p:nvSpPr>
        <p:spPr>
          <a:xfrm>
            <a:off x="5577840" y="2784348"/>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5614416" y="2802636"/>
            <a:ext cx="1115568" cy="178308"/>
          </a:xfrm>
          <a:prstGeom prst="rect">
            <a:avLst/>
          </a:prstGeom>
          <a:noFill/>
        </p:spPr>
        <p:txBody>
          <a:bodyPr wrap="square">
            <a:spAutoFit/>
          </a:bodyPr>
          <a:lstStyle/>
          <a:p>
            <a:pPr algn="ctr"/>
            <a:r>
              <a:rPr sz="800" b="0" i="0">
                <a:solidFill>
                  <a:srgbClr val="1F1F1F"/>
                </a:solidFill>
                <a:latin typeface="Calibri"/>
              </a:rPr>
              <a:t>28.7x</a:t>
            </a:r>
          </a:p>
        </p:txBody>
      </p:sp>
      <p:sp>
        <p:nvSpPr>
          <p:cNvPr id="112" name="Rectangle 111"/>
          <p:cNvSpPr/>
          <p:nvPr/>
        </p:nvSpPr>
        <p:spPr>
          <a:xfrm>
            <a:off x="182880" y="2999232"/>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219456" y="3017520"/>
            <a:ext cx="1755648" cy="178308"/>
          </a:xfrm>
          <a:prstGeom prst="rect">
            <a:avLst/>
          </a:prstGeom>
          <a:noFill/>
        </p:spPr>
        <p:txBody>
          <a:bodyPr wrap="square">
            <a:spAutoFit/>
          </a:bodyPr>
          <a:lstStyle/>
          <a:p>
            <a:pPr algn="l"/>
            <a:r>
              <a:rPr sz="800" b="1" i="0">
                <a:solidFill>
                  <a:srgbClr val="1F1F1F"/>
                </a:solidFill>
                <a:latin typeface="Calibri"/>
              </a:rPr>
              <a:t>Revenue Growth</a:t>
            </a:r>
          </a:p>
        </p:txBody>
      </p:sp>
      <p:sp>
        <p:nvSpPr>
          <p:cNvPr id="114" name="Rectangle 113"/>
          <p:cNvSpPr/>
          <p:nvPr/>
        </p:nvSpPr>
        <p:spPr>
          <a:xfrm>
            <a:off x="2011680" y="2999232"/>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2048256" y="3017520"/>
            <a:ext cx="1115568" cy="178308"/>
          </a:xfrm>
          <a:prstGeom prst="rect">
            <a:avLst/>
          </a:prstGeom>
          <a:noFill/>
        </p:spPr>
        <p:txBody>
          <a:bodyPr wrap="square">
            <a:spAutoFit/>
          </a:bodyPr>
          <a:lstStyle/>
          <a:p>
            <a:pPr algn="ctr"/>
            <a:r>
              <a:rPr sz="800" b="0" i="0">
                <a:solidFill>
                  <a:srgbClr val="1F1F1F"/>
                </a:solidFill>
                <a:latin typeface="Calibri"/>
              </a:rPr>
              <a:t>122%</a:t>
            </a:r>
          </a:p>
        </p:txBody>
      </p:sp>
      <p:sp>
        <p:nvSpPr>
          <p:cNvPr id="116" name="Rectangle 115"/>
          <p:cNvSpPr/>
          <p:nvPr/>
        </p:nvSpPr>
        <p:spPr>
          <a:xfrm>
            <a:off x="3200400" y="2999232"/>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3236976" y="3017520"/>
            <a:ext cx="1115568" cy="178308"/>
          </a:xfrm>
          <a:prstGeom prst="rect">
            <a:avLst/>
          </a:prstGeom>
          <a:noFill/>
        </p:spPr>
        <p:txBody>
          <a:bodyPr wrap="square">
            <a:spAutoFit/>
          </a:bodyPr>
          <a:lstStyle/>
          <a:p>
            <a:pPr algn="ctr"/>
            <a:r>
              <a:rPr sz="800" b="0" i="0">
                <a:solidFill>
                  <a:srgbClr val="1F1F1F"/>
                </a:solidFill>
                <a:latin typeface="Calibri"/>
              </a:rPr>
              <a:t>114%</a:t>
            </a:r>
          </a:p>
        </p:txBody>
      </p:sp>
      <p:sp>
        <p:nvSpPr>
          <p:cNvPr id="118" name="Rectangle 117"/>
          <p:cNvSpPr/>
          <p:nvPr/>
        </p:nvSpPr>
        <p:spPr>
          <a:xfrm>
            <a:off x="4389120" y="2999232"/>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4425696" y="3017520"/>
            <a:ext cx="1115568" cy="178308"/>
          </a:xfrm>
          <a:prstGeom prst="rect">
            <a:avLst/>
          </a:prstGeom>
          <a:noFill/>
        </p:spPr>
        <p:txBody>
          <a:bodyPr wrap="square">
            <a:spAutoFit/>
          </a:bodyPr>
          <a:lstStyle/>
          <a:p>
            <a:pPr algn="ctr"/>
            <a:r>
              <a:rPr sz="800" b="0" i="0">
                <a:solidFill>
                  <a:srgbClr val="1F1F1F"/>
                </a:solidFill>
                <a:latin typeface="Calibri"/>
              </a:rPr>
              <a:t>65%</a:t>
            </a:r>
          </a:p>
        </p:txBody>
      </p:sp>
      <p:sp>
        <p:nvSpPr>
          <p:cNvPr id="120" name="Rectangle 119"/>
          <p:cNvSpPr/>
          <p:nvPr/>
        </p:nvSpPr>
        <p:spPr>
          <a:xfrm>
            <a:off x="5577840" y="2999232"/>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5614416" y="3017520"/>
            <a:ext cx="1115568" cy="178308"/>
          </a:xfrm>
          <a:prstGeom prst="rect">
            <a:avLst/>
          </a:prstGeom>
          <a:noFill/>
        </p:spPr>
        <p:txBody>
          <a:bodyPr wrap="square">
            <a:spAutoFit/>
          </a:bodyPr>
          <a:lstStyle/>
          <a:p>
            <a:pPr algn="ctr"/>
            <a:r>
              <a:rPr sz="800" b="0" i="0">
                <a:solidFill>
                  <a:srgbClr val="1F1F1F"/>
                </a:solidFill>
                <a:latin typeface="Calibri"/>
              </a:rPr>
              <a:t>30%E</a:t>
            </a:r>
          </a:p>
        </p:txBody>
      </p:sp>
      <p:sp>
        <p:nvSpPr>
          <p:cNvPr id="122" name="Rectangle 121"/>
          <p:cNvSpPr/>
          <p:nvPr/>
        </p:nvSpPr>
        <p:spPr>
          <a:xfrm>
            <a:off x="182880" y="3214116"/>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219456" y="3232404"/>
            <a:ext cx="1755648" cy="178308"/>
          </a:xfrm>
          <a:prstGeom prst="rect">
            <a:avLst/>
          </a:prstGeom>
          <a:noFill/>
        </p:spPr>
        <p:txBody>
          <a:bodyPr wrap="square">
            <a:spAutoFit/>
          </a:bodyPr>
          <a:lstStyle/>
          <a:p>
            <a:pPr algn="l"/>
            <a:r>
              <a:rPr sz="800" b="1" i="0">
                <a:solidFill>
                  <a:srgbClr val="1F1F1F"/>
                </a:solidFill>
                <a:latin typeface="Calibri"/>
              </a:rPr>
              <a:t>EBITDA Margin</a:t>
            </a:r>
          </a:p>
        </p:txBody>
      </p:sp>
      <p:sp>
        <p:nvSpPr>
          <p:cNvPr id="124" name="Rectangle 123"/>
          <p:cNvSpPr/>
          <p:nvPr/>
        </p:nvSpPr>
        <p:spPr>
          <a:xfrm>
            <a:off x="2011680" y="321411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2048256" y="3232404"/>
            <a:ext cx="1115568" cy="178308"/>
          </a:xfrm>
          <a:prstGeom prst="rect">
            <a:avLst/>
          </a:prstGeom>
          <a:noFill/>
        </p:spPr>
        <p:txBody>
          <a:bodyPr wrap="square">
            <a:spAutoFit/>
          </a:bodyPr>
          <a:lstStyle/>
          <a:p>
            <a:pPr algn="ctr"/>
            <a:r>
              <a:rPr sz="800" b="0" i="0">
                <a:solidFill>
                  <a:srgbClr val="1F1F1F"/>
                </a:solidFill>
                <a:latin typeface="Calibri"/>
              </a:rPr>
              <a:t>57.1%</a:t>
            </a:r>
          </a:p>
        </p:txBody>
      </p:sp>
      <p:sp>
        <p:nvSpPr>
          <p:cNvPr id="126" name="Rectangle 125"/>
          <p:cNvSpPr/>
          <p:nvPr/>
        </p:nvSpPr>
        <p:spPr>
          <a:xfrm>
            <a:off x="3200400" y="321411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3236976" y="3232404"/>
            <a:ext cx="1115568" cy="178308"/>
          </a:xfrm>
          <a:prstGeom prst="rect">
            <a:avLst/>
          </a:prstGeom>
          <a:noFill/>
        </p:spPr>
        <p:txBody>
          <a:bodyPr wrap="square">
            <a:spAutoFit/>
          </a:bodyPr>
          <a:lstStyle/>
          <a:p>
            <a:pPr algn="ctr"/>
            <a:r>
              <a:rPr sz="800" b="0" i="0">
                <a:solidFill>
                  <a:srgbClr val="1F1F1F"/>
                </a:solidFill>
                <a:latin typeface="Calibri"/>
              </a:rPr>
              <a:t>66.4%</a:t>
            </a:r>
          </a:p>
        </p:txBody>
      </p:sp>
      <p:sp>
        <p:nvSpPr>
          <p:cNvPr id="128" name="Rectangle 127"/>
          <p:cNvSpPr/>
          <p:nvPr/>
        </p:nvSpPr>
        <p:spPr>
          <a:xfrm>
            <a:off x="4389120" y="321411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4425696" y="3232404"/>
            <a:ext cx="1115568" cy="178308"/>
          </a:xfrm>
          <a:prstGeom prst="rect">
            <a:avLst/>
          </a:prstGeom>
          <a:noFill/>
        </p:spPr>
        <p:txBody>
          <a:bodyPr wrap="square">
            <a:spAutoFit/>
          </a:bodyPr>
          <a:lstStyle/>
          <a:p>
            <a:pPr algn="ctr"/>
            <a:r>
              <a:rPr sz="800" b="0" i="0">
                <a:solidFill>
                  <a:srgbClr val="1F1F1F"/>
                </a:solidFill>
                <a:latin typeface="Calibri"/>
              </a:rPr>
              <a:t>65.4%</a:t>
            </a:r>
          </a:p>
        </p:txBody>
      </p:sp>
      <p:sp>
        <p:nvSpPr>
          <p:cNvPr id="130" name="Rectangle 129"/>
          <p:cNvSpPr/>
          <p:nvPr/>
        </p:nvSpPr>
        <p:spPr>
          <a:xfrm>
            <a:off x="5577840" y="3214116"/>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5614416" y="3232404"/>
            <a:ext cx="1115568" cy="178308"/>
          </a:xfrm>
          <a:prstGeom prst="rect">
            <a:avLst/>
          </a:prstGeom>
          <a:noFill/>
        </p:spPr>
        <p:txBody>
          <a:bodyPr wrap="square">
            <a:spAutoFit/>
          </a:bodyPr>
          <a:lstStyle/>
          <a:p>
            <a:pPr algn="ctr"/>
            <a:r>
              <a:rPr sz="800" b="0" i="0">
                <a:solidFill>
                  <a:srgbClr val="1F1F1F"/>
                </a:solidFill>
                <a:latin typeface="Calibri"/>
              </a:rPr>
              <a:t>65.5%</a:t>
            </a:r>
          </a:p>
        </p:txBody>
      </p:sp>
      <p:sp>
        <p:nvSpPr>
          <p:cNvPr id="132" name="Rectangle 131"/>
          <p:cNvSpPr/>
          <p:nvPr/>
        </p:nvSpPr>
        <p:spPr>
          <a:xfrm>
            <a:off x="182880" y="3429000"/>
            <a:ext cx="182880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219456" y="3447288"/>
            <a:ext cx="1755648" cy="178308"/>
          </a:xfrm>
          <a:prstGeom prst="rect">
            <a:avLst/>
          </a:prstGeom>
          <a:noFill/>
        </p:spPr>
        <p:txBody>
          <a:bodyPr wrap="square">
            <a:spAutoFit/>
          </a:bodyPr>
          <a:lstStyle/>
          <a:p>
            <a:pPr algn="l"/>
            <a:r>
              <a:rPr sz="800" b="1" i="0">
                <a:solidFill>
                  <a:srgbClr val="1F1F1F"/>
                </a:solidFill>
                <a:latin typeface="Calibri"/>
              </a:rPr>
              <a:t>FCF Margin</a:t>
            </a:r>
          </a:p>
        </p:txBody>
      </p:sp>
      <p:sp>
        <p:nvSpPr>
          <p:cNvPr id="134" name="Rectangle 133"/>
          <p:cNvSpPr/>
          <p:nvPr/>
        </p:nvSpPr>
        <p:spPr>
          <a:xfrm>
            <a:off x="2011680" y="342900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2048256" y="3447288"/>
            <a:ext cx="1115568" cy="178308"/>
          </a:xfrm>
          <a:prstGeom prst="rect">
            <a:avLst/>
          </a:prstGeom>
          <a:noFill/>
        </p:spPr>
        <p:txBody>
          <a:bodyPr wrap="square">
            <a:spAutoFit/>
          </a:bodyPr>
          <a:lstStyle/>
          <a:p>
            <a:pPr algn="ctr"/>
            <a:r>
              <a:rPr sz="800" b="0" i="0">
                <a:solidFill>
                  <a:srgbClr val="1F1F1F"/>
                </a:solidFill>
                <a:latin typeface="Calibri"/>
              </a:rPr>
              <a:t>44.4%</a:t>
            </a:r>
          </a:p>
        </p:txBody>
      </p:sp>
      <p:sp>
        <p:nvSpPr>
          <p:cNvPr id="136" name="Rectangle 135"/>
          <p:cNvSpPr/>
          <p:nvPr/>
        </p:nvSpPr>
        <p:spPr>
          <a:xfrm>
            <a:off x="3200400" y="342900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3236976" y="3447288"/>
            <a:ext cx="1115568" cy="178308"/>
          </a:xfrm>
          <a:prstGeom prst="rect">
            <a:avLst/>
          </a:prstGeom>
          <a:noFill/>
        </p:spPr>
        <p:txBody>
          <a:bodyPr wrap="square">
            <a:spAutoFit/>
          </a:bodyPr>
          <a:lstStyle/>
          <a:p>
            <a:pPr algn="ctr"/>
            <a:r>
              <a:rPr sz="800" b="0" i="0">
                <a:solidFill>
                  <a:srgbClr val="1F1F1F"/>
                </a:solidFill>
                <a:latin typeface="Calibri"/>
              </a:rPr>
              <a:t>46.6%</a:t>
            </a:r>
          </a:p>
        </p:txBody>
      </p:sp>
      <p:sp>
        <p:nvSpPr>
          <p:cNvPr id="138" name="Rectangle 137"/>
          <p:cNvSpPr/>
          <p:nvPr/>
        </p:nvSpPr>
        <p:spPr>
          <a:xfrm>
            <a:off x="4389120" y="342900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4425696" y="3447288"/>
            <a:ext cx="1115568" cy="178308"/>
          </a:xfrm>
          <a:prstGeom prst="rect">
            <a:avLst/>
          </a:prstGeom>
          <a:noFill/>
        </p:spPr>
        <p:txBody>
          <a:bodyPr wrap="square">
            <a:spAutoFit/>
          </a:bodyPr>
          <a:lstStyle/>
          <a:p>
            <a:pPr algn="ctr"/>
            <a:r>
              <a:rPr sz="800" b="0" i="0">
                <a:solidFill>
                  <a:srgbClr val="1F1F1F"/>
                </a:solidFill>
                <a:latin typeface="Calibri"/>
              </a:rPr>
              <a:t>44.7%</a:t>
            </a:r>
          </a:p>
        </p:txBody>
      </p:sp>
      <p:sp>
        <p:nvSpPr>
          <p:cNvPr id="140" name="Rectangle 139"/>
          <p:cNvSpPr/>
          <p:nvPr/>
        </p:nvSpPr>
        <p:spPr>
          <a:xfrm>
            <a:off x="5577840" y="3429000"/>
            <a:ext cx="1188720" cy="214884"/>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5614416" y="3447288"/>
            <a:ext cx="1115568" cy="178308"/>
          </a:xfrm>
          <a:prstGeom prst="rect">
            <a:avLst/>
          </a:prstGeom>
          <a:noFill/>
        </p:spPr>
        <p:txBody>
          <a:bodyPr wrap="square">
            <a:spAutoFit/>
          </a:bodyPr>
          <a:lstStyle/>
          <a:p>
            <a:pPr algn="ctr"/>
            <a:r>
              <a:rPr sz="800" b="0" i="0">
                <a:solidFill>
                  <a:srgbClr val="1F1F1F"/>
                </a:solidFill>
                <a:latin typeface="Calibri"/>
              </a:rPr>
              <a:t>44.7%</a:t>
            </a:r>
          </a:p>
        </p:txBody>
      </p:sp>
      <p:sp>
        <p:nvSpPr>
          <p:cNvPr id="142" name="Rectangle 141"/>
          <p:cNvSpPr/>
          <p:nvPr/>
        </p:nvSpPr>
        <p:spPr>
          <a:xfrm>
            <a:off x="182880" y="3643884"/>
            <a:ext cx="182880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219456" y="3662172"/>
            <a:ext cx="1755648" cy="178308"/>
          </a:xfrm>
          <a:prstGeom prst="rect">
            <a:avLst/>
          </a:prstGeom>
          <a:noFill/>
        </p:spPr>
        <p:txBody>
          <a:bodyPr wrap="square">
            <a:spAutoFit/>
          </a:bodyPr>
          <a:lstStyle/>
          <a:p>
            <a:pPr algn="l"/>
            <a:r>
              <a:rPr sz="800" b="1" i="0">
                <a:solidFill>
                  <a:srgbClr val="1F1F1F"/>
                </a:solidFill>
                <a:latin typeface="Calibri"/>
              </a:rPr>
              <a:t>Net Income Margin</a:t>
            </a:r>
          </a:p>
        </p:txBody>
      </p:sp>
      <p:sp>
        <p:nvSpPr>
          <p:cNvPr id="144" name="Rectangle 143"/>
          <p:cNvSpPr/>
          <p:nvPr/>
        </p:nvSpPr>
        <p:spPr>
          <a:xfrm>
            <a:off x="2011680" y="364388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2048256" y="3662172"/>
            <a:ext cx="1115568" cy="178308"/>
          </a:xfrm>
          <a:prstGeom prst="rect">
            <a:avLst/>
          </a:prstGeom>
          <a:noFill/>
        </p:spPr>
        <p:txBody>
          <a:bodyPr wrap="square">
            <a:spAutoFit/>
          </a:bodyPr>
          <a:lstStyle/>
          <a:p>
            <a:pPr algn="ctr"/>
            <a:r>
              <a:rPr sz="800" b="0" i="0">
                <a:solidFill>
                  <a:srgbClr val="1F1F1F"/>
                </a:solidFill>
                <a:latin typeface="Calibri"/>
              </a:rPr>
              <a:t>47.6%</a:t>
            </a:r>
          </a:p>
        </p:txBody>
      </p:sp>
      <p:sp>
        <p:nvSpPr>
          <p:cNvPr id="146" name="Rectangle 145"/>
          <p:cNvSpPr/>
          <p:nvPr/>
        </p:nvSpPr>
        <p:spPr>
          <a:xfrm>
            <a:off x="3200400" y="364388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3236976" y="3662172"/>
            <a:ext cx="1115568" cy="178308"/>
          </a:xfrm>
          <a:prstGeom prst="rect">
            <a:avLst/>
          </a:prstGeom>
          <a:noFill/>
        </p:spPr>
        <p:txBody>
          <a:bodyPr wrap="square">
            <a:spAutoFit/>
          </a:bodyPr>
          <a:lstStyle/>
          <a:p>
            <a:pPr algn="ctr"/>
            <a:r>
              <a:rPr sz="800" b="0" i="0">
                <a:solidFill>
                  <a:srgbClr val="1F1F1F"/>
                </a:solidFill>
                <a:latin typeface="Calibri"/>
              </a:rPr>
              <a:t>55.1%</a:t>
            </a:r>
          </a:p>
        </p:txBody>
      </p:sp>
      <p:sp>
        <p:nvSpPr>
          <p:cNvPr id="148" name="Rectangle 147"/>
          <p:cNvSpPr/>
          <p:nvPr/>
        </p:nvSpPr>
        <p:spPr>
          <a:xfrm>
            <a:off x="4389120" y="364388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4425696" y="3662172"/>
            <a:ext cx="1115568" cy="178308"/>
          </a:xfrm>
          <a:prstGeom prst="rect">
            <a:avLst/>
          </a:prstGeom>
          <a:noFill/>
        </p:spPr>
        <p:txBody>
          <a:bodyPr wrap="square">
            <a:spAutoFit/>
          </a:bodyPr>
          <a:lstStyle/>
          <a:p>
            <a:pPr algn="ctr"/>
            <a:r>
              <a:rPr sz="800" b="0" i="0">
                <a:solidFill>
                  <a:srgbClr val="1F1F1F"/>
                </a:solidFill>
                <a:latin typeface="Calibri"/>
              </a:rPr>
              <a:t>53.1%</a:t>
            </a:r>
          </a:p>
        </p:txBody>
      </p:sp>
      <p:sp>
        <p:nvSpPr>
          <p:cNvPr id="150" name="Rectangle 149"/>
          <p:cNvSpPr/>
          <p:nvPr/>
        </p:nvSpPr>
        <p:spPr>
          <a:xfrm>
            <a:off x="5577840" y="3643884"/>
            <a:ext cx="1188720" cy="214884"/>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5614416" y="3662172"/>
            <a:ext cx="1115568" cy="178308"/>
          </a:xfrm>
          <a:prstGeom prst="rect">
            <a:avLst/>
          </a:prstGeom>
          <a:noFill/>
        </p:spPr>
        <p:txBody>
          <a:bodyPr wrap="square">
            <a:spAutoFit/>
          </a:bodyPr>
          <a:lstStyle/>
          <a:p>
            <a:pPr algn="ctr"/>
            <a:r>
              <a:rPr sz="800" b="0" i="0">
                <a:solidFill>
                  <a:srgbClr val="1F1F1F"/>
                </a:solidFill>
                <a:latin typeface="Calibri"/>
              </a:rPr>
              <a:t>53.2%</a:t>
            </a:r>
          </a:p>
        </p:txBody>
      </p:sp>
      <p:sp>
        <p:nvSpPr>
          <p:cNvPr id="152" name="Rectangle 151"/>
          <p:cNvSpPr/>
          <p:nvPr/>
        </p:nvSpPr>
        <p:spPr>
          <a:xfrm>
            <a:off x="182880" y="4023360"/>
            <a:ext cx="27432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237744" y="4041648"/>
            <a:ext cx="2633472" cy="164592"/>
          </a:xfrm>
          <a:prstGeom prst="rect">
            <a:avLst/>
          </a:prstGeom>
          <a:noFill/>
        </p:spPr>
        <p:txBody>
          <a:bodyPr wrap="square">
            <a:spAutoFit/>
          </a:bodyPr>
          <a:lstStyle/>
          <a:p>
            <a:pPr algn="l"/>
            <a:r>
              <a:rPr sz="750" b="1" i="0">
                <a:solidFill>
                  <a:srgbClr val="FFFFFF"/>
                </a:solidFill>
                <a:latin typeface="Calibri"/>
              </a:rPr>
              <a:t>FIGURE 7: VALUATION MODEL SUMMARY</a:t>
            </a:r>
          </a:p>
        </p:txBody>
      </p:sp>
      <p:sp>
        <p:nvSpPr>
          <p:cNvPr id="154" name="Rectangle 153"/>
          <p:cNvSpPr/>
          <p:nvPr/>
        </p:nvSpPr>
        <p:spPr>
          <a:xfrm>
            <a:off x="182880" y="4251960"/>
            <a:ext cx="2331720" cy="2331720"/>
          </a:xfrm>
          <a:prstGeom prst="rect">
            <a:avLst/>
          </a:prstGeom>
          <a:solidFill>
            <a:srgbClr val="F0F8E0"/>
          </a:solidFill>
          <a:ln w="127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256032" y="4297680"/>
            <a:ext cx="2176272" cy="201168"/>
          </a:xfrm>
          <a:prstGeom prst="rect">
            <a:avLst/>
          </a:prstGeom>
          <a:noFill/>
        </p:spPr>
        <p:txBody>
          <a:bodyPr wrap="square">
            <a:spAutoFit/>
          </a:bodyPr>
          <a:lstStyle/>
          <a:p>
            <a:pPr algn="l"/>
            <a:r>
              <a:rPr sz="850" b="1" i="0">
                <a:solidFill>
                  <a:srgbClr val="76B900"/>
                </a:solidFill>
                <a:latin typeface="Calibri"/>
              </a:rPr>
              <a:t>Free Cash Flow Model (FCFM)</a:t>
            </a:r>
          </a:p>
        </p:txBody>
      </p:sp>
      <p:sp>
        <p:nvSpPr>
          <p:cNvPr id="156" name="TextBox 155"/>
          <p:cNvSpPr txBox="1"/>
          <p:nvPr/>
        </p:nvSpPr>
        <p:spPr>
          <a:xfrm>
            <a:off x="256032" y="4526280"/>
            <a:ext cx="2176272" cy="182880"/>
          </a:xfrm>
          <a:prstGeom prst="rect">
            <a:avLst/>
          </a:prstGeom>
          <a:noFill/>
        </p:spPr>
        <p:txBody>
          <a:bodyPr wrap="square">
            <a:spAutoFit/>
          </a:bodyPr>
          <a:lstStyle/>
          <a:p>
            <a:pPr algn="l"/>
            <a:r>
              <a:rPr sz="780" b="0" i="0">
                <a:solidFill>
                  <a:srgbClr val="1F1F1F"/>
                </a:solidFill>
                <a:latin typeface="Calibri"/>
              </a:rPr>
              <a:t>Base FCF (FY26E): $96,575M</a:t>
            </a:r>
          </a:p>
        </p:txBody>
      </p:sp>
      <p:sp>
        <p:nvSpPr>
          <p:cNvPr id="157" name="TextBox 156"/>
          <p:cNvSpPr txBox="1"/>
          <p:nvPr/>
        </p:nvSpPr>
        <p:spPr>
          <a:xfrm>
            <a:off x="256032" y="4700016"/>
            <a:ext cx="2176272" cy="182880"/>
          </a:xfrm>
          <a:prstGeom prst="rect">
            <a:avLst/>
          </a:prstGeom>
          <a:noFill/>
        </p:spPr>
        <p:txBody>
          <a:bodyPr wrap="square">
            <a:spAutoFit/>
          </a:bodyPr>
          <a:lstStyle/>
          <a:p>
            <a:pPr algn="l"/>
            <a:r>
              <a:rPr sz="780" b="0" i="0">
                <a:solidFill>
                  <a:srgbClr val="1F1F1F"/>
                </a:solidFill>
                <a:latin typeface="Calibri"/>
              </a:rPr>
              <a:t>FCF/Sales Margin (wtd avg): 40.1%</a:t>
            </a:r>
          </a:p>
        </p:txBody>
      </p:sp>
      <p:sp>
        <p:nvSpPr>
          <p:cNvPr id="158" name="TextBox 157"/>
          <p:cNvSpPr txBox="1"/>
          <p:nvPr/>
        </p:nvSpPr>
        <p:spPr>
          <a:xfrm>
            <a:off x="256032" y="4873752"/>
            <a:ext cx="2176272" cy="182880"/>
          </a:xfrm>
          <a:prstGeom prst="rect">
            <a:avLst/>
          </a:prstGeom>
          <a:noFill/>
        </p:spPr>
        <p:txBody>
          <a:bodyPr wrap="square">
            <a:spAutoFit/>
          </a:bodyPr>
          <a:lstStyle/>
          <a:p>
            <a:pPr algn="l"/>
            <a:r>
              <a:rPr sz="780" b="0" i="0">
                <a:solidFill>
                  <a:srgbClr val="1F1F1F"/>
                </a:solidFill>
                <a:latin typeface="Calibri"/>
              </a:rPr>
              <a:t>WACC (Rs): 9.30%</a:t>
            </a:r>
          </a:p>
        </p:txBody>
      </p:sp>
      <p:sp>
        <p:nvSpPr>
          <p:cNvPr id="159" name="TextBox 158"/>
          <p:cNvSpPr txBox="1"/>
          <p:nvPr/>
        </p:nvSpPr>
        <p:spPr>
          <a:xfrm>
            <a:off x="256032" y="5047488"/>
            <a:ext cx="2176272" cy="182880"/>
          </a:xfrm>
          <a:prstGeom prst="rect">
            <a:avLst/>
          </a:prstGeom>
          <a:noFill/>
        </p:spPr>
        <p:txBody>
          <a:bodyPr wrap="square">
            <a:spAutoFit/>
          </a:bodyPr>
          <a:lstStyle/>
          <a:p>
            <a:pPr algn="l"/>
            <a:r>
              <a:rPr sz="780" b="0" i="0">
                <a:solidFill>
                  <a:srgbClr val="1F1F1F"/>
                </a:solidFill>
                <a:latin typeface="Calibri"/>
              </a:rPr>
              <a:t>Growth: 30% (Yrs 1-4) / 5% (Terminal)</a:t>
            </a:r>
          </a:p>
        </p:txBody>
      </p:sp>
      <p:sp>
        <p:nvSpPr>
          <p:cNvPr id="160" name="TextBox 159"/>
          <p:cNvSpPr txBox="1"/>
          <p:nvPr/>
        </p:nvSpPr>
        <p:spPr>
          <a:xfrm>
            <a:off x="256032" y="5221224"/>
            <a:ext cx="2176272" cy="182880"/>
          </a:xfrm>
          <a:prstGeom prst="rect">
            <a:avLst/>
          </a:prstGeom>
          <a:noFill/>
        </p:spPr>
        <p:txBody>
          <a:bodyPr wrap="square">
            <a:spAutoFit/>
          </a:bodyPr>
          <a:lstStyle/>
          <a:p>
            <a:pPr algn="l"/>
            <a:r>
              <a:rPr sz="780" b="0" i="0">
                <a:solidFill>
                  <a:srgbClr val="1F1F1F"/>
                </a:solidFill>
                <a:latin typeface="Calibri"/>
              </a:rPr>
              <a:t>Total Debt: $8,468M</a:t>
            </a:r>
          </a:p>
        </p:txBody>
      </p:sp>
      <p:sp>
        <p:nvSpPr>
          <p:cNvPr id="161" name="TextBox 160"/>
          <p:cNvSpPr txBox="1"/>
          <p:nvPr/>
        </p:nvSpPr>
        <p:spPr>
          <a:xfrm>
            <a:off x="256032" y="5394960"/>
            <a:ext cx="2176272" cy="182880"/>
          </a:xfrm>
          <a:prstGeom prst="rect">
            <a:avLst/>
          </a:prstGeom>
          <a:noFill/>
        </p:spPr>
        <p:txBody>
          <a:bodyPr wrap="square">
            <a:spAutoFit/>
          </a:bodyPr>
          <a:lstStyle/>
          <a:p>
            <a:pPr algn="l"/>
            <a:r>
              <a:rPr sz="780" b="0" i="0">
                <a:solidFill>
                  <a:srgbClr val="1F1F1F"/>
                </a:solidFill>
                <a:latin typeface="Calibri"/>
              </a:rPr>
              <a:t>Shares Outstanding: 24,514M</a:t>
            </a:r>
          </a:p>
        </p:txBody>
      </p:sp>
      <p:sp>
        <p:nvSpPr>
          <p:cNvPr id="162" name="TextBox 161"/>
          <p:cNvSpPr txBox="1"/>
          <p:nvPr/>
        </p:nvSpPr>
        <p:spPr>
          <a:xfrm>
            <a:off x="256032" y="5568696"/>
            <a:ext cx="2176272" cy="182880"/>
          </a:xfrm>
          <a:prstGeom prst="rect">
            <a:avLst/>
          </a:prstGeom>
          <a:noFill/>
        </p:spPr>
        <p:txBody>
          <a:bodyPr wrap="square">
            <a:spAutoFit/>
          </a:bodyPr>
          <a:lstStyle/>
          <a:p>
            <a:pPr algn="l"/>
            <a:endParaRPr/>
          </a:p>
        </p:txBody>
      </p:sp>
      <p:sp>
        <p:nvSpPr>
          <p:cNvPr id="163" name="TextBox 162"/>
          <p:cNvSpPr txBox="1"/>
          <p:nvPr/>
        </p:nvSpPr>
        <p:spPr>
          <a:xfrm>
            <a:off x="256032" y="5742432"/>
            <a:ext cx="2176272" cy="182880"/>
          </a:xfrm>
          <a:prstGeom prst="rect">
            <a:avLst/>
          </a:prstGeom>
          <a:noFill/>
        </p:spPr>
        <p:txBody>
          <a:bodyPr wrap="square">
            <a:spAutoFit/>
          </a:bodyPr>
          <a:lstStyle/>
          <a:p>
            <a:pPr algn="l"/>
            <a:r>
              <a:rPr sz="780" b="1" i="0">
                <a:solidFill>
                  <a:srgbClr val="76B900"/>
                </a:solidFill>
                <a:latin typeface="Calibri"/>
              </a:rPr>
              <a:t>Intrinsic Value (P0): $195.60</a:t>
            </a:r>
          </a:p>
        </p:txBody>
      </p:sp>
      <p:sp>
        <p:nvSpPr>
          <p:cNvPr id="164" name="TextBox 163"/>
          <p:cNvSpPr txBox="1"/>
          <p:nvPr/>
        </p:nvSpPr>
        <p:spPr>
          <a:xfrm>
            <a:off x="256032" y="5916168"/>
            <a:ext cx="2176272" cy="182880"/>
          </a:xfrm>
          <a:prstGeom prst="rect">
            <a:avLst/>
          </a:prstGeom>
          <a:noFill/>
        </p:spPr>
        <p:txBody>
          <a:bodyPr wrap="square">
            <a:spAutoFit/>
          </a:bodyPr>
          <a:lstStyle/>
          <a:p>
            <a:pPr algn="l"/>
            <a:r>
              <a:rPr sz="780" b="1" i="0">
                <a:solidFill>
                  <a:srgbClr val="76B900"/>
                </a:solidFill>
                <a:latin typeface="Calibri"/>
              </a:rPr>
              <a:t>12-Month Target (P1): $216.85</a:t>
            </a:r>
          </a:p>
        </p:txBody>
      </p:sp>
      <p:sp>
        <p:nvSpPr>
          <p:cNvPr id="165" name="TextBox 164"/>
          <p:cNvSpPr txBox="1"/>
          <p:nvPr/>
        </p:nvSpPr>
        <p:spPr>
          <a:xfrm>
            <a:off x="256032" y="6089904"/>
            <a:ext cx="2176272" cy="182880"/>
          </a:xfrm>
          <a:prstGeom prst="rect">
            <a:avLst/>
          </a:prstGeom>
          <a:noFill/>
        </p:spPr>
        <p:txBody>
          <a:bodyPr wrap="square">
            <a:spAutoFit/>
          </a:bodyPr>
          <a:lstStyle/>
          <a:p>
            <a:pPr algn="l"/>
            <a:r>
              <a:rPr sz="780" b="1" i="0">
                <a:solidFill>
                  <a:srgbClr val="76B900"/>
                </a:solidFill>
                <a:latin typeface="Calibri"/>
              </a:rPr>
              <a:t>Upside to Current Price: 22.3%</a:t>
            </a:r>
          </a:p>
        </p:txBody>
      </p:sp>
      <p:sp>
        <p:nvSpPr>
          <p:cNvPr id="166" name="Rectangle 165"/>
          <p:cNvSpPr/>
          <p:nvPr/>
        </p:nvSpPr>
        <p:spPr>
          <a:xfrm>
            <a:off x="2651760" y="4251960"/>
            <a:ext cx="2331720" cy="2331720"/>
          </a:xfrm>
          <a:prstGeom prst="rect">
            <a:avLst/>
          </a:prstGeom>
          <a:solidFill>
            <a:srgbClr val="F0F4F8"/>
          </a:solidFill>
          <a:ln w="1270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TextBox 166"/>
          <p:cNvSpPr txBox="1"/>
          <p:nvPr/>
        </p:nvSpPr>
        <p:spPr>
          <a:xfrm>
            <a:off x="2724912" y="4297680"/>
            <a:ext cx="2176272" cy="201168"/>
          </a:xfrm>
          <a:prstGeom prst="rect">
            <a:avLst/>
          </a:prstGeom>
          <a:noFill/>
        </p:spPr>
        <p:txBody>
          <a:bodyPr wrap="square">
            <a:spAutoFit/>
          </a:bodyPr>
          <a:lstStyle/>
          <a:p>
            <a:pPr algn="l"/>
            <a:r>
              <a:rPr sz="850" b="1" i="0">
                <a:solidFill>
                  <a:srgbClr val="0070C0"/>
                </a:solidFill>
                <a:latin typeface="Calibri"/>
              </a:rPr>
              <a:t>Residual Income Model (RIM)</a:t>
            </a:r>
          </a:p>
        </p:txBody>
      </p:sp>
      <p:sp>
        <p:nvSpPr>
          <p:cNvPr id="168" name="TextBox 167"/>
          <p:cNvSpPr txBox="1"/>
          <p:nvPr/>
        </p:nvSpPr>
        <p:spPr>
          <a:xfrm>
            <a:off x="2724912" y="4526280"/>
            <a:ext cx="2176272" cy="182880"/>
          </a:xfrm>
          <a:prstGeom prst="rect">
            <a:avLst/>
          </a:prstGeom>
          <a:noFill/>
        </p:spPr>
        <p:txBody>
          <a:bodyPr wrap="square">
            <a:spAutoFit/>
          </a:bodyPr>
          <a:lstStyle/>
          <a:p>
            <a:pPr algn="l"/>
            <a:r>
              <a:rPr sz="750" b="0" i="0">
                <a:solidFill>
                  <a:srgbClr val="1F1F1F"/>
                </a:solidFill>
                <a:latin typeface="Calibri"/>
              </a:rPr>
              <a:t>BVPS (FY26E): $6.46</a:t>
            </a:r>
          </a:p>
        </p:txBody>
      </p:sp>
      <p:sp>
        <p:nvSpPr>
          <p:cNvPr id="169" name="TextBox 168"/>
          <p:cNvSpPr txBox="1"/>
          <p:nvPr/>
        </p:nvSpPr>
        <p:spPr>
          <a:xfrm>
            <a:off x="2724912" y="4700016"/>
            <a:ext cx="2176272" cy="182880"/>
          </a:xfrm>
          <a:prstGeom prst="rect">
            <a:avLst/>
          </a:prstGeom>
          <a:noFill/>
        </p:spPr>
        <p:txBody>
          <a:bodyPr wrap="square">
            <a:spAutoFit/>
          </a:bodyPr>
          <a:lstStyle/>
          <a:p>
            <a:pPr algn="l"/>
            <a:r>
              <a:rPr sz="750" b="0" i="0">
                <a:solidFill>
                  <a:srgbClr val="1F1F1F"/>
                </a:solidFill>
                <a:latin typeface="Calibri"/>
              </a:rPr>
              <a:t>Rs (CAPM simplified): 9.30%</a:t>
            </a:r>
          </a:p>
        </p:txBody>
      </p:sp>
      <p:sp>
        <p:nvSpPr>
          <p:cNvPr id="170" name="TextBox 169"/>
          <p:cNvSpPr txBox="1"/>
          <p:nvPr/>
        </p:nvSpPr>
        <p:spPr>
          <a:xfrm>
            <a:off x="2724912" y="4873752"/>
            <a:ext cx="2176272" cy="182880"/>
          </a:xfrm>
          <a:prstGeom prst="rect">
            <a:avLst/>
          </a:prstGeom>
          <a:noFill/>
        </p:spPr>
        <p:txBody>
          <a:bodyPr wrap="square">
            <a:spAutoFit/>
          </a:bodyPr>
          <a:lstStyle/>
          <a:p>
            <a:pPr algn="l"/>
            <a:r>
              <a:rPr sz="750" b="0" i="0">
                <a:solidFill>
                  <a:srgbClr val="1F1F1F"/>
                </a:solidFill>
                <a:latin typeface="Calibri"/>
              </a:rPr>
              <a:t>ROE (Residual Income driven)</a:t>
            </a:r>
          </a:p>
        </p:txBody>
      </p:sp>
      <p:sp>
        <p:nvSpPr>
          <p:cNvPr id="171" name="TextBox 170"/>
          <p:cNvSpPr txBox="1"/>
          <p:nvPr/>
        </p:nvSpPr>
        <p:spPr>
          <a:xfrm>
            <a:off x="2724912" y="5047488"/>
            <a:ext cx="2176272" cy="182880"/>
          </a:xfrm>
          <a:prstGeom prst="rect">
            <a:avLst/>
          </a:prstGeom>
          <a:noFill/>
        </p:spPr>
        <p:txBody>
          <a:bodyPr wrap="square">
            <a:spAutoFit/>
          </a:bodyPr>
          <a:lstStyle/>
          <a:p>
            <a:pPr algn="l"/>
            <a:endParaRPr/>
          </a:p>
        </p:txBody>
      </p:sp>
      <p:sp>
        <p:nvSpPr>
          <p:cNvPr id="172" name="TextBox 171"/>
          <p:cNvSpPr txBox="1"/>
          <p:nvPr/>
        </p:nvSpPr>
        <p:spPr>
          <a:xfrm>
            <a:off x="2724912" y="5221224"/>
            <a:ext cx="2176272" cy="182880"/>
          </a:xfrm>
          <a:prstGeom prst="rect">
            <a:avLst/>
          </a:prstGeom>
          <a:noFill/>
        </p:spPr>
        <p:txBody>
          <a:bodyPr wrap="square">
            <a:spAutoFit/>
          </a:bodyPr>
          <a:lstStyle/>
          <a:p>
            <a:pPr algn="l"/>
            <a:r>
              <a:rPr sz="750" b="0" i="0">
                <a:solidFill>
                  <a:srgbClr val="1F1F1F"/>
                </a:solidFill>
                <a:latin typeface="Calibri"/>
              </a:rPr>
              <a:t>Intrinsic Value (P0): N/A (see note)</a:t>
            </a:r>
          </a:p>
        </p:txBody>
      </p:sp>
      <p:sp>
        <p:nvSpPr>
          <p:cNvPr id="173" name="TextBox 172"/>
          <p:cNvSpPr txBox="1"/>
          <p:nvPr/>
        </p:nvSpPr>
        <p:spPr>
          <a:xfrm>
            <a:off x="2724912" y="5394960"/>
            <a:ext cx="2176272" cy="182880"/>
          </a:xfrm>
          <a:prstGeom prst="rect">
            <a:avLst/>
          </a:prstGeom>
          <a:noFill/>
        </p:spPr>
        <p:txBody>
          <a:bodyPr wrap="square">
            <a:spAutoFit/>
          </a:bodyPr>
          <a:lstStyle/>
          <a:p>
            <a:pPr algn="l"/>
            <a:r>
              <a:rPr sz="750" b="0" i="0">
                <a:solidFill>
                  <a:srgbClr val="1F1F1F"/>
                </a:solidFill>
                <a:latin typeface="Calibri"/>
              </a:rPr>
              <a:t>12-Month Target (P1): N/A</a:t>
            </a:r>
          </a:p>
        </p:txBody>
      </p:sp>
      <p:sp>
        <p:nvSpPr>
          <p:cNvPr id="174" name="TextBox 173"/>
          <p:cNvSpPr txBox="1"/>
          <p:nvPr/>
        </p:nvSpPr>
        <p:spPr>
          <a:xfrm>
            <a:off x="2724912" y="5568696"/>
            <a:ext cx="2176272" cy="182880"/>
          </a:xfrm>
          <a:prstGeom prst="rect">
            <a:avLst/>
          </a:prstGeom>
          <a:noFill/>
        </p:spPr>
        <p:txBody>
          <a:bodyPr wrap="square">
            <a:spAutoFit/>
          </a:bodyPr>
          <a:lstStyle/>
          <a:p>
            <a:pPr algn="l"/>
            <a:endParaRPr/>
          </a:p>
        </p:txBody>
      </p:sp>
      <p:sp>
        <p:nvSpPr>
          <p:cNvPr id="175" name="TextBox 174"/>
          <p:cNvSpPr txBox="1"/>
          <p:nvPr/>
        </p:nvSpPr>
        <p:spPr>
          <a:xfrm>
            <a:off x="2724912" y="5742432"/>
            <a:ext cx="2176272" cy="182880"/>
          </a:xfrm>
          <a:prstGeom prst="rect">
            <a:avLst/>
          </a:prstGeom>
          <a:noFill/>
        </p:spPr>
        <p:txBody>
          <a:bodyPr wrap="square">
            <a:spAutoFit/>
          </a:bodyPr>
          <a:lstStyle/>
          <a:p>
            <a:pPr algn="l"/>
            <a:r>
              <a:rPr sz="750" b="1" i="0">
                <a:solidFill>
                  <a:srgbClr val="C00000"/>
                </a:solidFill>
                <a:latin typeface="Calibri"/>
              </a:rPr>
              <a:t>Note: RIM not meaningful for NVDA.</a:t>
            </a:r>
          </a:p>
        </p:txBody>
      </p:sp>
      <p:sp>
        <p:nvSpPr>
          <p:cNvPr id="176" name="TextBox 175"/>
          <p:cNvSpPr txBox="1"/>
          <p:nvPr/>
        </p:nvSpPr>
        <p:spPr>
          <a:xfrm>
            <a:off x="2724912" y="5916168"/>
            <a:ext cx="2176272" cy="182880"/>
          </a:xfrm>
          <a:prstGeom prst="rect">
            <a:avLst/>
          </a:prstGeom>
          <a:noFill/>
        </p:spPr>
        <p:txBody>
          <a:bodyPr wrap="square">
            <a:spAutoFit/>
          </a:bodyPr>
          <a:lstStyle/>
          <a:p>
            <a:pPr algn="l"/>
            <a:r>
              <a:rPr sz="750" b="0" i="0">
                <a:solidFill>
                  <a:srgbClr val="1F1F1F"/>
                </a:solidFill>
                <a:latin typeface="Calibri"/>
              </a:rPr>
              <a:t>BVPS of $6.46 is artificially low</a:t>
            </a:r>
          </a:p>
        </p:txBody>
      </p:sp>
      <p:sp>
        <p:nvSpPr>
          <p:cNvPr id="177" name="TextBox 176"/>
          <p:cNvSpPr txBox="1"/>
          <p:nvPr/>
        </p:nvSpPr>
        <p:spPr>
          <a:xfrm>
            <a:off x="2724912" y="6089904"/>
            <a:ext cx="2176272" cy="182880"/>
          </a:xfrm>
          <a:prstGeom prst="rect">
            <a:avLst/>
          </a:prstGeom>
          <a:noFill/>
        </p:spPr>
        <p:txBody>
          <a:bodyPr wrap="square">
            <a:spAutoFit/>
          </a:bodyPr>
          <a:lstStyle/>
          <a:p>
            <a:pPr algn="l"/>
            <a:r>
              <a:rPr sz="750" b="0" i="0">
                <a:solidFill>
                  <a:srgbClr val="1F1F1F"/>
                </a:solidFill>
                <a:latin typeface="Calibri"/>
              </a:rPr>
              <a:t>due to the fabless manufacturing</a:t>
            </a:r>
          </a:p>
        </p:txBody>
      </p:sp>
      <p:sp>
        <p:nvSpPr>
          <p:cNvPr id="178" name="TextBox 177"/>
          <p:cNvSpPr txBox="1"/>
          <p:nvPr/>
        </p:nvSpPr>
        <p:spPr>
          <a:xfrm>
            <a:off x="2724912" y="6263640"/>
            <a:ext cx="2176272" cy="182880"/>
          </a:xfrm>
          <a:prstGeom prst="rect">
            <a:avLst/>
          </a:prstGeom>
          <a:noFill/>
        </p:spPr>
        <p:txBody>
          <a:bodyPr wrap="square">
            <a:spAutoFit/>
          </a:bodyPr>
          <a:lstStyle/>
          <a:p>
            <a:pPr algn="l"/>
            <a:r>
              <a:rPr sz="750" b="0" i="0">
                <a:solidFill>
                  <a:srgbClr val="1F1F1F"/>
                </a:solidFill>
                <a:latin typeface="Calibri"/>
              </a:rPr>
              <a:t>model and $40B+ annual buybacks,</a:t>
            </a:r>
          </a:p>
        </p:txBody>
      </p:sp>
      <p:sp>
        <p:nvSpPr>
          <p:cNvPr id="179" name="TextBox 178"/>
          <p:cNvSpPr txBox="1"/>
          <p:nvPr/>
        </p:nvSpPr>
        <p:spPr>
          <a:xfrm>
            <a:off x="2724912" y="6437376"/>
            <a:ext cx="2176272" cy="182880"/>
          </a:xfrm>
          <a:prstGeom prst="rect">
            <a:avLst/>
          </a:prstGeom>
          <a:noFill/>
        </p:spPr>
        <p:txBody>
          <a:bodyPr wrap="square">
            <a:spAutoFit/>
          </a:bodyPr>
          <a:lstStyle/>
          <a:p>
            <a:pPr algn="l"/>
            <a:r>
              <a:rPr sz="750" b="0" i="0">
                <a:solidFill>
                  <a:srgbClr val="1F1F1F"/>
                </a:solidFill>
                <a:latin typeface="Calibri"/>
              </a:rPr>
              <a:t>which suppress book equity.</a:t>
            </a:r>
          </a:p>
        </p:txBody>
      </p:sp>
      <p:sp>
        <p:nvSpPr>
          <p:cNvPr id="180" name="Rectangle 179"/>
          <p:cNvSpPr/>
          <p:nvPr/>
        </p:nvSpPr>
        <p:spPr>
          <a:xfrm>
            <a:off x="5120640" y="4251960"/>
            <a:ext cx="2468880" cy="2331720"/>
          </a:xfrm>
          <a:prstGeom prst="rect">
            <a:avLst/>
          </a:prstGeom>
          <a:solidFill>
            <a:srgbClr val="F8F5E0"/>
          </a:solidFill>
          <a:ln w="127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1" name="TextBox 180"/>
          <p:cNvSpPr txBox="1"/>
          <p:nvPr/>
        </p:nvSpPr>
        <p:spPr>
          <a:xfrm>
            <a:off x="5193792" y="4297680"/>
            <a:ext cx="2304288" cy="201168"/>
          </a:xfrm>
          <a:prstGeom prst="rect">
            <a:avLst/>
          </a:prstGeom>
          <a:noFill/>
        </p:spPr>
        <p:txBody>
          <a:bodyPr wrap="square">
            <a:spAutoFit/>
          </a:bodyPr>
          <a:lstStyle/>
          <a:p>
            <a:pPr algn="l"/>
            <a:r>
              <a:rPr sz="850" b="1" i="0">
                <a:solidFill>
                  <a:srgbClr val="A07A00"/>
                </a:solidFill>
                <a:latin typeface="Calibri"/>
              </a:rPr>
              <a:t>Market Multipliers (Comps)</a:t>
            </a:r>
          </a:p>
        </p:txBody>
      </p:sp>
      <p:sp>
        <p:nvSpPr>
          <p:cNvPr id="182" name="TextBox 181"/>
          <p:cNvSpPr txBox="1"/>
          <p:nvPr/>
        </p:nvSpPr>
        <p:spPr>
          <a:xfrm>
            <a:off x="5193792" y="4526280"/>
            <a:ext cx="2304288" cy="182880"/>
          </a:xfrm>
          <a:prstGeom prst="rect">
            <a:avLst/>
          </a:prstGeom>
          <a:noFill/>
        </p:spPr>
        <p:txBody>
          <a:bodyPr wrap="square">
            <a:spAutoFit/>
          </a:bodyPr>
          <a:lstStyle/>
          <a:p>
            <a:pPr algn="l"/>
            <a:r>
              <a:rPr sz="750" b="0" i="0">
                <a:solidFill>
                  <a:srgbClr val="1F1F1F"/>
                </a:solidFill>
                <a:latin typeface="Calibri"/>
              </a:rPr>
              <a:t>Comp Set: AMD, AVGO, INTC</a:t>
            </a:r>
          </a:p>
        </p:txBody>
      </p:sp>
      <p:sp>
        <p:nvSpPr>
          <p:cNvPr id="183" name="TextBox 182"/>
          <p:cNvSpPr txBox="1"/>
          <p:nvPr/>
        </p:nvSpPr>
        <p:spPr>
          <a:xfrm>
            <a:off x="5193792" y="4700016"/>
            <a:ext cx="2304288" cy="182880"/>
          </a:xfrm>
          <a:prstGeom prst="rect">
            <a:avLst/>
          </a:prstGeom>
          <a:noFill/>
        </p:spPr>
        <p:txBody>
          <a:bodyPr wrap="square">
            <a:spAutoFit/>
          </a:bodyPr>
          <a:lstStyle/>
          <a:p>
            <a:pPr algn="l"/>
            <a:endParaRPr/>
          </a:p>
        </p:txBody>
      </p:sp>
      <p:sp>
        <p:nvSpPr>
          <p:cNvPr id="184" name="TextBox 183"/>
          <p:cNvSpPr txBox="1"/>
          <p:nvPr/>
        </p:nvSpPr>
        <p:spPr>
          <a:xfrm>
            <a:off x="5193792" y="4873752"/>
            <a:ext cx="2304288" cy="182880"/>
          </a:xfrm>
          <a:prstGeom prst="rect">
            <a:avLst/>
          </a:prstGeom>
          <a:noFill/>
        </p:spPr>
        <p:txBody>
          <a:bodyPr wrap="square">
            <a:spAutoFit/>
          </a:bodyPr>
          <a:lstStyle/>
          <a:p>
            <a:pPr algn="l"/>
            <a:r>
              <a:rPr sz="750" b="0" i="0">
                <a:solidFill>
                  <a:srgbClr val="1F1F1F"/>
                </a:solidFill>
                <a:latin typeface="Calibri"/>
              </a:rPr>
              <a:t>P/B:    $0.58    (AMD/AVGO/INTC)</a:t>
            </a:r>
          </a:p>
        </p:txBody>
      </p:sp>
      <p:sp>
        <p:nvSpPr>
          <p:cNvPr id="185" name="TextBox 184"/>
          <p:cNvSpPr txBox="1"/>
          <p:nvPr/>
        </p:nvSpPr>
        <p:spPr>
          <a:xfrm>
            <a:off x="5193792" y="5047488"/>
            <a:ext cx="2304288" cy="182880"/>
          </a:xfrm>
          <a:prstGeom prst="rect">
            <a:avLst/>
          </a:prstGeom>
          <a:noFill/>
        </p:spPr>
        <p:txBody>
          <a:bodyPr wrap="square">
            <a:spAutoFit/>
          </a:bodyPr>
          <a:lstStyle/>
          <a:p>
            <a:pPr algn="l"/>
            <a:r>
              <a:rPr sz="750" b="0" i="0">
                <a:solidFill>
                  <a:srgbClr val="1F1F1F"/>
                </a:solidFill>
                <a:latin typeface="Calibri"/>
              </a:rPr>
              <a:t>P/Sales: $57.01  (AMD/AVGO avg)</a:t>
            </a:r>
          </a:p>
        </p:txBody>
      </p:sp>
      <p:sp>
        <p:nvSpPr>
          <p:cNvPr id="186" name="TextBox 185"/>
          <p:cNvSpPr txBox="1"/>
          <p:nvPr/>
        </p:nvSpPr>
        <p:spPr>
          <a:xfrm>
            <a:off x="5193792" y="5221224"/>
            <a:ext cx="2304288" cy="182880"/>
          </a:xfrm>
          <a:prstGeom prst="rect">
            <a:avLst/>
          </a:prstGeom>
          <a:noFill/>
        </p:spPr>
        <p:txBody>
          <a:bodyPr wrap="square">
            <a:spAutoFit/>
          </a:bodyPr>
          <a:lstStyle/>
          <a:p>
            <a:pPr algn="l"/>
            <a:r>
              <a:rPr sz="750" b="0" i="0">
                <a:solidFill>
                  <a:srgbClr val="1F1F1F"/>
                </a:solidFill>
                <a:latin typeface="Calibri"/>
              </a:rPr>
              <a:t>P/EPS:   $301.92 (AMD/AVGO avg)</a:t>
            </a:r>
          </a:p>
        </p:txBody>
      </p:sp>
      <p:sp>
        <p:nvSpPr>
          <p:cNvPr id="187" name="TextBox 186"/>
          <p:cNvSpPr txBox="1"/>
          <p:nvPr/>
        </p:nvSpPr>
        <p:spPr>
          <a:xfrm>
            <a:off x="5193792" y="5394960"/>
            <a:ext cx="2304288" cy="182880"/>
          </a:xfrm>
          <a:prstGeom prst="rect">
            <a:avLst/>
          </a:prstGeom>
          <a:noFill/>
        </p:spPr>
        <p:txBody>
          <a:bodyPr wrap="square">
            <a:spAutoFit/>
          </a:bodyPr>
          <a:lstStyle/>
          <a:p>
            <a:pPr algn="l"/>
            <a:r>
              <a:rPr sz="750" b="0" i="0">
                <a:solidFill>
                  <a:srgbClr val="1F1F1F"/>
                </a:solidFill>
                <a:latin typeface="Calibri"/>
              </a:rPr>
              <a:t>P/FCF:   $207.25 (AMD/AVGO avg)</a:t>
            </a:r>
          </a:p>
        </p:txBody>
      </p:sp>
      <p:sp>
        <p:nvSpPr>
          <p:cNvPr id="188" name="TextBox 187"/>
          <p:cNvSpPr txBox="1"/>
          <p:nvPr/>
        </p:nvSpPr>
        <p:spPr>
          <a:xfrm>
            <a:off x="5193792" y="5568696"/>
            <a:ext cx="2304288" cy="182880"/>
          </a:xfrm>
          <a:prstGeom prst="rect">
            <a:avLst/>
          </a:prstGeom>
          <a:noFill/>
        </p:spPr>
        <p:txBody>
          <a:bodyPr wrap="square">
            <a:spAutoFit/>
          </a:bodyPr>
          <a:lstStyle/>
          <a:p>
            <a:pPr algn="l"/>
            <a:r>
              <a:rPr sz="750" b="0" i="0">
                <a:solidFill>
                  <a:srgbClr val="1F1F1F"/>
                </a:solidFill>
                <a:latin typeface="Calibri"/>
              </a:rPr>
              <a:t>P/EBITDA:$147.10 (all three)</a:t>
            </a:r>
          </a:p>
        </p:txBody>
      </p:sp>
      <p:sp>
        <p:nvSpPr>
          <p:cNvPr id="189" name="TextBox 188"/>
          <p:cNvSpPr txBox="1"/>
          <p:nvPr/>
        </p:nvSpPr>
        <p:spPr>
          <a:xfrm>
            <a:off x="5193792" y="5742432"/>
            <a:ext cx="2304288" cy="182880"/>
          </a:xfrm>
          <a:prstGeom prst="rect">
            <a:avLst/>
          </a:prstGeom>
          <a:noFill/>
        </p:spPr>
        <p:txBody>
          <a:bodyPr wrap="square">
            <a:spAutoFit/>
          </a:bodyPr>
          <a:lstStyle/>
          <a:p>
            <a:pPr algn="l"/>
            <a:endParaRPr/>
          </a:p>
        </p:txBody>
      </p:sp>
      <p:sp>
        <p:nvSpPr>
          <p:cNvPr id="190" name="TextBox 189"/>
          <p:cNvSpPr txBox="1"/>
          <p:nvPr/>
        </p:nvSpPr>
        <p:spPr>
          <a:xfrm>
            <a:off x="5193792" y="5916168"/>
            <a:ext cx="2304288" cy="182880"/>
          </a:xfrm>
          <a:prstGeom prst="rect">
            <a:avLst/>
          </a:prstGeom>
          <a:noFill/>
        </p:spPr>
        <p:txBody>
          <a:bodyPr wrap="square">
            <a:spAutoFit/>
          </a:bodyPr>
          <a:lstStyle/>
          <a:p>
            <a:pPr algn="l"/>
            <a:r>
              <a:rPr sz="750" b="1" i="0">
                <a:solidFill>
                  <a:srgbClr val="A07A00"/>
                </a:solidFill>
                <a:latin typeface="Calibri"/>
              </a:rPr>
              <a:t>Simple Average: $142.77</a:t>
            </a:r>
          </a:p>
        </p:txBody>
      </p:sp>
      <p:sp>
        <p:nvSpPr>
          <p:cNvPr id="191" name="TextBox 190"/>
          <p:cNvSpPr txBox="1"/>
          <p:nvPr/>
        </p:nvSpPr>
        <p:spPr>
          <a:xfrm>
            <a:off x="5193792" y="6089904"/>
            <a:ext cx="2304288" cy="182880"/>
          </a:xfrm>
          <a:prstGeom prst="rect">
            <a:avLst/>
          </a:prstGeom>
          <a:noFill/>
        </p:spPr>
        <p:txBody>
          <a:bodyPr wrap="square">
            <a:spAutoFit/>
          </a:bodyPr>
          <a:lstStyle/>
          <a:p>
            <a:pPr algn="l"/>
            <a:r>
              <a:rPr sz="750" b="0" i="0">
                <a:solidFill>
                  <a:srgbClr val="1F1F1F"/>
                </a:solidFill>
                <a:latin typeface="Calibri"/>
              </a:rPr>
              <a:t>Excl. P/B &amp; P/EPS outliers:</a:t>
            </a:r>
          </a:p>
        </p:txBody>
      </p:sp>
      <p:sp>
        <p:nvSpPr>
          <p:cNvPr id="192" name="TextBox 191"/>
          <p:cNvSpPr txBox="1"/>
          <p:nvPr/>
        </p:nvSpPr>
        <p:spPr>
          <a:xfrm>
            <a:off x="5193792" y="6263640"/>
            <a:ext cx="2304288" cy="182880"/>
          </a:xfrm>
          <a:prstGeom prst="rect">
            <a:avLst/>
          </a:prstGeom>
          <a:noFill/>
        </p:spPr>
        <p:txBody>
          <a:bodyPr wrap="square">
            <a:spAutoFit/>
          </a:bodyPr>
          <a:lstStyle/>
          <a:p>
            <a:pPr algn="l"/>
            <a:r>
              <a:rPr sz="750" b="1" i="0">
                <a:solidFill>
                  <a:srgbClr val="A07A00"/>
                </a:solidFill>
                <a:latin typeface="Calibri"/>
              </a:rPr>
              <a:t>Adjusted Average: $183.63</a:t>
            </a:r>
          </a:p>
        </p:txBody>
      </p:sp>
      <p:sp>
        <p:nvSpPr>
          <p:cNvPr id="193" name="Rectangle 192"/>
          <p:cNvSpPr/>
          <p:nvPr/>
        </p:nvSpPr>
        <p:spPr>
          <a:xfrm>
            <a:off x="182880" y="6675120"/>
            <a:ext cx="32004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237744" y="6693408"/>
            <a:ext cx="3090672" cy="164592"/>
          </a:xfrm>
          <a:prstGeom prst="rect">
            <a:avLst/>
          </a:prstGeom>
          <a:noFill/>
        </p:spPr>
        <p:txBody>
          <a:bodyPr wrap="square">
            <a:spAutoFit/>
          </a:bodyPr>
          <a:lstStyle/>
          <a:p>
            <a:pPr algn="l"/>
            <a:r>
              <a:rPr sz="750" b="1" i="0">
                <a:solidFill>
                  <a:srgbClr val="FFFFFF"/>
                </a:solidFill>
                <a:latin typeface="Calibri"/>
              </a:rPr>
              <a:t>FIGURE 8: VALUATION SUMMARY VS. CURRENT PRICE</a:t>
            </a:r>
          </a:p>
        </p:txBody>
      </p:sp>
      <p:pic>
        <p:nvPicPr>
          <p:cNvPr id="195" name="Picture 194" descr="image.png"/>
          <p:cNvPicPr>
            <a:picLocks noChangeAspect="1"/>
          </p:cNvPicPr>
          <p:nvPr/>
        </p:nvPicPr>
        <p:blipFill>
          <a:blip r:embed="rId2"/>
          <a:stretch>
            <a:fillRect/>
          </a:stretch>
        </p:blipFill>
        <p:spPr>
          <a:xfrm>
            <a:off x="182880" y="6903720"/>
            <a:ext cx="3840480" cy="2148840"/>
          </a:xfrm>
          <a:prstGeom prst="rect">
            <a:avLst/>
          </a:prstGeom>
        </p:spPr>
      </p:pic>
      <p:sp>
        <p:nvSpPr>
          <p:cNvPr id="196" name="Rectangle 195"/>
          <p:cNvSpPr/>
          <p:nvPr/>
        </p:nvSpPr>
        <p:spPr>
          <a:xfrm>
            <a:off x="4160520" y="6675120"/>
            <a:ext cx="256032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7" name="TextBox 196"/>
          <p:cNvSpPr txBox="1"/>
          <p:nvPr/>
        </p:nvSpPr>
        <p:spPr>
          <a:xfrm>
            <a:off x="4215384" y="6693408"/>
            <a:ext cx="2450592" cy="164592"/>
          </a:xfrm>
          <a:prstGeom prst="rect">
            <a:avLst/>
          </a:prstGeom>
          <a:noFill/>
        </p:spPr>
        <p:txBody>
          <a:bodyPr wrap="square">
            <a:spAutoFit/>
          </a:bodyPr>
          <a:lstStyle/>
          <a:p>
            <a:pPr algn="l"/>
            <a:r>
              <a:rPr sz="750" b="1" i="0">
                <a:solidFill>
                  <a:srgbClr val="FFFFFF"/>
                </a:solidFill>
                <a:latin typeface="Calibri"/>
              </a:rPr>
              <a:t>PRICE TARGET DERIVATION</a:t>
            </a:r>
          </a:p>
        </p:txBody>
      </p:sp>
      <p:sp>
        <p:nvSpPr>
          <p:cNvPr id="198" name="TextBox 197"/>
          <p:cNvSpPr txBox="1"/>
          <p:nvPr/>
        </p:nvSpPr>
        <p:spPr>
          <a:xfrm>
            <a:off x="4160520" y="6903720"/>
            <a:ext cx="3429000" cy="2148840"/>
          </a:xfrm>
          <a:prstGeom prst="rect">
            <a:avLst/>
          </a:prstGeom>
          <a:noFill/>
        </p:spPr>
        <p:txBody>
          <a:bodyPr wrap="square">
            <a:spAutoFit/>
          </a:bodyPr>
          <a:lstStyle/>
          <a:p>
            <a:pPr algn="l"/>
            <a:r>
              <a:rPr sz="780" b="0" i="0">
                <a:solidFill>
                  <a:srgbClr val="1F1F1F"/>
                </a:solidFill>
                <a:latin typeface="Calibri"/>
              </a:rPr>
              <a:t>Our 12-month price target of $220.00 is derived from a weighted blend of three methodologies. The Free Cash Flow Model yields a one-year forward intrinsic value of $216.85, based on a 9.30 percent WACC, a 30 percent near-term growth assumption for fiscal years 2027 through 2030, and a 5 percent terminal growth rate. The Market Multipliers composite, computed as the average of sector-adjusted P/Sales and P/FCF multiples applied to NVDA's FY26E per-share metrics, yields $183.63. A forward P/E multiple of 30x applied to our FY27E Non-GAAP EPS estimate of $6.19 yields an implied price of $231.00, consistent with the lower end of the historical growth-adjusted multiple range for NVDA during periods of decelerating but still high revenue growth.
Blending these three estimates with equal weighting produces an average of approximately $210.49. We apply a modest upward adjustment to $220.00 to reflect the conservative nature of our 30 percent growth assumption, which sits materially below the consensus estimate of 45 to 50 percent for fiscal year 2027, and to account for the optionality embedded in NVIDIA's sovereign AI and automotive pipeline.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64008"/>
            <a:ext cx="3200400" cy="384048"/>
          </a:xfrm>
          <a:prstGeom prst="rect">
            <a:avLst/>
          </a:prstGeom>
          <a:noFill/>
        </p:spPr>
        <p:txBody>
          <a:bodyPr wrap="square">
            <a:spAutoFit/>
          </a:bodyPr>
          <a:lstStyle/>
          <a:p>
            <a:pPr algn="l"/>
            <a:r>
              <a:rPr sz="1000" b="1" i="0">
                <a:solidFill>
                  <a:srgbClr val="FFFFFF"/>
                </a:solidFill>
                <a:latin typeface="Calibri"/>
              </a:rPr>
              <a:t>NVDA  |  EQUITY RESEARCH</a:t>
            </a:r>
          </a:p>
        </p:txBody>
      </p:sp>
      <p:sp>
        <p:nvSpPr>
          <p:cNvPr id="4" name="TextBox 3"/>
          <p:cNvSpPr txBox="1"/>
          <p:nvPr/>
        </p:nvSpPr>
        <p:spPr>
          <a:xfrm>
            <a:off x="2286000" y="64008"/>
            <a:ext cx="4114800" cy="384048"/>
          </a:xfrm>
          <a:prstGeom prst="rect">
            <a:avLst/>
          </a:prstGeom>
          <a:noFill/>
        </p:spPr>
        <p:txBody>
          <a:bodyPr wrap="square">
            <a:spAutoFit/>
          </a:bodyPr>
          <a:lstStyle/>
          <a:p>
            <a:pPr algn="ctr"/>
            <a:r>
              <a:rPr sz="1100" b="1" i="0">
                <a:solidFill>
                  <a:srgbClr val="76B900"/>
                </a:solidFill>
                <a:latin typeface="Calibri"/>
              </a:rPr>
              <a:t>INVESTMENT RISKS</a:t>
            </a:r>
          </a:p>
        </p:txBody>
      </p:sp>
      <p:sp>
        <p:nvSpPr>
          <p:cNvPr id="5" name="TextBox 4"/>
          <p:cNvSpPr txBox="1"/>
          <p:nvPr/>
        </p:nvSpPr>
        <p:spPr>
          <a:xfrm>
            <a:off x="5669280" y="64008"/>
            <a:ext cx="1920240" cy="384048"/>
          </a:xfrm>
          <a:prstGeom prst="rect">
            <a:avLst/>
          </a:prstGeom>
          <a:noFill/>
        </p:spPr>
        <p:txBody>
          <a:bodyPr wrap="square">
            <a:spAutoFit/>
          </a:bodyPr>
          <a:lstStyle/>
          <a:p>
            <a:pPr algn="r"/>
            <a:r>
              <a:rPr sz="850" b="0" i="0">
                <a:solidFill>
                  <a:srgbClr val="FFFFFF"/>
                </a:solidFill>
                <a:latin typeface="Calibri"/>
              </a:rPr>
              <a:t>April 2026  |  FIN 431</a:t>
            </a:r>
          </a:p>
        </p:txBody>
      </p:sp>
      <p:sp>
        <p:nvSpPr>
          <p:cNvPr id="6" name="Rectangle 5"/>
          <p:cNvSpPr/>
          <p:nvPr/>
        </p:nvSpPr>
        <p:spPr>
          <a:xfrm>
            <a:off x="0" y="502920"/>
            <a:ext cx="77724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 y="9811512"/>
            <a:ext cx="5943600" cy="237744"/>
          </a:xfrm>
          <a:prstGeom prst="rect">
            <a:avLst/>
          </a:prstGeom>
          <a:noFill/>
        </p:spPr>
        <p:txBody>
          <a:bodyPr wrap="square">
            <a:spAutoFit/>
          </a:bodyPr>
          <a:lstStyle/>
          <a:p>
            <a:pPr algn="l"/>
            <a:r>
              <a:rPr sz="700" b="0" i="0">
                <a:solidFill>
                  <a:srgbClr val="BBBBBB"/>
                </a:solidFill>
                <a:latin typeface="Calibri"/>
              </a:rPr>
              <a:t>NVIDIA Corporation (NVDA)  |  Equity Research  |  FIN 431  |  Portfolio Analysis</a:t>
            </a:r>
          </a:p>
        </p:txBody>
      </p:sp>
      <p:sp>
        <p:nvSpPr>
          <p:cNvPr id="9" name="TextBox 8"/>
          <p:cNvSpPr txBox="1"/>
          <p:nvPr/>
        </p:nvSpPr>
        <p:spPr>
          <a:xfrm>
            <a:off x="7132320" y="9811512"/>
            <a:ext cx="502920" cy="237744"/>
          </a:xfrm>
          <a:prstGeom prst="rect">
            <a:avLst/>
          </a:prstGeom>
          <a:noFill/>
        </p:spPr>
        <p:txBody>
          <a:bodyPr wrap="square">
            <a:spAutoFit/>
          </a:bodyPr>
          <a:lstStyle/>
          <a:p>
            <a:pPr algn="r"/>
            <a:r>
              <a:rPr sz="700" b="0" i="0">
                <a:solidFill>
                  <a:srgbClr val="BBBBBB"/>
                </a:solidFill>
                <a:latin typeface="Calibri"/>
              </a:rPr>
              <a:t>Page 4</a:t>
            </a:r>
          </a:p>
        </p:txBody>
      </p:sp>
      <p:sp>
        <p:nvSpPr>
          <p:cNvPr id="10" name="Rectangle 9"/>
          <p:cNvSpPr/>
          <p:nvPr/>
        </p:nvSpPr>
        <p:spPr>
          <a:xfrm>
            <a:off x="182880" y="621792"/>
            <a:ext cx="22860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7744" y="640080"/>
            <a:ext cx="2176272" cy="164592"/>
          </a:xfrm>
          <a:prstGeom prst="rect">
            <a:avLst/>
          </a:prstGeom>
          <a:noFill/>
        </p:spPr>
        <p:txBody>
          <a:bodyPr wrap="square">
            <a:spAutoFit/>
          </a:bodyPr>
          <a:lstStyle/>
          <a:p>
            <a:pPr algn="l"/>
            <a:r>
              <a:rPr sz="750" b="1" i="0">
                <a:solidFill>
                  <a:srgbClr val="FFFFFF"/>
                </a:solidFill>
                <a:latin typeface="Calibri"/>
              </a:rPr>
              <a:t>RISK FACTOR ANALYSIS</a:t>
            </a:r>
          </a:p>
        </p:txBody>
      </p:sp>
      <p:sp>
        <p:nvSpPr>
          <p:cNvPr id="12" name="TextBox 11"/>
          <p:cNvSpPr txBox="1"/>
          <p:nvPr/>
        </p:nvSpPr>
        <p:spPr>
          <a:xfrm>
            <a:off x="182880" y="850392"/>
            <a:ext cx="7406640" cy="411480"/>
          </a:xfrm>
          <a:prstGeom prst="rect">
            <a:avLst/>
          </a:prstGeom>
          <a:noFill/>
        </p:spPr>
        <p:txBody>
          <a:bodyPr wrap="square">
            <a:spAutoFit/>
          </a:bodyPr>
          <a:lstStyle/>
          <a:p>
            <a:pPr algn="l"/>
            <a:r>
              <a:rPr sz="819" b="0" i="0">
                <a:solidFill>
                  <a:srgbClr val="1F1F1F"/>
                </a:solidFill>
                <a:latin typeface="Calibri"/>
              </a:rPr>
              <a:t>The following risk factors represent the primary considerations that could prevent NVIDIA from achieving our 12-month price target of $220.00. Each risk has been assessed for its probability of occurrence and potential magnitude of financial impact.</a:t>
            </a:r>
          </a:p>
        </p:txBody>
      </p:sp>
      <p:sp>
        <p:nvSpPr>
          <p:cNvPr id="13" name="Rectangle 12"/>
          <p:cNvSpPr/>
          <p:nvPr/>
        </p:nvSpPr>
        <p:spPr>
          <a:xfrm>
            <a:off x="182880" y="1307592"/>
            <a:ext cx="7406640" cy="219456"/>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 y="1325880"/>
            <a:ext cx="5029200" cy="182880"/>
          </a:xfrm>
          <a:prstGeom prst="rect">
            <a:avLst/>
          </a:prstGeom>
          <a:noFill/>
        </p:spPr>
        <p:txBody>
          <a:bodyPr wrap="square">
            <a:spAutoFit/>
          </a:bodyPr>
          <a:lstStyle/>
          <a:p>
            <a:pPr algn="l"/>
            <a:r>
              <a:rPr sz="850" b="1" i="0">
                <a:solidFill>
                  <a:srgbClr val="FFFFFF"/>
                </a:solidFill>
                <a:latin typeface="Calibri"/>
              </a:rPr>
              <a:t>Geopolitical Risk: US-China Export Restrictions</a:t>
            </a:r>
          </a:p>
        </p:txBody>
      </p:sp>
      <p:sp>
        <p:nvSpPr>
          <p:cNvPr id="15" name="Rectangle 14"/>
          <p:cNvSpPr/>
          <p:nvPr/>
        </p:nvSpPr>
        <p:spPr>
          <a:xfrm>
            <a:off x="5394960" y="1325880"/>
            <a:ext cx="2103120" cy="18288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13248" y="1335024"/>
            <a:ext cx="2066543" cy="164592"/>
          </a:xfrm>
          <a:prstGeom prst="rect">
            <a:avLst/>
          </a:prstGeom>
          <a:noFill/>
        </p:spPr>
        <p:txBody>
          <a:bodyPr wrap="square">
            <a:spAutoFit/>
          </a:bodyPr>
          <a:lstStyle/>
          <a:p>
            <a:pPr algn="ctr"/>
            <a:r>
              <a:rPr sz="680" b="1" i="0">
                <a:solidFill>
                  <a:srgbClr val="FFFFFF"/>
                </a:solidFill>
                <a:latin typeface="Calibri"/>
              </a:rPr>
              <a:t>HIGH PROBABILITY  |  HIGH IMPACT</a:t>
            </a:r>
          </a:p>
        </p:txBody>
      </p:sp>
      <p:sp>
        <p:nvSpPr>
          <p:cNvPr id="17" name="TextBox 16"/>
          <p:cNvSpPr txBox="1"/>
          <p:nvPr/>
        </p:nvSpPr>
        <p:spPr>
          <a:xfrm>
            <a:off x="256032" y="1554480"/>
            <a:ext cx="7260336" cy="749808"/>
          </a:xfrm>
          <a:prstGeom prst="rect">
            <a:avLst/>
          </a:prstGeom>
          <a:noFill/>
        </p:spPr>
        <p:txBody>
          <a:bodyPr wrap="square">
            <a:spAutoFit/>
          </a:bodyPr>
          <a:lstStyle/>
          <a:p>
            <a:pPr algn="l"/>
            <a:r>
              <a:rPr sz="770" b="0" i="0">
                <a:solidFill>
                  <a:srgbClr val="1F1F1F"/>
                </a:solidFill>
                <a:latin typeface="Calibri"/>
              </a:rPr>
              <a:t>The US Commerce Department's October 2023 and October 2024 export control expansions have effectively banned the sale of NVIDIA's most advanced AI accelerators, including the H100, H200, and A100, to Chinese customers. China historically represented approximately 20 to 25 percent of data center revenue, and the export restrictions have directly curtailed demand from Baidu, Alibaba, Tencent, and ByteDance. NVIDIA developed compliant SKUs, including the H20, but these face continued regulatory scrutiny and offer materially lower performance-per-dollar relative to unrestricted products.
The risk of further tightening remains elevated given the trajectory of US-China technology competition. A complete ban on China sales would reduce our revenue estimate by an estimated 10 to 15 percent and our price target by approximately $20 to $30, all else equal. Investors should treat any escalation in export control policy as a material negative catalyst for the stock.</a:t>
            </a:r>
          </a:p>
        </p:txBody>
      </p:sp>
      <p:sp>
        <p:nvSpPr>
          <p:cNvPr id="18" name="Rectangle 17"/>
          <p:cNvSpPr/>
          <p:nvPr/>
        </p:nvSpPr>
        <p:spPr>
          <a:xfrm>
            <a:off x="182880" y="2724912"/>
            <a:ext cx="7406640" cy="219456"/>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56032" y="2743200"/>
            <a:ext cx="5029200" cy="182880"/>
          </a:xfrm>
          <a:prstGeom prst="rect">
            <a:avLst/>
          </a:prstGeom>
          <a:noFill/>
        </p:spPr>
        <p:txBody>
          <a:bodyPr wrap="square">
            <a:spAutoFit/>
          </a:bodyPr>
          <a:lstStyle/>
          <a:p>
            <a:pPr algn="l"/>
            <a:r>
              <a:rPr sz="850" b="1" i="0">
                <a:solidFill>
                  <a:srgbClr val="FFFFFF"/>
                </a:solidFill>
                <a:latin typeface="Calibri"/>
              </a:rPr>
              <a:t>Manufacturing Concentration: TSMC Dependence</a:t>
            </a:r>
          </a:p>
        </p:txBody>
      </p:sp>
      <p:sp>
        <p:nvSpPr>
          <p:cNvPr id="20" name="Rectangle 19"/>
          <p:cNvSpPr/>
          <p:nvPr/>
        </p:nvSpPr>
        <p:spPr>
          <a:xfrm>
            <a:off x="5394960" y="2743200"/>
            <a:ext cx="2103120" cy="182880"/>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13248" y="2752344"/>
            <a:ext cx="2066543" cy="164592"/>
          </a:xfrm>
          <a:prstGeom prst="rect">
            <a:avLst/>
          </a:prstGeom>
          <a:noFill/>
        </p:spPr>
        <p:txBody>
          <a:bodyPr wrap="square">
            <a:spAutoFit/>
          </a:bodyPr>
          <a:lstStyle/>
          <a:p>
            <a:pPr algn="ctr"/>
            <a:r>
              <a:rPr sz="680" b="1" i="0">
                <a:solidFill>
                  <a:srgbClr val="FFFFFF"/>
                </a:solidFill>
                <a:latin typeface="Calibri"/>
              </a:rPr>
              <a:t>MEDIUM PROBABILITY  |  HIGH IMPACT</a:t>
            </a:r>
          </a:p>
        </p:txBody>
      </p:sp>
      <p:sp>
        <p:nvSpPr>
          <p:cNvPr id="22" name="TextBox 21"/>
          <p:cNvSpPr txBox="1"/>
          <p:nvPr/>
        </p:nvSpPr>
        <p:spPr>
          <a:xfrm>
            <a:off x="256032" y="2971800"/>
            <a:ext cx="7260336" cy="749808"/>
          </a:xfrm>
          <a:prstGeom prst="rect">
            <a:avLst/>
          </a:prstGeom>
          <a:noFill/>
        </p:spPr>
        <p:txBody>
          <a:bodyPr wrap="square">
            <a:spAutoFit/>
          </a:bodyPr>
          <a:lstStyle/>
          <a:p>
            <a:pPr algn="l"/>
            <a:r>
              <a:rPr sz="770" b="0" i="0">
                <a:solidFill>
                  <a:srgbClr val="1F1F1F"/>
                </a:solidFill>
                <a:latin typeface="Calibri"/>
              </a:rPr>
              <a:t>NVIDIA is a fabless semiconductor company and relies exclusively on Taiwan Semiconductor Manufacturing Company (TSMC) for the production of its data center GPU silicon. TSMC's advanced nodes, specifically 4nm and 3nm FinFET processes, are the only commercially available processes capable of manufacturing NVIDIA's Hopper and Blackwell GPU dies at the required complexity and yield levels.
A disruption to TSMC's manufacturing capacity due to a natural disaster, geopolitical conflict involving Taiwan, or supply chain interruption would have no near-term mitigation path for NVIDIA, as alternative foundry partners, including Samsung and Intel Foundry Services, do not offer comparable advanced node capabilities. We estimate that a six-month manufacturing disruption would eliminate roughly $50 billion in revenue and could suppress the stock below $80 per share. Investors with concerns about Taiwan geopolitical risk should size their NVDA position accordingly.</a:t>
            </a:r>
          </a:p>
        </p:txBody>
      </p:sp>
      <p:sp>
        <p:nvSpPr>
          <p:cNvPr id="23" name="Rectangle 22"/>
          <p:cNvSpPr/>
          <p:nvPr/>
        </p:nvSpPr>
        <p:spPr>
          <a:xfrm>
            <a:off x="182880" y="4215384"/>
            <a:ext cx="7406640" cy="219456"/>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6032" y="4233672"/>
            <a:ext cx="5029200" cy="182880"/>
          </a:xfrm>
          <a:prstGeom prst="rect">
            <a:avLst/>
          </a:prstGeom>
          <a:noFill/>
        </p:spPr>
        <p:txBody>
          <a:bodyPr wrap="square">
            <a:spAutoFit/>
          </a:bodyPr>
          <a:lstStyle/>
          <a:p>
            <a:pPr algn="l"/>
            <a:r>
              <a:rPr sz="850" b="1" i="0">
                <a:solidFill>
                  <a:srgbClr val="FFFFFF"/>
                </a:solidFill>
                <a:latin typeface="Calibri"/>
              </a:rPr>
              <a:t>Competitive Risk: Hyperscaler Custom ASIC Development</a:t>
            </a:r>
          </a:p>
        </p:txBody>
      </p:sp>
      <p:sp>
        <p:nvSpPr>
          <p:cNvPr id="25" name="Rectangle 24"/>
          <p:cNvSpPr/>
          <p:nvPr/>
        </p:nvSpPr>
        <p:spPr>
          <a:xfrm>
            <a:off x="5394960" y="4233672"/>
            <a:ext cx="2103120" cy="18288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13248" y="4242816"/>
            <a:ext cx="2066543" cy="164592"/>
          </a:xfrm>
          <a:prstGeom prst="rect">
            <a:avLst/>
          </a:prstGeom>
          <a:noFill/>
        </p:spPr>
        <p:txBody>
          <a:bodyPr wrap="square">
            <a:spAutoFit/>
          </a:bodyPr>
          <a:lstStyle/>
          <a:p>
            <a:pPr algn="ctr"/>
            <a:r>
              <a:rPr sz="680" b="1" i="0">
                <a:solidFill>
                  <a:srgbClr val="FFFFFF"/>
                </a:solidFill>
                <a:latin typeface="Calibri"/>
              </a:rPr>
              <a:t>MEDIUM PROBABILITY  |  MEDIUM IMPACT</a:t>
            </a:r>
          </a:p>
        </p:txBody>
      </p:sp>
      <p:sp>
        <p:nvSpPr>
          <p:cNvPr id="27" name="TextBox 26"/>
          <p:cNvSpPr txBox="1"/>
          <p:nvPr/>
        </p:nvSpPr>
        <p:spPr>
          <a:xfrm>
            <a:off x="256032" y="4462272"/>
            <a:ext cx="7260336" cy="749808"/>
          </a:xfrm>
          <a:prstGeom prst="rect">
            <a:avLst/>
          </a:prstGeom>
          <a:noFill/>
        </p:spPr>
        <p:txBody>
          <a:bodyPr wrap="square">
            <a:spAutoFit/>
          </a:bodyPr>
          <a:lstStyle/>
          <a:p>
            <a:pPr algn="l"/>
            <a:r>
              <a:rPr sz="770" b="0" i="0">
                <a:solidFill>
                  <a:srgbClr val="1F1F1F"/>
                </a:solidFill>
                <a:latin typeface="Calibri"/>
              </a:rPr>
              <a:t>Google, Amazon, and Meta have each made substantial investments in developing proprietary AI accelerators optimized for their internal workloads. Google's TPU v5 powers a significant share of its internal inference workloads, Amazon's Trainium 2 is used for model training within AWS, and Meta's MTIA chip is deployed for recommendation model inference across its platforms.
The risk is that as hyperscalers mature their ASIC programs, a larger share of their incremental AI compute investment shifts away from NVIDIA GPUs toward internal silicon. We view this as a structural pressure on NVIDIA's long-term market share rather than a near-term demand shock, as ASIC development cycles are multi-year, and NVIDIA continues to advance its own architecture faster than any ASIC program can track. Over our 12-month horizon, we do not expect ASIC displacement to materially impact fiscal year 2026 or 2027 revenue estimates.</a:t>
            </a:r>
          </a:p>
        </p:txBody>
      </p:sp>
      <p:sp>
        <p:nvSpPr>
          <p:cNvPr id="28" name="Rectangle 27"/>
          <p:cNvSpPr/>
          <p:nvPr/>
        </p:nvSpPr>
        <p:spPr>
          <a:xfrm>
            <a:off x="182880" y="5742432"/>
            <a:ext cx="7406640" cy="219456"/>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6032" y="5760720"/>
            <a:ext cx="5029200" cy="182880"/>
          </a:xfrm>
          <a:prstGeom prst="rect">
            <a:avLst/>
          </a:prstGeom>
          <a:noFill/>
        </p:spPr>
        <p:txBody>
          <a:bodyPr wrap="square">
            <a:spAutoFit/>
          </a:bodyPr>
          <a:lstStyle/>
          <a:p>
            <a:pPr algn="l"/>
            <a:r>
              <a:rPr sz="850" b="1" i="0">
                <a:solidFill>
                  <a:srgbClr val="FFFFFF"/>
                </a:solidFill>
                <a:latin typeface="Calibri"/>
              </a:rPr>
              <a:t>Valuation and Execution Risk</a:t>
            </a:r>
          </a:p>
        </p:txBody>
      </p:sp>
      <p:sp>
        <p:nvSpPr>
          <p:cNvPr id="30" name="Rectangle 29"/>
          <p:cNvSpPr/>
          <p:nvPr/>
        </p:nvSpPr>
        <p:spPr>
          <a:xfrm>
            <a:off x="5394960" y="5760720"/>
            <a:ext cx="2103120" cy="182880"/>
          </a:xfrm>
          <a:prstGeom prst="rect">
            <a:avLst/>
          </a:prstGeom>
          <a:solidFill>
            <a:srgbClr val="4A4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13248" y="5769864"/>
            <a:ext cx="2066543" cy="164592"/>
          </a:xfrm>
          <a:prstGeom prst="rect">
            <a:avLst/>
          </a:prstGeom>
          <a:noFill/>
        </p:spPr>
        <p:txBody>
          <a:bodyPr wrap="square">
            <a:spAutoFit/>
          </a:bodyPr>
          <a:lstStyle/>
          <a:p>
            <a:pPr algn="ctr"/>
            <a:r>
              <a:rPr sz="680" b="1" i="0">
                <a:solidFill>
                  <a:srgbClr val="FFFFFF"/>
                </a:solidFill>
                <a:latin typeface="Calibri"/>
              </a:rPr>
              <a:t>LOW-MEDIUM PROBABILITY  |  MEDIUM IMPACT</a:t>
            </a:r>
          </a:p>
        </p:txBody>
      </p:sp>
      <p:sp>
        <p:nvSpPr>
          <p:cNvPr id="32" name="TextBox 31"/>
          <p:cNvSpPr txBox="1"/>
          <p:nvPr/>
        </p:nvSpPr>
        <p:spPr>
          <a:xfrm>
            <a:off x="256032" y="5989320"/>
            <a:ext cx="7260336" cy="749808"/>
          </a:xfrm>
          <a:prstGeom prst="rect">
            <a:avLst/>
          </a:prstGeom>
          <a:noFill/>
        </p:spPr>
        <p:txBody>
          <a:bodyPr wrap="square">
            <a:spAutoFit/>
          </a:bodyPr>
          <a:lstStyle/>
          <a:p>
            <a:pPr algn="l"/>
            <a:r>
              <a:rPr sz="770" b="0" i="0">
                <a:solidFill>
                  <a:srgbClr val="1F1F1F"/>
                </a:solidFill>
                <a:latin typeface="Calibri"/>
              </a:rPr>
              <a:t>NVIDIA's current forward P/E of approximately 52x (on FY27E consensus Non-GAAP EPS) implies continued above-consensus revenue growth through at least fiscal year 2029. Any quarter in which NVIDIA reports results or provides guidance below elevated buy-side expectations could result in a significant multiple compression event. The stock fell over 17 percent on a single day in January 2025 following concerns about the DeepSeek R1 open-source model and its implied efficiency advantages over current training paradigms.
Supply chain execution also represents a risk, as the Blackwell GB200 NVL72 systems are mechanically complex rack-scale products that require precise integration of GPUs, CPUs, NVLink switches, and liquid cooling infrastructure. Any yield or supply chain delays in the Blackwell ramp could push revenue recognition into later quarters and introduce volatility around quarterly earnings reports.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64008"/>
            <a:ext cx="3200400" cy="384048"/>
          </a:xfrm>
          <a:prstGeom prst="rect">
            <a:avLst/>
          </a:prstGeom>
          <a:noFill/>
        </p:spPr>
        <p:txBody>
          <a:bodyPr wrap="square">
            <a:spAutoFit/>
          </a:bodyPr>
          <a:lstStyle/>
          <a:p>
            <a:pPr algn="l"/>
            <a:r>
              <a:rPr sz="1000" b="1" i="0">
                <a:solidFill>
                  <a:srgbClr val="FFFFFF"/>
                </a:solidFill>
                <a:latin typeface="Calibri"/>
              </a:rPr>
              <a:t>NVDA  |  EQUITY RESEARCH</a:t>
            </a:r>
          </a:p>
        </p:txBody>
      </p:sp>
      <p:sp>
        <p:nvSpPr>
          <p:cNvPr id="4" name="TextBox 3"/>
          <p:cNvSpPr txBox="1"/>
          <p:nvPr/>
        </p:nvSpPr>
        <p:spPr>
          <a:xfrm>
            <a:off x="2286000" y="64008"/>
            <a:ext cx="4114800" cy="384048"/>
          </a:xfrm>
          <a:prstGeom prst="rect">
            <a:avLst/>
          </a:prstGeom>
          <a:noFill/>
        </p:spPr>
        <p:txBody>
          <a:bodyPr wrap="square">
            <a:spAutoFit/>
          </a:bodyPr>
          <a:lstStyle/>
          <a:p>
            <a:pPr algn="ctr"/>
            <a:r>
              <a:rPr sz="1100" b="1" i="0">
                <a:solidFill>
                  <a:srgbClr val="76B900"/>
                </a:solidFill>
                <a:latin typeface="Calibri"/>
              </a:rPr>
              <a:t>APPENDIX A: COMPARABLES &amp; MARKET MULTIPLIERS</a:t>
            </a:r>
          </a:p>
        </p:txBody>
      </p:sp>
      <p:sp>
        <p:nvSpPr>
          <p:cNvPr id="5" name="TextBox 4"/>
          <p:cNvSpPr txBox="1"/>
          <p:nvPr/>
        </p:nvSpPr>
        <p:spPr>
          <a:xfrm>
            <a:off x="5669280" y="64008"/>
            <a:ext cx="1920240" cy="384048"/>
          </a:xfrm>
          <a:prstGeom prst="rect">
            <a:avLst/>
          </a:prstGeom>
          <a:noFill/>
        </p:spPr>
        <p:txBody>
          <a:bodyPr wrap="square">
            <a:spAutoFit/>
          </a:bodyPr>
          <a:lstStyle/>
          <a:p>
            <a:pPr algn="r"/>
            <a:r>
              <a:rPr sz="850" b="0" i="0">
                <a:solidFill>
                  <a:srgbClr val="FFFFFF"/>
                </a:solidFill>
                <a:latin typeface="Calibri"/>
              </a:rPr>
              <a:t>April 2026  |  FIN 431</a:t>
            </a:r>
          </a:p>
        </p:txBody>
      </p:sp>
      <p:sp>
        <p:nvSpPr>
          <p:cNvPr id="6" name="Rectangle 5"/>
          <p:cNvSpPr/>
          <p:nvPr/>
        </p:nvSpPr>
        <p:spPr>
          <a:xfrm>
            <a:off x="0" y="502920"/>
            <a:ext cx="77724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 y="9811512"/>
            <a:ext cx="5943600" cy="237744"/>
          </a:xfrm>
          <a:prstGeom prst="rect">
            <a:avLst/>
          </a:prstGeom>
          <a:noFill/>
        </p:spPr>
        <p:txBody>
          <a:bodyPr wrap="square">
            <a:spAutoFit/>
          </a:bodyPr>
          <a:lstStyle/>
          <a:p>
            <a:pPr algn="l"/>
            <a:r>
              <a:rPr sz="700" b="0" i="0">
                <a:solidFill>
                  <a:srgbClr val="BBBBBB"/>
                </a:solidFill>
                <a:latin typeface="Calibri"/>
              </a:rPr>
              <a:t>NVIDIA Corporation (NVDA)  |  Equity Research  |  FIN 431  |  Portfolio Analysis</a:t>
            </a:r>
          </a:p>
        </p:txBody>
      </p:sp>
      <p:sp>
        <p:nvSpPr>
          <p:cNvPr id="9" name="TextBox 8"/>
          <p:cNvSpPr txBox="1"/>
          <p:nvPr/>
        </p:nvSpPr>
        <p:spPr>
          <a:xfrm>
            <a:off x="7132320" y="9811512"/>
            <a:ext cx="502920" cy="237744"/>
          </a:xfrm>
          <a:prstGeom prst="rect">
            <a:avLst/>
          </a:prstGeom>
          <a:noFill/>
        </p:spPr>
        <p:txBody>
          <a:bodyPr wrap="square">
            <a:spAutoFit/>
          </a:bodyPr>
          <a:lstStyle/>
          <a:p>
            <a:pPr algn="r"/>
            <a:r>
              <a:rPr sz="700" b="0" i="0">
                <a:solidFill>
                  <a:srgbClr val="BBBBBB"/>
                </a:solidFill>
                <a:latin typeface="Calibri"/>
              </a:rPr>
              <a:t>Page 5</a:t>
            </a:r>
          </a:p>
        </p:txBody>
      </p:sp>
      <p:sp>
        <p:nvSpPr>
          <p:cNvPr id="10" name="Rectangle 9"/>
          <p:cNvSpPr/>
          <p:nvPr/>
        </p:nvSpPr>
        <p:spPr>
          <a:xfrm>
            <a:off x="182880" y="621792"/>
            <a:ext cx="36576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7744" y="640080"/>
            <a:ext cx="3547872" cy="164592"/>
          </a:xfrm>
          <a:prstGeom prst="rect">
            <a:avLst/>
          </a:prstGeom>
          <a:noFill/>
        </p:spPr>
        <p:txBody>
          <a:bodyPr wrap="square">
            <a:spAutoFit/>
          </a:bodyPr>
          <a:lstStyle/>
          <a:p>
            <a:pPr algn="l"/>
            <a:r>
              <a:rPr sz="750" b="1" i="0">
                <a:solidFill>
                  <a:srgbClr val="FFFFFF"/>
                </a:solidFill>
                <a:latin typeface="Calibri"/>
              </a:rPr>
              <a:t>FIGURE 9: COMPARABLE COMPANY MARKET CAP AND METRICS</a:t>
            </a:r>
          </a:p>
        </p:txBody>
      </p:sp>
      <p:sp>
        <p:nvSpPr>
          <p:cNvPr id="12" name="Rectangle 11"/>
          <p:cNvSpPr/>
          <p:nvPr/>
        </p:nvSpPr>
        <p:spPr>
          <a:xfrm>
            <a:off x="182880" y="850392"/>
            <a:ext cx="123444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9456" y="868680"/>
            <a:ext cx="1161288" cy="196596"/>
          </a:xfrm>
          <a:prstGeom prst="rect">
            <a:avLst/>
          </a:prstGeom>
          <a:noFill/>
        </p:spPr>
        <p:txBody>
          <a:bodyPr wrap="square">
            <a:spAutoFit/>
          </a:bodyPr>
          <a:lstStyle/>
          <a:p>
            <a:pPr algn="ctr"/>
            <a:r>
              <a:rPr sz="850" b="1" i="0">
                <a:solidFill>
                  <a:srgbClr val="FFFFFF"/>
                </a:solidFill>
                <a:latin typeface="Calibri"/>
              </a:rPr>
              <a:t>Company</a:t>
            </a:r>
          </a:p>
        </p:txBody>
      </p:sp>
      <p:sp>
        <p:nvSpPr>
          <p:cNvPr id="14" name="Rectangle 13"/>
          <p:cNvSpPr/>
          <p:nvPr/>
        </p:nvSpPr>
        <p:spPr>
          <a:xfrm>
            <a:off x="1417320" y="850392"/>
            <a:ext cx="64008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453896" y="868680"/>
            <a:ext cx="566928" cy="196596"/>
          </a:xfrm>
          <a:prstGeom prst="rect">
            <a:avLst/>
          </a:prstGeom>
          <a:noFill/>
        </p:spPr>
        <p:txBody>
          <a:bodyPr wrap="square">
            <a:spAutoFit/>
          </a:bodyPr>
          <a:lstStyle/>
          <a:p>
            <a:pPr algn="ctr"/>
            <a:r>
              <a:rPr sz="850" b="1" i="0">
                <a:solidFill>
                  <a:srgbClr val="FFFFFF"/>
                </a:solidFill>
                <a:latin typeface="Calibri"/>
              </a:rPr>
              <a:t>Ticker</a:t>
            </a:r>
          </a:p>
        </p:txBody>
      </p:sp>
      <p:sp>
        <p:nvSpPr>
          <p:cNvPr id="16" name="Rectangle 15"/>
          <p:cNvSpPr/>
          <p:nvPr/>
        </p:nvSpPr>
        <p:spPr>
          <a:xfrm>
            <a:off x="2057400" y="850392"/>
            <a:ext cx="105156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93976" y="868680"/>
            <a:ext cx="978408" cy="196596"/>
          </a:xfrm>
          <a:prstGeom prst="rect">
            <a:avLst/>
          </a:prstGeom>
          <a:noFill/>
        </p:spPr>
        <p:txBody>
          <a:bodyPr wrap="square">
            <a:spAutoFit/>
          </a:bodyPr>
          <a:lstStyle/>
          <a:p>
            <a:pPr algn="ctr"/>
            <a:r>
              <a:rPr sz="850" b="1" i="0">
                <a:solidFill>
                  <a:srgbClr val="FFFFFF"/>
                </a:solidFill>
                <a:latin typeface="Calibri"/>
              </a:rPr>
              <a:t>Market Cap ($B)</a:t>
            </a:r>
          </a:p>
        </p:txBody>
      </p:sp>
      <p:sp>
        <p:nvSpPr>
          <p:cNvPr id="18" name="Rectangle 17"/>
          <p:cNvSpPr/>
          <p:nvPr/>
        </p:nvSpPr>
        <p:spPr>
          <a:xfrm>
            <a:off x="3108960" y="850392"/>
            <a:ext cx="82296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45536" y="868680"/>
            <a:ext cx="749808" cy="196596"/>
          </a:xfrm>
          <a:prstGeom prst="rect">
            <a:avLst/>
          </a:prstGeom>
          <a:noFill/>
        </p:spPr>
        <p:txBody>
          <a:bodyPr wrap="square">
            <a:spAutoFit/>
          </a:bodyPr>
          <a:lstStyle/>
          <a:p>
            <a:pPr algn="ctr"/>
            <a:r>
              <a:rPr sz="850" b="1" i="0">
                <a:solidFill>
                  <a:srgbClr val="FFFFFF"/>
                </a:solidFill>
                <a:latin typeface="Calibri"/>
              </a:rPr>
              <a:t>EV/EBITDA</a:t>
            </a:r>
          </a:p>
        </p:txBody>
      </p:sp>
      <p:sp>
        <p:nvSpPr>
          <p:cNvPr id="20" name="Rectangle 19"/>
          <p:cNvSpPr/>
          <p:nvPr/>
        </p:nvSpPr>
        <p:spPr>
          <a:xfrm>
            <a:off x="3931920" y="850392"/>
            <a:ext cx="82296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968496" y="868680"/>
            <a:ext cx="749808" cy="196596"/>
          </a:xfrm>
          <a:prstGeom prst="rect">
            <a:avLst/>
          </a:prstGeom>
          <a:noFill/>
        </p:spPr>
        <p:txBody>
          <a:bodyPr wrap="square">
            <a:spAutoFit/>
          </a:bodyPr>
          <a:lstStyle/>
          <a:p>
            <a:pPr algn="ctr"/>
            <a:r>
              <a:rPr sz="850" b="1" i="0">
                <a:solidFill>
                  <a:srgbClr val="FFFFFF"/>
                </a:solidFill>
                <a:latin typeface="Calibri"/>
              </a:rPr>
              <a:t>P/E (NTM)</a:t>
            </a:r>
          </a:p>
        </p:txBody>
      </p:sp>
      <p:sp>
        <p:nvSpPr>
          <p:cNvPr id="22" name="Rectangle 21"/>
          <p:cNvSpPr/>
          <p:nvPr/>
        </p:nvSpPr>
        <p:spPr>
          <a:xfrm>
            <a:off x="4754880" y="850392"/>
            <a:ext cx="82296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791456" y="868680"/>
            <a:ext cx="749808" cy="196596"/>
          </a:xfrm>
          <a:prstGeom prst="rect">
            <a:avLst/>
          </a:prstGeom>
          <a:noFill/>
        </p:spPr>
        <p:txBody>
          <a:bodyPr wrap="square">
            <a:spAutoFit/>
          </a:bodyPr>
          <a:lstStyle/>
          <a:p>
            <a:pPr algn="ctr"/>
            <a:r>
              <a:rPr sz="850" b="1" i="0">
                <a:solidFill>
                  <a:srgbClr val="FFFFFF"/>
                </a:solidFill>
                <a:latin typeface="Calibri"/>
              </a:rPr>
              <a:t>P/Sales</a:t>
            </a:r>
          </a:p>
        </p:txBody>
      </p:sp>
      <p:sp>
        <p:nvSpPr>
          <p:cNvPr id="24" name="Rectangle 23"/>
          <p:cNvSpPr/>
          <p:nvPr/>
        </p:nvSpPr>
        <p:spPr>
          <a:xfrm>
            <a:off x="5577840" y="850392"/>
            <a:ext cx="82296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14416" y="868680"/>
            <a:ext cx="749808" cy="196596"/>
          </a:xfrm>
          <a:prstGeom prst="rect">
            <a:avLst/>
          </a:prstGeom>
          <a:noFill/>
        </p:spPr>
        <p:txBody>
          <a:bodyPr wrap="square">
            <a:spAutoFit/>
          </a:bodyPr>
          <a:lstStyle/>
          <a:p>
            <a:pPr algn="ctr"/>
            <a:r>
              <a:rPr sz="850" b="1" i="0">
                <a:solidFill>
                  <a:srgbClr val="FFFFFF"/>
                </a:solidFill>
                <a:latin typeface="Calibri"/>
              </a:rPr>
              <a:t>P/FCF</a:t>
            </a:r>
          </a:p>
        </p:txBody>
      </p:sp>
      <p:sp>
        <p:nvSpPr>
          <p:cNvPr id="26" name="Rectangle 25"/>
          <p:cNvSpPr/>
          <p:nvPr/>
        </p:nvSpPr>
        <p:spPr>
          <a:xfrm>
            <a:off x="6400800" y="850392"/>
            <a:ext cx="91440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37376" y="868680"/>
            <a:ext cx="841248" cy="196596"/>
          </a:xfrm>
          <a:prstGeom prst="rect">
            <a:avLst/>
          </a:prstGeom>
          <a:noFill/>
        </p:spPr>
        <p:txBody>
          <a:bodyPr wrap="square">
            <a:spAutoFit/>
          </a:bodyPr>
          <a:lstStyle/>
          <a:p>
            <a:pPr algn="ctr"/>
            <a:r>
              <a:rPr sz="850" b="1" i="0">
                <a:solidFill>
                  <a:srgbClr val="FFFFFF"/>
                </a:solidFill>
                <a:latin typeface="Calibri"/>
              </a:rPr>
              <a:t>FCF Margin</a:t>
            </a:r>
          </a:p>
        </p:txBody>
      </p:sp>
      <p:sp>
        <p:nvSpPr>
          <p:cNvPr id="28" name="Rectangle 27"/>
          <p:cNvSpPr/>
          <p:nvPr/>
        </p:nvSpPr>
        <p:spPr>
          <a:xfrm>
            <a:off x="182880" y="1083564"/>
            <a:ext cx="123444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19456" y="1101852"/>
            <a:ext cx="1161288" cy="196596"/>
          </a:xfrm>
          <a:prstGeom prst="rect">
            <a:avLst/>
          </a:prstGeom>
          <a:noFill/>
        </p:spPr>
        <p:txBody>
          <a:bodyPr wrap="square">
            <a:spAutoFit/>
          </a:bodyPr>
          <a:lstStyle/>
          <a:p>
            <a:pPr algn="l"/>
            <a:r>
              <a:rPr sz="850" b="1" i="0">
                <a:solidFill>
                  <a:srgbClr val="1F1F1F"/>
                </a:solidFill>
                <a:latin typeface="Calibri"/>
              </a:rPr>
              <a:t>NVIDIA Corp</a:t>
            </a:r>
          </a:p>
        </p:txBody>
      </p:sp>
      <p:sp>
        <p:nvSpPr>
          <p:cNvPr id="30" name="Rectangle 29"/>
          <p:cNvSpPr/>
          <p:nvPr/>
        </p:nvSpPr>
        <p:spPr>
          <a:xfrm>
            <a:off x="1417320" y="1083564"/>
            <a:ext cx="6400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453896" y="1101852"/>
            <a:ext cx="566928" cy="196596"/>
          </a:xfrm>
          <a:prstGeom prst="rect">
            <a:avLst/>
          </a:prstGeom>
          <a:noFill/>
        </p:spPr>
        <p:txBody>
          <a:bodyPr wrap="square">
            <a:spAutoFit/>
          </a:bodyPr>
          <a:lstStyle/>
          <a:p>
            <a:pPr algn="ctr"/>
            <a:r>
              <a:rPr sz="850" b="0" i="0">
                <a:solidFill>
                  <a:srgbClr val="1F1F1F"/>
                </a:solidFill>
                <a:latin typeface="Calibri"/>
              </a:rPr>
              <a:t>NVDA</a:t>
            </a:r>
          </a:p>
        </p:txBody>
      </p:sp>
      <p:sp>
        <p:nvSpPr>
          <p:cNvPr id="32" name="Rectangle 31"/>
          <p:cNvSpPr/>
          <p:nvPr/>
        </p:nvSpPr>
        <p:spPr>
          <a:xfrm>
            <a:off x="2057400" y="1083564"/>
            <a:ext cx="10515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093976" y="1101852"/>
            <a:ext cx="978408" cy="196596"/>
          </a:xfrm>
          <a:prstGeom prst="rect">
            <a:avLst/>
          </a:prstGeom>
          <a:noFill/>
        </p:spPr>
        <p:txBody>
          <a:bodyPr wrap="square">
            <a:spAutoFit/>
          </a:bodyPr>
          <a:lstStyle/>
          <a:p>
            <a:pPr algn="ctr"/>
            <a:r>
              <a:rPr sz="850" b="0" i="0">
                <a:solidFill>
                  <a:srgbClr val="1F1F1F"/>
                </a:solidFill>
                <a:latin typeface="Calibri"/>
              </a:rPr>
              <a:t>~$4,300</a:t>
            </a:r>
          </a:p>
        </p:txBody>
      </p:sp>
      <p:sp>
        <p:nvSpPr>
          <p:cNvPr id="34" name="Rectangle 33"/>
          <p:cNvSpPr/>
          <p:nvPr/>
        </p:nvSpPr>
        <p:spPr>
          <a:xfrm>
            <a:off x="3108960" y="1083564"/>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45536" y="1101852"/>
            <a:ext cx="749808" cy="196596"/>
          </a:xfrm>
          <a:prstGeom prst="rect">
            <a:avLst/>
          </a:prstGeom>
          <a:noFill/>
        </p:spPr>
        <p:txBody>
          <a:bodyPr wrap="square">
            <a:spAutoFit/>
          </a:bodyPr>
          <a:lstStyle/>
          <a:p>
            <a:pPr algn="ctr"/>
            <a:r>
              <a:rPr sz="850" b="0" i="0">
                <a:solidFill>
                  <a:srgbClr val="1F1F1F"/>
                </a:solidFill>
                <a:latin typeface="Calibri"/>
              </a:rPr>
              <a:t>30.5x</a:t>
            </a:r>
          </a:p>
        </p:txBody>
      </p:sp>
      <p:sp>
        <p:nvSpPr>
          <p:cNvPr id="36" name="Rectangle 35"/>
          <p:cNvSpPr/>
          <p:nvPr/>
        </p:nvSpPr>
        <p:spPr>
          <a:xfrm>
            <a:off x="3931920" y="1083564"/>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968496" y="1101852"/>
            <a:ext cx="749808" cy="196596"/>
          </a:xfrm>
          <a:prstGeom prst="rect">
            <a:avLst/>
          </a:prstGeom>
          <a:noFill/>
        </p:spPr>
        <p:txBody>
          <a:bodyPr wrap="square">
            <a:spAutoFit/>
          </a:bodyPr>
          <a:lstStyle/>
          <a:p>
            <a:pPr algn="ctr"/>
            <a:r>
              <a:rPr sz="850" b="0" i="0">
                <a:solidFill>
                  <a:srgbClr val="1F1F1F"/>
                </a:solidFill>
                <a:latin typeface="Calibri"/>
              </a:rPr>
              <a:t>37.2x</a:t>
            </a:r>
          </a:p>
        </p:txBody>
      </p:sp>
      <p:sp>
        <p:nvSpPr>
          <p:cNvPr id="38" name="Rectangle 37"/>
          <p:cNvSpPr/>
          <p:nvPr/>
        </p:nvSpPr>
        <p:spPr>
          <a:xfrm>
            <a:off x="4754880" y="1083564"/>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91456" y="1101852"/>
            <a:ext cx="749808" cy="196596"/>
          </a:xfrm>
          <a:prstGeom prst="rect">
            <a:avLst/>
          </a:prstGeom>
          <a:noFill/>
        </p:spPr>
        <p:txBody>
          <a:bodyPr wrap="square">
            <a:spAutoFit/>
          </a:bodyPr>
          <a:lstStyle/>
          <a:p>
            <a:pPr algn="ctr"/>
            <a:r>
              <a:rPr sz="850" b="0" i="0">
                <a:solidFill>
                  <a:srgbClr val="1F1F1F"/>
                </a:solidFill>
                <a:latin typeface="Calibri"/>
              </a:rPr>
              <a:t>20.1x</a:t>
            </a:r>
          </a:p>
        </p:txBody>
      </p:sp>
      <p:sp>
        <p:nvSpPr>
          <p:cNvPr id="40" name="Rectangle 39"/>
          <p:cNvSpPr/>
          <p:nvPr/>
        </p:nvSpPr>
        <p:spPr>
          <a:xfrm>
            <a:off x="5577840" y="1083564"/>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614416" y="1101852"/>
            <a:ext cx="749808" cy="196596"/>
          </a:xfrm>
          <a:prstGeom prst="rect">
            <a:avLst/>
          </a:prstGeom>
          <a:noFill/>
        </p:spPr>
        <p:txBody>
          <a:bodyPr wrap="square">
            <a:spAutoFit/>
          </a:bodyPr>
          <a:lstStyle/>
          <a:p>
            <a:pPr algn="ctr"/>
            <a:r>
              <a:rPr sz="850" b="0" i="0">
                <a:solidFill>
                  <a:srgbClr val="1F1F1F"/>
                </a:solidFill>
                <a:latin typeface="Calibri"/>
              </a:rPr>
              <a:t>45.0x</a:t>
            </a:r>
          </a:p>
        </p:txBody>
      </p:sp>
      <p:sp>
        <p:nvSpPr>
          <p:cNvPr id="42" name="Rectangle 41"/>
          <p:cNvSpPr/>
          <p:nvPr/>
        </p:nvSpPr>
        <p:spPr>
          <a:xfrm>
            <a:off x="6400800" y="1083564"/>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37376" y="1101852"/>
            <a:ext cx="841248" cy="196596"/>
          </a:xfrm>
          <a:prstGeom prst="rect">
            <a:avLst/>
          </a:prstGeom>
          <a:noFill/>
        </p:spPr>
        <p:txBody>
          <a:bodyPr wrap="square">
            <a:spAutoFit/>
          </a:bodyPr>
          <a:lstStyle/>
          <a:p>
            <a:pPr algn="ctr"/>
            <a:r>
              <a:rPr sz="850" b="0" i="0">
                <a:solidFill>
                  <a:srgbClr val="1F1F1F"/>
                </a:solidFill>
                <a:latin typeface="Calibri"/>
              </a:rPr>
              <a:t>44.7%</a:t>
            </a:r>
          </a:p>
        </p:txBody>
      </p:sp>
      <p:sp>
        <p:nvSpPr>
          <p:cNvPr id="44" name="Rectangle 43"/>
          <p:cNvSpPr/>
          <p:nvPr/>
        </p:nvSpPr>
        <p:spPr>
          <a:xfrm>
            <a:off x="182880" y="1316736"/>
            <a:ext cx="123444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19456" y="1335024"/>
            <a:ext cx="1161288" cy="196596"/>
          </a:xfrm>
          <a:prstGeom prst="rect">
            <a:avLst/>
          </a:prstGeom>
          <a:noFill/>
        </p:spPr>
        <p:txBody>
          <a:bodyPr wrap="square">
            <a:spAutoFit/>
          </a:bodyPr>
          <a:lstStyle/>
          <a:p>
            <a:pPr algn="l"/>
            <a:r>
              <a:rPr sz="850" b="1" i="0">
                <a:solidFill>
                  <a:srgbClr val="1F1F1F"/>
                </a:solidFill>
                <a:latin typeface="Calibri"/>
              </a:rPr>
              <a:t>Advanced Micro Dev</a:t>
            </a:r>
          </a:p>
        </p:txBody>
      </p:sp>
      <p:sp>
        <p:nvSpPr>
          <p:cNvPr id="46" name="Rectangle 45"/>
          <p:cNvSpPr/>
          <p:nvPr/>
        </p:nvSpPr>
        <p:spPr>
          <a:xfrm>
            <a:off x="1417320" y="1316736"/>
            <a:ext cx="6400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453896" y="1335024"/>
            <a:ext cx="566928" cy="196596"/>
          </a:xfrm>
          <a:prstGeom prst="rect">
            <a:avLst/>
          </a:prstGeom>
          <a:noFill/>
        </p:spPr>
        <p:txBody>
          <a:bodyPr wrap="square">
            <a:spAutoFit/>
          </a:bodyPr>
          <a:lstStyle/>
          <a:p>
            <a:pPr algn="ctr"/>
            <a:r>
              <a:rPr sz="850" b="0" i="0">
                <a:solidFill>
                  <a:srgbClr val="1F1F1F"/>
                </a:solidFill>
                <a:latin typeface="Calibri"/>
              </a:rPr>
              <a:t>AMD</a:t>
            </a:r>
          </a:p>
        </p:txBody>
      </p:sp>
      <p:sp>
        <p:nvSpPr>
          <p:cNvPr id="48" name="Rectangle 47"/>
          <p:cNvSpPr/>
          <p:nvPr/>
        </p:nvSpPr>
        <p:spPr>
          <a:xfrm>
            <a:off x="2057400" y="1316736"/>
            <a:ext cx="10515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093976" y="1335024"/>
            <a:ext cx="978408" cy="196596"/>
          </a:xfrm>
          <a:prstGeom prst="rect">
            <a:avLst/>
          </a:prstGeom>
          <a:noFill/>
        </p:spPr>
        <p:txBody>
          <a:bodyPr wrap="square">
            <a:spAutoFit/>
          </a:bodyPr>
          <a:lstStyle/>
          <a:p>
            <a:pPr algn="ctr"/>
            <a:r>
              <a:rPr sz="850" b="0" i="0">
                <a:solidFill>
                  <a:srgbClr val="1F1F1F"/>
                </a:solidFill>
                <a:latin typeface="Calibri"/>
              </a:rPr>
              <a:t>~$195</a:t>
            </a:r>
          </a:p>
        </p:txBody>
      </p:sp>
      <p:sp>
        <p:nvSpPr>
          <p:cNvPr id="50" name="Rectangle 49"/>
          <p:cNvSpPr/>
          <p:nvPr/>
        </p:nvSpPr>
        <p:spPr>
          <a:xfrm>
            <a:off x="3108960" y="1316736"/>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3145536" y="1335024"/>
            <a:ext cx="749808" cy="196596"/>
          </a:xfrm>
          <a:prstGeom prst="rect">
            <a:avLst/>
          </a:prstGeom>
          <a:noFill/>
        </p:spPr>
        <p:txBody>
          <a:bodyPr wrap="square">
            <a:spAutoFit/>
          </a:bodyPr>
          <a:lstStyle/>
          <a:p>
            <a:pPr algn="ctr"/>
            <a:r>
              <a:rPr sz="850" b="0" i="0">
                <a:solidFill>
                  <a:srgbClr val="1F1F1F"/>
                </a:solidFill>
                <a:latin typeface="Calibri"/>
              </a:rPr>
              <a:t>31.2x</a:t>
            </a:r>
          </a:p>
        </p:txBody>
      </p:sp>
      <p:sp>
        <p:nvSpPr>
          <p:cNvPr id="52" name="Rectangle 51"/>
          <p:cNvSpPr/>
          <p:nvPr/>
        </p:nvSpPr>
        <p:spPr>
          <a:xfrm>
            <a:off x="3931920" y="1316736"/>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968496" y="1335024"/>
            <a:ext cx="749808" cy="196596"/>
          </a:xfrm>
          <a:prstGeom prst="rect">
            <a:avLst/>
          </a:prstGeom>
          <a:noFill/>
        </p:spPr>
        <p:txBody>
          <a:bodyPr wrap="square">
            <a:spAutoFit/>
          </a:bodyPr>
          <a:lstStyle/>
          <a:p>
            <a:pPr algn="ctr"/>
            <a:r>
              <a:rPr sz="850" b="0" i="0">
                <a:solidFill>
                  <a:srgbClr val="1F1F1F"/>
                </a:solidFill>
                <a:latin typeface="Calibri"/>
              </a:rPr>
              <a:t>82.1x</a:t>
            </a:r>
          </a:p>
        </p:txBody>
      </p:sp>
      <p:sp>
        <p:nvSpPr>
          <p:cNvPr id="54" name="Rectangle 53"/>
          <p:cNvSpPr/>
          <p:nvPr/>
        </p:nvSpPr>
        <p:spPr>
          <a:xfrm>
            <a:off x="4754880" y="1316736"/>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791456" y="1335024"/>
            <a:ext cx="749808" cy="196596"/>
          </a:xfrm>
          <a:prstGeom prst="rect">
            <a:avLst/>
          </a:prstGeom>
          <a:noFill/>
        </p:spPr>
        <p:txBody>
          <a:bodyPr wrap="square">
            <a:spAutoFit/>
          </a:bodyPr>
          <a:lstStyle/>
          <a:p>
            <a:pPr algn="ctr"/>
            <a:r>
              <a:rPr sz="850" b="0" i="0">
                <a:solidFill>
                  <a:srgbClr val="1F1F1F"/>
                </a:solidFill>
                <a:latin typeface="Calibri"/>
              </a:rPr>
              <a:t>12.2x</a:t>
            </a:r>
          </a:p>
        </p:txBody>
      </p:sp>
      <p:sp>
        <p:nvSpPr>
          <p:cNvPr id="56" name="Rectangle 55"/>
          <p:cNvSpPr/>
          <p:nvPr/>
        </p:nvSpPr>
        <p:spPr>
          <a:xfrm>
            <a:off x="5577840" y="1316736"/>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614416" y="1335024"/>
            <a:ext cx="749808" cy="196596"/>
          </a:xfrm>
          <a:prstGeom prst="rect">
            <a:avLst/>
          </a:prstGeom>
          <a:noFill/>
        </p:spPr>
        <p:txBody>
          <a:bodyPr wrap="square">
            <a:spAutoFit/>
          </a:bodyPr>
          <a:lstStyle/>
          <a:p>
            <a:pPr algn="ctr"/>
            <a:r>
              <a:rPr sz="850" b="0" i="0">
                <a:solidFill>
                  <a:srgbClr val="1F1F1F"/>
                </a:solidFill>
                <a:latin typeface="Calibri"/>
              </a:rPr>
              <a:t>53.2x</a:t>
            </a:r>
          </a:p>
        </p:txBody>
      </p:sp>
      <p:sp>
        <p:nvSpPr>
          <p:cNvPr id="58" name="Rectangle 57"/>
          <p:cNvSpPr/>
          <p:nvPr/>
        </p:nvSpPr>
        <p:spPr>
          <a:xfrm>
            <a:off x="6400800" y="1316736"/>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437376" y="1335024"/>
            <a:ext cx="841248" cy="196596"/>
          </a:xfrm>
          <a:prstGeom prst="rect">
            <a:avLst/>
          </a:prstGeom>
          <a:noFill/>
        </p:spPr>
        <p:txBody>
          <a:bodyPr wrap="square">
            <a:spAutoFit/>
          </a:bodyPr>
          <a:lstStyle/>
          <a:p>
            <a:pPr algn="ctr"/>
            <a:r>
              <a:rPr sz="850" b="0" i="0">
                <a:solidFill>
                  <a:srgbClr val="1F1F1F"/>
                </a:solidFill>
                <a:latin typeface="Calibri"/>
              </a:rPr>
              <a:t>23.0%</a:t>
            </a:r>
          </a:p>
        </p:txBody>
      </p:sp>
      <p:sp>
        <p:nvSpPr>
          <p:cNvPr id="60" name="Rectangle 59"/>
          <p:cNvSpPr/>
          <p:nvPr/>
        </p:nvSpPr>
        <p:spPr>
          <a:xfrm>
            <a:off x="182880" y="1549908"/>
            <a:ext cx="123444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19456" y="1568196"/>
            <a:ext cx="1161288" cy="196596"/>
          </a:xfrm>
          <a:prstGeom prst="rect">
            <a:avLst/>
          </a:prstGeom>
          <a:noFill/>
        </p:spPr>
        <p:txBody>
          <a:bodyPr wrap="square">
            <a:spAutoFit/>
          </a:bodyPr>
          <a:lstStyle/>
          <a:p>
            <a:pPr algn="l"/>
            <a:r>
              <a:rPr sz="850" b="1" i="0">
                <a:solidFill>
                  <a:srgbClr val="1F1F1F"/>
                </a:solidFill>
                <a:latin typeface="Calibri"/>
              </a:rPr>
              <a:t>Broadcom Inc</a:t>
            </a:r>
          </a:p>
        </p:txBody>
      </p:sp>
      <p:sp>
        <p:nvSpPr>
          <p:cNvPr id="62" name="Rectangle 61"/>
          <p:cNvSpPr/>
          <p:nvPr/>
        </p:nvSpPr>
        <p:spPr>
          <a:xfrm>
            <a:off x="1417320" y="1549908"/>
            <a:ext cx="6400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453896" y="1568196"/>
            <a:ext cx="566928" cy="196596"/>
          </a:xfrm>
          <a:prstGeom prst="rect">
            <a:avLst/>
          </a:prstGeom>
          <a:noFill/>
        </p:spPr>
        <p:txBody>
          <a:bodyPr wrap="square">
            <a:spAutoFit/>
          </a:bodyPr>
          <a:lstStyle/>
          <a:p>
            <a:pPr algn="ctr"/>
            <a:r>
              <a:rPr sz="850" b="0" i="0">
                <a:solidFill>
                  <a:srgbClr val="1F1F1F"/>
                </a:solidFill>
                <a:latin typeface="Calibri"/>
              </a:rPr>
              <a:t>AVGO</a:t>
            </a:r>
          </a:p>
        </p:txBody>
      </p:sp>
      <p:sp>
        <p:nvSpPr>
          <p:cNvPr id="64" name="Rectangle 63"/>
          <p:cNvSpPr/>
          <p:nvPr/>
        </p:nvSpPr>
        <p:spPr>
          <a:xfrm>
            <a:off x="2057400" y="1549908"/>
            <a:ext cx="10515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2093976" y="1568196"/>
            <a:ext cx="978408" cy="196596"/>
          </a:xfrm>
          <a:prstGeom prst="rect">
            <a:avLst/>
          </a:prstGeom>
          <a:noFill/>
        </p:spPr>
        <p:txBody>
          <a:bodyPr wrap="square">
            <a:spAutoFit/>
          </a:bodyPr>
          <a:lstStyle/>
          <a:p>
            <a:pPr algn="ctr"/>
            <a:r>
              <a:rPr sz="850" b="0" i="0">
                <a:solidFill>
                  <a:srgbClr val="1F1F1F"/>
                </a:solidFill>
                <a:latin typeface="Calibri"/>
              </a:rPr>
              <a:t>~$830</a:t>
            </a:r>
          </a:p>
        </p:txBody>
      </p:sp>
      <p:sp>
        <p:nvSpPr>
          <p:cNvPr id="66" name="Rectangle 65"/>
          <p:cNvSpPr/>
          <p:nvPr/>
        </p:nvSpPr>
        <p:spPr>
          <a:xfrm>
            <a:off x="3108960" y="1549908"/>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3145536" y="1568196"/>
            <a:ext cx="749808" cy="196596"/>
          </a:xfrm>
          <a:prstGeom prst="rect">
            <a:avLst/>
          </a:prstGeom>
          <a:noFill/>
        </p:spPr>
        <p:txBody>
          <a:bodyPr wrap="square">
            <a:spAutoFit/>
          </a:bodyPr>
          <a:lstStyle/>
          <a:p>
            <a:pPr algn="ctr"/>
            <a:r>
              <a:rPr sz="850" b="0" i="0">
                <a:solidFill>
                  <a:srgbClr val="1F1F1F"/>
                </a:solidFill>
                <a:latin typeface="Calibri"/>
              </a:rPr>
              <a:t>26.8x</a:t>
            </a:r>
          </a:p>
        </p:txBody>
      </p:sp>
      <p:sp>
        <p:nvSpPr>
          <p:cNvPr id="68" name="Rectangle 67"/>
          <p:cNvSpPr/>
          <p:nvPr/>
        </p:nvSpPr>
        <p:spPr>
          <a:xfrm>
            <a:off x="3931920" y="1549908"/>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3968496" y="1568196"/>
            <a:ext cx="749808" cy="196596"/>
          </a:xfrm>
          <a:prstGeom prst="rect">
            <a:avLst/>
          </a:prstGeom>
          <a:noFill/>
        </p:spPr>
        <p:txBody>
          <a:bodyPr wrap="square">
            <a:spAutoFit/>
          </a:bodyPr>
          <a:lstStyle/>
          <a:p>
            <a:pPr algn="ctr"/>
            <a:r>
              <a:rPr sz="850" b="0" i="0">
                <a:solidFill>
                  <a:srgbClr val="1F1F1F"/>
                </a:solidFill>
                <a:latin typeface="Calibri"/>
              </a:rPr>
              <a:t>61.3x</a:t>
            </a:r>
          </a:p>
        </p:txBody>
      </p:sp>
      <p:sp>
        <p:nvSpPr>
          <p:cNvPr id="70" name="Rectangle 69"/>
          <p:cNvSpPr/>
          <p:nvPr/>
        </p:nvSpPr>
        <p:spPr>
          <a:xfrm>
            <a:off x="4754880" y="1549908"/>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4791456" y="1568196"/>
            <a:ext cx="749808" cy="196596"/>
          </a:xfrm>
          <a:prstGeom prst="rect">
            <a:avLst/>
          </a:prstGeom>
          <a:noFill/>
        </p:spPr>
        <p:txBody>
          <a:bodyPr wrap="square">
            <a:spAutoFit/>
          </a:bodyPr>
          <a:lstStyle/>
          <a:p>
            <a:pPr algn="ctr"/>
            <a:r>
              <a:rPr sz="850" b="0" i="0">
                <a:solidFill>
                  <a:srgbClr val="1F1F1F"/>
                </a:solidFill>
                <a:latin typeface="Calibri"/>
              </a:rPr>
              <a:t>22.3x</a:t>
            </a:r>
          </a:p>
        </p:txBody>
      </p:sp>
      <p:sp>
        <p:nvSpPr>
          <p:cNvPr id="72" name="Rectangle 71"/>
          <p:cNvSpPr/>
          <p:nvPr/>
        </p:nvSpPr>
        <p:spPr>
          <a:xfrm>
            <a:off x="5577840" y="1549908"/>
            <a:ext cx="82296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614416" y="1568196"/>
            <a:ext cx="749808" cy="196596"/>
          </a:xfrm>
          <a:prstGeom prst="rect">
            <a:avLst/>
          </a:prstGeom>
          <a:noFill/>
        </p:spPr>
        <p:txBody>
          <a:bodyPr wrap="square">
            <a:spAutoFit/>
          </a:bodyPr>
          <a:lstStyle/>
          <a:p>
            <a:pPr algn="ctr"/>
            <a:r>
              <a:rPr sz="850" b="0" i="0">
                <a:solidFill>
                  <a:srgbClr val="1F1F1F"/>
                </a:solidFill>
                <a:latin typeface="Calibri"/>
              </a:rPr>
              <a:t>51.1x</a:t>
            </a:r>
          </a:p>
        </p:txBody>
      </p:sp>
      <p:sp>
        <p:nvSpPr>
          <p:cNvPr id="74" name="Rectangle 73"/>
          <p:cNvSpPr/>
          <p:nvPr/>
        </p:nvSpPr>
        <p:spPr>
          <a:xfrm>
            <a:off x="6400800" y="1549908"/>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6437376" y="1568196"/>
            <a:ext cx="841248" cy="196596"/>
          </a:xfrm>
          <a:prstGeom prst="rect">
            <a:avLst/>
          </a:prstGeom>
          <a:noFill/>
        </p:spPr>
        <p:txBody>
          <a:bodyPr wrap="square">
            <a:spAutoFit/>
          </a:bodyPr>
          <a:lstStyle/>
          <a:p>
            <a:pPr algn="ctr"/>
            <a:r>
              <a:rPr sz="850" b="0" i="0">
                <a:solidFill>
                  <a:srgbClr val="1F1F1F"/>
                </a:solidFill>
                <a:latin typeface="Calibri"/>
              </a:rPr>
              <a:t>43.7%</a:t>
            </a:r>
          </a:p>
        </p:txBody>
      </p:sp>
      <p:sp>
        <p:nvSpPr>
          <p:cNvPr id="76" name="Rectangle 75"/>
          <p:cNvSpPr/>
          <p:nvPr/>
        </p:nvSpPr>
        <p:spPr>
          <a:xfrm>
            <a:off x="182880" y="1783080"/>
            <a:ext cx="123444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219456" y="1801368"/>
            <a:ext cx="1161288" cy="196596"/>
          </a:xfrm>
          <a:prstGeom prst="rect">
            <a:avLst/>
          </a:prstGeom>
          <a:noFill/>
        </p:spPr>
        <p:txBody>
          <a:bodyPr wrap="square">
            <a:spAutoFit/>
          </a:bodyPr>
          <a:lstStyle/>
          <a:p>
            <a:pPr algn="l"/>
            <a:r>
              <a:rPr sz="850" b="1" i="0">
                <a:solidFill>
                  <a:srgbClr val="1F1F1F"/>
                </a:solidFill>
                <a:latin typeface="Calibri"/>
              </a:rPr>
              <a:t>Intel Corp</a:t>
            </a:r>
          </a:p>
        </p:txBody>
      </p:sp>
      <p:sp>
        <p:nvSpPr>
          <p:cNvPr id="78" name="Rectangle 77"/>
          <p:cNvSpPr/>
          <p:nvPr/>
        </p:nvSpPr>
        <p:spPr>
          <a:xfrm>
            <a:off x="1417320" y="1783080"/>
            <a:ext cx="6400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453896" y="1801368"/>
            <a:ext cx="566928" cy="196596"/>
          </a:xfrm>
          <a:prstGeom prst="rect">
            <a:avLst/>
          </a:prstGeom>
          <a:noFill/>
        </p:spPr>
        <p:txBody>
          <a:bodyPr wrap="square">
            <a:spAutoFit/>
          </a:bodyPr>
          <a:lstStyle/>
          <a:p>
            <a:pPr algn="ctr"/>
            <a:r>
              <a:rPr sz="850" b="0" i="0">
                <a:solidFill>
                  <a:srgbClr val="1F1F1F"/>
                </a:solidFill>
                <a:latin typeface="Calibri"/>
              </a:rPr>
              <a:t>INTC</a:t>
            </a:r>
          </a:p>
        </p:txBody>
      </p:sp>
      <p:sp>
        <p:nvSpPr>
          <p:cNvPr id="80" name="Rectangle 79"/>
          <p:cNvSpPr/>
          <p:nvPr/>
        </p:nvSpPr>
        <p:spPr>
          <a:xfrm>
            <a:off x="2057400" y="1783080"/>
            <a:ext cx="10515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2093976" y="1801368"/>
            <a:ext cx="978408" cy="196596"/>
          </a:xfrm>
          <a:prstGeom prst="rect">
            <a:avLst/>
          </a:prstGeom>
          <a:noFill/>
        </p:spPr>
        <p:txBody>
          <a:bodyPr wrap="square">
            <a:spAutoFit/>
          </a:bodyPr>
          <a:lstStyle/>
          <a:p>
            <a:pPr algn="ctr"/>
            <a:r>
              <a:rPr sz="850" b="0" i="0">
                <a:solidFill>
                  <a:srgbClr val="1F1F1F"/>
                </a:solidFill>
                <a:latin typeface="Calibri"/>
              </a:rPr>
              <a:t>~$100</a:t>
            </a:r>
          </a:p>
        </p:txBody>
      </p:sp>
      <p:sp>
        <p:nvSpPr>
          <p:cNvPr id="82" name="Rectangle 81"/>
          <p:cNvSpPr/>
          <p:nvPr/>
        </p:nvSpPr>
        <p:spPr>
          <a:xfrm>
            <a:off x="3108960" y="1783080"/>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3145536" y="1801368"/>
            <a:ext cx="749808" cy="196596"/>
          </a:xfrm>
          <a:prstGeom prst="rect">
            <a:avLst/>
          </a:prstGeom>
          <a:noFill/>
        </p:spPr>
        <p:txBody>
          <a:bodyPr wrap="square">
            <a:spAutoFit/>
          </a:bodyPr>
          <a:lstStyle/>
          <a:p>
            <a:pPr algn="ctr"/>
            <a:r>
              <a:rPr sz="850" b="0" i="0">
                <a:solidFill>
                  <a:srgbClr val="1F1F1F"/>
                </a:solidFill>
                <a:latin typeface="Calibri"/>
              </a:rPr>
              <a:t>15.4x</a:t>
            </a:r>
          </a:p>
        </p:txBody>
      </p:sp>
      <p:sp>
        <p:nvSpPr>
          <p:cNvPr id="84" name="Rectangle 83"/>
          <p:cNvSpPr/>
          <p:nvPr/>
        </p:nvSpPr>
        <p:spPr>
          <a:xfrm>
            <a:off x="3931920" y="1783080"/>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3968496" y="1801368"/>
            <a:ext cx="749808" cy="196596"/>
          </a:xfrm>
          <a:prstGeom prst="rect">
            <a:avLst/>
          </a:prstGeom>
          <a:noFill/>
        </p:spPr>
        <p:txBody>
          <a:bodyPr wrap="square">
            <a:spAutoFit/>
          </a:bodyPr>
          <a:lstStyle/>
          <a:p>
            <a:pPr algn="ctr"/>
            <a:r>
              <a:rPr sz="850" b="0" i="0">
                <a:solidFill>
                  <a:srgbClr val="1F1F1F"/>
                </a:solidFill>
                <a:latin typeface="Calibri"/>
              </a:rPr>
              <a:t>N/M</a:t>
            </a:r>
          </a:p>
        </p:txBody>
      </p:sp>
      <p:sp>
        <p:nvSpPr>
          <p:cNvPr id="86" name="Rectangle 85"/>
          <p:cNvSpPr/>
          <p:nvPr/>
        </p:nvSpPr>
        <p:spPr>
          <a:xfrm>
            <a:off x="4754880" y="1783080"/>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4791456" y="1801368"/>
            <a:ext cx="749808" cy="196596"/>
          </a:xfrm>
          <a:prstGeom prst="rect">
            <a:avLst/>
          </a:prstGeom>
          <a:noFill/>
        </p:spPr>
        <p:txBody>
          <a:bodyPr wrap="square">
            <a:spAutoFit/>
          </a:bodyPr>
          <a:lstStyle/>
          <a:p>
            <a:pPr algn="ctr"/>
            <a:r>
              <a:rPr sz="850" b="0" i="0">
                <a:solidFill>
                  <a:srgbClr val="1F1F1F"/>
                </a:solidFill>
                <a:latin typeface="Calibri"/>
              </a:rPr>
              <a:t>4.8x</a:t>
            </a:r>
          </a:p>
        </p:txBody>
      </p:sp>
      <p:sp>
        <p:nvSpPr>
          <p:cNvPr id="88" name="Rectangle 87"/>
          <p:cNvSpPr/>
          <p:nvPr/>
        </p:nvSpPr>
        <p:spPr>
          <a:xfrm>
            <a:off x="5577840" y="1783080"/>
            <a:ext cx="82296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5614416" y="1801368"/>
            <a:ext cx="749808" cy="196596"/>
          </a:xfrm>
          <a:prstGeom prst="rect">
            <a:avLst/>
          </a:prstGeom>
          <a:noFill/>
        </p:spPr>
        <p:txBody>
          <a:bodyPr wrap="square">
            <a:spAutoFit/>
          </a:bodyPr>
          <a:lstStyle/>
          <a:p>
            <a:pPr algn="ctr"/>
            <a:r>
              <a:rPr sz="850" b="0" i="0">
                <a:solidFill>
                  <a:srgbClr val="1F1F1F"/>
                </a:solidFill>
                <a:latin typeface="Calibri"/>
              </a:rPr>
              <a:t>N/M</a:t>
            </a:r>
          </a:p>
        </p:txBody>
      </p:sp>
      <p:sp>
        <p:nvSpPr>
          <p:cNvPr id="90" name="Rectangle 89"/>
          <p:cNvSpPr/>
          <p:nvPr/>
        </p:nvSpPr>
        <p:spPr>
          <a:xfrm>
            <a:off x="6400800" y="1783080"/>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6437376" y="1801368"/>
            <a:ext cx="841248" cy="196596"/>
          </a:xfrm>
          <a:prstGeom prst="rect">
            <a:avLst/>
          </a:prstGeom>
          <a:noFill/>
        </p:spPr>
        <p:txBody>
          <a:bodyPr wrap="square">
            <a:spAutoFit/>
          </a:bodyPr>
          <a:lstStyle/>
          <a:p>
            <a:pPr algn="ctr"/>
            <a:r>
              <a:rPr sz="850" b="0" i="0">
                <a:solidFill>
                  <a:srgbClr val="1F1F1F"/>
                </a:solidFill>
                <a:latin typeface="Calibri"/>
              </a:rPr>
              <a:t>Neg.</a:t>
            </a:r>
          </a:p>
        </p:txBody>
      </p:sp>
      <p:sp>
        <p:nvSpPr>
          <p:cNvPr id="92" name="Rectangle 91"/>
          <p:cNvSpPr/>
          <p:nvPr/>
        </p:nvSpPr>
        <p:spPr>
          <a:xfrm>
            <a:off x="182880" y="2290572"/>
            <a:ext cx="32004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237744" y="2308860"/>
            <a:ext cx="3090672" cy="164592"/>
          </a:xfrm>
          <a:prstGeom prst="rect">
            <a:avLst/>
          </a:prstGeom>
          <a:noFill/>
        </p:spPr>
        <p:txBody>
          <a:bodyPr wrap="square">
            <a:spAutoFit/>
          </a:bodyPr>
          <a:lstStyle/>
          <a:p>
            <a:pPr algn="l"/>
            <a:r>
              <a:rPr sz="750" b="1" i="0">
                <a:solidFill>
                  <a:srgbClr val="FFFFFF"/>
                </a:solidFill>
                <a:latin typeface="Calibri"/>
              </a:rPr>
              <a:t>FIGURE 10: MARKET MULTIPLIERS — IMPLIED NVDA PRICE</a:t>
            </a:r>
          </a:p>
        </p:txBody>
      </p:sp>
      <p:sp>
        <p:nvSpPr>
          <p:cNvPr id="94" name="Rectangle 93"/>
          <p:cNvSpPr/>
          <p:nvPr/>
        </p:nvSpPr>
        <p:spPr>
          <a:xfrm>
            <a:off x="182880" y="2519172"/>
            <a:ext cx="91440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TextBox 94"/>
          <p:cNvSpPr txBox="1"/>
          <p:nvPr/>
        </p:nvSpPr>
        <p:spPr>
          <a:xfrm>
            <a:off x="219456" y="2537460"/>
            <a:ext cx="841248" cy="196596"/>
          </a:xfrm>
          <a:prstGeom prst="rect">
            <a:avLst/>
          </a:prstGeom>
          <a:noFill/>
        </p:spPr>
        <p:txBody>
          <a:bodyPr wrap="square">
            <a:spAutoFit/>
          </a:bodyPr>
          <a:lstStyle/>
          <a:p>
            <a:pPr algn="ctr"/>
            <a:r>
              <a:rPr sz="850" b="1" i="0">
                <a:solidFill>
                  <a:srgbClr val="FFFFFF"/>
                </a:solidFill>
                <a:latin typeface="Calibri"/>
              </a:rPr>
              <a:t>Multiple</a:t>
            </a:r>
          </a:p>
        </p:txBody>
      </p:sp>
      <p:sp>
        <p:nvSpPr>
          <p:cNvPr id="96" name="Rectangle 95"/>
          <p:cNvSpPr/>
          <p:nvPr/>
        </p:nvSpPr>
        <p:spPr>
          <a:xfrm>
            <a:off x="1097280" y="2519172"/>
            <a:ext cx="91440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1133856" y="2537460"/>
            <a:ext cx="841248" cy="196596"/>
          </a:xfrm>
          <a:prstGeom prst="rect">
            <a:avLst/>
          </a:prstGeom>
          <a:noFill/>
        </p:spPr>
        <p:txBody>
          <a:bodyPr wrap="square">
            <a:spAutoFit/>
          </a:bodyPr>
          <a:lstStyle/>
          <a:p>
            <a:pPr algn="ctr"/>
            <a:r>
              <a:rPr sz="850" b="1" i="0">
                <a:solidFill>
                  <a:srgbClr val="FFFFFF"/>
                </a:solidFill>
                <a:latin typeface="Calibri"/>
              </a:rPr>
              <a:t>AMD</a:t>
            </a:r>
          </a:p>
        </p:txBody>
      </p:sp>
      <p:sp>
        <p:nvSpPr>
          <p:cNvPr id="98" name="Rectangle 97"/>
          <p:cNvSpPr/>
          <p:nvPr/>
        </p:nvSpPr>
        <p:spPr>
          <a:xfrm>
            <a:off x="2011680" y="2519172"/>
            <a:ext cx="91440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2048256" y="2537460"/>
            <a:ext cx="841248" cy="196596"/>
          </a:xfrm>
          <a:prstGeom prst="rect">
            <a:avLst/>
          </a:prstGeom>
          <a:noFill/>
        </p:spPr>
        <p:txBody>
          <a:bodyPr wrap="square">
            <a:spAutoFit/>
          </a:bodyPr>
          <a:lstStyle/>
          <a:p>
            <a:pPr algn="ctr"/>
            <a:r>
              <a:rPr sz="850" b="1" i="0">
                <a:solidFill>
                  <a:srgbClr val="FFFFFF"/>
                </a:solidFill>
                <a:latin typeface="Calibri"/>
              </a:rPr>
              <a:t>AVGO</a:t>
            </a:r>
          </a:p>
        </p:txBody>
      </p:sp>
      <p:sp>
        <p:nvSpPr>
          <p:cNvPr id="100" name="Rectangle 99"/>
          <p:cNvSpPr/>
          <p:nvPr/>
        </p:nvSpPr>
        <p:spPr>
          <a:xfrm>
            <a:off x="2926080" y="2519172"/>
            <a:ext cx="91440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2962656" y="2537460"/>
            <a:ext cx="841248" cy="196596"/>
          </a:xfrm>
          <a:prstGeom prst="rect">
            <a:avLst/>
          </a:prstGeom>
          <a:noFill/>
        </p:spPr>
        <p:txBody>
          <a:bodyPr wrap="square">
            <a:spAutoFit/>
          </a:bodyPr>
          <a:lstStyle/>
          <a:p>
            <a:pPr algn="ctr"/>
            <a:r>
              <a:rPr sz="850" b="1" i="0">
                <a:solidFill>
                  <a:srgbClr val="FFFFFF"/>
                </a:solidFill>
                <a:latin typeface="Calibri"/>
              </a:rPr>
              <a:t>INTC</a:t>
            </a:r>
          </a:p>
        </p:txBody>
      </p:sp>
      <p:sp>
        <p:nvSpPr>
          <p:cNvPr id="102" name="Rectangle 101"/>
          <p:cNvSpPr/>
          <p:nvPr/>
        </p:nvSpPr>
        <p:spPr>
          <a:xfrm>
            <a:off x="3840480" y="2519172"/>
            <a:ext cx="201168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3877056" y="2537460"/>
            <a:ext cx="1938528" cy="196596"/>
          </a:xfrm>
          <a:prstGeom prst="rect">
            <a:avLst/>
          </a:prstGeom>
          <a:noFill/>
        </p:spPr>
        <p:txBody>
          <a:bodyPr wrap="square">
            <a:spAutoFit/>
          </a:bodyPr>
          <a:lstStyle/>
          <a:p>
            <a:pPr algn="ctr"/>
            <a:r>
              <a:rPr sz="850" b="1" i="0">
                <a:solidFill>
                  <a:srgbClr val="FFFFFF"/>
                </a:solidFill>
                <a:latin typeface="Calibri"/>
              </a:rPr>
              <a:t>Avg. (Excl. INTC where N/M)</a:t>
            </a:r>
          </a:p>
        </p:txBody>
      </p:sp>
      <p:sp>
        <p:nvSpPr>
          <p:cNvPr id="104" name="Rectangle 103"/>
          <p:cNvSpPr/>
          <p:nvPr/>
        </p:nvSpPr>
        <p:spPr>
          <a:xfrm>
            <a:off x="5852160" y="2519172"/>
            <a:ext cx="155448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5888736" y="2537460"/>
            <a:ext cx="1481328" cy="196596"/>
          </a:xfrm>
          <a:prstGeom prst="rect">
            <a:avLst/>
          </a:prstGeom>
          <a:noFill/>
        </p:spPr>
        <p:txBody>
          <a:bodyPr wrap="square">
            <a:spAutoFit/>
          </a:bodyPr>
          <a:lstStyle/>
          <a:p>
            <a:pPr algn="ctr"/>
            <a:r>
              <a:rPr sz="850" b="1" i="0">
                <a:solidFill>
                  <a:srgbClr val="FFFFFF"/>
                </a:solidFill>
                <a:latin typeface="Calibri"/>
              </a:rPr>
              <a:t>Implied NVDA Price</a:t>
            </a:r>
          </a:p>
        </p:txBody>
      </p:sp>
      <p:sp>
        <p:nvSpPr>
          <p:cNvPr id="106" name="Rectangle 105"/>
          <p:cNvSpPr/>
          <p:nvPr/>
        </p:nvSpPr>
        <p:spPr>
          <a:xfrm>
            <a:off x="182880" y="2752344"/>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219456" y="2770632"/>
            <a:ext cx="841248" cy="196596"/>
          </a:xfrm>
          <a:prstGeom prst="rect">
            <a:avLst/>
          </a:prstGeom>
          <a:noFill/>
        </p:spPr>
        <p:txBody>
          <a:bodyPr wrap="square">
            <a:spAutoFit/>
          </a:bodyPr>
          <a:lstStyle/>
          <a:p>
            <a:pPr algn="l"/>
            <a:r>
              <a:rPr sz="850" b="1" i="0">
                <a:solidFill>
                  <a:srgbClr val="1F1F1F"/>
                </a:solidFill>
                <a:latin typeface="Calibri"/>
              </a:rPr>
              <a:t>P/B</a:t>
            </a:r>
          </a:p>
        </p:txBody>
      </p:sp>
      <p:sp>
        <p:nvSpPr>
          <p:cNvPr id="108" name="Rectangle 107"/>
          <p:cNvSpPr/>
          <p:nvPr/>
        </p:nvSpPr>
        <p:spPr>
          <a:xfrm>
            <a:off x="1097280" y="2752344"/>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1133856" y="2770632"/>
            <a:ext cx="841248" cy="196596"/>
          </a:xfrm>
          <a:prstGeom prst="rect">
            <a:avLst/>
          </a:prstGeom>
          <a:noFill/>
        </p:spPr>
        <p:txBody>
          <a:bodyPr wrap="square">
            <a:spAutoFit/>
          </a:bodyPr>
          <a:lstStyle/>
          <a:p>
            <a:pPr algn="ctr"/>
            <a:r>
              <a:rPr sz="850" b="0" i="0">
                <a:solidFill>
                  <a:srgbClr val="1F1F1F"/>
                </a:solidFill>
                <a:latin typeface="Calibri"/>
              </a:rPr>
              <a:t>5.65x</a:t>
            </a:r>
          </a:p>
        </p:txBody>
      </p:sp>
      <p:sp>
        <p:nvSpPr>
          <p:cNvPr id="110" name="Rectangle 109"/>
          <p:cNvSpPr/>
          <p:nvPr/>
        </p:nvSpPr>
        <p:spPr>
          <a:xfrm>
            <a:off x="2011680" y="2752344"/>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2048256" y="2770632"/>
            <a:ext cx="841248" cy="196596"/>
          </a:xfrm>
          <a:prstGeom prst="rect">
            <a:avLst/>
          </a:prstGeom>
          <a:noFill/>
        </p:spPr>
        <p:txBody>
          <a:bodyPr wrap="square">
            <a:spAutoFit/>
          </a:bodyPr>
          <a:lstStyle/>
          <a:p>
            <a:pPr algn="ctr"/>
            <a:r>
              <a:rPr sz="850" b="0" i="0">
                <a:solidFill>
                  <a:srgbClr val="1F1F1F"/>
                </a:solidFill>
                <a:latin typeface="Calibri"/>
              </a:rPr>
              <a:t>18.58x</a:t>
            </a:r>
          </a:p>
        </p:txBody>
      </p:sp>
      <p:sp>
        <p:nvSpPr>
          <p:cNvPr id="112" name="Rectangle 111"/>
          <p:cNvSpPr/>
          <p:nvPr/>
        </p:nvSpPr>
        <p:spPr>
          <a:xfrm>
            <a:off x="2926080" y="2752344"/>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2962656" y="2770632"/>
            <a:ext cx="841248" cy="196596"/>
          </a:xfrm>
          <a:prstGeom prst="rect">
            <a:avLst/>
          </a:prstGeom>
          <a:noFill/>
        </p:spPr>
        <p:txBody>
          <a:bodyPr wrap="square">
            <a:spAutoFit/>
          </a:bodyPr>
          <a:lstStyle/>
          <a:p>
            <a:pPr algn="ctr"/>
            <a:r>
              <a:rPr sz="850" b="0" i="0">
                <a:solidFill>
                  <a:srgbClr val="1F1F1F"/>
                </a:solidFill>
                <a:latin typeface="Calibri"/>
              </a:rPr>
              <a:t>2.30x</a:t>
            </a:r>
          </a:p>
        </p:txBody>
      </p:sp>
      <p:sp>
        <p:nvSpPr>
          <p:cNvPr id="114" name="Rectangle 113"/>
          <p:cNvSpPr/>
          <p:nvPr/>
        </p:nvSpPr>
        <p:spPr>
          <a:xfrm>
            <a:off x="3840480" y="2752344"/>
            <a:ext cx="2011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TextBox 114"/>
          <p:cNvSpPr txBox="1"/>
          <p:nvPr/>
        </p:nvSpPr>
        <p:spPr>
          <a:xfrm>
            <a:off x="3877056" y="2770632"/>
            <a:ext cx="1938528" cy="196596"/>
          </a:xfrm>
          <a:prstGeom prst="rect">
            <a:avLst/>
          </a:prstGeom>
          <a:noFill/>
        </p:spPr>
        <p:txBody>
          <a:bodyPr wrap="square">
            <a:spAutoFit/>
          </a:bodyPr>
          <a:lstStyle/>
          <a:p>
            <a:pPr algn="ctr"/>
            <a:r>
              <a:rPr sz="850" b="0" i="0">
                <a:solidFill>
                  <a:srgbClr val="1F1F1F"/>
                </a:solidFill>
                <a:latin typeface="Calibri"/>
              </a:rPr>
              <a:t>8.84x  (all three)</a:t>
            </a:r>
          </a:p>
        </p:txBody>
      </p:sp>
      <p:sp>
        <p:nvSpPr>
          <p:cNvPr id="116" name="Rectangle 115"/>
          <p:cNvSpPr/>
          <p:nvPr/>
        </p:nvSpPr>
        <p:spPr>
          <a:xfrm>
            <a:off x="5852160" y="2752344"/>
            <a:ext cx="15544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TextBox 116"/>
          <p:cNvSpPr txBox="1"/>
          <p:nvPr/>
        </p:nvSpPr>
        <p:spPr>
          <a:xfrm>
            <a:off x="5888736" y="2770632"/>
            <a:ext cx="1481328" cy="196596"/>
          </a:xfrm>
          <a:prstGeom prst="rect">
            <a:avLst/>
          </a:prstGeom>
          <a:noFill/>
        </p:spPr>
        <p:txBody>
          <a:bodyPr wrap="square">
            <a:spAutoFit/>
          </a:bodyPr>
          <a:lstStyle/>
          <a:p>
            <a:pPr algn="ctr"/>
            <a:r>
              <a:rPr sz="850" b="0" i="0">
                <a:solidFill>
                  <a:srgbClr val="1F1F1F"/>
                </a:solidFill>
                <a:latin typeface="Calibri"/>
              </a:rPr>
              <a:t>$57.15</a:t>
            </a:r>
          </a:p>
        </p:txBody>
      </p:sp>
      <p:sp>
        <p:nvSpPr>
          <p:cNvPr id="118" name="Rectangle 117"/>
          <p:cNvSpPr/>
          <p:nvPr/>
        </p:nvSpPr>
        <p:spPr>
          <a:xfrm>
            <a:off x="182880" y="2985516"/>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219456" y="3003804"/>
            <a:ext cx="841248" cy="196596"/>
          </a:xfrm>
          <a:prstGeom prst="rect">
            <a:avLst/>
          </a:prstGeom>
          <a:noFill/>
        </p:spPr>
        <p:txBody>
          <a:bodyPr wrap="square">
            <a:spAutoFit/>
          </a:bodyPr>
          <a:lstStyle/>
          <a:p>
            <a:pPr algn="l"/>
            <a:r>
              <a:rPr sz="850" b="1" i="0">
                <a:solidFill>
                  <a:srgbClr val="1F1F1F"/>
                </a:solidFill>
                <a:latin typeface="Calibri"/>
              </a:rPr>
              <a:t>P/Sales</a:t>
            </a:r>
          </a:p>
        </p:txBody>
      </p:sp>
      <p:sp>
        <p:nvSpPr>
          <p:cNvPr id="120" name="Rectangle 119"/>
          <p:cNvSpPr/>
          <p:nvPr/>
        </p:nvSpPr>
        <p:spPr>
          <a:xfrm>
            <a:off x="1097280" y="2985516"/>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1133856" y="3003804"/>
            <a:ext cx="841248" cy="196596"/>
          </a:xfrm>
          <a:prstGeom prst="rect">
            <a:avLst/>
          </a:prstGeom>
          <a:noFill/>
        </p:spPr>
        <p:txBody>
          <a:bodyPr wrap="square">
            <a:spAutoFit/>
          </a:bodyPr>
          <a:lstStyle/>
          <a:p>
            <a:pPr algn="ctr"/>
            <a:r>
              <a:rPr sz="850" b="0" i="0">
                <a:solidFill>
                  <a:srgbClr val="1F1F1F"/>
                </a:solidFill>
                <a:latin typeface="Calibri"/>
              </a:rPr>
              <a:t>12.22x</a:t>
            </a:r>
          </a:p>
        </p:txBody>
      </p:sp>
      <p:sp>
        <p:nvSpPr>
          <p:cNvPr id="122" name="Rectangle 121"/>
          <p:cNvSpPr/>
          <p:nvPr/>
        </p:nvSpPr>
        <p:spPr>
          <a:xfrm>
            <a:off x="2011680" y="2985516"/>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2048256" y="3003804"/>
            <a:ext cx="841248" cy="196596"/>
          </a:xfrm>
          <a:prstGeom prst="rect">
            <a:avLst/>
          </a:prstGeom>
          <a:noFill/>
        </p:spPr>
        <p:txBody>
          <a:bodyPr wrap="square">
            <a:spAutoFit/>
          </a:bodyPr>
          <a:lstStyle/>
          <a:p>
            <a:pPr algn="ctr"/>
            <a:r>
              <a:rPr sz="850" b="0" i="0">
                <a:solidFill>
                  <a:srgbClr val="1F1F1F"/>
                </a:solidFill>
                <a:latin typeface="Calibri"/>
              </a:rPr>
              <a:t>22.34x</a:t>
            </a:r>
          </a:p>
        </p:txBody>
      </p:sp>
      <p:sp>
        <p:nvSpPr>
          <p:cNvPr id="124" name="Rectangle 123"/>
          <p:cNvSpPr/>
          <p:nvPr/>
        </p:nvSpPr>
        <p:spPr>
          <a:xfrm>
            <a:off x="2926080" y="2985516"/>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2962656" y="3003804"/>
            <a:ext cx="841248" cy="196596"/>
          </a:xfrm>
          <a:prstGeom prst="rect">
            <a:avLst/>
          </a:prstGeom>
          <a:noFill/>
        </p:spPr>
        <p:txBody>
          <a:bodyPr wrap="square">
            <a:spAutoFit/>
          </a:bodyPr>
          <a:lstStyle/>
          <a:p>
            <a:pPr algn="ctr"/>
            <a:r>
              <a:rPr sz="850" b="0" i="0">
                <a:solidFill>
                  <a:srgbClr val="1F1F1F"/>
                </a:solidFill>
                <a:latin typeface="Calibri"/>
              </a:rPr>
              <a:t>4.78x</a:t>
            </a:r>
          </a:p>
        </p:txBody>
      </p:sp>
      <p:sp>
        <p:nvSpPr>
          <p:cNvPr id="126" name="Rectangle 125"/>
          <p:cNvSpPr/>
          <p:nvPr/>
        </p:nvSpPr>
        <p:spPr>
          <a:xfrm>
            <a:off x="3840480" y="2985516"/>
            <a:ext cx="2011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3877056" y="3003804"/>
            <a:ext cx="1938528" cy="196596"/>
          </a:xfrm>
          <a:prstGeom prst="rect">
            <a:avLst/>
          </a:prstGeom>
          <a:noFill/>
        </p:spPr>
        <p:txBody>
          <a:bodyPr wrap="square">
            <a:spAutoFit/>
          </a:bodyPr>
          <a:lstStyle/>
          <a:p>
            <a:pPr algn="ctr"/>
            <a:r>
              <a:rPr sz="850" b="0" i="0">
                <a:solidFill>
                  <a:srgbClr val="1F1F1F"/>
                </a:solidFill>
                <a:latin typeface="Calibri"/>
              </a:rPr>
              <a:t>17.28x (AMD/AVGO)</a:t>
            </a:r>
          </a:p>
        </p:txBody>
      </p:sp>
      <p:sp>
        <p:nvSpPr>
          <p:cNvPr id="128" name="Rectangle 127"/>
          <p:cNvSpPr/>
          <p:nvPr/>
        </p:nvSpPr>
        <p:spPr>
          <a:xfrm>
            <a:off x="5852160" y="2985516"/>
            <a:ext cx="15544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5888736" y="3003804"/>
            <a:ext cx="1481328" cy="196596"/>
          </a:xfrm>
          <a:prstGeom prst="rect">
            <a:avLst/>
          </a:prstGeom>
          <a:noFill/>
        </p:spPr>
        <p:txBody>
          <a:bodyPr wrap="square">
            <a:spAutoFit/>
          </a:bodyPr>
          <a:lstStyle/>
          <a:p>
            <a:pPr algn="ctr"/>
            <a:r>
              <a:rPr sz="850" b="0" i="0">
                <a:solidFill>
                  <a:srgbClr val="1F1F1F"/>
                </a:solidFill>
                <a:latin typeface="Calibri"/>
              </a:rPr>
              <a:t>$152.29</a:t>
            </a:r>
          </a:p>
        </p:txBody>
      </p:sp>
      <p:sp>
        <p:nvSpPr>
          <p:cNvPr id="130" name="Rectangle 129"/>
          <p:cNvSpPr/>
          <p:nvPr/>
        </p:nvSpPr>
        <p:spPr>
          <a:xfrm>
            <a:off x="182880" y="3218688"/>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219456" y="3236976"/>
            <a:ext cx="841248" cy="196596"/>
          </a:xfrm>
          <a:prstGeom prst="rect">
            <a:avLst/>
          </a:prstGeom>
          <a:noFill/>
        </p:spPr>
        <p:txBody>
          <a:bodyPr wrap="square">
            <a:spAutoFit/>
          </a:bodyPr>
          <a:lstStyle/>
          <a:p>
            <a:pPr algn="l"/>
            <a:r>
              <a:rPr sz="850" b="1" i="0">
                <a:solidFill>
                  <a:srgbClr val="1F1F1F"/>
                </a:solidFill>
                <a:latin typeface="Calibri"/>
              </a:rPr>
              <a:t>P/EPS</a:t>
            </a:r>
          </a:p>
        </p:txBody>
      </p:sp>
      <p:sp>
        <p:nvSpPr>
          <p:cNvPr id="132" name="Rectangle 131"/>
          <p:cNvSpPr/>
          <p:nvPr/>
        </p:nvSpPr>
        <p:spPr>
          <a:xfrm>
            <a:off x="1097280" y="3218688"/>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1133856" y="3236976"/>
            <a:ext cx="841248" cy="196596"/>
          </a:xfrm>
          <a:prstGeom prst="rect">
            <a:avLst/>
          </a:prstGeom>
          <a:noFill/>
        </p:spPr>
        <p:txBody>
          <a:bodyPr wrap="square">
            <a:spAutoFit/>
          </a:bodyPr>
          <a:lstStyle/>
          <a:p>
            <a:pPr algn="ctr"/>
            <a:r>
              <a:rPr sz="850" b="0" i="0">
                <a:solidFill>
                  <a:srgbClr val="1F1F1F"/>
                </a:solidFill>
                <a:latin typeface="Calibri"/>
              </a:rPr>
              <a:t>82.10x</a:t>
            </a:r>
          </a:p>
        </p:txBody>
      </p:sp>
      <p:sp>
        <p:nvSpPr>
          <p:cNvPr id="134" name="Rectangle 133"/>
          <p:cNvSpPr/>
          <p:nvPr/>
        </p:nvSpPr>
        <p:spPr>
          <a:xfrm>
            <a:off x="2011680" y="3218688"/>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2048256" y="3236976"/>
            <a:ext cx="841248" cy="196596"/>
          </a:xfrm>
          <a:prstGeom prst="rect">
            <a:avLst/>
          </a:prstGeom>
          <a:noFill/>
        </p:spPr>
        <p:txBody>
          <a:bodyPr wrap="square">
            <a:spAutoFit/>
          </a:bodyPr>
          <a:lstStyle/>
          <a:p>
            <a:pPr algn="ctr"/>
            <a:r>
              <a:rPr sz="850" b="0" i="0">
                <a:solidFill>
                  <a:srgbClr val="1F1F1F"/>
                </a:solidFill>
                <a:latin typeface="Calibri"/>
              </a:rPr>
              <a:t>61.30x</a:t>
            </a:r>
          </a:p>
        </p:txBody>
      </p:sp>
      <p:sp>
        <p:nvSpPr>
          <p:cNvPr id="136" name="Rectangle 135"/>
          <p:cNvSpPr/>
          <p:nvPr/>
        </p:nvSpPr>
        <p:spPr>
          <a:xfrm>
            <a:off x="2926080" y="3218688"/>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TextBox 136"/>
          <p:cNvSpPr txBox="1"/>
          <p:nvPr/>
        </p:nvSpPr>
        <p:spPr>
          <a:xfrm>
            <a:off x="2962656" y="3236976"/>
            <a:ext cx="841248" cy="196596"/>
          </a:xfrm>
          <a:prstGeom prst="rect">
            <a:avLst/>
          </a:prstGeom>
          <a:noFill/>
        </p:spPr>
        <p:txBody>
          <a:bodyPr wrap="square">
            <a:spAutoFit/>
          </a:bodyPr>
          <a:lstStyle/>
          <a:p>
            <a:pPr algn="ctr"/>
            <a:r>
              <a:rPr sz="850" b="0" i="0">
                <a:solidFill>
                  <a:srgbClr val="1F1F1F"/>
                </a:solidFill>
                <a:latin typeface="Calibri"/>
              </a:rPr>
              <a:t>N/M</a:t>
            </a:r>
          </a:p>
        </p:txBody>
      </p:sp>
      <p:sp>
        <p:nvSpPr>
          <p:cNvPr id="138" name="Rectangle 137"/>
          <p:cNvSpPr/>
          <p:nvPr/>
        </p:nvSpPr>
        <p:spPr>
          <a:xfrm>
            <a:off x="3840480" y="3218688"/>
            <a:ext cx="2011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3877056" y="3236976"/>
            <a:ext cx="1938528" cy="196596"/>
          </a:xfrm>
          <a:prstGeom prst="rect">
            <a:avLst/>
          </a:prstGeom>
          <a:noFill/>
        </p:spPr>
        <p:txBody>
          <a:bodyPr wrap="square">
            <a:spAutoFit/>
          </a:bodyPr>
          <a:lstStyle/>
          <a:p>
            <a:pPr algn="ctr"/>
            <a:r>
              <a:rPr sz="850" b="0" i="0">
                <a:solidFill>
                  <a:srgbClr val="1F1F1F"/>
                </a:solidFill>
                <a:latin typeface="Calibri"/>
              </a:rPr>
              <a:t>71.70x (AMD/AVGO)</a:t>
            </a:r>
          </a:p>
        </p:txBody>
      </p:sp>
      <p:sp>
        <p:nvSpPr>
          <p:cNvPr id="140" name="Rectangle 139"/>
          <p:cNvSpPr/>
          <p:nvPr/>
        </p:nvSpPr>
        <p:spPr>
          <a:xfrm>
            <a:off x="5852160" y="3218688"/>
            <a:ext cx="15544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5888736" y="3236976"/>
            <a:ext cx="1481328" cy="196596"/>
          </a:xfrm>
          <a:prstGeom prst="rect">
            <a:avLst/>
          </a:prstGeom>
          <a:noFill/>
        </p:spPr>
        <p:txBody>
          <a:bodyPr wrap="square">
            <a:spAutoFit/>
          </a:bodyPr>
          <a:lstStyle/>
          <a:p>
            <a:pPr algn="ctr"/>
            <a:r>
              <a:rPr sz="850" b="0" i="0">
                <a:solidFill>
                  <a:srgbClr val="1F1F1F"/>
                </a:solidFill>
                <a:latin typeface="Calibri"/>
              </a:rPr>
              <a:t>$341.81</a:t>
            </a:r>
          </a:p>
        </p:txBody>
      </p:sp>
      <p:sp>
        <p:nvSpPr>
          <p:cNvPr id="142" name="Rectangle 141"/>
          <p:cNvSpPr/>
          <p:nvPr/>
        </p:nvSpPr>
        <p:spPr>
          <a:xfrm>
            <a:off x="182880" y="3451860"/>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3" name="TextBox 142"/>
          <p:cNvSpPr txBox="1"/>
          <p:nvPr/>
        </p:nvSpPr>
        <p:spPr>
          <a:xfrm>
            <a:off x="219456" y="3470148"/>
            <a:ext cx="841248" cy="196596"/>
          </a:xfrm>
          <a:prstGeom prst="rect">
            <a:avLst/>
          </a:prstGeom>
          <a:noFill/>
        </p:spPr>
        <p:txBody>
          <a:bodyPr wrap="square">
            <a:spAutoFit/>
          </a:bodyPr>
          <a:lstStyle/>
          <a:p>
            <a:pPr algn="l"/>
            <a:r>
              <a:rPr sz="850" b="1" i="0">
                <a:solidFill>
                  <a:srgbClr val="1F1F1F"/>
                </a:solidFill>
                <a:latin typeface="Calibri"/>
              </a:rPr>
              <a:t>P/FCF</a:t>
            </a:r>
          </a:p>
        </p:txBody>
      </p:sp>
      <p:sp>
        <p:nvSpPr>
          <p:cNvPr id="144" name="Rectangle 143"/>
          <p:cNvSpPr/>
          <p:nvPr/>
        </p:nvSpPr>
        <p:spPr>
          <a:xfrm>
            <a:off x="1097280" y="3451860"/>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5" name="TextBox 144"/>
          <p:cNvSpPr txBox="1"/>
          <p:nvPr/>
        </p:nvSpPr>
        <p:spPr>
          <a:xfrm>
            <a:off x="1133856" y="3470148"/>
            <a:ext cx="841248" cy="196596"/>
          </a:xfrm>
          <a:prstGeom prst="rect">
            <a:avLst/>
          </a:prstGeom>
          <a:noFill/>
        </p:spPr>
        <p:txBody>
          <a:bodyPr wrap="square">
            <a:spAutoFit/>
          </a:bodyPr>
          <a:lstStyle/>
          <a:p>
            <a:pPr algn="ctr"/>
            <a:r>
              <a:rPr sz="850" b="0" i="0">
                <a:solidFill>
                  <a:srgbClr val="1F1F1F"/>
                </a:solidFill>
                <a:latin typeface="Calibri"/>
              </a:rPr>
              <a:t>53.20x</a:t>
            </a:r>
          </a:p>
        </p:txBody>
      </p:sp>
      <p:sp>
        <p:nvSpPr>
          <p:cNvPr id="146" name="Rectangle 145"/>
          <p:cNvSpPr/>
          <p:nvPr/>
        </p:nvSpPr>
        <p:spPr>
          <a:xfrm>
            <a:off x="2011680" y="3451860"/>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7" name="TextBox 146"/>
          <p:cNvSpPr txBox="1"/>
          <p:nvPr/>
        </p:nvSpPr>
        <p:spPr>
          <a:xfrm>
            <a:off x="2048256" y="3470148"/>
            <a:ext cx="841248" cy="196596"/>
          </a:xfrm>
          <a:prstGeom prst="rect">
            <a:avLst/>
          </a:prstGeom>
          <a:noFill/>
        </p:spPr>
        <p:txBody>
          <a:bodyPr wrap="square">
            <a:spAutoFit/>
          </a:bodyPr>
          <a:lstStyle/>
          <a:p>
            <a:pPr algn="ctr"/>
            <a:r>
              <a:rPr sz="850" b="0" i="0">
                <a:solidFill>
                  <a:srgbClr val="1F1F1F"/>
                </a:solidFill>
                <a:latin typeface="Calibri"/>
              </a:rPr>
              <a:t>51.10x</a:t>
            </a:r>
          </a:p>
        </p:txBody>
      </p:sp>
      <p:sp>
        <p:nvSpPr>
          <p:cNvPr id="148" name="Rectangle 147"/>
          <p:cNvSpPr/>
          <p:nvPr/>
        </p:nvSpPr>
        <p:spPr>
          <a:xfrm>
            <a:off x="2926080" y="3451860"/>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9" name="TextBox 148"/>
          <p:cNvSpPr txBox="1"/>
          <p:nvPr/>
        </p:nvSpPr>
        <p:spPr>
          <a:xfrm>
            <a:off x="2962656" y="3470148"/>
            <a:ext cx="841248" cy="196596"/>
          </a:xfrm>
          <a:prstGeom prst="rect">
            <a:avLst/>
          </a:prstGeom>
          <a:noFill/>
        </p:spPr>
        <p:txBody>
          <a:bodyPr wrap="square">
            <a:spAutoFit/>
          </a:bodyPr>
          <a:lstStyle/>
          <a:p>
            <a:pPr algn="ctr"/>
            <a:r>
              <a:rPr sz="850" b="0" i="0">
                <a:solidFill>
                  <a:srgbClr val="1F1F1F"/>
                </a:solidFill>
                <a:latin typeface="Calibri"/>
              </a:rPr>
              <a:t>N/M</a:t>
            </a:r>
          </a:p>
        </p:txBody>
      </p:sp>
      <p:sp>
        <p:nvSpPr>
          <p:cNvPr id="150" name="Rectangle 149"/>
          <p:cNvSpPr/>
          <p:nvPr/>
        </p:nvSpPr>
        <p:spPr>
          <a:xfrm>
            <a:off x="3840480" y="3451860"/>
            <a:ext cx="2011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1" name="TextBox 150"/>
          <p:cNvSpPr txBox="1"/>
          <p:nvPr/>
        </p:nvSpPr>
        <p:spPr>
          <a:xfrm>
            <a:off x="3877056" y="3470148"/>
            <a:ext cx="1938528" cy="196596"/>
          </a:xfrm>
          <a:prstGeom prst="rect">
            <a:avLst/>
          </a:prstGeom>
          <a:noFill/>
        </p:spPr>
        <p:txBody>
          <a:bodyPr wrap="square">
            <a:spAutoFit/>
          </a:bodyPr>
          <a:lstStyle/>
          <a:p>
            <a:pPr algn="ctr"/>
            <a:r>
              <a:rPr sz="850" b="0" i="0">
                <a:solidFill>
                  <a:srgbClr val="1F1F1F"/>
                </a:solidFill>
                <a:latin typeface="Calibri"/>
              </a:rPr>
              <a:t>52.15x (AMD/AVGO)</a:t>
            </a:r>
          </a:p>
        </p:txBody>
      </p:sp>
      <p:sp>
        <p:nvSpPr>
          <p:cNvPr id="152" name="Rectangle 151"/>
          <p:cNvSpPr/>
          <p:nvPr/>
        </p:nvSpPr>
        <p:spPr>
          <a:xfrm>
            <a:off x="5852160" y="3451860"/>
            <a:ext cx="15544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 name="TextBox 152"/>
          <p:cNvSpPr txBox="1"/>
          <p:nvPr/>
        </p:nvSpPr>
        <p:spPr>
          <a:xfrm>
            <a:off x="5888736" y="3470148"/>
            <a:ext cx="1481328" cy="196596"/>
          </a:xfrm>
          <a:prstGeom prst="rect">
            <a:avLst/>
          </a:prstGeom>
          <a:noFill/>
        </p:spPr>
        <p:txBody>
          <a:bodyPr wrap="square">
            <a:spAutoFit/>
          </a:bodyPr>
          <a:lstStyle/>
          <a:p>
            <a:pPr algn="ctr"/>
            <a:r>
              <a:rPr sz="850" b="0" i="0">
                <a:solidFill>
                  <a:srgbClr val="1F1F1F"/>
                </a:solidFill>
                <a:latin typeface="Calibri"/>
              </a:rPr>
              <a:t>$205.47</a:t>
            </a:r>
          </a:p>
        </p:txBody>
      </p:sp>
      <p:sp>
        <p:nvSpPr>
          <p:cNvPr id="154" name="Rectangle 153"/>
          <p:cNvSpPr/>
          <p:nvPr/>
        </p:nvSpPr>
        <p:spPr>
          <a:xfrm>
            <a:off x="182880" y="3685032"/>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5" name="TextBox 154"/>
          <p:cNvSpPr txBox="1"/>
          <p:nvPr/>
        </p:nvSpPr>
        <p:spPr>
          <a:xfrm>
            <a:off x="219456" y="3703320"/>
            <a:ext cx="841248" cy="196596"/>
          </a:xfrm>
          <a:prstGeom prst="rect">
            <a:avLst/>
          </a:prstGeom>
          <a:noFill/>
        </p:spPr>
        <p:txBody>
          <a:bodyPr wrap="square">
            <a:spAutoFit/>
          </a:bodyPr>
          <a:lstStyle/>
          <a:p>
            <a:pPr algn="l"/>
            <a:r>
              <a:rPr sz="850" b="1" i="0">
                <a:solidFill>
                  <a:srgbClr val="1F1F1F"/>
                </a:solidFill>
                <a:latin typeface="Calibri"/>
              </a:rPr>
              <a:t>P/EBITDA</a:t>
            </a:r>
          </a:p>
        </p:txBody>
      </p:sp>
      <p:sp>
        <p:nvSpPr>
          <p:cNvPr id="156" name="Rectangle 155"/>
          <p:cNvSpPr/>
          <p:nvPr/>
        </p:nvSpPr>
        <p:spPr>
          <a:xfrm>
            <a:off x="1097280" y="3685032"/>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7" name="TextBox 156"/>
          <p:cNvSpPr txBox="1"/>
          <p:nvPr/>
        </p:nvSpPr>
        <p:spPr>
          <a:xfrm>
            <a:off x="1133856" y="3703320"/>
            <a:ext cx="841248" cy="196596"/>
          </a:xfrm>
          <a:prstGeom prst="rect">
            <a:avLst/>
          </a:prstGeom>
          <a:noFill/>
        </p:spPr>
        <p:txBody>
          <a:bodyPr wrap="square">
            <a:spAutoFit/>
          </a:bodyPr>
          <a:lstStyle/>
          <a:p>
            <a:pPr algn="ctr"/>
            <a:r>
              <a:rPr sz="850" b="0" i="0">
                <a:solidFill>
                  <a:srgbClr val="1F1F1F"/>
                </a:solidFill>
                <a:latin typeface="Calibri"/>
              </a:rPr>
              <a:t>52.90x</a:t>
            </a:r>
          </a:p>
        </p:txBody>
      </p:sp>
      <p:sp>
        <p:nvSpPr>
          <p:cNvPr id="158" name="Rectangle 157"/>
          <p:cNvSpPr/>
          <p:nvPr/>
        </p:nvSpPr>
        <p:spPr>
          <a:xfrm>
            <a:off x="2011680" y="3685032"/>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9" name="TextBox 158"/>
          <p:cNvSpPr txBox="1"/>
          <p:nvPr/>
        </p:nvSpPr>
        <p:spPr>
          <a:xfrm>
            <a:off x="2048256" y="3703320"/>
            <a:ext cx="841248" cy="196596"/>
          </a:xfrm>
          <a:prstGeom prst="rect">
            <a:avLst/>
          </a:prstGeom>
          <a:noFill/>
        </p:spPr>
        <p:txBody>
          <a:bodyPr wrap="square">
            <a:spAutoFit/>
          </a:bodyPr>
          <a:lstStyle/>
          <a:p>
            <a:pPr algn="ctr"/>
            <a:r>
              <a:rPr sz="850" b="0" i="0">
                <a:solidFill>
                  <a:srgbClr val="1F1F1F"/>
                </a:solidFill>
                <a:latin typeface="Calibri"/>
              </a:rPr>
              <a:t>41.10x</a:t>
            </a:r>
          </a:p>
        </p:txBody>
      </p:sp>
      <p:sp>
        <p:nvSpPr>
          <p:cNvPr id="160" name="Rectangle 159"/>
          <p:cNvSpPr/>
          <p:nvPr/>
        </p:nvSpPr>
        <p:spPr>
          <a:xfrm>
            <a:off x="2926080" y="3685032"/>
            <a:ext cx="9144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1" name="TextBox 160"/>
          <p:cNvSpPr txBox="1"/>
          <p:nvPr/>
        </p:nvSpPr>
        <p:spPr>
          <a:xfrm>
            <a:off x="2962656" y="3703320"/>
            <a:ext cx="841248" cy="196596"/>
          </a:xfrm>
          <a:prstGeom prst="rect">
            <a:avLst/>
          </a:prstGeom>
          <a:noFill/>
        </p:spPr>
        <p:txBody>
          <a:bodyPr wrap="square">
            <a:spAutoFit/>
          </a:bodyPr>
          <a:lstStyle/>
          <a:p>
            <a:pPr algn="ctr"/>
            <a:r>
              <a:rPr sz="850" b="0" i="0">
                <a:solidFill>
                  <a:srgbClr val="1F1F1F"/>
                </a:solidFill>
                <a:latin typeface="Calibri"/>
              </a:rPr>
              <a:t>15.40x</a:t>
            </a:r>
          </a:p>
        </p:txBody>
      </p:sp>
      <p:sp>
        <p:nvSpPr>
          <p:cNvPr id="162" name="Rectangle 161"/>
          <p:cNvSpPr/>
          <p:nvPr/>
        </p:nvSpPr>
        <p:spPr>
          <a:xfrm>
            <a:off x="3840480" y="3685032"/>
            <a:ext cx="20116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62"/>
          <p:cNvSpPr txBox="1"/>
          <p:nvPr/>
        </p:nvSpPr>
        <p:spPr>
          <a:xfrm>
            <a:off x="3877056" y="3703320"/>
            <a:ext cx="1938528" cy="196596"/>
          </a:xfrm>
          <a:prstGeom prst="rect">
            <a:avLst/>
          </a:prstGeom>
          <a:noFill/>
        </p:spPr>
        <p:txBody>
          <a:bodyPr wrap="square">
            <a:spAutoFit/>
          </a:bodyPr>
          <a:lstStyle/>
          <a:p>
            <a:pPr algn="ctr"/>
            <a:r>
              <a:rPr sz="850" b="0" i="0">
                <a:solidFill>
                  <a:srgbClr val="1F1F1F"/>
                </a:solidFill>
                <a:latin typeface="Calibri"/>
              </a:rPr>
              <a:t>36.47x (all three)</a:t>
            </a:r>
          </a:p>
        </p:txBody>
      </p:sp>
      <p:sp>
        <p:nvSpPr>
          <p:cNvPr id="164" name="Rectangle 163"/>
          <p:cNvSpPr/>
          <p:nvPr/>
        </p:nvSpPr>
        <p:spPr>
          <a:xfrm>
            <a:off x="5852160" y="3685032"/>
            <a:ext cx="15544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5" name="TextBox 164"/>
          <p:cNvSpPr txBox="1"/>
          <p:nvPr/>
        </p:nvSpPr>
        <p:spPr>
          <a:xfrm>
            <a:off x="5888736" y="3703320"/>
            <a:ext cx="1481328" cy="196596"/>
          </a:xfrm>
          <a:prstGeom prst="rect">
            <a:avLst/>
          </a:prstGeom>
          <a:noFill/>
        </p:spPr>
        <p:txBody>
          <a:bodyPr wrap="square">
            <a:spAutoFit/>
          </a:bodyPr>
          <a:lstStyle/>
          <a:p>
            <a:pPr algn="ctr"/>
            <a:r>
              <a:rPr sz="850" b="0" i="0">
                <a:solidFill>
                  <a:srgbClr val="1F1F1F"/>
                </a:solidFill>
                <a:latin typeface="Calibri"/>
              </a:rPr>
              <a:t>$197.53</a:t>
            </a:r>
          </a:p>
        </p:txBody>
      </p:sp>
      <p:sp>
        <p:nvSpPr>
          <p:cNvPr id="166" name="Rectangle 165"/>
          <p:cNvSpPr/>
          <p:nvPr/>
        </p:nvSpPr>
        <p:spPr>
          <a:xfrm>
            <a:off x="182880" y="3918204"/>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7" name="TextBox 166"/>
          <p:cNvSpPr txBox="1"/>
          <p:nvPr/>
        </p:nvSpPr>
        <p:spPr>
          <a:xfrm>
            <a:off x="219456" y="3936492"/>
            <a:ext cx="841248" cy="196596"/>
          </a:xfrm>
          <a:prstGeom prst="rect">
            <a:avLst/>
          </a:prstGeom>
          <a:noFill/>
        </p:spPr>
        <p:txBody>
          <a:bodyPr wrap="square">
            <a:spAutoFit/>
          </a:bodyPr>
          <a:lstStyle/>
          <a:p>
            <a:pPr algn="l"/>
            <a:r>
              <a:rPr sz="850" b="1" i="0">
                <a:solidFill>
                  <a:srgbClr val="1F1F1F"/>
                </a:solidFill>
                <a:latin typeface="Calibri"/>
              </a:rPr>
              <a:t>Average</a:t>
            </a:r>
          </a:p>
        </p:txBody>
      </p:sp>
      <p:sp>
        <p:nvSpPr>
          <p:cNvPr id="168" name="Rectangle 167"/>
          <p:cNvSpPr/>
          <p:nvPr/>
        </p:nvSpPr>
        <p:spPr>
          <a:xfrm>
            <a:off x="1097280" y="3918204"/>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9" name="TextBox 168"/>
          <p:cNvSpPr txBox="1"/>
          <p:nvPr/>
        </p:nvSpPr>
        <p:spPr>
          <a:xfrm>
            <a:off x="1133856" y="3936492"/>
            <a:ext cx="841248" cy="196596"/>
          </a:xfrm>
          <a:prstGeom prst="rect">
            <a:avLst/>
          </a:prstGeom>
          <a:noFill/>
        </p:spPr>
        <p:txBody>
          <a:bodyPr wrap="square">
            <a:spAutoFit/>
          </a:bodyPr>
          <a:lstStyle/>
          <a:p>
            <a:pPr algn="ctr"/>
            <a:endParaRPr/>
          </a:p>
        </p:txBody>
      </p:sp>
      <p:sp>
        <p:nvSpPr>
          <p:cNvPr id="170" name="Rectangle 169"/>
          <p:cNvSpPr/>
          <p:nvPr/>
        </p:nvSpPr>
        <p:spPr>
          <a:xfrm>
            <a:off x="2011680" y="3918204"/>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1" name="TextBox 170"/>
          <p:cNvSpPr txBox="1"/>
          <p:nvPr/>
        </p:nvSpPr>
        <p:spPr>
          <a:xfrm>
            <a:off x="2048256" y="3936492"/>
            <a:ext cx="841248" cy="196596"/>
          </a:xfrm>
          <a:prstGeom prst="rect">
            <a:avLst/>
          </a:prstGeom>
          <a:noFill/>
        </p:spPr>
        <p:txBody>
          <a:bodyPr wrap="square">
            <a:spAutoFit/>
          </a:bodyPr>
          <a:lstStyle/>
          <a:p>
            <a:pPr algn="ctr"/>
            <a:endParaRPr/>
          </a:p>
        </p:txBody>
      </p:sp>
      <p:sp>
        <p:nvSpPr>
          <p:cNvPr id="172" name="Rectangle 171"/>
          <p:cNvSpPr/>
          <p:nvPr/>
        </p:nvSpPr>
        <p:spPr>
          <a:xfrm>
            <a:off x="2926080" y="3918204"/>
            <a:ext cx="9144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3" name="TextBox 172"/>
          <p:cNvSpPr txBox="1"/>
          <p:nvPr/>
        </p:nvSpPr>
        <p:spPr>
          <a:xfrm>
            <a:off x="2962656" y="3936492"/>
            <a:ext cx="841248" cy="196596"/>
          </a:xfrm>
          <a:prstGeom prst="rect">
            <a:avLst/>
          </a:prstGeom>
          <a:noFill/>
        </p:spPr>
        <p:txBody>
          <a:bodyPr wrap="square">
            <a:spAutoFit/>
          </a:bodyPr>
          <a:lstStyle/>
          <a:p>
            <a:pPr algn="ctr"/>
            <a:endParaRPr/>
          </a:p>
        </p:txBody>
      </p:sp>
      <p:sp>
        <p:nvSpPr>
          <p:cNvPr id="174" name="Rectangle 173"/>
          <p:cNvSpPr/>
          <p:nvPr/>
        </p:nvSpPr>
        <p:spPr>
          <a:xfrm>
            <a:off x="3840480" y="3918204"/>
            <a:ext cx="20116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5" name="TextBox 174"/>
          <p:cNvSpPr txBox="1"/>
          <p:nvPr/>
        </p:nvSpPr>
        <p:spPr>
          <a:xfrm>
            <a:off x="3877056" y="3936492"/>
            <a:ext cx="1938528" cy="196596"/>
          </a:xfrm>
          <a:prstGeom prst="rect">
            <a:avLst/>
          </a:prstGeom>
          <a:noFill/>
        </p:spPr>
        <p:txBody>
          <a:bodyPr wrap="square">
            <a:spAutoFit/>
          </a:bodyPr>
          <a:lstStyle/>
          <a:p>
            <a:pPr algn="ctr"/>
            <a:endParaRPr/>
          </a:p>
        </p:txBody>
      </p:sp>
      <p:sp>
        <p:nvSpPr>
          <p:cNvPr id="176" name="Rectangle 175"/>
          <p:cNvSpPr/>
          <p:nvPr/>
        </p:nvSpPr>
        <p:spPr>
          <a:xfrm>
            <a:off x="5852160" y="3918204"/>
            <a:ext cx="15544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7" name="TextBox 176"/>
          <p:cNvSpPr txBox="1"/>
          <p:nvPr/>
        </p:nvSpPr>
        <p:spPr>
          <a:xfrm>
            <a:off x="5888736" y="3936492"/>
            <a:ext cx="1481328" cy="196596"/>
          </a:xfrm>
          <a:prstGeom prst="rect">
            <a:avLst/>
          </a:prstGeom>
          <a:noFill/>
        </p:spPr>
        <p:txBody>
          <a:bodyPr wrap="square">
            <a:spAutoFit/>
          </a:bodyPr>
          <a:lstStyle/>
          <a:p>
            <a:pPr algn="ctr"/>
            <a:r>
              <a:rPr sz="850" b="0" i="0">
                <a:solidFill>
                  <a:srgbClr val="1F1F1F"/>
                </a:solidFill>
                <a:latin typeface="Calibri"/>
              </a:rPr>
              <a:t>$183.63</a:t>
            </a:r>
          </a:p>
        </p:txBody>
      </p:sp>
      <p:sp>
        <p:nvSpPr>
          <p:cNvPr id="178" name="TextBox 177"/>
          <p:cNvSpPr txBox="1"/>
          <p:nvPr/>
        </p:nvSpPr>
        <p:spPr>
          <a:xfrm>
            <a:off x="182880" y="4425696"/>
            <a:ext cx="7406640" cy="1005840"/>
          </a:xfrm>
          <a:prstGeom prst="rect">
            <a:avLst/>
          </a:prstGeom>
          <a:noFill/>
        </p:spPr>
        <p:txBody>
          <a:bodyPr wrap="square">
            <a:spAutoFit/>
          </a:bodyPr>
          <a:lstStyle/>
          <a:p>
            <a:pPr algn="l"/>
            <a:r>
              <a:rPr sz="780" b="0" i="1">
                <a:solidFill>
                  <a:srgbClr val="4A4A4A"/>
                </a:solidFill>
                <a:latin typeface="Calibri"/>
              </a:rPr>
              <a:t>Note: NVDA per-share metrics used for multiplier application are based on FY26E figures: Sales/Share = $8.81, EPS (Non-GAAP) = $4.77, FCF/Share = $3.94, EBITDA/Share = $5.43, BVPS = $6.46. INTC excluded from P/EPS and P/FCF averages as the company is not profitable on a per-share basis and reported negative free cash flow in FY24. P/B multiple produces an implied price materially below market given NVDA's artificially suppressed book value from the fabless model and share buybacks. The adjusted average of $183.63 reflects a simple mean of the P/Sales, P/FCF, and P/EBITDA implied prices, which we view as the most economically meaningful multiples for a high-growth, high-margin technology company of this profile.</a:t>
            </a:r>
          </a:p>
        </p:txBody>
      </p:sp>
      <p:sp>
        <p:nvSpPr>
          <p:cNvPr id="179" name="Rectangle 178"/>
          <p:cNvSpPr/>
          <p:nvPr/>
        </p:nvSpPr>
        <p:spPr>
          <a:xfrm>
            <a:off x="182880" y="5522976"/>
            <a:ext cx="36576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0" name="TextBox 179"/>
          <p:cNvSpPr txBox="1"/>
          <p:nvPr/>
        </p:nvSpPr>
        <p:spPr>
          <a:xfrm>
            <a:off x="237744" y="5541264"/>
            <a:ext cx="3547872" cy="164592"/>
          </a:xfrm>
          <a:prstGeom prst="rect">
            <a:avLst/>
          </a:prstGeom>
          <a:noFill/>
        </p:spPr>
        <p:txBody>
          <a:bodyPr wrap="square">
            <a:spAutoFit/>
          </a:bodyPr>
          <a:lstStyle/>
          <a:p>
            <a:pPr algn="l"/>
            <a:r>
              <a:rPr sz="750" b="1" i="0">
                <a:solidFill>
                  <a:srgbClr val="FFFFFF"/>
                </a:solidFill>
                <a:latin typeface="Calibri"/>
              </a:rPr>
              <a:t>FIGURE 11: FCFM DETAIL — PROJECTED FCF ASSUMPTIONS</a:t>
            </a:r>
          </a:p>
        </p:txBody>
      </p:sp>
      <p:sp>
        <p:nvSpPr>
          <p:cNvPr id="181" name="Rectangle 180"/>
          <p:cNvSpPr/>
          <p:nvPr/>
        </p:nvSpPr>
        <p:spPr>
          <a:xfrm>
            <a:off x="182880" y="5751576"/>
            <a:ext cx="50292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2" name="TextBox 181"/>
          <p:cNvSpPr txBox="1"/>
          <p:nvPr/>
        </p:nvSpPr>
        <p:spPr>
          <a:xfrm>
            <a:off x="219456" y="5769864"/>
            <a:ext cx="429768" cy="196596"/>
          </a:xfrm>
          <a:prstGeom prst="rect">
            <a:avLst/>
          </a:prstGeom>
          <a:noFill/>
        </p:spPr>
        <p:txBody>
          <a:bodyPr wrap="square">
            <a:spAutoFit/>
          </a:bodyPr>
          <a:lstStyle/>
          <a:p>
            <a:pPr algn="ctr"/>
            <a:r>
              <a:rPr sz="850" b="1" i="0">
                <a:solidFill>
                  <a:srgbClr val="FFFFFF"/>
                </a:solidFill>
                <a:latin typeface="Calibri"/>
              </a:rPr>
              <a:t>Year</a:t>
            </a:r>
          </a:p>
        </p:txBody>
      </p:sp>
      <p:sp>
        <p:nvSpPr>
          <p:cNvPr id="183" name="Rectangle 182"/>
          <p:cNvSpPr/>
          <p:nvPr/>
        </p:nvSpPr>
        <p:spPr>
          <a:xfrm>
            <a:off x="685800" y="5751576"/>
            <a:ext cx="109728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p:cNvSpPr txBox="1"/>
          <p:nvPr/>
        </p:nvSpPr>
        <p:spPr>
          <a:xfrm>
            <a:off x="722376" y="5769864"/>
            <a:ext cx="1024128" cy="196596"/>
          </a:xfrm>
          <a:prstGeom prst="rect">
            <a:avLst/>
          </a:prstGeom>
          <a:noFill/>
        </p:spPr>
        <p:txBody>
          <a:bodyPr wrap="square">
            <a:spAutoFit/>
          </a:bodyPr>
          <a:lstStyle/>
          <a:p>
            <a:pPr algn="ctr"/>
            <a:r>
              <a:rPr sz="850" b="1" i="0">
                <a:solidFill>
                  <a:srgbClr val="FFFFFF"/>
                </a:solidFill>
                <a:latin typeface="Calibri"/>
              </a:rPr>
              <a:t>NVDA Fiscal Year</a:t>
            </a:r>
          </a:p>
        </p:txBody>
      </p:sp>
      <p:sp>
        <p:nvSpPr>
          <p:cNvPr id="185" name="Rectangle 184"/>
          <p:cNvSpPr/>
          <p:nvPr/>
        </p:nvSpPr>
        <p:spPr>
          <a:xfrm>
            <a:off x="1783080" y="5751576"/>
            <a:ext cx="114300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6" name="TextBox 185"/>
          <p:cNvSpPr txBox="1"/>
          <p:nvPr/>
        </p:nvSpPr>
        <p:spPr>
          <a:xfrm>
            <a:off x="1819656" y="5769864"/>
            <a:ext cx="1069848" cy="196596"/>
          </a:xfrm>
          <a:prstGeom prst="rect">
            <a:avLst/>
          </a:prstGeom>
          <a:noFill/>
        </p:spPr>
        <p:txBody>
          <a:bodyPr wrap="square">
            <a:spAutoFit/>
          </a:bodyPr>
          <a:lstStyle/>
          <a:p>
            <a:pPr algn="ctr"/>
            <a:r>
              <a:rPr sz="850" b="1" i="0">
                <a:solidFill>
                  <a:srgbClr val="FFFFFF"/>
                </a:solidFill>
                <a:latin typeface="Calibri"/>
              </a:rPr>
              <a:t>Revenue ($B)</a:t>
            </a:r>
          </a:p>
        </p:txBody>
      </p:sp>
      <p:sp>
        <p:nvSpPr>
          <p:cNvPr id="187" name="Rectangle 186"/>
          <p:cNvSpPr/>
          <p:nvPr/>
        </p:nvSpPr>
        <p:spPr>
          <a:xfrm>
            <a:off x="2926080" y="5751576"/>
            <a:ext cx="118872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8" name="TextBox 187"/>
          <p:cNvSpPr txBox="1"/>
          <p:nvPr/>
        </p:nvSpPr>
        <p:spPr>
          <a:xfrm>
            <a:off x="2962656" y="5769864"/>
            <a:ext cx="1115568" cy="196596"/>
          </a:xfrm>
          <a:prstGeom prst="rect">
            <a:avLst/>
          </a:prstGeom>
          <a:noFill/>
        </p:spPr>
        <p:txBody>
          <a:bodyPr wrap="square">
            <a:spAutoFit/>
          </a:bodyPr>
          <a:lstStyle/>
          <a:p>
            <a:pPr algn="ctr"/>
            <a:r>
              <a:rPr sz="850" b="1" i="0">
                <a:solidFill>
                  <a:srgbClr val="FFFFFF"/>
                </a:solidFill>
                <a:latin typeface="Calibri"/>
              </a:rPr>
              <a:t>FCF/Sales Margin</a:t>
            </a:r>
          </a:p>
        </p:txBody>
      </p:sp>
      <p:sp>
        <p:nvSpPr>
          <p:cNvPr id="189" name="Rectangle 188"/>
          <p:cNvSpPr/>
          <p:nvPr/>
        </p:nvSpPr>
        <p:spPr>
          <a:xfrm>
            <a:off x="4114800" y="5751576"/>
            <a:ext cx="141732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0" name="TextBox 189"/>
          <p:cNvSpPr txBox="1"/>
          <p:nvPr/>
        </p:nvSpPr>
        <p:spPr>
          <a:xfrm>
            <a:off x="4151376" y="5769864"/>
            <a:ext cx="1344168" cy="196596"/>
          </a:xfrm>
          <a:prstGeom prst="rect">
            <a:avLst/>
          </a:prstGeom>
          <a:noFill/>
        </p:spPr>
        <p:txBody>
          <a:bodyPr wrap="square">
            <a:spAutoFit/>
          </a:bodyPr>
          <a:lstStyle/>
          <a:p>
            <a:pPr algn="ctr"/>
            <a:r>
              <a:rPr sz="850" b="1" i="0">
                <a:solidFill>
                  <a:srgbClr val="FFFFFF"/>
                </a:solidFill>
                <a:latin typeface="Calibri"/>
              </a:rPr>
              <a:t>Projected FCF ($B)</a:t>
            </a:r>
          </a:p>
        </p:txBody>
      </p:sp>
      <p:sp>
        <p:nvSpPr>
          <p:cNvPr id="191" name="Rectangle 190"/>
          <p:cNvSpPr/>
          <p:nvPr/>
        </p:nvSpPr>
        <p:spPr>
          <a:xfrm>
            <a:off x="5532120" y="5751576"/>
            <a:ext cx="1417320" cy="233172"/>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2" name="TextBox 191"/>
          <p:cNvSpPr txBox="1"/>
          <p:nvPr/>
        </p:nvSpPr>
        <p:spPr>
          <a:xfrm>
            <a:off x="5568696" y="5769864"/>
            <a:ext cx="1344168" cy="196596"/>
          </a:xfrm>
          <a:prstGeom prst="rect">
            <a:avLst/>
          </a:prstGeom>
          <a:noFill/>
        </p:spPr>
        <p:txBody>
          <a:bodyPr wrap="square">
            <a:spAutoFit/>
          </a:bodyPr>
          <a:lstStyle/>
          <a:p>
            <a:pPr algn="ctr"/>
            <a:r>
              <a:rPr sz="850" b="1" i="0">
                <a:solidFill>
                  <a:srgbClr val="FFFFFF"/>
                </a:solidFill>
                <a:latin typeface="Calibri"/>
              </a:rPr>
              <a:t>PV Factor (9.30%)</a:t>
            </a:r>
          </a:p>
        </p:txBody>
      </p:sp>
      <p:sp>
        <p:nvSpPr>
          <p:cNvPr id="193" name="Rectangle 192"/>
          <p:cNvSpPr/>
          <p:nvPr/>
        </p:nvSpPr>
        <p:spPr>
          <a:xfrm>
            <a:off x="182880" y="5984748"/>
            <a:ext cx="5029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4" name="TextBox 193"/>
          <p:cNvSpPr txBox="1"/>
          <p:nvPr/>
        </p:nvSpPr>
        <p:spPr>
          <a:xfrm>
            <a:off x="219456" y="6003036"/>
            <a:ext cx="429768" cy="196596"/>
          </a:xfrm>
          <a:prstGeom prst="rect">
            <a:avLst/>
          </a:prstGeom>
          <a:noFill/>
        </p:spPr>
        <p:txBody>
          <a:bodyPr wrap="square">
            <a:spAutoFit/>
          </a:bodyPr>
          <a:lstStyle/>
          <a:p>
            <a:pPr algn="l"/>
            <a:r>
              <a:rPr sz="850" b="1" i="0">
                <a:solidFill>
                  <a:srgbClr val="1F1F1F"/>
                </a:solidFill>
                <a:latin typeface="Calibri"/>
              </a:rPr>
              <a:t>1</a:t>
            </a:r>
          </a:p>
        </p:txBody>
      </p:sp>
      <p:sp>
        <p:nvSpPr>
          <p:cNvPr id="195" name="Rectangle 194"/>
          <p:cNvSpPr/>
          <p:nvPr/>
        </p:nvSpPr>
        <p:spPr>
          <a:xfrm>
            <a:off x="685800" y="5984748"/>
            <a:ext cx="10972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6" name="TextBox 195"/>
          <p:cNvSpPr txBox="1"/>
          <p:nvPr/>
        </p:nvSpPr>
        <p:spPr>
          <a:xfrm>
            <a:off x="722376" y="6003036"/>
            <a:ext cx="1024128" cy="196596"/>
          </a:xfrm>
          <a:prstGeom prst="rect">
            <a:avLst/>
          </a:prstGeom>
          <a:noFill/>
        </p:spPr>
        <p:txBody>
          <a:bodyPr wrap="square">
            <a:spAutoFit/>
          </a:bodyPr>
          <a:lstStyle/>
          <a:p>
            <a:pPr algn="ctr"/>
            <a:r>
              <a:rPr sz="850" b="0" i="0">
                <a:solidFill>
                  <a:srgbClr val="1F1F1F"/>
                </a:solidFill>
                <a:latin typeface="Calibri"/>
              </a:rPr>
              <a:t>FY27E</a:t>
            </a:r>
          </a:p>
        </p:txBody>
      </p:sp>
      <p:sp>
        <p:nvSpPr>
          <p:cNvPr id="197" name="Rectangle 196"/>
          <p:cNvSpPr/>
          <p:nvPr/>
        </p:nvSpPr>
        <p:spPr>
          <a:xfrm>
            <a:off x="1783080" y="5984748"/>
            <a:ext cx="11430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8" name="TextBox 197"/>
          <p:cNvSpPr txBox="1"/>
          <p:nvPr/>
        </p:nvSpPr>
        <p:spPr>
          <a:xfrm>
            <a:off x="1819656" y="6003036"/>
            <a:ext cx="1069848" cy="196596"/>
          </a:xfrm>
          <a:prstGeom prst="rect">
            <a:avLst/>
          </a:prstGeom>
          <a:noFill/>
        </p:spPr>
        <p:txBody>
          <a:bodyPr wrap="square">
            <a:spAutoFit/>
          </a:bodyPr>
          <a:lstStyle/>
          <a:p>
            <a:pPr algn="ctr"/>
            <a:r>
              <a:rPr sz="850" b="0" i="0">
                <a:solidFill>
                  <a:srgbClr val="1F1F1F"/>
                </a:solidFill>
                <a:latin typeface="Calibri"/>
              </a:rPr>
              <a:t>$280.2</a:t>
            </a:r>
          </a:p>
        </p:txBody>
      </p:sp>
      <p:sp>
        <p:nvSpPr>
          <p:cNvPr id="199" name="Rectangle 198"/>
          <p:cNvSpPr/>
          <p:nvPr/>
        </p:nvSpPr>
        <p:spPr>
          <a:xfrm>
            <a:off x="2926080" y="5984748"/>
            <a:ext cx="11887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0" name="TextBox 199"/>
          <p:cNvSpPr txBox="1"/>
          <p:nvPr/>
        </p:nvSpPr>
        <p:spPr>
          <a:xfrm>
            <a:off x="2962656" y="6003036"/>
            <a:ext cx="1115568" cy="196596"/>
          </a:xfrm>
          <a:prstGeom prst="rect">
            <a:avLst/>
          </a:prstGeom>
          <a:noFill/>
        </p:spPr>
        <p:txBody>
          <a:bodyPr wrap="square">
            <a:spAutoFit/>
          </a:bodyPr>
          <a:lstStyle/>
          <a:p>
            <a:pPr algn="ctr"/>
            <a:r>
              <a:rPr sz="850" b="0" i="0">
                <a:solidFill>
                  <a:srgbClr val="1F1F1F"/>
                </a:solidFill>
                <a:latin typeface="Calibri"/>
              </a:rPr>
              <a:t>40.1%</a:t>
            </a:r>
          </a:p>
        </p:txBody>
      </p:sp>
      <p:sp>
        <p:nvSpPr>
          <p:cNvPr id="201" name="Rectangle 200"/>
          <p:cNvSpPr/>
          <p:nvPr/>
        </p:nvSpPr>
        <p:spPr>
          <a:xfrm>
            <a:off x="4114800" y="5984748"/>
            <a:ext cx="14173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2" name="TextBox 201"/>
          <p:cNvSpPr txBox="1"/>
          <p:nvPr/>
        </p:nvSpPr>
        <p:spPr>
          <a:xfrm>
            <a:off x="4151376" y="6003036"/>
            <a:ext cx="1344168" cy="196596"/>
          </a:xfrm>
          <a:prstGeom prst="rect">
            <a:avLst/>
          </a:prstGeom>
          <a:noFill/>
        </p:spPr>
        <p:txBody>
          <a:bodyPr wrap="square">
            <a:spAutoFit/>
          </a:bodyPr>
          <a:lstStyle/>
          <a:p>
            <a:pPr algn="ctr"/>
            <a:r>
              <a:rPr sz="850" b="0" i="0">
                <a:solidFill>
                  <a:srgbClr val="1F1F1F"/>
                </a:solidFill>
                <a:latin typeface="Calibri"/>
              </a:rPr>
              <a:t>$112.4</a:t>
            </a:r>
          </a:p>
        </p:txBody>
      </p:sp>
      <p:sp>
        <p:nvSpPr>
          <p:cNvPr id="203" name="Rectangle 202"/>
          <p:cNvSpPr/>
          <p:nvPr/>
        </p:nvSpPr>
        <p:spPr>
          <a:xfrm>
            <a:off x="5532120" y="5984748"/>
            <a:ext cx="14173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4" name="TextBox 203"/>
          <p:cNvSpPr txBox="1"/>
          <p:nvPr/>
        </p:nvSpPr>
        <p:spPr>
          <a:xfrm>
            <a:off x="5568696" y="6003036"/>
            <a:ext cx="1344168" cy="196596"/>
          </a:xfrm>
          <a:prstGeom prst="rect">
            <a:avLst/>
          </a:prstGeom>
          <a:noFill/>
        </p:spPr>
        <p:txBody>
          <a:bodyPr wrap="square">
            <a:spAutoFit/>
          </a:bodyPr>
          <a:lstStyle/>
          <a:p>
            <a:pPr algn="ctr"/>
            <a:r>
              <a:rPr sz="850" b="0" i="0">
                <a:solidFill>
                  <a:srgbClr val="1F1F1F"/>
                </a:solidFill>
                <a:latin typeface="Calibri"/>
              </a:rPr>
              <a:t>0.9149</a:t>
            </a:r>
          </a:p>
        </p:txBody>
      </p:sp>
      <p:sp>
        <p:nvSpPr>
          <p:cNvPr id="205" name="Rectangle 204"/>
          <p:cNvSpPr/>
          <p:nvPr/>
        </p:nvSpPr>
        <p:spPr>
          <a:xfrm>
            <a:off x="182880" y="6217920"/>
            <a:ext cx="5029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6" name="TextBox 205"/>
          <p:cNvSpPr txBox="1"/>
          <p:nvPr/>
        </p:nvSpPr>
        <p:spPr>
          <a:xfrm>
            <a:off x="219456" y="6236208"/>
            <a:ext cx="429768" cy="196596"/>
          </a:xfrm>
          <a:prstGeom prst="rect">
            <a:avLst/>
          </a:prstGeom>
          <a:noFill/>
        </p:spPr>
        <p:txBody>
          <a:bodyPr wrap="square">
            <a:spAutoFit/>
          </a:bodyPr>
          <a:lstStyle/>
          <a:p>
            <a:pPr algn="l"/>
            <a:r>
              <a:rPr sz="850" b="1" i="0">
                <a:solidFill>
                  <a:srgbClr val="1F1F1F"/>
                </a:solidFill>
                <a:latin typeface="Calibri"/>
              </a:rPr>
              <a:t>2</a:t>
            </a:r>
          </a:p>
        </p:txBody>
      </p:sp>
      <p:sp>
        <p:nvSpPr>
          <p:cNvPr id="207" name="Rectangle 206"/>
          <p:cNvSpPr/>
          <p:nvPr/>
        </p:nvSpPr>
        <p:spPr>
          <a:xfrm>
            <a:off x="685800" y="6217920"/>
            <a:ext cx="10972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8" name="TextBox 207"/>
          <p:cNvSpPr txBox="1"/>
          <p:nvPr/>
        </p:nvSpPr>
        <p:spPr>
          <a:xfrm>
            <a:off x="722376" y="6236208"/>
            <a:ext cx="1024128" cy="196596"/>
          </a:xfrm>
          <a:prstGeom prst="rect">
            <a:avLst/>
          </a:prstGeom>
          <a:noFill/>
        </p:spPr>
        <p:txBody>
          <a:bodyPr wrap="square">
            <a:spAutoFit/>
          </a:bodyPr>
          <a:lstStyle/>
          <a:p>
            <a:pPr algn="ctr"/>
            <a:r>
              <a:rPr sz="850" b="0" i="0">
                <a:solidFill>
                  <a:srgbClr val="1F1F1F"/>
                </a:solidFill>
                <a:latin typeface="Calibri"/>
              </a:rPr>
              <a:t>FY28E</a:t>
            </a:r>
          </a:p>
        </p:txBody>
      </p:sp>
      <p:sp>
        <p:nvSpPr>
          <p:cNvPr id="209" name="Rectangle 208"/>
          <p:cNvSpPr/>
          <p:nvPr/>
        </p:nvSpPr>
        <p:spPr>
          <a:xfrm>
            <a:off x="1783080" y="6217920"/>
            <a:ext cx="11430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0" name="TextBox 209"/>
          <p:cNvSpPr txBox="1"/>
          <p:nvPr/>
        </p:nvSpPr>
        <p:spPr>
          <a:xfrm>
            <a:off x="1819656" y="6236208"/>
            <a:ext cx="1069848" cy="196596"/>
          </a:xfrm>
          <a:prstGeom prst="rect">
            <a:avLst/>
          </a:prstGeom>
          <a:noFill/>
        </p:spPr>
        <p:txBody>
          <a:bodyPr wrap="square">
            <a:spAutoFit/>
          </a:bodyPr>
          <a:lstStyle/>
          <a:p>
            <a:pPr algn="ctr"/>
            <a:r>
              <a:rPr sz="850" b="0" i="0">
                <a:solidFill>
                  <a:srgbClr val="1F1F1F"/>
                </a:solidFill>
                <a:latin typeface="Calibri"/>
              </a:rPr>
              <a:t>$364.3</a:t>
            </a:r>
          </a:p>
        </p:txBody>
      </p:sp>
      <p:sp>
        <p:nvSpPr>
          <p:cNvPr id="211" name="Rectangle 210"/>
          <p:cNvSpPr/>
          <p:nvPr/>
        </p:nvSpPr>
        <p:spPr>
          <a:xfrm>
            <a:off x="2926080" y="6217920"/>
            <a:ext cx="11887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2" name="TextBox 211"/>
          <p:cNvSpPr txBox="1"/>
          <p:nvPr/>
        </p:nvSpPr>
        <p:spPr>
          <a:xfrm>
            <a:off x="2962656" y="6236208"/>
            <a:ext cx="1115568" cy="196596"/>
          </a:xfrm>
          <a:prstGeom prst="rect">
            <a:avLst/>
          </a:prstGeom>
          <a:noFill/>
        </p:spPr>
        <p:txBody>
          <a:bodyPr wrap="square">
            <a:spAutoFit/>
          </a:bodyPr>
          <a:lstStyle/>
          <a:p>
            <a:pPr algn="ctr"/>
            <a:r>
              <a:rPr sz="850" b="0" i="0">
                <a:solidFill>
                  <a:srgbClr val="1F1F1F"/>
                </a:solidFill>
                <a:latin typeface="Calibri"/>
              </a:rPr>
              <a:t>40.1%</a:t>
            </a:r>
          </a:p>
        </p:txBody>
      </p:sp>
      <p:sp>
        <p:nvSpPr>
          <p:cNvPr id="213" name="Rectangle 212"/>
          <p:cNvSpPr/>
          <p:nvPr/>
        </p:nvSpPr>
        <p:spPr>
          <a:xfrm>
            <a:off x="4114800" y="6217920"/>
            <a:ext cx="14173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4" name="TextBox 213"/>
          <p:cNvSpPr txBox="1"/>
          <p:nvPr/>
        </p:nvSpPr>
        <p:spPr>
          <a:xfrm>
            <a:off x="4151376" y="6236208"/>
            <a:ext cx="1344168" cy="196596"/>
          </a:xfrm>
          <a:prstGeom prst="rect">
            <a:avLst/>
          </a:prstGeom>
          <a:noFill/>
        </p:spPr>
        <p:txBody>
          <a:bodyPr wrap="square">
            <a:spAutoFit/>
          </a:bodyPr>
          <a:lstStyle/>
          <a:p>
            <a:pPr algn="ctr"/>
            <a:r>
              <a:rPr sz="850" b="0" i="0">
                <a:solidFill>
                  <a:srgbClr val="1F1F1F"/>
                </a:solidFill>
                <a:latin typeface="Calibri"/>
              </a:rPr>
              <a:t>$146.1</a:t>
            </a:r>
          </a:p>
        </p:txBody>
      </p:sp>
      <p:sp>
        <p:nvSpPr>
          <p:cNvPr id="215" name="Rectangle 214"/>
          <p:cNvSpPr/>
          <p:nvPr/>
        </p:nvSpPr>
        <p:spPr>
          <a:xfrm>
            <a:off x="5532120" y="6217920"/>
            <a:ext cx="14173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6" name="TextBox 215"/>
          <p:cNvSpPr txBox="1"/>
          <p:nvPr/>
        </p:nvSpPr>
        <p:spPr>
          <a:xfrm>
            <a:off x="5568696" y="6236208"/>
            <a:ext cx="1344168" cy="196596"/>
          </a:xfrm>
          <a:prstGeom prst="rect">
            <a:avLst/>
          </a:prstGeom>
          <a:noFill/>
        </p:spPr>
        <p:txBody>
          <a:bodyPr wrap="square">
            <a:spAutoFit/>
          </a:bodyPr>
          <a:lstStyle/>
          <a:p>
            <a:pPr algn="ctr"/>
            <a:r>
              <a:rPr sz="850" b="0" i="0">
                <a:solidFill>
                  <a:srgbClr val="1F1F1F"/>
                </a:solidFill>
                <a:latin typeface="Calibri"/>
              </a:rPr>
              <a:t>0.8371</a:t>
            </a:r>
          </a:p>
        </p:txBody>
      </p:sp>
      <p:sp>
        <p:nvSpPr>
          <p:cNvPr id="217" name="Rectangle 216"/>
          <p:cNvSpPr/>
          <p:nvPr/>
        </p:nvSpPr>
        <p:spPr>
          <a:xfrm>
            <a:off x="182880" y="6451092"/>
            <a:ext cx="5029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8" name="TextBox 217"/>
          <p:cNvSpPr txBox="1"/>
          <p:nvPr/>
        </p:nvSpPr>
        <p:spPr>
          <a:xfrm>
            <a:off x="219456" y="6469380"/>
            <a:ext cx="429768" cy="196596"/>
          </a:xfrm>
          <a:prstGeom prst="rect">
            <a:avLst/>
          </a:prstGeom>
          <a:noFill/>
        </p:spPr>
        <p:txBody>
          <a:bodyPr wrap="square">
            <a:spAutoFit/>
          </a:bodyPr>
          <a:lstStyle/>
          <a:p>
            <a:pPr algn="l"/>
            <a:r>
              <a:rPr sz="850" b="1" i="0">
                <a:solidFill>
                  <a:srgbClr val="1F1F1F"/>
                </a:solidFill>
                <a:latin typeface="Calibri"/>
              </a:rPr>
              <a:t>3</a:t>
            </a:r>
          </a:p>
        </p:txBody>
      </p:sp>
      <p:sp>
        <p:nvSpPr>
          <p:cNvPr id="219" name="Rectangle 218"/>
          <p:cNvSpPr/>
          <p:nvPr/>
        </p:nvSpPr>
        <p:spPr>
          <a:xfrm>
            <a:off x="685800" y="6451092"/>
            <a:ext cx="10972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0" name="TextBox 219"/>
          <p:cNvSpPr txBox="1"/>
          <p:nvPr/>
        </p:nvSpPr>
        <p:spPr>
          <a:xfrm>
            <a:off x="722376" y="6469380"/>
            <a:ext cx="1024128" cy="196596"/>
          </a:xfrm>
          <a:prstGeom prst="rect">
            <a:avLst/>
          </a:prstGeom>
          <a:noFill/>
        </p:spPr>
        <p:txBody>
          <a:bodyPr wrap="square">
            <a:spAutoFit/>
          </a:bodyPr>
          <a:lstStyle/>
          <a:p>
            <a:pPr algn="ctr"/>
            <a:r>
              <a:rPr sz="850" b="0" i="0">
                <a:solidFill>
                  <a:srgbClr val="1F1F1F"/>
                </a:solidFill>
                <a:latin typeface="Calibri"/>
              </a:rPr>
              <a:t>FY29E</a:t>
            </a:r>
          </a:p>
        </p:txBody>
      </p:sp>
      <p:sp>
        <p:nvSpPr>
          <p:cNvPr id="221" name="Rectangle 220"/>
          <p:cNvSpPr/>
          <p:nvPr/>
        </p:nvSpPr>
        <p:spPr>
          <a:xfrm>
            <a:off x="1783080" y="6451092"/>
            <a:ext cx="11430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2" name="TextBox 221"/>
          <p:cNvSpPr txBox="1"/>
          <p:nvPr/>
        </p:nvSpPr>
        <p:spPr>
          <a:xfrm>
            <a:off x="1819656" y="6469380"/>
            <a:ext cx="1069848" cy="196596"/>
          </a:xfrm>
          <a:prstGeom prst="rect">
            <a:avLst/>
          </a:prstGeom>
          <a:noFill/>
        </p:spPr>
        <p:txBody>
          <a:bodyPr wrap="square">
            <a:spAutoFit/>
          </a:bodyPr>
          <a:lstStyle/>
          <a:p>
            <a:pPr algn="ctr"/>
            <a:r>
              <a:rPr sz="850" b="0" i="0">
                <a:solidFill>
                  <a:srgbClr val="1F1F1F"/>
                </a:solidFill>
                <a:latin typeface="Calibri"/>
              </a:rPr>
              <a:t>$473.6</a:t>
            </a:r>
          </a:p>
        </p:txBody>
      </p:sp>
      <p:sp>
        <p:nvSpPr>
          <p:cNvPr id="223" name="Rectangle 222"/>
          <p:cNvSpPr/>
          <p:nvPr/>
        </p:nvSpPr>
        <p:spPr>
          <a:xfrm>
            <a:off x="2926080" y="6451092"/>
            <a:ext cx="11887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4" name="TextBox 223"/>
          <p:cNvSpPr txBox="1"/>
          <p:nvPr/>
        </p:nvSpPr>
        <p:spPr>
          <a:xfrm>
            <a:off x="2962656" y="6469380"/>
            <a:ext cx="1115568" cy="196596"/>
          </a:xfrm>
          <a:prstGeom prst="rect">
            <a:avLst/>
          </a:prstGeom>
          <a:noFill/>
        </p:spPr>
        <p:txBody>
          <a:bodyPr wrap="square">
            <a:spAutoFit/>
          </a:bodyPr>
          <a:lstStyle/>
          <a:p>
            <a:pPr algn="ctr"/>
            <a:r>
              <a:rPr sz="850" b="0" i="0">
                <a:solidFill>
                  <a:srgbClr val="1F1F1F"/>
                </a:solidFill>
                <a:latin typeface="Calibri"/>
              </a:rPr>
              <a:t>40.1%</a:t>
            </a:r>
          </a:p>
        </p:txBody>
      </p:sp>
      <p:sp>
        <p:nvSpPr>
          <p:cNvPr id="225" name="Rectangle 224"/>
          <p:cNvSpPr/>
          <p:nvPr/>
        </p:nvSpPr>
        <p:spPr>
          <a:xfrm>
            <a:off x="4114800" y="6451092"/>
            <a:ext cx="14173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6" name="TextBox 225"/>
          <p:cNvSpPr txBox="1"/>
          <p:nvPr/>
        </p:nvSpPr>
        <p:spPr>
          <a:xfrm>
            <a:off x="4151376" y="6469380"/>
            <a:ext cx="1344168" cy="196596"/>
          </a:xfrm>
          <a:prstGeom prst="rect">
            <a:avLst/>
          </a:prstGeom>
          <a:noFill/>
        </p:spPr>
        <p:txBody>
          <a:bodyPr wrap="square">
            <a:spAutoFit/>
          </a:bodyPr>
          <a:lstStyle/>
          <a:p>
            <a:pPr algn="ctr"/>
            <a:r>
              <a:rPr sz="850" b="0" i="0">
                <a:solidFill>
                  <a:srgbClr val="1F1F1F"/>
                </a:solidFill>
                <a:latin typeface="Calibri"/>
              </a:rPr>
              <a:t>$190.0</a:t>
            </a:r>
          </a:p>
        </p:txBody>
      </p:sp>
      <p:sp>
        <p:nvSpPr>
          <p:cNvPr id="227" name="Rectangle 226"/>
          <p:cNvSpPr/>
          <p:nvPr/>
        </p:nvSpPr>
        <p:spPr>
          <a:xfrm>
            <a:off x="5532120" y="6451092"/>
            <a:ext cx="14173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8" name="TextBox 227"/>
          <p:cNvSpPr txBox="1"/>
          <p:nvPr/>
        </p:nvSpPr>
        <p:spPr>
          <a:xfrm>
            <a:off x="5568696" y="6469380"/>
            <a:ext cx="1344168" cy="196596"/>
          </a:xfrm>
          <a:prstGeom prst="rect">
            <a:avLst/>
          </a:prstGeom>
          <a:noFill/>
        </p:spPr>
        <p:txBody>
          <a:bodyPr wrap="square">
            <a:spAutoFit/>
          </a:bodyPr>
          <a:lstStyle/>
          <a:p>
            <a:pPr algn="ctr"/>
            <a:r>
              <a:rPr sz="850" b="0" i="0">
                <a:solidFill>
                  <a:srgbClr val="1F1F1F"/>
                </a:solidFill>
                <a:latin typeface="Calibri"/>
              </a:rPr>
              <a:t>0.7657</a:t>
            </a:r>
          </a:p>
        </p:txBody>
      </p:sp>
      <p:sp>
        <p:nvSpPr>
          <p:cNvPr id="229" name="Rectangle 228"/>
          <p:cNvSpPr/>
          <p:nvPr/>
        </p:nvSpPr>
        <p:spPr>
          <a:xfrm>
            <a:off x="182880" y="6684264"/>
            <a:ext cx="5029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0" name="TextBox 229"/>
          <p:cNvSpPr txBox="1"/>
          <p:nvPr/>
        </p:nvSpPr>
        <p:spPr>
          <a:xfrm>
            <a:off x="219456" y="6702552"/>
            <a:ext cx="429768" cy="196596"/>
          </a:xfrm>
          <a:prstGeom prst="rect">
            <a:avLst/>
          </a:prstGeom>
          <a:noFill/>
        </p:spPr>
        <p:txBody>
          <a:bodyPr wrap="square">
            <a:spAutoFit/>
          </a:bodyPr>
          <a:lstStyle/>
          <a:p>
            <a:pPr algn="l"/>
            <a:r>
              <a:rPr sz="850" b="1" i="0">
                <a:solidFill>
                  <a:srgbClr val="1F1F1F"/>
                </a:solidFill>
                <a:latin typeface="Calibri"/>
              </a:rPr>
              <a:t>4</a:t>
            </a:r>
          </a:p>
        </p:txBody>
      </p:sp>
      <p:sp>
        <p:nvSpPr>
          <p:cNvPr id="231" name="Rectangle 230"/>
          <p:cNvSpPr/>
          <p:nvPr/>
        </p:nvSpPr>
        <p:spPr>
          <a:xfrm>
            <a:off x="685800" y="6684264"/>
            <a:ext cx="109728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2" name="TextBox 231"/>
          <p:cNvSpPr txBox="1"/>
          <p:nvPr/>
        </p:nvSpPr>
        <p:spPr>
          <a:xfrm>
            <a:off x="722376" y="6702552"/>
            <a:ext cx="1024128" cy="196596"/>
          </a:xfrm>
          <a:prstGeom prst="rect">
            <a:avLst/>
          </a:prstGeom>
          <a:noFill/>
        </p:spPr>
        <p:txBody>
          <a:bodyPr wrap="square">
            <a:spAutoFit/>
          </a:bodyPr>
          <a:lstStyle/>
          <a:p>
            <a:pPr algn="ctr"/>
            <a:r>
              <a:rPr sz="850" b="0" i="0">
                <a:solidFill>
                  <a:srgbClr val="1F1F1F"/>
                </a:solidFill>
                <a:latin typeface="Calibri"/>
              </a:rPr>
              <a:t>FY30E</a:t>
            </a:r>
          </a:p>
        </p:txBody>
      </p:sp>
      <p:sp>
        <p:nvSpPr>
          <p:cNvPr id="233" name="Rectangle 232"/>
          <p:cNvSpPr/>
          <p:nvPr/>
        </p:nvSpPr>
        <p:spPr>
          <a:xfrm>
            <a:off x="1783080" y="6684264"/>
            <a:ext cx="114300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4" name="TextBox 233"/>
          <p:cNvSpPr txBox="1"/>
          <p:nvPr/>
        </p:nvSpPr>
        <p:spPr>
          <a:xfrm>
            <a:off x="1819656" y="6702552"/>
            <a:ext cx="1069848" cy="196596"/>
          </a:xfrm>
          <a:prstGeom prst="rect">
            <a:avLst/>
          </a:prstGeom>
          <a:noFill/>
        </p:spPr>
        <p:txBody>
          <a:bodyPr wrap="square">
            <a:spAutoFit/>
          </a:bodyPr>
          <a:lstStyle/>
          <a:p>
            <a:pPr algn="ctr"/>
            <a:r>
              <a:rPr sz="850" b="0" i="0">
                <a:solidFill>
                  <a:srgbClr val="1F1F1F"/>
                </a:solidFill>
                <a:latin typeface="Calibri"/>
              </a:rPr>
              <a:t>$615.7</a:t>
            </a:r>
          </a:p>
        </p:txBody>
      </p:sp>
      <p:sp>
        <p:nvSpPr>
          <p:cNvPr id="235" name="Rectangle 234"/>
          <p:cNvSpPr/>
          <p:nvPr/>
        </p:nvSpPr>
        <p:spPr>
          <a:xfrm>
            <a:off x="2926080" y="6684264"/>
            <a:ext cx="11887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6" name="TextBox 235"/>
          <p:cNvSpPr txBox="1"/>
          <p:nvPr/>
        </p:nvSpPr>
        <p:spPr>
          <a:xfrm>
            <a:off x="2962656" y="6702552"/>
            <a:ext cx="1115568" cy="196596"/>
          </a:xfrm>
          <a:prstGeom prst="rect">
            <a:avLst/>
          </a:prstGeom>
          <a:noFill/>
        </p:spPr>
        <p:txBody>
          <a:bodyPr wrap="square">
            <a:spAutoFit/>
          </a:bodyPr>
          <a:lstStyle/>
          <a:p>
            <a:pPr algn="ctr"/>
            <a:r>
              <a:rPr sz="850" b="0" i="0">
                <a:solidFill>
                  <a:srgbClr val="1F1F1F"/>
                </a:solidFill>
                <a:latin typeface="Calibri"/>
              </a:rPr>
              <a:t>40.1%</a:t>
            </a:r>
          </a:p>
        </p:txBody>
      </p:sp>
      <p:sp>
        <p:nvSpPr>
          <p:cNvPr id="237" name="Rectangle 236"/>
          <p:cNvSpPr/>
          <p:nvPr/>
        </p:nvSpPr>
        <p:spPr>
          <a:xfrm>
            <a:off x="4114800" y="6684264"/>
            <a:ext cx="14173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8" name="TextBox 237"/>
          <p:cNvSpPr txBox="1"/>
          <p:nvPr/>
        </p:nvSpPr>
        <p:spPr>
          <a:xfrm>
            <a:off x="4151376" y="6702552"/>
            <a:ext cx="1344168" cy="196596"/>
          </a:xfrm>
          <a:prstGeom prst="rect">
            <a:avLst/>
          </a:prstGeom>
          <a:noFill/>
        </p:spPr>
        <p:txBody>
          <a:bodyPr wrap="square">
            <a:spAutoFit/>
          </a:bodyPr>
          <a:lstStyle/>
          <a:p>
            <a:pPr algn="ctr"/>
            <a:r>
              <a:rPr sz="850" b="0" i="0">
                <a:solidFill>
                  <a:srgbClr val="1F1F1F"/>
                </a:solidFill>
                <a:latin typeface="Calibri"/>
              </a:rPr>
              <a:t>$247.0</a:t>
            </a:r>
          </a:p>
        </p:txBody>
      </p:sp>
      <p:sp>
        <p:nvSpPr>
          <p:cNvPr id="239" name="Rectangle 238"/>
          <p:cNvSpPr/>
          <p:nvPr/>
        </p:nvSpPr>
        <p:spPr>
          <a:xfrm>
            <a:off x="5532120" y="6684264"/>
            <a:ext cx="1417320" cy="233172"/>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0" name="TextBox 239"/>
          <p:cNvSpPr txBox="1"/>
          <p:nvPr/>
        </p:nvSpPr>
        <p:spPr>
          <a:xfrm>
            <a:off x="5568696" y="6702552"/>
            <a:ext cx="1344168" cy="196596"/>
          </a:xfrm>
          <a:prstGeom prst="rect">
            <a:avLst/>
          </a:prstGeom>
          <a:noFill/>
        </p:spPr>
        <p:txBody>
          <a:bodyPr wrap="square">
            <a:spAutoFit/>
          </a:bodyPr>
          <a:lstStyle/>
          <a:p>
            <a:pPr algn="ctr"/>
            <a:r>
              <a:rPr sz="850" b="0" i="0">
                <a:solidFill>
                  <a:srgbClr val="1F1F1F"/>
                </a:solidFill>
                <a:latin typeface="Calibri"/>
              </a:rPr>
              <a:t>0.7003</a:t>
            </a:r>
          </a:p>
        </p:txBody>
      </p:sp>
      <p:sp>
        <p:nvSpPr>
          <p:cNvPr id="241" name="Rectangle 240"/>
          <p:cNvSpPr/>
          <p:nvPr/>
        </p:nvSpPr>
        <p:spPr>
          <a:xfrm>
            <a:off x="182880" y="6917436"/>
            <a:ext cx="5029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2" name="TextBox 241"/>
          <p:cNvSpPr txBox="1"/>
          <p:nvPr/>
        </p:nvSpPr>
        <p:spPr>
          <a:xfrm>
            <a:off x="219456" y="6935724"/>
            <a:ext cx="429768" cy="196596"/>
          </a:xfrm>
          <a:prstGeom prst="rect">
            <a:avLst/>
          </a:prstGeom>
          <a:noFill/>
        </p:spPr>
        <p:txBody>
          <a:bodyPr wrap="square">
            <a:spAutoFit/>
          </a:bodyPr>
          <a:lstStyle/>
          <a:p>
            <a:pPr algn="l"/>
            <a:r>
              <a:rPr sz="850" b="1" i="0">
                <a:solidFill>
                  <a:srgbClr val="1F1F1F"/>
                </a:solidFill>
                <a:latin typeface="Calibri"/>
              </a:rPr>
              <a:t>TV</a:t>
            </a:r>
          </a:p>
        </p:txBody>
      </p:sp>
      <p:sp>
        <p:nvSpPr>
          <p:cNvPr id="243" name="Rectangle 242"/>
          <p:cNvSpPr/>
          <p:nvPr/>
        </p:nvSpPr>
        <p:spPr>
          <a:xfrm>
            <a:off x="685800" y="6917436"/>
            <a:ext cx="109728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4" name="TextBox 243"/>
          <p:cNvSpPr txBox="1"/>
          <p:nvPr/>
        </p:nvSpPr>
        <p:spPr>
          <a:xfrm>
            <a:off x="722376" y="6935724"/>
            <a:ext cx="1024128" cy="196596"/>
          </a:xfrm>
          <a:prstGeom prst="rect">
            <a:avLst/>
          </a:prstGeom>
          <a:noFill/>
        </p:spPr>
        <p:txBody>
          <a:bodyPr wrap="square">
            <a:spAutoFit/>
          </a:bodyPr>
          <a:lstStyle/>
          <a:p>
            <a:pPr algn="ctr"/>
            <a:r>
              <a:rPr sz="850" b="0" i="0">
                <a:solidFill>
                  <a:srgbClr val="1F1F1F"/>
                </a:solidFill>
                <a:latin typeface="Calibri"/>
              </a:rPr>
              <a:t>FY31E+</a:t>
            </a:r>
          </a:p>
        </p:txBody>
      </p:sp>
      <p:sp>
        <p:nvSpPr>
          <p:cNvPr id="245" name="Rectangle 244"/>
          <p:cNvSpPr/>
          <p:nvPr/>
        </p:nvSpPr>
        <p:spPr>
          <a:xfrm>
            <a:off x="1783080" y="6917436"/>
            <a:ext cx="114300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6" name="TextBox 245"/>
          <p:cNvSpPr txBox="1"/>
          <p:nvPr/>
        </p:nvSpPr>
        <p:spPr>
          <a:xfrm>
            <a:off x="1819656" y="6935724"/>
            <a:ext cx="1069848" cy="196596"/>
          </a:xfrm>
          <a:prstGeom prst="rect">
            <a:avLst/>
          </a:prstGeom>
          <a:noFill/>
        </p:spPr>
        <p:txBody>
          <a:bodyPr wrap="square">
            <a:spAutoFit/>
          </a:bodyPr>
          <a:lstStyle/>
          <a:p>
            <a:pPr algn="ctr"/>
            <a:r>
              <a:rPr sz="850" b="0" i="0">
                <a:solidFill>
                  <a:srgbClr val="1F1F1F"/>
                </a:solidFill>
                <a:latin typeface="Calibri"/>
              </a:rPr>
              <a:t>$647.0</a:t>
            </a:r>
          </a:p>
        </p:txBody>
      </p:sp>
      <p:sp>
        <p:nvSpPr>
          <p:cNvPr id="247" name="Rectangle 246"/>
          <p:cNvSpPr/>
          <p:nvPr/>
        </p:nvSpPr>
        <p:spPr>
          <a:xfrm>
            <a:off x="2926080" y="6917436"/>
            <a:ext cx="11887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8" name="TextBox 247"/>
          <p:cNvSpPr txBox="1"/>
          <p:nvPr/>
        </p:nvSpPr>
        <p:spPr>
          <a:xfrm>
            <a:off x="2962656" y="6935724"/>
            <a:ext cx="1115568" cy="196596"/>
          </a:xfrm>
          <a:prstGeom prst="rect">
            <a:avLst/>
          </a:prstGeom>
          <a:noFill/>
        </p:spPr>
        <p:txBody>
          <a:bodyPr wrap="square">
            <a:spAutoFit/>
          </a:bodyPr>
          <a:lstStyle/>
          <a:p>
            <a:pPr algn="ctr"/>
            <a:r>
              <a:rPr sz="850" b="0" i="0">
                <a:solidFill>
                  <a:srgbClr val="1F1F1F"/>
                </a:solidFill>
                <a:latin typeface="Calibri"/>
              </a:rPr>
              <a:t>40.1%</a:t>
            </a:r>
          </a:p>
        </p:txBody>
      </p:sp>
      <p:sp>
        <p:nvSpPr>
          <p:cNvPr id="249" name="Rectangle 248"/>
          <p:cNvSpPr/>
          <p:nvPr/>
        </p:nvSpPr>
        <p:spPr>
          <a:xfrm>
            <a:off x="4114800" y="6917436"/>
            <a:ext cx="14173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0" name="TextBox 249"/>
          <p:cNvSpPr txBox="1"/>
          <p:nvPr/>
        </p:nvSpPr>
        <p:spPr>
          <a:xfrm>
            <a:off x="4151376" y="6935724"/>
            <a:ext cx="1344168" cy="196596"/>
          </a:xfrm>
          <a:prstGeom prst="rect">
            <a:avLst/>
          </a:prstGeom>
          <a:noFill/>
        </p:spPr>
        <p:txBody>
          <a:bodyPr wrap="square">
            <a:spAutoFit/>
          </a:bodyPr>
          <a:lstStyle/>
          <a:p>
            <a:pPr algn="ctr"/>
            <a:r>
              <a:rPr sz="850" b="0" i="0">
                <a:solidFill>
                  <a:srgbClr val="1F1F1F"/>
                </a:solidFill>
                <a:latin typeface="Calibri"/>
              </a:rPr>
              <a:t>Perpetuity</a:t>
            </a:r>
          </a:p>
        </p:txBody>
      </p:sp>
      <p:sp>
        <p:nvSpPr>
          <p:cNvPr id="251" name="Rectangle 250"/>
          <p:cNvSpPr/>
          <p:nvPr/>
        </p:nvSpPr>
        <p:spPr>
          <a:xfrm>
            <a:off x="5532120" y="6917436"/>
            <a:ext cx="1417320" cy="233172"/>
          </a:xfrm>
          <a:prstGeom prst="rect">
            <a:avLst/>
          </a:prstGeom>
          <a:solidFill>
            <a:srgbClr val="F2F2F2"/>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2" name="TextBox 251"/>
          <p:cNvSpPr txBox="1"/>
          <p:nvPr/>
        </p:nvSpPr>
        <p:spPr>
          <a:xfrm>
            <a:off x="5568696" y="6935724"/>
            <a:ext cx="1344168" cy="196596"/>
          </a:xfrm>
          <a:prstGeom prst="rect">
            <a:avLst/>
          </a:prstGeom>
          <a:noFill/>
        </p:spPr>
        <p:txBody>
          <a:bodyPr wrap="square">
            <a:spAutoFit/>
          </a:bodyPr>
          <a:lstStyle/>
          <a:p>
            <a:pPr algn="ctr"/>
            <a:r>
              <a:rPr sz="850" b="0" i="0">
                <a:solidFill>
                  <a:srgbClr val="1F1F1F"/>
                </a:solidFill>
                <a:latin typeface="Calibri"/>
              </a:rPr>
              <a:t>  </a:t>
            </a:r>
          </a:p>
        </p:txBody>
      </p:sp>
      <p:sp>
        <p:nvSpPr>
          <p:cNvPr id="253" name="TextBox 252"/>
          <p:cNvSpPr txBox="1"/>
          <p:nvPr/>
        </p:nvSpPr>
        <p:spPr>
          <a:xfrm>
            <a:off x="182880" y="7242048"/>
            <a:ext cx="7406640" cy="914400"/>
          </a:xfrm>
          <a:prstGeom prst="rect">
            <a:avLst/>
          </a:prstGeom>
          <a:noFill/>
        </p:spPr>
        <p:txBody>
          <a:bodyPr wrap="square">
            <a:spAutoFit/>
          </a:bodyPr>
          <a:lstStyle/>
          <a:p>
            <a:pPr algn="l"/>
            <a:r>
              <a:rPr sz="750" b="0" i="1">
                <a:solidFill>
                  <a:srgbClr val="4A4A4A"/>
                </a:solidFill>
                <a:latin typeface="Calibri"/>
              </a:rPr>
              <a:t>WACC (Rs) = 9.30% derived from simplified CAPM: Rs = RFR + ERP = 4.30% + 5.00% = 9.30% (no beta adjustment per model design). FCF/Sales margin of 40.1% is a time-weighted average using weights equal to the forecast year number (weight 1 through 5), reflecting greater emphasis on later forecast years which are expected to be more representative of steady-state profitability. Early fiscal years FY22 and FY23 (margins of 30.2% and 14.1% respectively) drag the weighted average below the FY25/FY26 realized levels of 46.6%/44.7%.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772400" cy="502920"/>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 y="64008"/>
            <a:ext cx="3200400" cy="384048"/>
          </a:xfrm>
          <a:prstGeom prst="rect">
            <a:avLst/>
          </a:prstGeom>
          <a:noFill/>
        </p:spPr>
        <p:txBody>
          <a:bodyPr wrap="square">
            <a:spAutoFit/>
          </a:bodyPr>
          <a:lstStyle/>
          <a:p>
            <a:pPr algn="l"/>
            <a:r>
              <a:rPr sz="1000" b="1" i="0">
                <a:solidFill>
                  <a:srgbClr val="FFFFFF"/>
                </a:solidFill>
                <a:latin typeface="Calibri"/>
              </a:rPr>
              <a:t>NVDA  |  EQUITY RESEARCH</a:t>
            </a:r>
          </a:p>
        </p:txBody>
      </p:sp>
      <p:sp>
        <p:nvSpPr>
          <p:cNvPr id="4" name="TextBox 3"/>
          <p:cNvSpPr txBox="1"/>
          <p:nvPr/>
        </p:nvSpPr>
        <p:spPr>
          <a:xfrm>
            <a:off x="2286000" y="64008"/>
            <a:ext cx="4114800" cy="384048"/>
          </a:xfrm>
          <a:prstGeom prst="rect">
            <a:avLst/>
          </a:prstGeom>
          <a:noFill/>
        </p:spPr>
        <p:txBody>
          <a:bodyPr wrap="square">
            <a:spAutoFit/>
          </a:bodyPr>
          <a:lstStyle/>
          <a:p>
            <a:pPr algn="ctr"/>
            <a:r>
              <a:rPr sz="1100" b="1" i="0">
                <a:solidFill>
                  <a:srgbClr val="76B900"/>
                </a:solidFill>
                <a:latin typeface="Calibri"/>
              </a:rPr>
              <a:t>APPENDIX B: CHARTS &amp; FIGURES</a:t>
            </a:r>
          </a:p>
        </p:txBody>
      </p:sp>
      <p:sp>
        <p:nvSpPr>
          <p:cNvPr id="5" name="TextBox 4"/>
          <p:cNvSpPr txBox="1"/>
          <p:nvPr/>
        </p:nvSpPr>
        <p:spPr>
          <a:xfrm>
            <a:off x="5669280" y="64008"/>
            <a:ext cx="1920240" cy="384048"/>
          </a:xfrm>
          <a:prstGeom prst="rect">
            <a:avLst/>
          </a:prstGeom>
          <a:noFill/>
        </p:spPr>
        <p:txBody>
          <a:bodyPr wrap="square">
            <a:spAutoFit/>
          </a:bodyPr>
          <a:lstStyle/>
          <a:p>
            <a:pPr algn="r"/>
            <a:r>
              <a:rPr sz="850" b="0" i="0">
                <a:solidFill>
                  <a:srgbClr val="FFFFFF"/>
                </a:solidFill>
                <a:latin typeface="Calibri"/>
              </a:rPr>
              <a:t>April 2026  |  FIN 431</a:t>
            </a:r>
          </a:p>
        </p:txBody>
      </p:sp>
      <p:sp>
        <p:nvSpPr>
          <p:cNvPr id="6" name="Rectangle 5"/>
          <p:cNvSpPr/>
          <p:nvPr/>
        </p:nvSpPr>
        <p:spPr>
          <a:xfrm>
            <a:off x="0" y="502920"/>
            <a:ext cx="7772400" cy="36576"/>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9802368"/>
            <a:ext cx="7772400" cy="256032"/>
          </a:xfrm>
          <a:prstGeom prst="rect">
            <a:avLst/>
          </a:prstGeom>
          <a:solidFill>
            <a:srgbClr val="1F1F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 y="9811512"/>
            <a:ext cx="5943600" cy="237744"/>
          </a:xfrm>
          <a:prstGeom prst="rect">
            <a:avLst/>
          </a:prstGeom>
          <a:noFill/>
        </p:spPr>
        <p:txBody>
          <a:bodyPr wrap="square">
            <a:spAutoFit/>
          </a:bodyPr>
          <a:lstStyle/>
          <a:p>
            <a:pPr algn="l"/>
            <a:r>
              <a:rPr sz="700" b="0" i="0">
                <a:solidFill>
                  <a:srgbClr val="BBBBBB"/>
                </a:solidFill>
                <a:latin typeface="Calibri"/>
              </a:rPr>
              <a:t>NVIDIA Corporation (NVDA)  |  Equity Research  |  FIN 431  |  Portfolio Analysis</a:t>
            </a:r>
          </a:p>
        </p:txBody>
      </p:sp>
      <p:sp>
        <p:nvSpPr>
          <p:cNvPr id="9" name="TextBox 8"/>
          <p:cNvSpPr txBox="1"/>
          <p:nvPr/>
        </p:nvSpPr>
        <p:spPr>
          <a:xfrm>
            <a:off x="7132320" y="9811512"/>
            <a:ext cx="502920" cy="237744"/>
          </a:xfrm>
          <a:prstGeom prst="rect">
            <a:avLst/>
          </a:prstGeom>
          <a:noFill/>
        </p:spPr>
        <p:txBody>
          <a:bodyPr wrap="square">
            <a:spAutoFit/>
          </a:bodyPr>
          <a:lstStyle/>
          <a:p>
            <a:pPr algn="r"/>
            <a:r>
              <a:rPr sz="700" b="0" i="0">
                <a:solidFill>
                  <a:srgbClr val="BBBBBB"/>
                </a:solidFill>
                <a:latin typeface="Calibri"/>
              </a:rPr>
              <a:t>Page 6</a:t>
            </a:r>
          </a:p>
        </p:txBody>
      </p:sp>
      <p:sp>
        <p:nvSpPr>
          <p:cNvPr id="10" name="Rectangle 9"/>
          <p:cNvSpPr/>
          <p:nvPr/>
        </p:nvSpPr>
        <p:spPr>
          <a:xfrm>
            <a:off x="182880" y="621792"/>
            <a:ext cx="36576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7744" y="640080"/>
            <a:ext cx="3547872" cy="164592"/>
          </a:xfrm>
          <a:prstGeom prst="rect">
            <a:avLst/>
          </a:prstGeom>
          <a:noFill/>
        </p:spPr>
        <p:txBody>
          <a:bodyPr wrap="square">
            <a:spAutoFit/>
          </a:bodyPr>
          <a:lstStyle/>
          <a:p>
            <a:pPr algn="l"/>
            <a:r>
              <a:rPr sz="750" b="1" i="0">
                <a:solidFill>
                  <a:srgbClr val="FFFFFF"/>
                </a:solidFill>
                <a:latin typeface="Calibri"/>
              </a:rPr>
              <a:t>FIGURE 1 (FULL): NVDA HISTORICAL PRICE (SPLIT-ADJUSTED)</a:t>
            </a:r>
          </a:p>
        </p:txBody>
      </p:sp>
      <p:pic>
        <p:nvPicPr>
          <p:cNvPr id="12" name="Picture 11" descr="image.png"/>
          <p:cNvPicPr>
            <a:picLocks noChangeAspect="1"/>
          </p:cNvPicPr>
          <p:nvPr/>
        </p:nvPicPr>
        <p:blipFill>
          <a:blip r:embed="rId2"/>
          <a:stretch>
            <a:fillRect/>
          </a:stretch>
        </p:blipFill>
        <p:spPr>
          <a:xfrm>
            <a:off x="182880" y="850392"/>
            <a:ext cx="3566160" cy="2377440"/>
          </a:xfrm>
          <a:prstGeom prst="rect">
            <a:avLst/>
          </a:prstGeom>
        </p:spPr>
      </p:pic>
      <p:sp>
        <p:nvSpPr>
          <p:cNvPr id="13" name="Rectangle 12"/>
          <p:cNvSpPr/>
          <p:nvPr/>
        </p:nvSpPr>
        <p:spPr>
          <a:xfrm>
            <a:off x="3977639" y="621792"/>
            <a:ext cx="36576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32503" y="640080"/>
            <a:ext cx="3547872" cy="164592"/>
          </a:xfrm>
          <a:prstGeom prst="rect">
            <a:avLst/>
          </a:prstGeom>
          <a:noFill/>
        </p:spPr>
        <p:txBody>
          <a:bodyPr wrap="square">
            <a:spAutoFit/>
          </a:bodyPr>
          <a:lstStyle/>
          <a:p>
            <a:pPr algn="l"/>
            <a:r>
              <a:rPr sz="750" b="1" i="0">
                <a:solidFill>
                  <a:srgbClr val="FFFFFF"/>
                </a:solidFill>
                <a:latin typeface="Calibri"/>
              </a:rPr>
              <a:t>FIGURE 2 (FULL): RELATIVE PERFORMANCE VS. BENCHMARKS</a:t>
            </a:r>
          </a:p>
        </p:txBody>
      </p:sp>
      <p:pic>
        <p:nvPicPr>
          <p:cNvPr id="15" name="Picture 14" descr="image.png"/>
          <p:cNvPicPr>
            <a:picLocks noChangeAspect="1"/>
          </p:cNvPicPr>
          <p:nvPr/>
        </p:nvPicPr>
        <p:blipFill>
          <a:blip r:embed="rId3"/>
          <a:stretch>
            <a:fillRect/>
          </a:stretch>
        </p:blipFill>
        <p:spPr>
          <a:xfrm>
            <a:off x="3977639" y="850392"/>
            <a:ext cx="3611880" cy="2377440"/>
          </a:xfrm>
          <a:prstGeom prst="rect">
            <a:avLst/>
          </a:prstGeom>
        </p:spPr>
      </p:pic>
      <p:sp>
        <p:nvSpPr>
          <p:cNvPr id="16" name="Rectangle 15"/>
          <p:cNvSpPr/>
          <p:nvPr/>
        </p:nvSpPr>
        <p:spPr>
          <a:xfrm>
            <a:off x="182880" y="3456432"/>
            <a:ext cx="36576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37744" y="3474720"/>
            <a:ext cx="3547872" cy="164592"/>
          </a:xfrm>
          <a:prstGeom prst="rect">
            <a:avLst/>
          </a:prstGeom>
          <a:noFill/>
        </p:spPr>
        <p:txBody>
          <a:bodyPr wrap="square">
            <a:spAutoFit/>
          </a:bodyPr>
          <a:lstStyle/>
          <a:p>
            <a:pPr algn="l"/>
            <a:r>
              <a:rPr sz="750" b="1" i="0">
                <a:solidFill>
                  <a:srgbClr val="FFFFFF"/>
                </a:solidFill>
                <a:latin typeface="Calibri"/>
              </a:rPr>
              <a:t>FIGURE 3 (FULL): DATA CENTER YOY REVENUE GROWTH</a:t>
            </a:r>
          </a:p>
        </p:txBody>
      </p:sp>
      <p:pic>
        <p:nvPicPr>
          <p:cNvPr id="18" name="Picture 17" descr="image.png"/>
          <p:cNvPicPr>
            <a:picLocks noChangeAspect="1"/>
          </p:cNvPicPr>
          <p:nvPr/>
        </p:nvPicPr>
        <p:blipFill>
          <a:blip r:embed="rId4"/>
          <a:stretch>
            <a:fillRect/>
          </a:stretch>
        </p:blipFill>
        <p:spPr>
          <a:xfrm>
            <a:off x="182880" y="3685032"/>
            <a:ext cx="3566160" cy="2377440"/>
          </a:xfrm>
          <a:prstGeom prst="rect">
            <a:avLst/>
          </a:prstGeom>
        </p:spPr>
      </p:pic>
      <p:sp>
        <p:nvSpPr>
          <p:cNvPr id="19" name="Rectangle 18"/>
          <p:cNvSpPr/>
          <p:nvPr/>
        </p:nvSpPr>
        <p:spPr>
          <a:xfrm>
            <a:off x="3977639" y="3456432"/>
            <a:ext cx="36576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032503" y="3474720"/>
            <a:ext cx="3547872" cy="164592"/>
          </a:xfrm>
          <a:prstGeom prst="rect">
            <a:avLst/>
          </a:prstGeom>
          <a:noFill/>
        </p:spPr>
        <p:txBody>
          <a:bodyPr wrap="square">
            <a:spAutoFit/>
          </a:bodyPr>
          <a:lstStyle/>
          <a:p>
            <a:pPr algn="l"/>
            <a:r>
              <a:rPr sz="750" b="1" i="0">
                <a:solidFill>
                  <a:srgbClr val="FFFFFF"/>
                </a:solidFill>
                <a:latin typeface="Calibri"/>
              </a:rPr>
              <a:t>FIGURE 4 (FULL): AI GPU MARKET SHARE (CY2025E)</a:t>
            </a:r>
          </a:p>
        </p:txBody>
      </p:sp>
      <p:pic>
        <p:nvPicPr>
          <p:cNvPr id="21" name="Picture 20" descr="image.png"/>
          <p:cNvPicPr>
            <a:picLocks noChangeAspect="1"/>
          </p:cNvPicPr>
          <p:nvPr/>
        </p:nvPicPr>
        <p:blipFill>
          <a:blip r:embed="rId5"/>
          <a:stretch>
            <a:fillRect/>
          </a:stretch>
        </p:blipFill>
        <p:spPr>
          <a:xfrm>
            <a:off x="3977639" y="3685032"/>
            <a:ext cx="3611880" cy="2377440"/>
          </a:xfrm>
          <a:prstGeom prst="rect">
            <a:avLst/>
          </a:prstGeom>
        </p:spPr>
      </p:pic>
      <p:sp>
        <p:nvSpPr>
          <p:cNvPr id="22" name="Rectangle 21"/>
          <p:cNvSpPr/>
          <p:nvPr/>
        </p:nvSpPr>
        <p:spPr>
          <a:xfrm>
            <a:off x="182880" y="6291072"/>
            <a:ext cx="2286000" cy="201168"/>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7744" y="6309360"/>
            <a:ext cx="2176272" cy="164592"/>
          </a:xfrm>
          <a:prstGeom prst="rect">
            <a:avLst/>
          </a:prstGeom>
          <a:noFill/>
        </p:spPr>
        <p:txBody>
          <a:bodyPr wrap="square">
            <a:spAutoFit/>
          </a:bodyPr>
          <a:lstStyle/>
          <a:p>
            <a:pPr algn="l"/>
            <a:r>
              <a:rPr sz="750" b="1" i="0">
                <a:solidFill>
                  <a:srgbClr val="FFFFFF"/>
                </a:solidFill>
                <a:latin typeface="Calibri"/>
              </a:rPr>
              <a:t>ANALYST NOTES</a:t>
            </a:r>
          </a:p>
        </p:txBody>
      </p:sp>
      <p:sp>
        <p:nvSpPr>
          <p:cNvPr id="24" name="TextBox 23"/>
          <p:cNvSpPr txBox="1"/>
          <p:nvPr/>
        </p:nvSpPr>
        <p:spPr>
          <a:xfrm>
            <a:off x="182880" y="6519672"/>
            <a:ext cx="7406640" cy="1371600"/>
          </a:xfrm>
          <a:prstGeom prst="rect">
            <a:avLst/>
          </a:prstGeom>
          <a:noFill/>
        </p:spPr>
        <p:txBody>
          <a:bodyPr wrap="square">
            <a:spAutoFit/>
          </a:bodyPr>
          <a:lstStyle/>
          <a:p>
            <a:pPr algn="l"/>
            <a:r>
              <a:rPr sz="780" b="0" i="1">
                <a:solidFill>
                  <a:srgbClr val="4A4A4A"/>
                </a:solidFill>
                <a:latin typeface="Calibri"/>
              </a:rPr>
              <a:t>All financial data for NVIDIA sourced from company filings (10-K, 10-Q, earnings press releases) and management guidance as of March 2026. Comparable company multiples for AMD and AVGO sourced from trailing twelve-month public financials and consensus estimates as of April 2026. Intel (INTC) multiples sourced from public filings; P/EPS and P/FCF excluded due to non-profitability and negative FCF. All price targets and valuation estimates are forward-looking and subject to change based on actual reported results and changes in market conditions. This report was prepared for academic purposes in the context of FIN 431 Portfolio Analysis and does not constitute investment advice.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2858</TotalTime>
  <Words>3292</Words>
  <Application>Microsoft Macintosh PowerPoint</Application>
  <PresentationFormat>Custom</PresentationFormat>
  <Paragraphs>367</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Mathur, Arnie (Student)</cp:lastModifiedBy>
  <cp:revision>2</cp:revision>
  <dcterms:created xsi:type="dcterms:W3CDTF">2013-01-27T09:14:16Z</dcterms:created>
  <dcterms:modified xsi:type="dcterms:W3CDTF">2026-04-08T19:43:34Z</dcterms:modified>
  <cp:category/>
</cp:coreProperties>
</file>