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3"/>
  </p:normalViewPr>
  <p:slideViewPr>
    <p:cSldViewPr snapToGrid="0">
      <p:cViewPr varScale="1">
        <p:scale>
          <a:sx n="68" d="100"/>
          <a:sy n="68" d="100"/>
        </p:scale>
        <p:origin x="942" y="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www.sec.gov/" TargetMode="External"/><Relationship Id="rId7" Type="http://schemas.openxmlformats.org/officeDocument/2006/relationships/hyperlink" Target="http://www.morningstar.com/" TargetMode="External"/><Relationship Id="rId2" Type="http://schemas.openxmlformats.org/officeDocument/2006/relationships/hyperlink" Target="http://www.sec.gov/cgi-bin/browse-edgar?action=getcompany&amp;CIK=AAPL&amp;type=10-K" TargetMode="External"/><Relationship Id="rId1" Type="http://schemas.openxmlformats.org/officeDocument/2006/relationships/slideLayout" Target="../slideLayouts/slideLayout7.xml"/><Relationship Id="rId6" Type="http://schemas.openxmlformats.org/officeDocument/2006/relationships/hyperlink" Target="http://www.mckinsey.com/capabilities/quantumblack/our-insights/the-state-of-ai" TargetMode="External"/><Relationship Id="rId5" Type="http://schemas.openxmlformats.org/officeDocument/2006/relationships/hyperlink" Target="http://www.idc.com/" TargetMode="External"/><Relationship Id="rId4" Type="http://schemas.openxmlformats.org/officeDocument/2006/relationships/hyperlink" Target="http://www.gartner.com/en/newsroom/press-releases"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www.bcg.com/publications/2021/strengthening-the-global-semiconductor-supply-chain" TargetMode="External"/><Relationship Id="rId3" Type="http://schemas.openxmlformats.org/officeDocument/2006/relationships/hyperlink" Target="http://www.spglobal.com/spdji/en" TargetMode="External"/><Relationship Id="rId7" Type="http://schemas.openxmlformats.org/officeDocument/2006/relationships/hyperlink" Target="http://www.bea.gov/news/2024/gross-domestic-product-third-quarter-2024" TargetMode="External"/><Relationship Id="rId2" Type="http://schemas.openxmlformats.org/officeDocument/2006/relationships/hyperlink" Target="http://www.nasdaq.com/solutions/nasdaq-phlx-semiconductor-sector-index" TargetMode="External"/><Relationship Id="rId1" Type="http://schemas.openxmlformats.org/officeDocument/2006/relationships/slideLayout" Target="../slideLayouts/slideLayout7.xml"/><Relationship Id="rId6" Type="http://schemas.openxmlformats.org/officeDocument/2006/relationships/hyperlink" Target="http://www.semiconductors.org/state-of-the-u-s-semiconductor-industry" TargetMode="External"/><Relationship Id="rId5" Type="http://schemas.openxmlformats.org/officeDocument/2006/relationships/hyperlink" Target="http://www.sec.gov/" TargetMode="External"/><Relationship Id="rId4" Type="http://schemas.openxmlformats.org/officeDocument/2006/relationships/hyperlink" Target="http://www.spglobal.com/spdji/en/indices/equity/sp-north-american-technology-sector-inde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88952" cy="57607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280160"/>
            <a:ext cx="11274552" cy="53949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137160"/>
            <a:ext cx="11640312" cy="548640"/>
          </a:xfrm>
          <a:prstGeom prst="rect">
            <a:avLst/>
          </a:prstGeom>
          <a:noFill/>
        </p:spPr>
        <p:txBody>
          <a:bodyPr wrap="square">
            <a:spAutoFit/>
          </a:bodyPr>
          <a:lstStyle/>
          <a:p>
            <a:pPr algn="ctr"/>
            <a:r>
              <a:rPr sz="2600" b="1">
                <a:solidFill>
                  <a:srgbClr val="FFFFFF"/>
                </a:solidFill>
                <a:latin typeface="Calibri"/>
              </a:rPr>
              <a:t>TECHNOLOGY SECTOR INDUSTRY ANALYSIS</a:t>
            </a:r>
          </a:p>
        </p:txBody>
      </p:sp>
      <p:sp>
        <p:nvSpPr>
          <p:cNvPr id="6" name="TextBox 5"/>
          <p:cNvSpPr txBox="1"/>
          <p:nvPr/>
        </p:nvSpPr>
        <p:spPr>
          <a:xfrm>
            <a:off x="274320" y="658368"/>
            <a:ext cx="11640312" cy="292388"/>
          </a:xfrm>
          <a:prstGeom prst="rect">
            <a:avLst/>
          </a:prstGeom>
          <a:noFill/>
        </p:spPr>
        <p:txBody>
          <a:bodyPr wrap="square">
            <a:spAutoFit/>
          </a:bodyPr>
          <a:lstStyle/>
          <a:p>
            <a:pPr algn="ctr"/>
            <a:r>
              <a:rPr sz="1300" b="0" dirty="0">
                <a:solidFill>
                  <a:srgbClr val="FFFFFF"/>
                </a:solidFill>
                <a:latin typeface="Calibri"/>
              </a:rPr>
              <a:t>Arnie Mathur </a:t>
            </a:r>
            <a:r>
              <a:rPr lang="en-US" sz="1300" b="0" dirty="0">
                <a:solidFill>
                  <a:srgbClr val="FFFFFF"/>
                </a:solidFill>
                <a:latin typeface="Calibri"/>
              </a:rPr>
              <a:t> </a:t>
            </a:r>
            <a:endParaRPr sz="1300" b="0" dirty="0">
              <a:solidFill>
                <a:srgbClr val="FFFFFF"/>
              </a:solidFill>
              <a:latin typeface="Calibri"/>
            </a:endParaRPr>
          </a:p>
        </p:txBody>
      </p:sp>
      <p:sp>
        <p:nvSpPr>
          <p:cNvPr id="7" name="TextBox 6"/>
          <p:cNvSpPr txBox="1"/>
          <p:nvPr/>
        </p:nvSpPr>
        <p:spPr>
          <a:xfrm>
            <a:off x="640080" y="1417320"/>
            <a:ext cx="10908792" cy="640080"/>
          </a:xfrm>
          <a:prstGeom prst="rect">
            <a:avLst/>
          </a:prstGeom>
          <a:noFill/>
        </p:spPr>
        <p:txBody>
          <a:bodyPr wrap="square">
            <a:spAutoFit/>
          </a:bodyPr>
          <a:lstStyle/>
          <a:p>
            <a:pPr algn="ctr"/>
            <a:r>
              <a:rPr sz="2200" b="1">
                <a:solidFill>
                  <a:srgbClr val="1F3864"/>
                </a:solidFill>
                <a:latin typeface="Calibri"/>
              </a:rPr>
              <a:t>S&amp;P North American Technology Sector (SPGSTI)</a:t>
            </a:r>
          </a:p>
        </p:txBody>
      </p:sp>
      <p:sp>
        <p:nvSpPr>
          <p:cNvPr id="8" name="TextBox 7"/>
          <p:cNvSpPr txBox="1"/>
          <p:nvPr/>
        </p:nvSpPr>
        <p:spPr>
          <a:xfrm>
            <a:off x="640080" y="2029968"/>
            <a:ext cx="10908792" cy="365760"/>
          </a:xfrm>
          <a:prstGeom prst="rect">
            <a:avLst/>
          </a:prstGeom>
          <a:noFill/>
        </p:spPr>
        <p:txBody>
          <a:bodyPr wrap="square">
            <a:spAutoFit/>
          </a:bodyPr>
          <a:lstStyle/>
          <a:p>
            <a:pPr algn="ctr"/>
            <a:r>
              <a:rPr sz="1200" b="0">
                <a:solidFill>
                  <a:srgbClr val="555555"/>
                </a:solidFill>
                <a:latin typeface="Calibri"/>
              </a:rPr>
              <a:t>May 2026  |  Sector Analysis Report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SECTOR DESCRIPTION</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Overview of the Technology Sector and Key Industries</a:t>
            </a:r>
          </a:p>
        </p:txBody>
      </p:sp>
      <p:sp>
        <p:nvSpPr>
          <p:cNvPr id="6" name="TextBox 5"/>
          <p:cNvSpPr txBox="1"/>
          <p:nvPr/>
        </p:nvSpPr>
        <p:spPr>
          <a:xfrm>
            <a:off x="182880" y="886968"/>
            <a:ext cx="11900852" cy="3754874"/>
          </a:xfrm>
          <a:prstGeom prst="rect">
            <a:avLst/>
          </a:prstGeom>
          <a:noFill/>
        </p:spPr>
        <p:txBody>
          <a:bodyPr wrap="square" lIns="91440" tIns="45720" rIns="91440" bIns="45720" anchor="t">
            <a:spAutoFit/>
          </a:bodyPr>
          <a:lstStyle/>
          <a:p>
            <a:pPr>
              <a:spcAft>
                <a:spcPts val="500"/>
              </a:spcAft>
            </a:pPr>
            <a:r>
              <a:rPr lang="en-US" sz="1400">
                <a:solidFill>
                  <a:srgbClr val="000000"/>
                </a:solidFill>
                <a:latin typeface="Calibri"/>
                <a:ea typeface="Calibri"/>
                <a:cs typeface="Calibri"/>
              </a:rPr>
              <a:t>The technology sector is one of the largest and fastest-growing sectors currently in the global economy. Within this sector, companies offer various services or products that are key to the functionality of day-to-day operations of many companies and the lives of individuals. The associated industries display how imperative these products and services are based on their market size alone which ranges from approximately $5.6 trillion to $6.31 trillion. The semiconductor industry makes up 39.63% of the technology sector’s market share, making it the largest portion of this sector. A semiconductor is a material found in computer chips and electronic components that functions as both a conductor and an insulator, controlling electricity. The importance of this item is evident, since it is used in smartphones, computers, cars, medical equipment, etc. The second largest industry is software, which makes up 20.04% and is a massive, fast-growing industry that is dedicated to the development, maintenance, and distribution of programs that are key to the functionality of computers. Unlike semiconductors, which are physical components, software is intangible code that powers smartphones, corporate databases, and many other digital systems. Within this industry, a sub-sector called artificial intelligence has been growing massively with companies devoting massive amounts of resources and capital toward developing this service, illustrated with large corporations such as Meta, Google, and Microsoft. This has contributed to large amounts of growth in the other corresponding industries, such as in the semiconductor industry, since in order to produce this service, graphics cards that are powered by semiconductor chips are required. This demonstrates how closely interconnected these industries are, as semiconductor hardware and software systems work together in order to create modern technological products and services.  Lastly, another major associated industry that is powered by both semiconductors and software is consumer electronics consisting of electronic devices that are intended for everyday use, such as computers, smartphones, headphones, and other electronics. Apple is a global leader in this sector currently holding 21% market share, demonstrating dominance with its staple products such as the iPhone, Macs, iPad, and wearables that continue to set industry standards. This industry makes up 16.24% of the entire technology sector and has climbed to approximately $943 billion in the global market, demonstrating its large size.</a:t>
            </a:r>
            <a:endParaRPr lang="en-US" sz="14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ECONOMIC AND SOCIAL FACTORS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Key Drivers of Technology Sector Performance</a:t>
            </a:r>
          </a:p>
        </p:txBody>
      </p:sp>
      <p:sp>
        <p:nvSpPr>
          <p:cNvPr id="6" name="TextBox 5"/>
          <p:cNvSpPr txBox="1"/>
          <p:nvPr/>
        </p:nvSpPr>
        <p:spPr>
          <a:xfrm>
            <a:off x="182880" y="886968"/>
            <a:ext cx="11823192" cy="3108543"/>
          </a:xfrm>
          <a:prstGeom prst="rect">
            <a:avLst/>
          </a:prstGeom>
          <a:noFill/>
        </p:spPr>
        <p:txBody>
          <a:bodyPr wrap="square" lIns="91440" tIns="45720" rIns="91440" bIns="45720" anchor="t">
            <a:spAutoFit/>
          </a:bodyPr>
          <a:lstStyle/>
          <a:p>
            <a:pPr>
              <a:spcAft>
                <a:spcPts val="500"/>
              </a:spcAft>
            </a:pPr>
            <a:r>
              <a:rPr lang="en-US" sz="1400" b="0">
                <a:solidFill>
                  <a:srgbClr val="000000"/>
                </a:solidFill>
                <a:latin typeface="Calibri"/>
                <a:ea typeface="Calibri"/>
                <a:cs typeface="Calibri"/>
              </a:rPr>
              <a:t>There are various economic and social factors that impact the performance of the </a:t>
            </a:r>
            <a:r>
              <a:rPr lang="en-US" sz="1400">
                <a:solidFill>
                  <a:srgbClr val="000000"/>
                </a:solidFill>
                <a:latin typeface="Calibri"/>
                <a:ea typeface="Calibri"/>
                <a:cs typeface="Calibri"/>
              </a:rPr>
              <a:t>technology </a:t>
            </a:r>
            <a:r>
              <a:rPr lang="en-US" sz="1400" b="0">
                <a:solidFill>
                  <a:srgbClr val="000000"/>
                </a:solidFill>
                <a:latin typeface="Calibri"/>
                <a:ea typeface="Calibri"/>
                <a:cs typeface="Calibri"/>
              </a:rPr>
              <a:t>sector and the various industries within this category, the first of which is interest rates and disposable income. Many consumer products tend to fall under the more expensive category, making it more of a want than a need, which as a result causes high interest rates or a drop in household wealth to immediately create a slowdown in sales. On the contrary, expansionary periods fuel these industries, due to high consumer and business spending, making it evident that this sector is sensitive to economic cycles. Manufacturing and components costs are another component that affect this sector, since these industries often rely on a fragile global supply chain, which can cause a shortage of a single part or a spike in shipping costs that can raise prices globally, eating into company profits. Another item would be the </a:t>
            </a:r>
            <a:r>
              <a:rPr lang="en-US" sz="1400">
                <a:solidFill>
                  <a:srgbClr val="000000"/>
                </a:solidFill>
                <a:latin typeface="Calibri"/>
                <a:ea typeface="Calibri"/>
                <a:cs typeface="Calibri"/>
              </a:rPr>
              <a:t>corporate </a:t>
            </a:r>
            <a:r>
              <a:rPr lang="en-US" sz="1400" b="0">
                <a:solidFill>
                  <a:srgbClr val="000000"/>
                </a:solidFill>
                <a:latin typeface="Calibri"/>
                <a:ea typeface="Calibri"/>
                <a:cs typeface="Calibri"/>
              </a:rPr>
              <a:t>IT </a:t>
            </a:r>
            <a:r>
              <a:rPr lang="en-US" sz="1400">
                <a:solidFill>
                  <a:srgbClr val="000000"/>
                </a:solidFill>
                <a:latin typeface="Calibri"/>
                <a:ea typeface="Calibri"/>
                <a:cs typeface="Calibri"/>
              </a:rPr>
              <a:t>budgets</a:t>
            </a:r>
            <a:r>
              <a:rPr lang="en-US" sz="1400" b="0">
                <a:solidFill>
                  <a:srgbClr val="000000"/>
                </a:solidFill>
                <a:latin typeface="Calibri"/>
                <a:ea typeface="Calibri"/>
                <a:cs typeface="Calibri"/>
              </a:rPr>
              <a:t>, since for the software and services side, growth is dependent on the amount of capital businesses are willing to contribute toward upgrading their systems. Seen with advancements such as AI, where companies are investing substantial amounts of capital into data centers and developing their models. However, when there is uncertainty in the economy companies tend to freeze projects. This sector is also very R&amp;D intensive, resulting in companies constantly trying to develop their products or else they may become obsolete very quickly. Inflation is also a large concern, since high inflation can cause margins to thin, but may help companies with pricing power and commodity producers. In terms of the social factors, a lot of these various new technologies depend on digital literacy and the adoption rate of individuals, since this determines the speed at which the sector grows. If newly developed technology is too difficult for people to use or does not fit within society, then the market would stall. Accompanied with this is shifts in demographics, since an aging population may increase demand for healthcare services, pharmaceuticals, and specialized consumer products.</a:t>
            </a:r>
            <a:r>
              <a:rPr lang="en-US" sz="1400">
                <a:solidFill>
                  <a:srgbClr val="000000"/>
                </a:solidFill>
                <a:latin typeface="Calibri"/>
                <a:ea typeface="Calibri"/>
                <a:cs typeface="Calibri"/>
              </a:rPr>
              <a:t> </a:t>
            </a:r>
            <a:endParaRPr lang="en-US" sz="1400">
              <a:latin typeface="Calibri"/>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PERFORMANCE RETURNS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Sector vs. S&amp;P 500 and Industry Index Returns</a:t>
            </a:r>
          </a:p>
        </p:txBody>
      </p:sp>
      <p:sp>
        <p:nvSpPr>
          <p:cNvPr id="6" name="TextBox 5"/>
          <p:cNvSpPr txBox="1"/>
          <p:nvPr/>
        </p:nvSpPr>
        <p:spPr>
          <a:xfrm>
            <a:off x="182880" y="886968"/>
            <a:ext cx="5806440" cy="4301177"/>
          </a:xfrm>
          <a:prstGeom prst="rect">
            <a:avLst/>
          </a:prstGeom>
          <a:noFill/>
        </p:spPr>
        <p:txBody>
          <a:bodyPr wrap="square" lIns="91440" tIns="45720" rIns="91440" bIns="45720" anchor="t">
            <a:spAutoFit/>
          </a:bodyPr>
          <a:lstStyle/>
          <a:p>
            <a:pPr algn="l">
              <a:spcAft>
                <a:spcPts val="500"/>
              </a:spcAft>
            </a:pPr>
            <a:r>
              <a:rPr sz="1400" b="0">
                <a:solidFill>
                  <a:srgbClr val="000000"/>
                </a:solidFill>
                <a:latin typeface="Calibri"/>
              </a:rPr>
              <a:t>Over the past 10 years, the tech sector has outperformed the S&amp;P 500 by a wide margin. The index that will be used to represent the tech sector is the S&amp;P North American Technology Sector Index (SPGSTI). This index contains "U.S. securities classified under the GICS® information technology sector as well as the internet &amp; direct marketing retail, interactive home entertainment, and interactive media &amp; services sub-industries" (S&amp;P Global). The SPGSTI has had a return of 706.33% over the past 10 years. This is compared to the S&amp;P 500's return of 249.89% over the last 10 years. This is about a 2.8 times larger of a return than that of the S&amp;P 500. The tech sector also has outperformed the S&amp;P 500 in terms of return over the last five, three, and past year. This is as well as year to date.</a:t>
            </a:r>
          </a:p>
          <a:p>
            <a:pPr>
              <a:spcBef>
                <a:spcPts val="400"/>
              </a:spcBef>
              <a:spcAft>
                <a:spcPts val="400"/>
              </a:spcAft>
            </a:pPr>
            <a:r>
              <a:rPr sz="1400" b="0">
                <a:solidFill>
                  <a:srgbClr val="000000"/>
                </a:solidFill>
                <a:latin typeface="Calibri"/>
              </a:rPr>
              <a:t>The three indexes that are used to represent each industry within the tech sector are the SOX index (semiconductors), the NQRPCI index (software – infrastructure), and the S5CONE index (consumer electronics). Over the past </a:t>
            </a:r>
            <a:r>
              <a:rPr lang="en-US" sz="1400">
                <a:solidFill>
                  <a:srgbClr val="000000"/>
                </a:solidFill>
                <a:latin typeface="Calibri"/>
              </a:rPr>
              <a:t>3 </a:t>
            </a:r>
            <a:r>
              <a:rPr sz="1400" b="0">
                <a:solidFill>
                  <a:srgbClr val="000000"/>
                </a:solidFill>
                <a:latin typeface="Calibri"/>
              </a:rPr>
              <a:t>years, the semiconductor and consumer electronics industries have both outperformed the S&amp;P 500 with returns of 275.43% and 133.12% respectively. The software-infrastructure index however had a return lower than the S&amp;P over the past </a:t>
            </a:r>
            <a:r>
              <a:rPr lang="en-US" sz="1400">
                <a:solidFill>
                  <a:srgbClr val="000000"/>
                </a:solidFill>
                <a:latin typeface="Calibri"/>
              </a:rPr>
              <a:t>3 </a:t>
            </a:r>
            <a:r>
              <a:rPr sz="1400" b="0">
                <a:solidFill>
                  <a:srgbClr val="000000"/>
                </a:solidFill>
                <a:latin typeface="Calibri"/>
              </a:rPr>
              <a:t>years of 74.54%. The S&amp;P 500 had a return of 77.91% over the previous </a:t>
            </a:r>
            <a:r>
              <a:rPr lang="en-US" sz="1400">
                <a:solidFill>
                  <a:srgbClr val="000000"/>
                </a:solidFill>
                <a:latin typeface="Calibri"/>
              </a:rPr>
              <a:t>three years</a:t>
            </a:r>
            <a:r>
              <a:rPr sz="1400" b="0">
                <a:solidFill>
                  <a:srgbClr val="000000"/>
                </a:solidFill>
                <a:latin typeface="Calibri"/>
              </a:rPr>
              <a:t>.</a:t>
            </a:r>
            <a:endParaRPr sz="1400" b="0">
              <a:solidFill>
                <a:srgbClr val="000000"/>
              </a:solidFill>
              <a:latin typeface="Calibri"/>
              <a:ea typeface="Calibri"/>
              <a:cs typeface="Calibri"/>
            </a:endParaRPr>
          </a:p>
        </p:txBody>
      </p:sp>
      <p:sp>
        <p:nvSpPr>
          <p:cNvPr id="7" name="TextBox 6"/>
          <p:cNvSpPr txBox="1"/>
          <p:nvPr/>
        </p:nvSpPr>
        <p:spPr>
          <a:xfrm>
            <a:off x="6199632" y="886968"/>
            <a:ext cx="5806440" cy="228600"/>
          </a:xfrm>
          <a:prstGeom prst="rect">
            <a:avLst/>
          </a:prstGeom>
          <a:noFill/>
        </p:spPr>
        <p:txBody>
          <a:bodyPr wrap="square" lIns="91440" tIns="45720" rIns="91440" bIns="45720" anchor="t">
            <a:spAutoFit/>
          </a:bodyPr>
          <a:lstStyle/>
          <a:p>
            <a:r>
              <a:rPr sz="900" b="1">
                <a:solidFill>
                  <a:srgbClr val="000000"/>
                </a:solidFill>
                <a:latin typeface="Calibri"/>
              </a:rPr>
              <a:t>Exhibit 1  |  </a:t>
            </a:r>
            <a:r>
              <a:rPr lang="en-US" sz="900" b="1">
                <a:solidFill>
                  <a:srgbClr val="000000"/>
                </a:solidFill>
                <a:latin typeface="Calibri"/>
              </a:rPr>
              <a:t>SPGSTI vs</a:t>
            </a:r>
            <a:r>
              <a:rPr sz="900" b="1">
                <a:solidFill>
                  <a:srgbClr val="000000"/>
                </a:solidFill>
                <a:latin typeface="Calibri"/>
              </a:rPr>
              <a:t>. S&amp;P 500  </a:t>
            </a:r>
            <a:r>
              <a:rPr lang="en-US" sz="900" b="1">
                <a:solidFill>
                  <a:srgbClr val="000000"/>
                </a:solidFill>
                <a:latin typeface="Calibri"/>
              </a:rPr>
              <a:t>(10 Years)</a:t>
            </a:r>
            <a:endParaRPr sz="900" b="1">
              <a:solidFill>
                <a:srgbClr val="000000"/>
              </a:solidFill>
              <a:latin typeface="Calibri"/>
            </a:endParaRPr>
          </a:p>
        </p:txBody>
      </p:sp>
      <p:pic>
        <p:nvPicPr>
          <p:cNvPr id="9" name="Picture 8" descr="A graph with a red line and black line&#10;&#10;AI-generated content may be incorrect.">
            <a:extLst>
              <a:ext uri="{FF2B5EF4-FFF2-40B4-BE49-F238E27FC236}">
                <a16:creationId xmlns:a16="http://schemas.microsoft.com/office/drawing/2014/main" id="{63E6CA3D-0C0E-F0F8-F49B-440D4486F951}"/>
              </a:ext>
            </a:extLst>
          </p:cNvPr>
          <p:cNvPicPr>
            <a:picLocks noChangeAspect="1"/>
          </p:cNvPicPr>
          <p:nvPr/>
        </p:nvPicPr>
        <p:blipFill>
          <a:blip r:embed="rId2"/>
          <a:srcRect r="187"/>
          <a:stretch>
            <a:fillRect/>
          </a:stretch>
        </p:blipFill>
        <p:spPr>
          <a:xfrm>
            <a:off x="6196460" y="1140457"/>
            <a:ext cx="5520662" cy="37909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PERFORMANCE RETURNS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Long-Term Price Performance (3 Year and 5 Year)</a:t>
            </a:r>
          </a:p>
        </p:txBody>
      </p:sp>
      <p:sp>
        <p:nvSpPr>
          <p:cNvPr id="6" name="TextBox 5"/>
          <p:cNvSpPr txBox="1"/>
          <p:nvPr/>
        </p:nvSpPr>
        <p:spPr>
          <a:xfrm>
            <a:off x="182880" y="886968"/>
            <a:ext cx="5806440" cy="228600"/>
          </a:xfrm>
          <a:prstGeom prst="rect">
            <a:avLst/>
          </a:prstGeom>
          <a:noFill/>
        </p:spPr>
        <p:txBody>
          <a:bodyPr wrap="square">
            <a:spAutoFit/>
          </a:bodyPr>
          <a:lstStyle/>
          <a:p>
            <a:pPr algn="l"/>
            <a:r>
              <a:rPr sz="900" b="1">
                <a:solidFill>
                  <a:srgbClr val="000000"/>
                </a:solidFill>
                <a:latin typeface="Calibri"/>
              </a:rPr>
              <a:t>Exhibit 2  |  SOX vs. S&amp;P 500  (3 Years)</a:t>
            </a:r>
          </a:p>
        </p:txBody>
      </p:sp>
      <p:pic>
        <p:nvPicPr>
          <p:cNvPr id="7" name="Picture 6" descr="sox_spx_3y.png"/>
          <p:cNvPicPr>
            <a:picLocks noChangeAspect="1"/>
          </p:cNvPicPr>
          <p:nvPr/>
        </p:nvPicPr>
        <p:blipFill>
          <a:blip r:embed="rId2"/>
          <a:stretch>
            <a:fillRect/>
          </a:stretch>
        </p:blipFill>
        <p:spPr>
          <a:xfrm>
            <a:off x="182880" y="1115568"/>
            <a:ext cx="5806440" cy="4645152"/>
          </a:xfrm>
          <a:prstGeom prst="rect">
            <a:avLst/>
          </a:prstGeom>
        </p:spPr>
      </p:pic>
      <p:sp>
        <p:nvSpPr>
          <p:cNvPr id="8" name="TextBox 7"/>
          <p:cNvSpPr txBox="1"/>
          <p:nvPr/>
        </p:nvSpPr>
        <p:spPr>
          <a:xfrm>
            <a:off x="6199632" y="886968"/>
            <a:ext cx="5806440" cy="228600"/>
          </a:xfrm>
          <a:prstGeom prst="rect">
            <a:avLst/>
          </a:prstGeom>
          <a:noFill/>
        </p:spPr>
        <p:txBody>
          <a:bodyPr wrap="square">
            <a:spAutoFit/>
          </a:bodyPr>
          <a:lstStyle/>
          <a:p>
            <a:pPr algn="l"/>
            <a:r>
              <a:rPr sz="900" b="1">
                <a:solidFill>
                  <a:srgbClr val="000000"/>
                </a:solidFill>
                <a:latin typeface="Calibri"/>
              </a:rPr>
              <a:t>Exhibit 3  |  SOX vs. S&amp;P 500  (5 Years)</a:t>
            </a:r>
          </a:p>
        </p:txBody>
      </p:sp>
      <p:pic>
        <p:nvPicPr>
          <p:cNvPr id="9" name="Picture 8" descr="sox_spx_5y.png"/>
          <p:cNvPicPr>
            <a:picLocks noChangeAspect="1"/>
          </p:cNvPicPr>
          <p:nvPr/>
        </p:nvPicPr>
        <p:blipFill>
          <a:blip r:embed="rId3"/>
          <a:stretch>
            <a:fillRect/>
          </a:stretch>
        </p:blipFill>
        <p:spPr>
          <a:xfrm>
            <a:off x="6199632" y="1115568"/>
            <a:ext cx="5806440" cy="46451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FINANCIAL ANALYSIS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Revenue Growth Across All Three Sub-Industries (2019 to 2025)</a:t>
            </a:r>
          </a:p>
        </p:txBody>
      </p:sp>
      <p:sp>
        <p:nvSpPr>
          <p:cNvPr id="6" name="TextBox 5"/>
          <p:cNvSpPr txBox="1"/>
          <p:nvPr/>
        </p:nvSpPr>
        <p:spPr>
          <a:xfrm>
            <a:off x="182880" y="886968"/>
            <a:ext cx="5806440" cy="228600"/>
          </a:xfrm>
          <a:prstGeom prst="rect">
            <a:avLst/>
          </a:prstGeom>
          <a:noFill/>
        </p:spPr>
        <p:txBody>
          <a:bodyPr wrap="square">
            <a:spAutoFit/>
          </a:bodyPr>
          <a:lstStyle/>
          <a:p>
            <a:pPr algn="l"/>
            <a:r>
              <a:rPr sz="900" b="1">
                <a:solidFill>
                  <a:srgbClr val="000000"/>
                </a:solidFill>
                <a:latin typeface="Calibri"/>
              </a:rPr>
              <a:t>Exhibit 4  |  Indexed Revenue Growth  (2019 = 100)</a:t>
            </a:r>
          </a:p>
        </p:txBody>
      </p:sp>
      <p:pic>
        <p:nvPicPr>
          <p:cNvPr id="7" name="Picture 6" descr="rev_compare.png"/>
          <p:cNvPicPr>
            <a:picLocks noChangeAspect="1"/>
          </p:cNvPicPr>
          <p:nvPr/>
        </p:nvPicPr>
        <p:blipFill>
          <a:blip r:embed="rId2"/>
          <a:stretch>
            <a:fillRect/>
          </a:stretch>
        </p:blipFill>
        <p:spPr>
          <a:xfrm>
            <a:off x="182880" y="1115568"/>
            <a:ext cx="5806440" cy="4645152"/>
          </a:xfrm>
          <a:prstGeom prst="rect">
            <a:avLst/>
          </a:prstGeom>
        </p:spPr>
      </p:pic>
      <p:sp>
        <p:nvSpPr>
          <p:cNvPr id="8" name="TextBox 7"/>
          <p:cNvSpPr txBox="1"/>
          <p:nvPr/>
        </p:nvSpPr>
        <p:spPr>
          <a:xfrm>
            <a:off x="6199632" y="886968"/>
            <a:ext cx="5806440" cy="228600"/>
          </a:xfrm>
          <a:prstGeom prst="rect">
            <a:avLst/>
          </a:prstGeom>
          <a:noFill/>
        </p:spPr>
        <p:txBody>
          <a:bodyPr wrap="square">
            <a:spAutoFit/>
          </a:bodyPr>
          <a:lstStyle/>
          <a:p>
            <a:pPr algn="l"/>
            <a:r>
              <a:rPr sz="900" b="1">
                <a:solidFill>
                  <a:srgbClr val="000000"/>
                </a:solidFill>
                <a:latin typeface="Calibri"/>
              </a:rPr>
              <a:t>Exhibit 5  |  Indexed EPS Growth  (2019 = 100)</a:t>
            </a:r>
          </a:p>
        </p:txBody>
      </p:sp>
      <p:pic>
        <p:nvPicPr>
          <p:cNvPr id="9" name="Picture 8" descr="eps_compare.png"/>
          <p:cNvPicPr>
            <a:picLocks noChangeAspect="1"/>
          </p:cNvPicPr>
          <p:nvPr/>
        </p:nvPicPr>
        <p:blipFill>
          <a:blip r:embed="rId3"/>
          <a:stretch>
            <a:fillRect/>
          </a:stretch>
        </p:blipFill>
        <p:spPr>
          <a:xfrm>
            <a:off x="6199632" y="1115568"/>
            <a:ext cx="5806440" cy="46451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FINANCIAL ANALYSIS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Semiconductors (SOX)  |  Revenue, Earnings and Cash Flow</a:t>
            </a:r>
          </a:p>
        </p:txBody>
      </p:sp>
      <p:sp>
        <p:nvSpPr>
          <p:cNvPr id="6" name="TextBox 5"/>
          <p:cNvSpPr txBox="1"/>
          <p:nvPr/>
        </p:nvSpPr>
        <p:spPr>
          <a:xfrm>
            <a:off x="182880" y="886968"/>
            <a:ext cx="5806440" cy="228600"/>
          </a:xfrm>
          <a:prstGeom prst="rect">
            <a:avLst/>
          </a:prstGeom>
          <a:noFill/>
        </p:spPr>
        <p:txBody>
          <a:bodyPr wrap="square">
            <a:spAutoFit/>
          </a:bodyPr>
          <a:lstStyle/>
          <a:p>
            <a:pPr algn="l"/>
            <a:r>
              <a:rPr sz="900" b="1">
                <a:solidFill>
                  <a:srgbClr val="000000"/>
                </a:solidFill>
                <a:latin typeface="Calibri"/>
              </a:rPr>
              <a:t>Exhibit 6  |  SOX Revenue and EPS per Share</a:t>
            </a:r>
          </a:p>
        </p:txBody>
      </p:sp>
      <p:pic>
        <p:nvPicPr>
          <p:cNvPr id="7" name="Picture 6" descr="sox_rev_eps.png"/>
          <p:cNvPicPr>
            <a:picLocks noChangeAspect="1"/>
          </p:cNvPicPr>
          <p:nvPr/>
        </p:nvPicPr>
        <p:blipFill>
          <a:blip r:embed="rId2"/>
          <a:stretch>
            <a:fillRect/>
          </a:stretch>
        </p:blipFill>
        <p:spPr>
          <a:xfrm>
            <a:off x="182880" y="1115568"/>
            <a:ext cx="5806440" cy="2377440"/>
          </a:xfrm>
          <a:prstGeom prst="rect">
            <a:avLst/>
          </a:prstGeom>
        </p:spPr>
      </p:pic>
      <p:sp>
        <p:nvSpPr>
          <p:cNvPr id="8" name="TextBox 7"/>
          <p:cNvSpPr txBox="1"/>
          <p:nvPr/>
        </p:nvSpPr>
        <p:spPr>
          <a:xfrm>
            <a:off x="182880" y="3520440"/>
            <a:ext cx="5806440" cy="228600"/>
          </a:xfrm>
          <a:prstGeom prst="rect">
            <a:avLst/>
          </a:prstGeom>
          <a:noFill/>
        </p:spPr>
        <p:txBody>
          <a:bodyPr wrap="square">
            <a:spAutoFit/>
          </a:bodyPr>
          <a:lstStyle/>
          <a:p>
            <a:pPr algn="l"/>
            <a:r>
              <a:rPr sz="900" b="1">
                <a:solidFill>
                  <a:srgbClr val="000000"/>
                </a:solidFill>
                <a:latin typeface="Calibri"/>
              </a:rPr>
              <a:t>Exhibit 7  |  SOX Free Cash Flow vs. R&amp;D Spending</a:t>
            </a:r>
          </a:p>
        </p:txBody>
      </p:sp>
      <p:pic>
        <p:nvPicPr>
          <p:cNvPr id="9" name="Picture 8" descr="sox_fcf_rd.png"/>
          <p:cNvPicPr>
            <a:picLocks noChangeAspect="1"/>
          </p:cNvPicPr>
          <p:nvPr/>
        </p:nvPicPr>
        <p:blipFill>
          <a:blip r:embed="rId3"/>
          <a:stretch>
            <a:fillRect/>
          </a:stretch>
        </p:blipFill>
        <p:spPr>
          <a:xfrm>
            <a:off x="182880" y="3749039"/>
            <a:ext cx="5806440" cy="2377440"/>
          </a:xfrm>
          <a:prstGeom prst="rect">
            <a:avLst/>
          </a:prstGeom>
        </p:spPr>
      </p:pic>
      <p:sp>
        <p:nvSpPr>
          <p:cNvPr id="10" name="TextBox 9"/>
          <p:cNvSpPr txBox="1"/>
          <p:nvPr/>
        </p:nvSpPr>
        <p:spPr>
          <a:xfrm>
            <a:off x="6199632" y="886968"/>
            <a:ext cx="5806440" cy="3249608"/>
          </a:xfrm>
          <a:prstGeom prst="rect">
            <a:avLst/>
          </a:prstGeom>
          <a:noFill/>
        </p:spPr>
        <p:txBody>
          <a:bodyPr wrap="square">
            <a:spAutoFit/>
          </a:bodyPr>
          <a:lstStyle/>
          <a:p>
            <a:pPr algn="l">
              <a:spcAft>
                <a:spcPts val="500"/>
              </a:spcAft>
            </a:pPr>
            <a:r>
              <a:rPr sz="1600" b="1">
                <a:solidFill>
                  <a:srgbClr val="1F3864"/>
                </a:solidFill>
                <a:latin typeface="Calibri"/>
              </a:rPr>
              <a:t>Semiconductors (SOX)</a:t>
            </a:r>
          </a:p>
          <a:p>
            <a:pPr algn="l">
              <a:spcBef>
                <a:spcPts val="600"/>
              </a:spcBef>
              <a:spcAft>
                <a:spcPts val="400"/>
              </a:spcAft>
            </a:pPr>
            <a:r>
              <a:rPr sz="1400" b="0">
                <a:solidFill>
                  <a:srgbClr val="000000"/>
                </a:solidFill>
                <a:latin typeface="Calibri"/>
              </a:rPr>
              <a:t>The semiconductor industry, tracked by the SOX index, was the standout performer within the technology sector over this period. Revenue per share surged 148%, rising from $347.7 in 2019 to $862.4 in 2025, driven predominantly by demand for AI accelerators from </a:t>
            </a:r>
            <a:r>
              <a:rPr sz="1400" b="0" err="1">
                <a:solidFill>
                  <a:srgbClr val="000000"/>
                </a:solidFill>
                <a:latin typeface="Calibri"/>
              </a:rPr>
              <a:t>hyperscalers</a:t>
            </a:r>
            <a:r>
              <a:rPr sz="1400" b="0">
                <a:solidFill>
                  <a:srgbClr val="000000"/>
                </a:solidFill>
                <a:latin typeface="Calibri"/>
              </a:rPr>
              <a:t> and enterprise data centers. The industry demonstrated its characteristic cyclicality during 2022 and 2023 when EPS declined 22.7% and free cash flow dropped sharply as inventory corrections hit after the post-pandemic demand pull-forward unwound. The industry recovered sharply by 2024 and 2025, with EPS reaching $191.5, surpassing the prior 2022 peak. R&amp;D investment grew 141%, rising from $58.4 to $140.9 per share, as firms including NVIDIA, AMD, Broadcom, and Intel race to deliver next-generation AI silicon. The balance sheet remains strong with a current ratio of 2.2x and total debt to equity declining from 63% in 2019 to 41% in 2025.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FINANCIAL ANALYSIS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Software Infrastructure  |  Revenue, Earnings and Margins</a:t>
            </a:r>
          </a:p>
        </p:txBody>
      </p:sp>
      <p:sp>
        <p:nvSpPr>
          <p:cNvPr id="6" name="TextBox 5"/>
          <p:cNvSpPr txBox="1"/>
          <p:nvPr/>
        </p:nvSpPr>
        <p:spPr>
          <a:xfrm>
            <a:off x="182880" y="886968"/>
            <a:ext cx="5806440" cy="228600"/>
          </a:xfrm>
          <a:prstGeom prst="rect">
            <a:avLst/>
          </a:prstGeom>
          <a:noFill/>
        </p:spPr>
        <p:txBody>
          <a:bodyPr wrap="square">
            <a:spAutoFit/>
          </a:bodyPr>
          <a:lstStyle/>
          <a:p>
            <a:pPr algn="l"/>
            <a:r>
              <a:rPr sz="900" b="1">
                <a:solidFill>
                  <a:srgbClr val="000000"/>
                </a:solidFill>
                <a:latin typeface="Calibri"/>
              </a:rPr>
              <a:t>Exhibit 8  |  Gross Margin Comparison (All Sub-Industries)</a:t>
            </a:r>
          </a:p>
        </p:txBody>
      </p:sp>
      <p:pic>
        <p:nvPicPr>
          <p:cNvPr id="7" name="Picture 6" descr="gm_compare.png"/>
          <p:cNvPicPr>
            <a:picLocks noChangeAspect="1"/>
          </p:cNvPicPr>
          <p:nvPr/>
        </p:nvPicPr>
        <p:blipFill>
          <a:blip r:embed="rId2"/>
          <a:stretch>
            <a:fillRect/>
          </a:stretch>
        </p:blipFill>
        <p:spPr>
          <a:xfrm>
            <a:off x="182880" y="1115568"/>
            <a:ext cx="5806440" cy="2377440"/>
          </a:xfrm>
          <a:prstGeom prst="rect">
            <a:avLst/>
          </a:prstGeom>
        </p:spPr>
      </p:pic>
      <p:sp>
        <p:nvSpPr>
          <p:cNvPr id="8" name="TextBox 7"/>
          <p:cNvSpPr txBox="1"/>
          <p:nvPr/>
        </p:nvSpPr>
        <p:spPr>
          <a:xfrm>
            <a:off x="182880" y="3520440"/>
            <a:ext cx="5806440" cy="228600"/>
          </a:xfrm>
          <a:prstGeom prst="rect">
            <a:avLst/>
          </a:prstGeom>
          <a:noFill/>
        </p:spPr>
        <p:txBody>
          <a:bodyPr wrap="square">
            <a:spAutoFit/>
          </a:bodyPr>
          <a:lstStyle/>
          <a:p>
            <a:pPr algn="l"/>
            <a:r>
              <a:rPr sz="900" b="1">
                <a:solidFill>
                  <a:srgbClr val="000000"/>
                </a:solidFill>
                <a:latin typeface="Calibri"/>
              </a:rPr>
              <a:t>Exhibit 9  |  Operating Margin Comparison (All Sub-Industries)</a:t>
            </a:r>
          </a:p>
        </p:txBody>
      </p:sp>
      <p:pic>
        <p:nvPicPr>
          <p:cNvPr id="9" name="Picture 8" descr="om_compare.png"/>
          <p:cNvPicPr>
            <a:picLocks noChangeAspect="1"/>
          </p:cNvPicPr>
          <p:nvPr/>
        </p:nvPicPr>
        <p:blipFill>
          <a:blip r:embed="rId3"/>
          <a:stretch>
            <a:fillRect/>
          </a:stretch>
        </p:blipFill>
        <p:spPr>
          <a:xfrm>
            <a:off x="182880" y="3749039"/>
            <a:ext cx="5806440" cy="2377440"/>
          </a:xfrm>
          <a:prstGeom prst="rect">
            <a:avLst/>
          </a:prstGeom>
        </p:spPr>
      </p:pic>
      <p:sp>
        <p:nvSpPr>
          <p:cNvPr id="10" name="TextBox 9"/>
          <p:cNvSpPr txBox="1"/>
          <p:nvPr/>
        </p:nvSpPr>
        <p:spPr>
          <a:xfrm>
            <a:off x="6199632" y="886968"/>
            <a:ext cx="5806440" cy="3280385"/>
          </a:xfrm>
          <a:prstGeom prst="rect">
            <a:avLst/>
          </a:prstGeom>
          <a:noFill/>
        </p:spPr>
        <p:txBody>
          <a:bodyPr wrap="square">
            <a:spAutoFit/>
          </a:bodyPr>
          <a:lstStyle/>
          <a:p>
            <a:pPr algn="l">
              <a:spcAft>
                <a:spcPts val="500"/>
              </a:spcAft>
            </a:pPr>
            <a:r>
              <a:rPr sz="1600" b="1">
                <a:solidFill>
                  <a:srgbClr val="1F3864"/>
                </a:solidFill>
                <a:latin typeface="Calibri"/>
              </a:rPr>
              <a:t>Software Infrastructure</a:t>
            </a:r>
          </a:p>
          <a:p>
            <a:pPr algn="l">
              <a:spcBef>
                <a:spcPts val="600"/>
              </a:spcBef>
              <a:spcAft>
                <a:spcPts val="400"/>
              </a:spcAft>
            </a:pPr>
            <a:r>
              <a:rPr sz="1400" b="0">
                <a:solidFill>
                  <a:srgbClr val="000000"/>
                </a:solidFill>
                <a:latin typeface="Calibri"/>
              </a:rPr>
              <a:t>The software infrastructure industry is characterized by high recurring subscription revenues and gross margins consistently in the 73 to 77% range, which is the highest of any sub-industry in the technology sector. Cloud segment revenue from market leaders including Microsoft Azure, AWS, and Salesforce grew at 20 to 40% annually as AI inference demand drove a massive increase in data center capacity requirements. EPS for the sector grew approximately 241% from 2019 to 2025, the strongest growth rate among the three sub-industries, reflecting the operating leverage that comes as these platforms reach scale. Operating margins expanded from approximately 22% in 2019 to nearly 36% in 2025 as SaaS businesses matured. Microsoft and Amazon together committed more than $100 billion in combined data center capital expenditure for 2025 alone, illustrating the scale of the infrastructure investment cycle currently underway.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FINANCIAL ANALYSIS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Consumer Electronics  |  Revenue, Earnings and Market Cap</a:t>
            </a:r>
          </a:p>
        </p:txBody>
      </p:sp>
      <p:sp>
        <p:nvSpPr>
          <p:cNvPr id="6" name="TextBox 5"/>
          <p:cNvSpPr txBox="1"/>
          <p:nvPr/>
        </p:nvSpPr>
        <p:spPr>
          <a:xfrm>
            <a:off x="182880" y="886968"/>
            <a:ext cx="5806440" cy="228600"/>
          </a:xfrm>
          <a:prstGeom prst="rect">
            <a:avLst/>
          </a:prstGeom>
          <a:noFill/>
        </p:spPr>
        <p:txBody>
          <a:bodyPr wrap="square">
            <a:spAutoFit/>
          </a:bodyPr>
          <a:lstStyle/>
          <a:p>
            <a:pPr algn="l"/>
            <a:r>
              <a:rPr sz="900" b="1">
                <a:solidFill>
                  <a:srgbClr val="000000"/>
                </a:solidFill>
                <a:latin typeface="Calibri"/>
              </a:rPr>
              <a:t>Exhibit 10  |  S&amp;P 500 IT Sector Market Cap Growth</a:t>
            </a:r>
          </a:p>
        </p:txBody>
      </p:sp>
      <p:pic>
        <p:nvPicPr>
          <p:cNvPr id="7" name="Picture 6" descr="tech_mktcap.png"/>
          <p:cNvPicPr>
            <a:picLocks noChangeAspect="1"/>
          </p:cNvPicPr>
          <p:nvPr/>
        </p:nvPicPr>
        <p:blipFill>
          <a:blip r:embed="rId2"/>
          <a:stretch>
            <a:fillRect/>
          </a:stretch>
        </p:blipFill>
        <p:spPr>
          <a:xfrm>
            <a:off x="182880" y="1115568"/>
            <a:ext cx="5806440" cy="4645152"/>
          </a:xfrm>
          <a:prstGeom prst="rect">
            <a:avLst/>
          </a:prstGeom>
        </p:spPr>
      </p:pic>
      <p:sp>
        <p:nvSpPr>
          <p:cNvPr id="8" name="TextBox 7"/>
          <p:cNvSpPr txBox="1"/>
          <p:nvPr/>
        </p:nvSpPr>
        <p:spPr>
          <a:xfrm>
            <a:off x="6199632" y="886968"/>
            <a:ext cx="5806440" cy="3064942"/>
          </a:xfrm>
          <a:prstGeom prst="rect">
            <a:avLst/>
          </a:prstGeom>
          <a:noFill/>
        </p:spPr>
        <p:txBody>
          <a:bodyPr wrap="square">
            <a:spAutoFit/>
          </a:bodyPr>
          <a:lstStyle/>
          <a:p>
            <a:pPr algn="l">
              <a:spcAft>
                <a:spcPts val="500"/>
              </a:spcAft>
            </a:pPr>
            <a:r>
              <a:rPr sz="1600" b="1">
                <a:solidFill>
                  <a:srgbClr val="1F3864"/>
                </a:solidFill>
                <a:latin typeface="Calibri"/>
              </a:rPr>
              <a:t>Consumer Electronics</a:t>
            </a:r>
          </a:p>
          <a:p>
            <a:pPr algn="l">
              <a:spcBef>
                <a:spcPts val="600"/>
              </a:spcBef>
              <a:spcAft>
                <a:spcPts val="400"/>
              </a:spcAft>
            </a:pPr>
            <a:r>
              <a:rPr sz="1400" b="0">
                <a:solidFill>
                  <a:srgbClr val="000000"/>
                </a:solidFill>
                <a:latin typeface="Calibri"/>
              </a:rPr>
              <a:t>The consumer electronics industry, tracked by the S5CONE index, delivered steady revenue growth of approximately 46% from 2019 to 2025, reflecting a maturing smartphone market that is offset by Apple's rapidly growing Services segment. Apple holds 21% global market share and its Services business, which includes the App Store, Apple Music, and iCloud, has grown 15 to 20% annually at approximately 70% gross margins. This has driven the blended gross margin for the industry from 38.2% in 2019 to 46.2% in 2025. Despite modest top-line revenue growth, EPS grew 93% over the period, largely driven by Apple's aggressive share buyback program which has reduced its share count by roughly 40% over the past decade. Operating margins expanded from 24.6% to 32.3%, highlighting the quality of earnings that the Services-heavy revenue mix produces.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VALUATION MULTIPLIERS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Historical P/E and EV/EBITDA Across Sub-Industries (2018 to 2025)</a:t>
            </a:r>
          </a:p>
        </p:txBody>
      </p:sp>
      <p:sp>
        <p:nvSpPr>
          <p:cNvPr id="6" name="TextBox 5"/>
          <p:cNvSpPr txBox="1"/>
          <p:nvPr/>
        </p:nvSpPr>
        <p:spPr>
          <a:xfrm>
            <a:off x="182880" y="886968"/>
            <a:ext cx="5806440" cy="228600"/>
          </a:xfrm>
          <a:prstGeom prst="rect">
            <a:avLst/>
          </a:prstGeom>
          <a:noFill/>
        </p:spPr>
        <p:txBody>
          <a:bodyPr wrap="square">
            <a:spAutoFit/>
          </a:bodyPr>
          <a:lstStyle/>
          <a:p>
            <a:pPr algn="l"/>
            <a:r>
              <a:rPr sz="900" b="1">
                <a:solidFill>
                  <a:srgbClr val="000000"/>
                </a:solidFill>
                <a:latin typeface="Calibri"/>
              </a:rPr>
              <a:t>Exhibit 11  |  Historical P/E Ratio by Sub-Industry</a:t>
            </a:r>
          </a:p>
        </p:txBody>
      </p:sp>
      <p:pic>
        <p:nvPicPr>
          <p:cNvPr id="7" name="Picture 6" descr="pe_hist.png"/>
          <p:cNvPicPr>
            <a:picLocks noChangeAspect="1"/>
          </p:cNvPicPr>
          <p:nvPr/>
        </p:nvPicPr>
        <p:blipFill>
          <a:blip r:embed="rId2"/>
          <a:stretch>
            <a:fillRect/>
          </a:stretch>
        </p:blipFill>
        <p:spPr>
          <a:xfrm>
            <a:off x="182880" y="1115568"/>
            <a:ext cx="5806440" cy="4645152"/>
          </a:xfrm>
          <a:prstGeom prst="rect">
            <a:avLst/>
          </a:prstGeom>
        </p:spPr>
      </p:pic>
      <p:sp>
        <p:nvSpPr>
          <p:cNvPr id="8" name="TextBox 7"/>
          <p:cNvSpPr txBox="1"/>
          <p:nvPr/>
        </p:nvSpPr>
        <p:spPr>
          <a:xfrm>
            <a:off x="6199632" y="886968"/>
            <a:ext cx="5806440" cy="228600"/>
          </a:xfrm>
          <a:prstGeom prst="rect">
            <a:avLst/>
          </a:prstGeom>
          <a:noFill/>
        </p:spPr>
        <p:txBody>
          <a:bodyPr wrap="square">
            <a:spAutoFit/>
          </a:bodyPr>
          <a:lstStyle/>
          <a:p>
            <a:pPr algn="l"/>
            <a:r>
              <a:rPr sz="900" b="1">
                <a:solidFill>
                  <a:srgbClr val="000000"/>
                </a:solidFill>
                <a:latin typeface="Calibri"/>
              </a:rPr>
              <a:t>Exhibit 12  |  Historical EV/EBITDA by Sub-Industry</a:t>
            </a:r>
          </a:p>
        </p:txBody>
      </p:sp>
      <p:pic>
        <p:nvPicPr>
          <p:cNvPr id="9" name="Picture 8" descr="ev_ebitda.png"/>
          <p:cNvPicPr>
            <a:picLocks noChangeAspect="1"/>
          </p:cNvPicPr>
          <p:nvPr/>
        </p:nvPicPr>
        <p:blipFill>
          <a:blip r:embed="rId3"/>
          <a:stretch>
            <a:fillRect/>
          </a:stretch>
        </p:blipFill>
        <p:spPr>
          <a:xfrm>
            <a:off x="6199632" y="1115568"/>
            <a:ext cx="5806440" cy="46451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VALUATION MULTIPLIERS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Sub-Industry Valuation Analysis</a:t>
            </a:r>
          </a:p>
        </p:txBody>
      </p:sp>
      <p:sp>
        <p:nvSpPr>
          <p:cNvPr id="6" name="TextBox 5"/>
          <p:cNvSpPr txBox="1"/>
          <p:nvPr/>
        </p:nvSpPr>
        <p:spPr>
          <a:xfrm>
            <a:off x="182880" y="886968"/>
            <a:ext cx="5806440" cy="4290918"/>
          </a:xfrm>
          <a:prstGeom prst="rect">
            <a:avLst/>
          </a:prstGeom>
          <a:noFill/>
        </p:spPr>
        <p:txBody>
          <a:bodyPr wrap="square" lIns="91440" tIns="45720" rIns="91440" bIns="45720" anchor="t">
            <a:spAutoFit/>
          </a:bodyPr>
          <a:lstStyle/>
          <a:p>
            <a:pPr algn="l">
              <a:spcAft>
                <a:spcPts val="500"/>
              </a:spcAft>
            </a:pPr>
            <a:r>
              <a:rPr sz="1200" b="1">
                <a:solidFill>
                  <a:srgbClr val="1F3864"/>
                </a:solidFill>
                <a:latin typeface="Calibri"/>
              </a:rPr>
              <a:t>Semiconductors</a:t>
            </a:r>
          </a:p>
          <a:p>
            <a:pPr algn="l">
              <a:spcBef>
                <a:spcPts val="400"/>
              </a:spcBef>
              <a:spcAft>
                <a:spcPts val="400"/>
              </a:spcAft>
            </a:pPr>
            <a:r>
              <a:rPr sz="1200" b="0">
                <a:solidFill>
                  <a:srgbClr val="000000"/>
                </a:solidFill>
                <a:latin typeface="Calibri"/>
              </a:rPr>
              <a:t>The SOX index trades at a trailing P/E of 54.2x as of 2025, elevated primarily by NVIDIA which represents a disproportionate index weight at above 50x forward earnings. The </a:t>
            </a:r>
            <a:r>
              <a:rPr lang="en-US" sz="1200">
                <a:solidFill>
                  <a:srgbClr val="000000"/>
                </a:solidFill>
                <a:latin typeface="Calibri"/>
              </a:rPr>
              <a:t>five-year</a:t>
            </a:r>
            <a:r>
              <a:rPr lang="en-US" sz="1200" b="0">
                <a:solidFill>
                  <a:srgbClr val="000000"/>
                </a:solidFill>
                <a:latin typeface="Calibri"/>
              </a:rPr>
              <a:t> </a:t>
            </a:r>
            <a:r>
              <a:rPr sz="1200" b="0">
                <a:solidFill>
                  <a:srgbClr val="000000"/>
                </a:solidFill>
                <a:latin typeface="Calibri"/>
              </a:rPr>
              <a:t>historical average P/E for the SOX is approximately 34.7x, suggesting the current level carries a meaningful premium to history. The 2026 forward consensus P/E of 28.8x implies significant earnings growth ahead as AI-driven revenue accelerates and inventory cycle normalization lifts margins. The P/Book of 6.65x reflects the capital-intensive nature of semiconductor manufacturing, which is substantially lower than the software sector multiple and consistent with the difference in asset intensity between the two industries. EV/EBITDA at 28.9x sits near a </a:t>
            </a:r>
            <a:r>
              <a:rPr lang="en-US" sz="1200">
                <a:solidFill>
                  <a:srgbClr val="000000"/>
                </a:solidFill>
                <a:latin typeface="Calibri"/>
              </a:rPr>
              <a:t>five-year</a:t>
            </a:r>
            <a:r>
              <a:rPr sz="1200" b="0">
                <a:solidFill>
                  <a:srgbClr val="000000"/>
                </a:solidFill>
                <a:latin typeface="Calibri"/>
              </a:rPr>
              <a:t> high, implying that valuation discipline will depend on delivery of the embedded earnings growth expectations.</a:t>
            </a:r>
          </a:p>
          <a:p>
            <a:pPr algn="l">
              <a:spcBef>
                <a:spcPts val="400"/>
              </a:spcBef>
              <a:spcAft>
                <a:spcPts val="400"/>
              </a:spcAft>
            </a:pPr>
            <a:r>
              <a:rPr sz="1200" b="1">
                <a:solidFill>
                  <a:srgbClr val="1F3864"/>
                </a:solidFill>
                <a:latin typeface="Calibri"/>
              </a:rPr>
              <a:t>Consumer Electronics</a:t>
            </a:r>
          </a:p>
          <a:p>
            <a:pPr algn="l">
              <a:spcBef>
                <a:spcPts val="400"/>
              </a:spcBef>
              <a:spcAft>
                <a:spcPts val="400"/>
              </a:spcAft>
            </a:pPr>
            <a:r>
              <a:rPr sz="1200" b="0">
                <a:solidFill>
                  <a:srgbClr val="000000"/>
                </a:solidFill>
                <a:latin typeface="Calibri"/>
              </a:rPr>
              <a:t>Consumer electronics trades at a trailing P/E of approximately 29x, the most reasonable valuation among the three sub-industries relative to the S&amp;P 500 benchmark of 21x. The P/Book of 43.7x appears extreme but is largely a function of Apple's aggressive buyback program, which has reduced its tangible book value to minimal levels and makes this metric unreliable as a standalone valuation tool. P/Cash Flow at approximately 28x is a more meaningful metric, reflecting the exceptional free cash flow generation of the industry. EV/EBITDA of 22.4x is the most modest among the three sub-industries and suggests that on an earnings-adjusted basis, consumer electronics offers the most reasonable entry point within the technology sector today.</a:t>
            </a:r>
          </a:p>
        </p:txBody>
      </p:sp>
      <p:sp>
        <p:nvSpPr>
          <p:cNvPr id="7" name="TextBox 6"/>
          <p:cNvSpPr txBox="1"/>
          <p:nvPr/>
        </p:nvSpPr>
        <p:spPr>
          <a:xfrm>
            <a:off x="6199632" y="886968"/>
            <a:ext cx="5806440" cy="4290918"/>
          </a:xfrm>
          <a:prstGeom prst="rect">
            <a:avLst/>
          </a:prstGeom>
          <a:noFill/>
        </p:spPr>
        <p:txBody>
          <a:bodyPr wrap="square">
            <a:spAutoFit/>
          </a:bodyPr>
          <a:lstStyle/>
          <a:p>
            <a:pPr algn="l">
              <a:spcAft>
                <a:spcPts val="500"/>
              </a:spcAft>
            </a:pPr>
            <a:r>
              <a:rPr sz="1200" b="1">
                <a:solidFill>
                  <a:srgbClr val="1F3864"/>
                </a:solidFill>
                <a:latin typeface="Calibri"/>
              </a:rPr>
              <a:t>Software Infrastructure</a:t>
            </a:r>
          </a:p>
          <a:p>
            <a:pPr algn="l">
              <a:spcBef>
                <a:spcPts val="400"/>
              </a:spcBef>
              <a:spcAft>
                <a:spcPts val="400"/>
              </a:spcAft>
            </a:pPr>
            <a:r>
              <a:rPr sz="1200" b="0">
                <a:solidFill>
                  <a:srgbClr val="000000"/>
                </a:solidFill>
                <a:latin typeface="Calibri"/>
              </a:rPr>
              <a:t>Software infrastructure currently trades at a trailing P/E of approximately 49x, earning the highest growth-adjusted premium among the three sub-industries given its recurring revenue model, expanding margins, and network effects that make it difficult for customers to switch providers. The forward 2026E P/E of approximately 39x still reflects premium pricing but is justified by a sustainable 15 to 20% earnings growth outlook. Gross margins of 77% and operating margins near 36% are the highest in the sector. EV/EBITDA of approximately 33x sits at a significant premium to the broader market, reflecting the durability and predictability of cloud-based recurring revenue streams that large enterprise customers renew year after year.</a:t>
            </a:r>
            <a:endParaRPr lang="en-US" sz="1200" b="0">
              <a:solidFill>
                <a:srgbClr val="000000"/>
              </a:solidFill>
              <a:latin typeface="Calibri"/>
            </a:endParaRPr>
          </a:p>
          <a:p>
            <a:pPr algn="l">
              <a:spcBef>
                <a:spcPts val="400"/>
              </a:spcBef>
              <a:spcAft>
                <a:spcPts val="400"/>
              </a:spcAft>
            </a:pPr>
            <a:r>
              <a:rPr sz="1200" b="1">
                <a:solidFill>
                  <a:srgbClr val="1F3864"/>
                </a:solidFill>
                <a:latin typeface="Calibri"/>
              </a:rPr>
              <a:t>Cross-Industry Comparison</a:t>
            </a:r>
          </a:p>
          <a:p>
            <a:pPr algn="l">
              <a:spcBef>
                <a:spcPts val="400"/>
              </a:spcBef>
              <a:spcAft>
                <a:spcPts val="400"/>
              </a:spcAft>
            </a:pPr>
            <a:r>
              <a:rPr sz="1200" b="0">
                <a:solidFill>
                  <a:srgbClr val="000000"/>
                </a:solidFill>
                <a:latin typeface="Calibri"/>
              </a:rPr>
              <a:t>Across all three sub-industries compared to the S&amp;P 500 benchmark, technology commands meaningful valuation premiums that are broadly justified by superior earnings growth, higher margins, and stronger cash generation. Software infrastructure earns the highest premium given its recurring revenue and expanding margins. Consumer electronics screens as the most reasonably valued on a cash flow basis. Semiconductors carry the most elevated trailing multiple but offer the clearest path to multiple compression as AI-driven earnings growth accelerates into 2026 and 2027. On a PEG basis, semiconductors appear attractively priced given expected 25 to 30% earnings growth in 2026. The table below summarizes current valuation multiples, gross margins, and operating margins across all three sub-industries alongside the S&amp;P 500 for reference.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VALUATION MULTIPLIERS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Valuation Snapshot and Summary Table (2025)</a:t>
            </a:r>
          </a:p>
        </p:txBody>
      </p:sp>
      <p:sp>
        <p:nvSpPr>
          <p:cNvPr id="6" name="TextBox 5"/>
          <p:cNvSpPr txBox="1"/>
          <p:nvPr/>
        </p:nvSpPr>
        <p:spPr>
          <a:xfrm>
            <a:off x="182880" y="886968"/>
            <a:ext cx="5806440" cy="228600"/>
          </a:xfrm>
          <a:prstGeom prst="rect">
            <a:avLst/>
          </a:prstGeom>
          <a:noFill/>
        </p:spPr>
        <p:txBody>
          <a:bodyPr wrap="square">
            <a:spAutoFit/>
          </a:bodyPr>
          <a:lstStyle/>
          <a:p>
            <a:pPr algn="l"/>
            <a:r>
              <a:rPr sz="900" b="1">
                <a:solidFill>
                  <a:srgbClr val="000000"/>
                </a:solidFill>
                <a:latin typeface="Calibri"/>
              </a:rPr>
              <a:t>Exhibit 13  |  Current Valuation Multiples by Segment</a:t>
            </a:r>
          </a:p>
        </p:txBody>
      </p:sp>
      <p:pic>
        <p:nvPicPr>
          <p:cNvPr id="7" name="Picture 6" descr="val_snapshot.png"/>
          <p:cNvPicPr>
            <a:picLocks noChangeAspect="1"/>
          </p:cNvPicPr>
          <p:nvPr/>
        </p:nvPicPr>
        <p:blipFill>
          <a:blip r:embed="rId2"/>
          <a:stretch>
            <a:fillRect/>
          </a:stretch>
        </p:blipFill>
        <p:spPr>
          <a:xfrm>
            <a:off x="182880" y="1115568"/>
            <a:ext cx="5806440" cy="2468880"/>
          </a:xfrm>
          <a:prstGeom prst="rect">
            <a:avLst/>
          </a:prstGeom>
        </p:spPr>
      </p:pic>
      <p:sp>
        <p:nvSpPr>
          <p:cNvPr id="8" name="TextBox 7"/>
          <p:cNvSpPr txBox="1"/>
          <p:nvPr/>
        </p:nvSpPr>
        <p:spPr>
          <a:xfrm>
            <a:off x="182880" y="3611880"/>
            <a:ext cx="11823192" cy="256032"/>
          </a:xfrm>
          <a:prstGeom prst="rect">
            <a:avLst/>
          </a:prstGeom>
          <a:noFill/>
        </p:spPr>
        <p:txBody>
          <a:bodyPr wrap="square">
            <a:spAutoFit/>
          </a:bodyPr>
          <a:lstStyle/>
          <a:p>
            <a:pPr algn="l"/>
            <a:r>
              <a:rPr sz="900" b="1">
                <a:solidFill>
                  <a:srgbClr val="000000"/>
                </a:solidFill>
                <a:latin typeface="Calibri"/>
              </a:rPr>
              <a:t>Exhibit 14  |  Valuation and Profitability Summary</a:t>
            </a:r>
          </a:p>
        </p:txBody>
      </p:sp>
      <p:graphicFrame>
        <p:nvGraphicFramePr>
          <p:cNvPr id="9" name="Table 8"/>
          <p:cNvGraphicFramePr>
            <a:graphicFrameLocks noGrp="1"/>
          </p:cNvGraphicFramePr>
          <p:nvPr>
            <p:extLst>
              <p:ext uri="{D42A27DB-BD31-4B8C-83A1-F6EECF244321}">
                <p14:modId xmlns:p14="http://schemas.microsoft.com/office/powerpoint/2010/main" val="355545665"/>
              </p:ext>
            </p:extLst>
          </p:nvPr>
        </p:nvGraphicFramePr>
        <p:xfrm>
          <a:off x="182880" y="3886200"/>
          <a:ext cx="11823192" cy="27432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843784">
                  <a:extLst>
                    <a:ext uri="{9D8B030D-6E8A-4147-A177-3AD203B41FA5}">
                      <a16:colId xmlns:a16="http://schemas.microsoft.com/office/drawing/2014/main" val="20002"/>
                    </a:ext>
                  </a:extLst>
                </a:gridCol>
                <a:gridCol w="2843784">
                  <a:extLst>
                    <a:ext uri="{9D8B030D-6E8A-4147-A177-3AD203B41FA5}">
                      <a16:colId xmlns:a16="http://schemas.microsoft.com/office/drawing/2014/main" val="20003"/>
                    </a:ext>
                  </a:extLst>
                </a:gridCol>
                <a:gridCol w="2843784">
                  <a:extLst>
                    <a:ext uri="{9D8B030D-6E8A-4147-A177-3AD203B41FA5}">
                      <a16:colId xmlns:a16="http://schemas.microsoft.com/office/drawing/2014/main" val="20004"/>
                    </a:ext>
                  </a:extLst>
                </a:gridCol>
              </a:tblGrid>
              <a:tr h="304800">
                <a:tc>
                  <a:txBody>
                    <a:bodyPr/>
                    <a:lstStyle/>
                    <a:p>
                      <a:pPr algn="ctr"/>
                      <a:r>
                        <a:rPr sz="1100" b="1">
                          <a:solidFill>
                            <a:srgbClr val="FFFFFF"/>
                          </a:solidFill>
                          <a:latin typeface="Calibri"/>
                        </a:rPr>
                        <a:t>Metric</a:t>
                      </a:r>
                    </a:p>
                  </a:txBody>
                  <a:tcPr>
                    <a:solidFill>
                      <a:srgbClr val="1F3864"/>
                    </a:solidFill>
                  </a:tcPr>
                </a:tc>
                <a:tc>
                  <a:txBody>
                    <a:bodyPr/>
                    <a:lstStyle/>
                    <a:p>
                      <a:pPr algn="ctr"/>
                      <a:r>
                        <a:rPr sz="1100" b="1">
                          <a:solidFill>
                            <a:srgbClr val="FFFFFF"/>
                          </a:solidFill>
                          <a:latin typeface="Calibri"/>
                        </a:rPr>
                        <a:t>S&amp;P 500</a:t>
                      </a:r>
                    </a:p>
                  </a:txBody>
                  <a:tcPr>
                    <a:solidFill>
                      <a:srgbClr val="1F3864"/>
                    </a:solidFill>
                  </a:tcPr>
                </a:tc>
                <a:tc>
                  <a:txBody>
                    <a:bodyPr/>
                    <a:lstStyle/>
                    <a:p>
                      <a:pPr algn="ctr"/>
                      <a:r>
                        <a:rPr sz="1100" b="1">
                          <a:solidFill>
                            <a:srgbClr val="FFFFFF"/>
                          </a:solidFill>
                          <a:latin typeface="Calibri"/>
                        </a:rPr>
                        <a:t>Semiconductors (SOX)</a:t>
                      </a:r>
                    </a:p>
                  </a:txBody>
                  <a:tcPr>
                    <a:solidFill>
                      <a:srgbClr val="1F3864"/>
                    </a:solidFill>
                  </a:tcPr>
                </a:tc>
                <a:tc>
                  <a:txBody>
                    <a:bodyPr/>
                    <a:lstStyle/>
                    <a:p>
                      <a:pPr algn="ctr"/>
                      <a:r>
                        <a:rPr sz="1100" b="1">
                          <a:solidFill>
                            <a:srgbClr val="FFFFFF"/>
                          </a:solidFill>
                          <a:latin typeface="Calibri"/>
                        </a:rPr>
                        <a:t>Software Infrastructure</a:t>
                      </a:r>
                    </a:p>
                  </a:txBody>
                  <a:tcPr>
                    <a:solidFill>
                      <a:srgbClr val="1F3864"/>
                    </a:solidFill>
                  </a:tcPr>
                </a:tc>
                <a:tc>
                  <a:txBody>
                    <a:bodyPr/>
                    <a:lstStyle/>
                    <a:p>
                      <a:pPr algn="ctr"/>
                      <a:r>
                        <a:rPr sz="1100" b="1">
                          <a:solidFill>
                            <a:srgbClr val="FFFFFF"/>
                          </a:solidFill>
                          <a:latin typeface="Calibri"/>
                        </a:rPr>
                        <a:t>Consumer Electronics</a:t>
                      </a:r>
                    </a:p>
                  </a:txBody>
                  <a:tcPr>
                    <a:solidFill>
                      <a:srgbClr val="1F3864"/>
                    </a:solidFill>
                  </a:tcPr>
                </a:tc>
                <a:extLst>
                  <a:ext uri="{0D108BD9-81ED-4DB2-BD59-A6C34878D82A}">
                    <a16:rowId xmlns:a16="http://schemas.microsoft.com/office/drawing/2014/main" val="10000"/>
                  </a:ext>
                </a:extLst>
              </a:tr>
              <a:tr h="304800">
                <a:tc>
                  <a:txBody>
                    <a:bodyPr/>
                    <a:lstStyle/>
                    <a:p>
                      <a:pPr algn="l"/>
                      <a:r>
                        <a:rPr sz="1200" b="1">
                          <a:solidFill>
                            <a:srgbClr val="000000"/>
                          </a:solidFill>
                          <a:latin typeface="Calibri"/>
                        </a:rPr>
                        <a:t>P/E (Trailing)</a:t>
                      </a:r>
                    </a:p>
                  </a:txBody>
                  <a:tcPr/>
                </a:tc>
                <a:tc>
                  <a:txBody>
                    <a:bodyPr/>
                    <a:lstStyle/>
                    <a:p>
                      <a:pPr algn="ctr"/>
                      <a:r>
                        <a:rPr sz="1200" b="0">
                          <a:solidFill>
                            <a:srgbClr val="000000"/>
                          </a:solidFill>
                          <a:latin typeface="Calibri"/>
                        </a:rPr>
                        <a:t>~21.0x</a:t>
                      </a:r>
                    </a:p>
                  </a:txBody>
                  <a:tcPr/>
                </a:tc>
                <a:tc>
                  <a:txBody>
                    <a:bodyPr/>
                    <a:lstStyle/>
                    <a:p>
                      <a:pPr algn="ctr"/>
                      <a:r>
                        <a:rPr sz="1200" b="0">
                          <a:solidFill>
                            <a:srgbClr val="000000"/>
                          </a:solidFill>
                          <a:latin typeface="Calibri"/>
                        </a:rPr>
                        <a:t>54.2x</a:t>
                      </a:r>
                    </a:p>
                  </a:txBody>
                  <a:tcPr/>
                </a:tc>
                <a:tc>
                  <a:txBody>
                    <a:bodyPr/>
                    <a:lstStyle/>
                    <a:p>
                      <a:pPr algn="ctr"/>
                      <a:r>
                        <a:rPr sz="1200" b="0">
                          <a:solidFill>
                            <a:srgbClr val="000000"/>
                          </a:solidFill>
                          <a:latin typeface="Calibri"/>
                        </a:rPr>
                        <a:t>49.1x</a:t>
                      </a:r>
                    </a:p>
                  </a:txBody>
                  <a:tcPr/>
                </a:tc>
                <a:tc>
                  <a:txBody>
                    <a:bodyPr/>
                    <a:lstStyle/>
                    <a:p>
                      <a:pPr algn="ctr"/>
                      <a:r>
                        <a:rPr sz="1200" b="0">
                          <a:solidFill>
                            <a:srgbClr val="000000"/>
                          </a:solidFill>
                          <a:latin typeface="Calibri"/>
                        </a:rPr>
                        <a:t>29.4x</a:t>
                      </a:r>
                    </a:p>
                  </a:txBody>
                  <a:tcPr/>
                </a:tc>
                <a:extLst>
                  <a:ext uri="{0D108BD9-81ED-4DB2-BD59-A6C34878D82A}">
                    <a16:rowId xmlns:a16="http://schemas.microsoft.com/office/drawing/2014/main" val="10001"/>
                  </a:ext>
                </a:extLst>
              </a:tr>
              <a:tr h="304800">
                <a:tc>
                  <a:txBody>
                    <a:bodyPr/>
                    <a:lstStyle/>
                    <a:p>
                      <a:pPr algn="l"/>
                      <a:r>
                        <a:rPr sz="1200" b="1">
                          <a:solidFill>
                            <a:srgbClr val="000000"/>
                          </a:solidFill>
                          <a:latin typeface="Calibri"/>
                        </a:rPr>
                        <a:t>P/E (Forward 2026E)</a:t>
                      </a:r>
                    </a:p>
                  </a:txBody>
                  <a:tcPr>
                    <a:solidFill>
                      <a:srgbClr val="DAE3F3"/>
                    </a:solidFill>
                  </a:tcPr>
                </a:tc>
                <a:tc>
                  <a:txBody>
                    <a:bodyPr/>
                    <a:lstStyle/>
                    <a:p>
                      <a:pPr algn="ctr"/>
                      <a:r>
                        <a:rPr sz="1200" b="0">
                          <a:solidFill>
                            <a:srgbClr val="000000"/>
                          </a:solidFill>
                          <a:latin typeface="Calibri"/>
                        </a:rPr>
                        <a:t>~18.5x</a:t>
                      </a:r>
                    </a:p>
                  </a:txBody>
                  <a:tcPr>
                    <a:solidFill>
                      <a:srgbClr val="DAE3F3"/>
                    </a:solidFill>
                  </a:tcPr>
                </a:tc>
                <a:tc>
                  <a:txBody>
                    <a:bodyPr/>
                    <a:lstStyle/>
                    <a:p>
                      <a:pPr algn="ctr"/>
                      <a:r>
                        <a:rPr sz="1200" b="0">
                          <a:solidFill>
                            <a:srgbClr val="000000"/>
                          </a:solidFill>
                          <a:latin typeface="Calibri"/>
                        </a:rPr>
                        <a:t>28.8x</a:t>
                      </a:r>
                    </a:p>
                  </a:txBody>
                  <a:tcPr>
                    <a:solidFill>
                      <a:srgbClr val="DAE3F3"/>
                    </a:solidFill>
                  </a:tcPr>
                </a:tc>
                <a:tc>
                  <a:txBody>
                    <a:bodyPr/>
                    <a:lstStyle/>
                    <a:p>
                      <a:pPr algn="ctr"/>
                      <a:r>
                        <a:rPr sz="1200" b="0">
                          <a:solidFill>
                            <a:srgbClr val="000000"/>
                          </a:solidFill>
                          <a:latin typeface="Calibri"/>
                        </a:rPr>
                        <a:t>39.0x</a:t>
                      </a:r>
                    </a:p>
                  </a:txBody>
                  <a:tcPr>
                    <a:solidFill>
                      <a:srgbClr val="DAE3F3"/>
                    </a:solidFill>
                  </a:tcPr>
                </a:tc>
                <a:tc>
                  <a:txBody>
                    <a:bodyPr/>
                    <a:lstStyle/>
                    <a:p>
                      <a:pPr algn="ctr"/>
                      <a:r>
                        <a:rPr sz="1200" b="0">
                          <a:solidFill>
                            <a:srgbClr val="000000"/>
                          </a:solidFill>
                          <a:latin typeface="Calibri"/>
                        </a:rPr>
                        <a:t>26.0x</a:t>
                      </a:r>
                    </a:p>
                  </a:txBody>
                  <a:tcPr>
                    <a:solidFill>
                      <a:srgbClr val="DAE3F3"/>
                    </a:solidFill>
                  </a:tcPr>
                </a:tc>
                <a:extLst>
                  <a:ext uri="{0D108BD9-81ED-4DB2-BD59-A6C34878D82A}">
                    <a16:rowId xmlns:a16="http://schemas.microsoft.com/office/drawing/2014/main" val="10002"/>
                  </a:ext>
                </a:extLst>
              </a:tr>
              <a:tr h="304800">
                <a:tc>
                  <a:txBody>
                    <a:bodyPr/>
                    <a:lstStyle/>
                    <a:p>
                      <a:pPr algn="l"/>
                      <a:r>
                        <a:rPr sz="1200" b="1">
                          <a:solidFill>
                            <a:srgbClr val="000000"/>
                          </a:solidFill>
                          <a:latin typeface="Calibri"/>
                        </a:rPr>
                        <a:t>P/Book</a:t>
                      </a:r>
                    </a:p>
                  </a:txBody>
                  <a:tcPr/>
                </a:tc>
                <a:tc>
                  <a:txBody>
                    <a:bodyPr/>
                    <a:lstStyle/>
                    <a:p>
                      <a:pPr algn="ctr"/>
                      <a:r>
                        <a:rPr sz="1200" b="0">
                          <a:solidFill>
                            <a:srgbClr val="000000"/>
                          </a:solidFill>
                          <a:latin typeface="Calibri"/>
                        </a:rPr>
                        <a:t>~4.5x</a:t>
                      </a:r>
                    </a:p>
                  </a:txBody>
                  <a:tcPr/>
                </a:tc>
                <a:tc>
                  <a:txBody>
                    <a:bodyPr/>
                    <a:lstStyle/>
                    <a:p>
                      <a:pPr algn="ctr"/>
                      <a:r>
                        <a:rPr sz="1200" b="0">
                          <a:solidFill>
                            <a:srgbClr val="000000"/>
                          </a:solidFill>
                          <a:latin typeface="Calibri"/>
                        </a:rPr>
                        <a:t>6.7x</a:t>
                      </a:r>
                    </a:p>
                  </a:txBody>
                  <a:tcPr/>
                </a:tc>
                <a:tc>
                  <a:txBody>
                    <a:bodyPr/>
                    <a:lstStyle/>
                    <a:p>
                      <a:pPr algn="ctr"/>
                      <a:r>
                        <a:rPr sz="1200" b="0">
                          <a:solidFill>
                            <a:srgbClr val="000000"/>
                          </a:solidFill>
                          <a:latin typeface="Calibri"/>
                        </a:rPr>
                        <a:t>19.8x</a:t>
                      </a:r>
                    </a:p>
                  </a:txBody>
                  <a:tcPr/>
                </a:tc>
                <a:tc>
                  <a:txBody>
                    <a:bodyPr/>
                    <a:lstStyle/>
                    <a:p>
                      <a:pPr algn="ctr"/>
                      <a:r>
                        <a:rPr sz="1200" b="0">
                          <a:solidFill>
                            <a:srgbClr val="000000"/>
                          </a:solidFill>
                          <a:latin typeface="Calibri"/>
                        </a:rPr>
                        <a:t>43.7x</a:t>
                      </a:r>
                    </a:p>
                  </a:txBody>
                  <a:tcPr/>
                </a:tc>
                <a:extLst>
                  <a:ext uri="{0D108BD9-81ED-4DB2-BD59-A6C34878D82A}">
                    <a16:rowId xmlns:a16="http://schemas.microsoft.com/office/drawing/2014/main" val="10003"/>
                  </a:ext>
                </a:extLst>
              </a:tr>
              <a:tr h="304800">
                <a:tc>
                  <a:txBody>
                    <a:bodyPr/>
                    <a:lstStyle/>
                    <a:p>
                      <a:pPr algn="l"/>
                      <a:r>
                        <a:rPr sz="1200" b="1">
                          <a:solidFill>
                            <a:srgbClr val="000000"/>
                          </a:solidFill>
                          <a:latin typeface="Calibri"/>
                        </a:rPr>
                        <a:t>P/Cash Flow</a:t>
                      </a:r>
                    </a:p>
                  </a:txBody>
                  <a:tcPr>
                    <a:solidFill>
                      <a:srgbClr val="DAE3F3"/>
                    </a:solidFill>
                  </a:tcPr>
                </a:tc>
                <a:tc>
                  <a:txBody>
                    <a:bodyPr/>
                    <a:lstStyle/>
                    <a:p>
                      <a:pPr algn="ctr"/>
                      <a:r>
                        <a:rPr sz="1200" b="0">
                          <a:solidFill>
                            <a:srgbClr val="000000"/>
                          </a:solidFill>
                          <a:latin typeface="Calibri"/>
                        </a:rPr>
                        <a:t>~18.0x</a:t>
                      </a:r>
                    </a:p>
                  </a:txBody>
                  <a:tcPr>
                    <a:solidFill>
                      <a:srgbClr val="DAE3F3"/>
                    </a:solidFill>
                  </a:tcPr>
                </a:tc>
                <a:tc>
                  <a:txBody>
                    <a:bodyPr/>
                    <a:lstStyle/>
                    <a:p>
                      <a:pPr algn="ctr"/>
                      <a:r>
                        <a:rPr sz="1200" b="0">
                          <a:solidFill>
                            <a:srgbClr val="000000"/>
                          </a:solidFill>
                          <a:latin typeface="Calibri"/>
                        </a:rPr>
                        <a:t>27.8x</a:t>
                      </a:r>
                    </a:p>
                  </a:txBody>
                  <a:tcPr>
                    <a:solidFill>
                      <a:srgbClr val="DAE3F3"/>
                    </a:solidFill>
                  </a:tcPr>
                </a:tc>
                <a:tc>
                  <a:txBody>
                    <a:bodyPr/>
                    <a:lstStyle/>
                    <a:p>
                      <a:pPr algn="ctr"/>
                      <a:r>
                        <a:rPr sz="1200" b="0">
                          <a:solidFill>
                            <a:srgbClr val="000000"/>
                          </a:solidFill>
                          <a:latin typeface="Calibri"/>
                        </a:rPr>
                        <a:t>28.5x</a:t>
                      </a:r>
                    </a:p>
                  </a:txBody>
                  <a:tcPr>
                    <a:solidFill>
                      <a:srgbClr val="DAE3F3"/>
                    </a:solidFill>
                  </a:tcPr>
                </a:tc>
                <a:tc>
                  <a:txBody>
                    <a:bodyPr/>
                    <a:lstStyle/>
                    <a:p>
                      <a:pPr algn="ctr"/>
                      <a:r>
                        <a:rPr sz="1200" b="0">
                          <a:solidFill>
                            <a:srgbClr val="000000"/>
                          </a:solidFill>
                          <a:latin typeface="Calibri"/>
                        </a:rPr>
                        <a:t>27.5x</a:t>
                      </a:r>
                    </a:p>
                  </a:txBody>
                  <a:tcPr>
                    <a:solidFill>
                      <a:srgbClr val="DAE3F3"/>
                    </a:solidFill>
                  </a:tcPr>
                </a:tc>
                <a:extLst>
                  <a:ext uri="{0D108BD9-81ED-4DB2-BD59-A6C34878D82A}">
                    <a16:rowId xmlns:a16="http://schemas.microsoft.com/office/drawing/2014/main" val="10004"/>
                  </a:ext>
                </a:extLst>
              </a:tr>
              <a:tr h="304800">
                <a:tc>
                  <a:txBody>
                    <a:bodyPr/>
                    <a:lstStyle/>
                    <a:p>
                      <a:pPr algn="l"/>
                      <a:r>
                        <a:rPr sz="1200" b="1">
                          <a:solidFill>
                            <a:srgbClr val="000000"/>
                          </a:solidFill>
                          <a:latin typeface="Calibri"/>
                        </a:rPr>
                        <a:t>EV/EBITDA</a:t>
                      </a:r>
                    </a:p>
                  </a:txBody>
                  <a:tcPr/>
                </a:tc>
                <a:tc>
                  <a:txBody>
                    <a:bodyPr/>
                    <a:lstStyle/>
                    <a:p>
                      <a:pPr algn="ctr"/>
                      <a:r>
                        <a:rPr sz="1200" b="0">
                          <a:solidFill>
                            <a:srgbClr val="000000"/>
                          </a:solidFill>
                          <a:latin typeface="Calibri"/>
                        </a:rPr>
                        <a:t>~15.0x</a:t>
                      </a:r>
                    </a:p>
                  </a:txBody>
                  <a:tcPr/>
                </a:tc>
                <a:tc>
                  <a:txBody>
                    <a:bodyPr/>
                    <a:lstStyle/>
                    <a:p>
                      <a:pPr algn="ctr"/>
                      <a:r>
                        <a:rPr sz="1200" b="0">
                          <a:solidFill>
                            <a:srgbClr val="000000"/>
                          </a:solidFill>
                          <a:latin typeface="Calibri"/>
                        </a:rPr>
                        <a:t>28.9x</a:t>
                      </a:r>
                    </a:p>
                  </a:txBody>
                  <a:tcPr/>
                </a:tc>
                <a:tc>
                  <a:txBody>
                    <a:bodyPr/>
                    <a:lstStyle/>
                    <a:p>
                      <a:pPr algn="ctr"/>
                      <a:r>
                        <a:rPr sz="1200" b="0">
                          <a:solidFill>
                            <a:srgbClr val="000000"/>
                          </a:solidFill>
                          <a:latin typeface="Calibri"/>
                        </a:rPr>
                        <a:t>32.7x</a:t>
                      </a:r>
                    </a:p>
                  </a:txBody>
                  <a:tcPr/>
                </a:tc>
                <a:tc>
                  <a:txBody>
                    <a:bodyPr/>
                    <a:lstStyle/>
                    <a:p>
                      <a:pPr algn="ctr"/>
                      <a:r>
                        <a:rPr sz="1200" b="0">
                          <a:solidFill>
                            <a:srgbClr val="000000"/>
                          </a:solidFill>
                          <a:latin typeface="Calibri"/>
                        </a:rPr>
                        <a:t>22.4x</a:t>
                      </a:r>
                    </a:p>
                  </a:txBody>
                  <a:tcPr/>
                </a:tc>
                <a:extLst>
                  <a:ext uri="{0D108BD9-81ED-4DB2-BD59-A6C34878D82A}">
                    <a16:rowId xmlns:a16="http://schemas.microsoft.com/office/drawing/2014/main" val="10005"/>
                  </a:ext>
                </a:extLst>
              </a:tr>
              <a:tr h="304800">
                <a:tc>
                  <a:txBody>
                    <a:bodyPr/>
                    <a:lstStyle/>
                    <a:p>
                      <a:pPr algn="l"/>
                      <a:r>
                        <a:rPr sz="1200" b="1">
                          <a:solidFill>
                            <a:srgbClr val="000000"/>
                          </a:solidFill>
                          <a:latin typeface="Calibri"/>
                        </a:rPr>
                        <a:t>FCF Yield</a:t>
                      </a:r>
                    </a:p>
                  </a:txBody>
                  <a:tcPr>
                    <a:solidFill>
                      <a:srgbClr val="DAE3F3"/>
                    </a:solidFill>
                  </a:tcPr>
                </a:tc>
                <a:tc>
                  <a:txBody>
                    <a:bodyPr/>
                    <a:lstStyle/>
                    <a:p>
                      <a:pPr algn="ctr"/>
                      <a:r>
                        <a:rPr sz="1200" b="0">
                          <a:solidFill>
                            <a:srgbClr val="000000"/>
                          </a:solidFill>
                          <a:latin typeface="Calibri"/>
                        </a:rPr>
                        <a:t>~4.5%</a:t>
                      </a:r>
                    </a:p>
                  </a:txBody>
                  <a:tcPr>
                    <a:solidFill>
                      <a:srgbClr val="DAE3F3"/>
                    </a:solidFill>
                  </a:tcPr>
                </a:tc>
                <a:tc>
                  <a:txBody>
                    <a:bodyPr/>
                    <a:lstStyle/>
                    <a:p>
                      <a:pPr algn="ctr"/>
                      <a:r>
                        <a:rPr sz="1200" b="0">
                          <a:solidFill>
                            <a:srgbClr val="000000"/>
                          </a:solidFill>
                          <a:latin typeface="Calibri"/>
                        </a:rPr>
                        <a:t>1.8%</a:t>
                      </a:r>
                    </a:p>
                  </a:txBody>
                  <a:tcPr>
                    <a:solidFill>
                      <a:srgbClr val="DAE3F3"/>
                    </a:solidFill>
                  </a:tcPr>
                </a:tc>
                <a:tc>
                  <a:txBody>
                    <a:bodyPr/>
                    <a:lstStyle/>
                    <a:p>
                      <a:pPr algn="ctr"/>
                      <a:r>
                        <a:rPr sz="1200" b="0">
                          <a:solidFill>
                            <a:srgbClr val="000000"/>
                          </a:solidFill>
                          <a:latin typeface="Calibri"/>
                        </a:rPr>
                        <a:t>2.4%</a:t>
                      </a:r>
                    </a:p>
                  </a:txBody>
                  <a:tcPr>
                    <a:solidFill>
                      <a:srgbClr val="DAE3F3"/>
                    </a:solidFill>
                  </a:tcPr>
                </a:tc>
                <a:tc>
                  <a:txBody>
                    <a:bodyPr/>
                    <a:lstStyle/>
                    <a:p>
                      <a:pPr algn="ctr"/>
                      <a:r>
                        <a:rPr sz="1200" b="0">
                          <a:solidFill>
                            <a:srgbClr val="000000"/>
                          </a:solidFill>
                          <a:latin typeface="Calibri"/>
                        </a:rPr>
                        <a:t>3.1%</a:t>
                      </a:r>
                    </a:p>
                  </a:txBody>
                  <a:tcPr>
                    <a:solidFill>
                      <a:srgbClr val="DAE3F3"/>
                    </a:solidFill>
                  </a:tcPr>
                </a:tc>
                <a:extLst>
                  <a:ext uri="{0D108BD9-81ED-4DB2-BD59-A6C34878D82A}">
                    <a16:rowId xmlns:a16="http://schemas.microsoft.com/office/drawing/2014/main" val="10006"/>
                  </a:ext>
                </a:extLst>
              </a:tr>
              <a:tr h="304800">
                <a:tc>
                  <a:txBody>
                    <a:bodyPr/>
                    <a:lstStyle/>
                    <a:p>
                      <a:pPr algn="l"/>
                      <a:r>
                        <a:rPr sz="1200" b="1">
                          <a:solidFill>
                            <a:srgbClr val="000000"/>
                          </a:solidFill>
                          <a:latin typeface="Calibri"/>
                        </a:rPr>
                        <a:t>Gross Margin</a:t>
                      </a:r>
                    </a:p>
                  </a:txBody>
                  <a:tcPr/>
                </a:tc>
                <a:tc>
                  <a:txBody>
                    <a:bodyPr/>
                    <a:lstStyle/>
                    <a:p>
                      <a:pPr algn="ctr"/>
                      <a:r>
                        <a:rPr sz="1200" b="0">
                          <a:solidFill>
                            <a:srgbClr val="000000"/>
                          </a:solidFill>
                          <a:latin typeface="Calibri"/>
                        </a:rPr>
                        <a:t>~37%</a:t>
                      </a:r>
                    </a:p>
                  </a:txBody>
                  <a:tcPr/>
                </a:tc>
                <a:tc>
                  <a:txBody>
                    <a:bodyPr/>
                    <a:lstStyle/>
                    <a:p>
                      <a:pPr algn="ctr"/>
                      <a:r>
                        <a:rPr sz="1200" b="0">
                          <a:solidFill>
                            <a:srgbClr val="000000"/>
                          </a:solidFill>
                          <a:latin typeface="Calibri"/>
                        </a:rPr>
                        <a:t>45.6%</a:t>
                      </a:r>
                    </a:p>
                  </a:txBody>
                  <a:tcPr/>
                </a:tc>
                <a:tc>
                  <a:txBody>
                    <a:bodyPr/>
                    <a:lstStyle/>
                    <a:p>
                      <a:pPr algn="ctr"/>
                      <a:r>
                        <a:rPr sz="1200" b="0">
                          <a:solidFill>
                            <a:srgbClr val="000000"/>
                          </a:solidFill>
                          <a:latin typeface="Calibri"/>
                        </a:rPr>
                        <a:t>77.4%</a:t>
                      </a:r>
                    </a:p>
                  </a:txBody>
                  <a:tcPr/>
                </a:tc>
                <a:tc>
                  <a:txBody>
                    <a:bodyPr/>
                    <a:lstStyle/>
                    <a:p>
                      <a:pPr algn="ctr"/>
                      <a:r>
                        <a:rPr sz="1200" b="0">
                          <a:solidFill>
                            <a:srgbClr val="000000"/>
                          </a:solidFill>
                          <a:latin typeface="Calibri"/>
                        </a:rPr>
                        <a:t>46.2%</a:t>
                      </a:r>
                    </a:p>
                  </a:txBody>
                  <a:tcPr/>
                </a:tc>
                <a:extLst>
                  <a:ext uri="{0D108BD9-81ED-4DB2-BD59-A6C34878D82A}">
                    <a16:rowId xmlns:a16="http://schemas.microsoft.com/office/drawing/2014/main" val="10007"/>
                  </a:ext>
                </a:extLst>
              </a:tr>
              <a:tr h="304800">
                <a:tc>
                  <a:txBody>
                    <a:bodyPr/>
                    <a:lstStyle/>
                    <a:p>
                      <a:pPr algn="l"/>
                      <a:r>
                        <a:rPr sz="1200" b="1">
                          <a:solidFill>
                            <a:srgbClr val="000000"/>
                          </a:solidFill>
                          <a:latin typeface="Calibri"/>
                        </a:rPr>
                        <a:t>Operating Margin</a:t>
                      </a:r>
                    </a:p>
                  </a:txBody>
                  <a:tcPr>
                    <a:solidFill>
                      <a:srgbClr val="DAE3F3"/>
                    </a:solidFill>
                  </a:tcPr>
                </a:tc>
                <a:tc>
                  <a:txBody>
                    <a:bodyPr/>
                    <a:lstStyle/>
                    <a:p>
                      <a:pPr algn="ctr"/>
                      <a:r>
                        <a:rPr sz="1200" b="0">
                          <a:solidFill>
                            <a:srgbClr val="000000"/>
                          </a:solidFill>
                          <a:latin typeface="Calibri"/>
                        </a:rPr>
                        <a:t>~17%</a:t>
                      </a:r>
                    </a:p>
                  </a:txBody>
                  <a:tcPr>
                    <a:solidFill>
                      <a:srgbClr val="DAE3F3"/>
                    </a:solidFill>
                  </a:tcPr>
                </a:tc>
                <a:tc>
                  <a:txBody>
                    <a:bodyPr/>
                    <a:lstStyle/>
                    <a:p>
                      <a:pPr algn="ctr"/>
                      <a:r>
                        <a:rPr sz="1200" b="0">
                          <a:solidFill>
                            <a:srgbClr val="000000"/>
                          </a:solidFill>
                          <a:latin typeface="Calibri"/>
                        </a:rPr>
                        <a:t>16.0%</a:t>
                      </a:r>
                    </a:p>
                  </a:txBody>
                  <a:tcPr>
                    <a:solidFill>
                      <a:srgbClr val="DAE3F3"/>
                    </a:solidFill>
                  </a:tcPr>
                </a:tc>
                <a:tc>
                  <a:txBody>
                    <a:bodyPr/>
                    <a:lstStyle/>
                    <a:p>
                      <a:pPr algn="ctr"/>
                      <a:r>
                        <a:rPr sz="1200" b="0">
                          <a:solidFill>
                            <a:srgbClr val="000000"/>
                          </a:solidFill>
                          <a:latin typeface="Calibri"/>
                        </a:rPr>
                        <a:t>35.8%</a:t>
                      </a:r>
                    </a:p>
                  </a:txBody>
                  <a:tcPr>
                    <a:solidFill>
                      <a:srgbClr val="DAE3F3"/>
                    </a:solidFill>
                  </a:tcPr>
                </a:tc>
                <a:tc>
                  <a:txBody>
                    <a:bodyPr/>
                    <a:lstStyle/>
                    <a:p>
                      <a:pPr algn="ctr"/>
                      <a:r>
                        <a:rPr sz="1200" b="0">
                          <a:solidFill>
                            <a:srgbClr val="000000"/>
                          </a:solidFill>
                          <a:latin typeface="Calibri"/>
                        </a:rPr>
                        <a:t>32.3%</a:t>
                      </a:r>
                    </a:p>
                  </a:txBody>
                  <a:tcPr>
                    <a:solidFill>
                      <a:srgbClr val="DAE3F3"/>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NEWS AND OUTLOOK</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Recent Industry News and Market Developments</a:t>
            </a:r>
          </a:p>
        </p:txBody>
      </p:sp>
      <p:sp>
        <p:nvSpPr>
          <p:cNvPr id="6" name="TextBox 5"/>
          <p:cNvSpPr txBox="1"/>
          <p:nvPr/>
        </p:nvSpPr>
        <p:spPr>
          <a:xfrm>
            <a:off x="182880" y="886968"/>
            <a:ext cx="5806440" cy="2569934"/>
          </a:xfrm>
          <a:prstGeom prst="rect">
            <a:avLst/>
          </a:prstGeom>
          <a:noFill/>
        </p:spPr>
        <p:txBody>
          <a:bodyPr wrap="square">
            <a:spAutoFit/>
          </a:bodyPr>
          <a:lstStyle/>
          <a:p>
            <a:pPr algn="l">
              <a:spcAft>
                <a:spcPts val="500"/>
              </a:spcAft>
            </a:pPr>
            <a:r>
              <a:rPr sz="1400" b="1">
                <a:solidFill>
                  <a:srgbClr val="1F3864"/>
                </a:solidFill>
                <a:latin typeface="Calibri"/>
              </a:rPr>
              <a:t>AI Chipmaker </a:t>
            </a:r>
            <a:r>
              <a:rPr sz="1400" b="1" err="1">
                <a:solidFill>
                  <a:srgbClr val="1F3864"/>
                </a:solidFill>
                <a:latin typeface="Calibri"/>
              </a:rPr>
              <a:t>Cerebras</a:t>
            </a:r>
            <a:r>
              <a:rPr sz="1400" b="1">
                <a:solidFill>
                  <a:srgbClr val="1F3864"/>
                </a:solidFill>
                <a:latin typeface="Calibri"/>
              </a:rPr>
              <a:t> Is Said to Plan Raising IPO Price Range</a:t>
            </a:r>
          </a:p>
          <a:p>
            <a:pPr algn="l">
              <a:spcBef>
                <a:spcPts val="400"/>
              </a:spcBef>
              <a:spcAft>
                <a:spcPts val="400"/>
              </a:spcAft>
            </a:pPr>
            <a:r>
              <a:rPr sz="1200" b="0" i="1">
                <a:solidFill>
                  <a:srgbClr val="555555"/>
                </a:solidFill>
                <a:latin typeface="Calibri"/>
              </a:rPr>
              <a:t>Rebecca Torrence</a:t>
            </a:r>
          </a:p>
          <a:p>
            <a:pPr algn="l">
              <a:spcBef>
                <a:spcPts val="500"/>
              </a:spcBef>
              <a:spcAft>
                <a:spcPts val="400"/>
              </a:spcAft>
            </a:pPr>
            <a:r>
              <a:rPr sz="1200" b="0">
                <a:solidFill>
                  <a:srgbClr val="000000"/>
                </a:solidFill>
                <a:latin typeface="Calibri"/>
              </a:rPr>
              <a:t>The demand for computer chips has been largely reflected by the recent growth in the semiconductor industry. Over the past month, the Philadelphia Stock Exchange Semiconductor Index has jumped by 37%. Large buyers such as Apple and Microsoft have continued to purchase more of these chips as they are an integral part in many of their products. The increase in demand for computer chips has also been reflected in the IPO market. </a:t>
            </a:r>
            <a:r>
              <a:rPr sz="1200" b="0" err="1">
                <a:solidFill>
                  <a:srgbClr val="000000"/>
                </a:solidFill>
                <a:latin typeface="Calibri"/>
              </a:rPr>
              <a:t>Cerebras</a:t>
            </a:r>
            <a:r>
              <a:rPr sz="1200" b="0">
                <a:solidFill>
                  <a:srgbClr val="000000"/>
                </a:solidFill>
                <a:latin typeface="Calibri"/>
              </a:rPr>
              <a:t>, an artificial intelligence-based chipmaker, has increased the price range of its initial IPO. “The company expects to raise the price range to $125 to $135 per share” (Torrence). As well as this, </a:t>
            </a:r>
            <a:r>
              <a:rPr sz="1200" b="0" err="1">
                <a:solidFill>
                  <a:srgbClr val="000000"/>
                </a:solidFill>
                <a:latin typeface="Calibri"/>
              </a:rPr>
              <a:t>Cerebras</a:t>
            </a:r>
            <a:r>
              <a:rPr sz="1200" b="0">
                <a:solidFill>
                  <a:srgbClr val="000000"/>
                </a:solidFill>
                <a:latin typeface="Calibri"/>
              </a:rPr>
              <a:t> has “drawn orders for more than 20 times the number of shares available” (Torrence). The demand for AI computer chips have skyrocketed as buyers want to integrate them into their new products.</a:t>
            </a:r>
          </a:p>
        </p:txBody>
      </p:sp>
      <p:sp>
        <p:nvSpPr>
          <p:cNvPr id="7" name="TextBox 6"/>
          <p:cNvSpPr txBox="1"/>
          <p:nvPr/>
        </p:nvSpPr>
        <p:spPr>
          <a:xfrm>
            <a:off x="6199632" y="886968"/>
            <a:ext cx="5806440" cy="2354491"/>
          </a:xfrm>
          <a:prstGeom prst="rect">
            <a:avLst/>
          </a:prstGeom>
          <a:noFill/>
        </p:spPr>
        <p:txBody>
          <a:bodyPr wrap="square">
            <a:spAutoFit/>
          </a:bodyPr>
          <a:lstStyle/>
          <a:p>
            <a:pPr algn="l">
              <a:spcAft>
                <a:spcPts val="500"/>
              </a:spcAft>
            </a:pPr>
            <a:r>
              <a:rPr sz="1200" b="1">
                <a:solidFill>
                  <a:srgbClr val="1F3864"/>
                </a:solidFill>
                <a:latin typeface="Calibri"/>
              </a:rPr>
              <a:t>Anthropic Inks $1.8 Billion Computing Deal with Akamai</a:t>
            </a:r>
          </a:p>
          <a:p>
            <a:pPr algn="l">
              <a:spcBef>
                <a:spcPts val="400"/>
              </a:spcBef>
              <a:spcAft>
                <a:spcPts val="400"/>
              </a:spcAft>
            </a:pPr>
            <a:r>
              <a:rPr sz="1200" b="0" i="1">
                <a:solidFill>
                  <a:srgbClr val="555555"/>
                </a:solidFill>
                <a:latin typeface="Calibri"/>
              </a:rPr>
              <a:t>Rachel Metz</a:t>
            </a:r>
          </a:p>
          <a:p>
            <a:pPr algn="l">
              <a:spcBef>
                <a:spcPts val="500"/>
              </a:spcBef>
              <a:spcAft>
                <a:spcPts val="400"/>
              </a:spcAft>
            </a:pPr>
            <a:r>
              <a:rPr sz="1200" b="0">
                <a:solidFill>
                  <a:srgbClr val="000000"/>
                </a:solidFill>
                <a:latin typeface="Calibri"/>
              </a:rPr>
              <a:t>The demand for artificial intelligence services has continued to increase the need for cloud computing and computing power. Companies that develop AI models need large amounts of computing resources to support growing numbers of users and products. This has recently been shown in a deal between Anthropic and Akamai Technologies. Anthropic agreed to a “seven year cloud computing deal” with Akamai (Metz). The company is looking to “secure more computing resources after experiencing 80x growth in annualized revenue and usage in the first quarter of this year” (Metz). The growth of </a:t>
            </a:r>
            <a:r>
              <a:rPr sz="1200" b="0" err="1">
                <a:solidFill>
                  <a:srgbClr val="000000"/>
                </a:solidFill>
                <a:latin typeface="Calibri"/>
              </a:rPr>
              <a:t>Anthropic’s</a:t>
            </a:r>
            <a:r>
              <a:rPr sz="1200" b="0">
                <a:solidFill>
                  <a:srgbClr val="000000"/>
                </a:solidFill>
                <a:latin typeface="Calibri"/>
              </a:rPr>
              <a:t> AI assistant, Claude, shows how quickly demand for AI technology and computing infrastructure is increasing.</a:t>
            </a:r>
          </a:p>
        </p:txBody>
      </p:sp>
      <p:sp>
        <p:nvSpPr>
          <p:cNvPr id="8" name="TextBox 7">
            <a:extLst>
              <a:ext uri="{FF2B5EF4-FFF2-40B4-BE49-F238E27FC236}">
                <a16:creationId xmlns:a16="http://schemas.microsoft.com/office/drawing/2014/main" id="{6B3F03FF-555E-B488-DAD1-1A427A486355}"/>
              </a:ext>
            </a:extLst>
          </p:cNvPr>
          <p:cNvSpPr txBox="1"/>
          <p:nvPr/>
        </p:nvSpPr>
        <p:spPr>
          <a:xfrm>
            <a:off x="182879" y="3561776"/>
            <a:ext cx="11823191" cy="2341667"/>
          </a:xfrm>
          <a:prstGeom prst="rect">
            <a:avLst/>
          </a:prstGeom>
          <a:noFill/>
        </p:spPr>
        <p:txBody>
          <a:bodyPr wrap="square" lIns="91440" tIns="45720" rIns="91440" bIns="45720" anchor="t">
            <a:spAutoFit/>
          </a:bodyPr>
          <a:lstStyle/>
          <a:p>
            <a:pPr algn="l">
              <a:spcAft>
                <a:spcPts val="500"/>
              </a:spcAft>
            </a:pPr>
            <a:r>
              <a:rPr sz="1200" b="1">
                <a:solidFill>
                  <a:srgbClr val="1F3864"/>
                </a:solidFill>
                <a:latin typeface="Calibri"/>
              </a:rPr>
              <a:t>Apple Deal Would Be Intel Foundry's Biggest Validation: React</a:t>
            </a:r>
          </a:p>
          <a:p>
            <a:pPr algn="l">
              <a:spcBef>
                <a:spcPts val="400"/>
              </a:spcBef>
              <a:spcAft>
                <a:spcPts val="400"/>
              </a:spcAft>
            </a:pPr>
            <a:r>
              <a:rPr sz="1200" b="0" i="1">
                <a:solidFill>
                  <a:srgbClr val="555555"/>
                </a:solidFill>
                <a:latin typeface="Calibri"/>
              </a:rPr>
              <a:t>Kunjan Sobhani and Oscar Hernandez Tejada </a:t>
            </a:r>
            <a:endParaRPr lang="en-US" sz="1200" i="1">
              <a:solidFill>
                <a:srgbClr val="555555"/>
              </a:solidFill>
              <a:latin typeface="Calibri"/>
            </a:endParaRPr>
          </a:p>
          <a:p>
            <a:pPr>
              <a:spcBef>
                <a:spcPts val="400"/>
              </a:spcBef>
              <a:spcAft>
                <a:spcPts val="400"/>
              </a:spcAft>
            </a:pPr>
            <a:r>
              <a:rPr lang="en-US" sz="1200" b="1">
                <a:solidFill>
                  <a:srgbClr val="000000"/>
                </a:solidFill>
                <a:latin typeface="Calibri"/>
                <a:ea typeface="Calibri"/>
                <a:cs typeface="Calibri"/>
              </a:rPr>
              <a:t> </a:t>
            </a:r>
            <a:r>
              <a:rPr lang="en-US" sz="1200" b="0">
                <a:solidFill>
                  <a:srgbClr val="000000"/>
                </a:solidFill>
                <a:latin typeface="Calibri"/>
                <a:ea typeface="Calibri"/>
                <a:cs typeface="Calibri"/>
              </a:rPr>
              <a:t>The Bloomberg Intelligence report illustrates that the technology sector outlook remains positive, due to demand in AI increasing across the semiconductor industry. The article goes on to explain that this sub-sector is no longer just </a:t>
            </a:r>
            <a:r>
              <a:rPr lang="en-US" sz="1200">
                <a:solidFill>
                  <a:srgbClr val="000000"/>
                </a:solidFill>
                <a:latin typeface="Calibri"/>
                <a:ea typeface="Calibri"/>
                <a:cs typeface="Calibri"/>
              </a:rPr>
              <a:t>benefiting </a:t>
            </a:r>
            <a:r>
              <a:rPr lang="en-US" sz="1200" b="0">
                <a:solidFill>
                  <a:srgbClr val="000000"/>
                </a:solidFill>
                <a:latin typeface="Calibri"/>
                <a:ea typeface="Calibri"/>
                <a:cs typeface="Calibri"/>
              </a:rPr>
              <a:t>GPUs but also has caused an increase in demand for CPUs, data centers, and advanced semiconductor manufacturing. Illustrating how this shift has caused a large number of technology companies to grow greatly. Intel is the company discussed in the report and being one of the largest producers of CPUs, it has experienced a surge in demand, ultimately causing their outlook to shift from “</a:t>
            </a:r>
            <a:r>
              <a:rPr lang="en-US" sz="1200">
                <a:solidFill>
                  <a:srgbClr val="000000"/>
                </a:solidFill>
                <a:latin typeface="Calibri"/>
                <a:ea typeface="Calibri"/>
                <a:cs typeface="Calibri"/>
              </a:rPr>
              <a:t> </a:t>
            </a:r>
            <a:r>
              <a:rPr lang="en-US" sz="1200" b="0">
                <a:solidFill>
                  <a:srgbClr val="000000"/>
                </a:solidFill>
                <a:latin typeface="Calibri"/>
                <a:ea typeface="Calibri"/>
                <a:cs typeface="Calibri"/>
              </a:rPr>
              <a:t>constrained recovery to demand-led upside, with strong AI-driven server CPU </a:t>
            </a:r>
            <a:r>
              <a:rPr lang="en-US" sz="1200">
                <a:solidFill>
                  <a:srgbClr val="000000"/>
                </a:solidFill>
                <a:latin typeface="Calibri"/>
                <a:ea typeface="Calibri"/>
                <a:cs typeface="Calibri"/>
              </a:rPr>
              <a:t>momentum </a:t>
            </a:r>
            <a:r>
              <a:rPr lang="en-US" sz="1200" b="0">
                <a:solidFill>
                  <a:srgbClr val="000000"/>
                </a:solidFill>
                <a:latin typeface="Calibri"/>
                <a:ea typeface="Calibri"/>
                <a:cs typeface="Calibri"/>
              </a:rPr>
              <a:t>and improving supply supporting growth” (Bloomberg Intelligence (Sobhani and Tejada)).</a:t>
            </a:r>
            <a:r>
              <a:rPr lang="en-US" sz="1200">
                <a:solidFill>
                  <a:srgbClr val="000000"/>
                </a:solidFill>
                <a:latin typeface="Calibri"/>
                <a:ea typeface="Calibri"/>
                <a:cs typeface="Calibri"/>
              </a:rPr>
              <a:t> </a:t>
            </a:r>
            <a:r>
              <a:rPr lang="en-US" sz="1200" b="0">
                <a:solidFill>
                  <a:srgbClr val="000000"/>
                </a:solidFill>
                <a:latin typeface="Calibri"/>
                <a:ea typeface="Calibri"/>
                <a:cs typeface="Calibri"/>
              </a:rPr>
              <a:t>The company is currently trading at roughly 66x calendar-year 2026 price-to-earnings, which is above </a:t>
            </a:r>
            <a:r>
              <a:rPr lang="en-US" sz="1200">
                <a:solidFill>
                  <a:srgbClr val="000000"/>
                </a:solidFill>
                <a:latin typeface="Calibri"/>
                <a:ea typeface="Calibri"/>
                <a:cs typeface="Calibri"/>
              </a:rPr>
              <a:t>its </a:t>
            </a:r>
            <a:r>
              <a:rPr lang="en-US" sz="1200" b="0">
                <a:solidFill>
                  <a:srgbClr val="000000"/>
                </a:solidFill>
                <a:latin typeface="Calibri"/>
                <a:ea typeface="Calibri"/>
                <a:cs typeface="Calibri"/>
              </a:rPr>
              <a:t>peers that are trading at (31x) and the SOX (25x). This reflects optimism around AI-driven CPU demand, supply normalization, and 18A (1.8 nanometer semiconductor process) progress, the last part being speculative but has huge upside potential. Although competition is rising from AMD and Arm, demand currently is likely to benefit all CPU suppliers. CPU-to-GPU ratios in AI servers are tightening from 1:8 in training, but it is predicted to tighten later to 1:4, boosting unit growth, while the demand for higher core count and rising cost per core count are pushing pricing up.</a:t>
            </a:r>
            <a:r>
              <a:rPr lang="en-US" sz="1200">
                <a:solidFill>
                  <a:srgbClr val="000000"/>
                </a:solidFill>
                <a:latin typeface="Calibri"/>
                <a:ea typeface="Calibri"/>
                <a:cs typeface="Calibri"/>
              </a:rPr>
              <a:t> </a:t>
            </a:r>
            <a:endParaRPr lang="en-US">
              <a:latin typeface="Calibri"/>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NEWS AND OUTLOOK</a:t>
            </a:r>
          </a:p>
        </p:txBody>
      </p:sp>
      <p:sp>
        <p:nvSpPr>
          <p:cNvPr id="5" name="TextBox 4"/>
          <p:cNvSpPr txBox="1"/>
          <p:nvPr/>
        </p:nvSpPr>
        <p:spPr>
          <a:xfrm>
            <a:off x="182880" y="530352"/>
            <a:ext cx="11823192" cy="261610"/>
          </a:xfrm>
          <a:prstGeom prst="rect">
            <a:avLst/>
          </a:prstGeom>
          <a:noFill/>
        </p:spPr>
        <p:txBody>
          <a:bodyPr wrap="square">
            <a:spAutoFit/>
          </a:bodyPr>
          <a:lstStyle/>
          <a:p>
            <a:r>
              <a:rPr lang="en-US" sz="1100">
                <a:solidFill>
                  <a:srgbClr val="FFFFFF"/>
                </a:solidFill>
              </a:rPr>
              <a:t>Recent Industry News and Market Developments</a:t>
            </a:r>
          </a:p>
        </p:txBody>
      </p:sp>
      <p:sp>
        <p:nvSpPr>
          <p:cNvPr id="6" name="TextBox 5"/>
          <p:cNvSpPr txBox="1"/>
          <p:nvPr/>
        </p:nvSpPr>
        <p:spPr>
          <a:xfrm>
            <a:off x="182880" y="886968"/>
            <a:ext cx="5911532" cy="3262432"/>
          </a:xfrm>
          <a:prstGeom prst="rect">
            <a:avLst/>
          </a:prstGeom>
          <a:noFill/>
        </p:spPr>
        <p:txBody>
          <a:bodyPr wrap="square" lIns="91440" tIns="45720" rIns="91440" bIns="45720" anchor="t">
            <a:spAutoFit/>
          </a:bodyPr>
          <a:lstStyle/>
          <a:p>
            <a:r>
              <a:rPr lang="en-US" sz="1400" b="1">
                <a:solidFill>
                  <a:srgbClr val="1F3864"/>
                </a:solidFill>
                <a:latin typeface="Calibri"/>
              </a:rPr>
              <a:t>Data Centers Aren’t the Enemy — They’re the Future </a:t>
            </a:r>
            <a:br>
              <a:rPr lang="en-US" sz="1200"/>
            </a:br>
            <a:r>
              <a:rPr lang="en-US" sz="1200" b="0" i="1">
                <a:solidFill>
                  <a:srgbClr val="555555"/>
                </a:solidFill>
                <a:latin typeface="Calibri"/>
              </a:rPr>
              <a:t>Timothy Lavin &amp; </a:t>
            </a:r>
            <a:r>
              <a:rPr lang="en-US" sz="1200" i="1" err="1">
                <a:solidFill>
                  <a:srgbClr val="555555"/>
                </a:solidFill>
                <a:latin typeface="Calibri"/>
              </a:rPr>
              <a:t>Nisid</a:t>
            </a:r>
            <a:r>
              <a:rPr lang="en-US" sz="1200" i="1">
                <a:solidFill>
                  <a:srgbClr val="555555"/>
                </a:solidFill>
                <a:latin typeface="Calibri"/>
              </a:rPr>
              <a:t> </a:t>
            </a:r>
            <a:r>
              <a:rPr lang="en-US" sz="1200" i="1" err="1">
                <a:solidFill>
                  <a:srgbClr val="555555"/>
                </a:solidFill>
                <a:latin typeface="Calibri"/>
              </a:rPr>
              <a:t>Hijari</a:t>
            </a:r>
            <a:r>
              <a:rPr sz="1200" b="0" i="1">
                <a:solidFill>
                  <a:srgbClr val="555555"/>
                </a:solidFill>
                <a:latin typeface="Calibri"/>
              </a:rPr>
              <a:t>  </a:t>
            </a:r>
            <a:endParaRPr lang="en-US" sz="1200" b="0" i="1">
              <a:solidFill>
                <a:srgbClr val="555555"/>
              </a:solidFill>
              <a:latin typeface="Calibri"/>
            </a:endParaRPr>
          </a:p>
          <a:p>
            <a:endParaRPr sz="1200" b="0" i="1">
              <a:solidFill>
                <a:srgbClr val="555555"/>
              </a:solidFill>
              <a:latin typeface="Calibri"/>
            </a:endParaRPr>
          </a:p>
          <a:p>
            <a:r>
              <a:rPr lang="en-US" sz="1200">
                <a:solidFill>
                  <a:srgbClr val="000000"/>
                </a:solidFill>
                <a:latin typeface="Calibri"/>
                <a:ea typeface="Calibri"/>
                <a:cs typeface="Calibri"/>
              </a:rPr>
              <a:t>This article discusses how the use of data centers are becoming more prevalent due to the growth of AI and cloud computing. The article starts by giving the definition of data centers, which are buildings that hold the servers and the technology required for the functionality of items such as AI tools, websites, streaming services, and cloud storage. Some individuals protest against the use of data centers because it requires a large amount of electricity, water, and land. However, the author argues that it is imperative we have data centers, since AI and other technology are not able to evolve without them. Data centers are also able to help communities through job creation, improvement of infrastructure, and bringing in tax dollars. In conclusion, the article illustrates that the future of the technology sector is looking strong, since companies will require more data centers in order to support AI and cloud services.</a:t>
            </a:r>
            <a:endParaRPr lang="en-US">
              <a:latin typeface="Calibri"/>
              <a:ea typeface="Calibri"/>
              <a:cs typeface="Calibri"/>
            </a:endParaRPr>
          </a:p>
          <a:p>
            <a:br>
              <a:rPr lang="en-US" sz="1200"/>
            </a:br>
            <a:br>
              <a:rPr lang="en-US" sz="1200"/>
            </a:br>
            <a:endParaRPr sz="1200" b="0">
              <a:solidFill>
                <a:srgbClr val="000000"/>
              </a:solidFill>
              <a:latin typeface="Calibri"/>
            </a:endParaRPr>
          </a:p>
        </p:txBody>
      </p:sp>
      <p:sp>
        <p:nvSpPr>
          <p:cNvPr id="7" name="TextBox 6">
            <a:extLst>
              <a:ext uri="{FF2B5EF4-FFF2-40B4-BE49-F238E27FC236}">
                <a16:creationId xmlns:a16="http://schemas.microsoft.com/office/drawing/2014/main" id="{7CD644F9-E494-3BAF-ECB0-F1F2232940FF}"/>
              </a:ext>
            </a:extLst>
          </p:cNvPr>
          <p:cNvSpPr txBox="1"/>
          <p:nvPr/>
        </p:nvSpPr>
        <p:spPr>
          <a:xfrm>
            <a:off x="6094412" y="886968"/>
            <a:ext cx="5911532" cy="4001095"/>
          </a:xfrm>
          <a:prstGeom prst="rect">
            <a:avLst/>
          </a:prstGeom>
          <a:noFill/>
        </p:spPr>
        <p:txBody>
          <a:bodyPr wrap="square" lIns="91440" tIns="45720" rIns="91440" bIns="45720" anchor="t">
            <a:spAutoFit/>
          </a:bodyPr>
          <a:lstStyle/>
          <a:p>
            <a:r>
              <a:rPr lang="en-US" sz="1400" b="1">
                <a:solidFill>
                  <a:srgbClr val="1F3864"/>
                </a:solidFill>
                <a:latin typeface="Calibri"/>
              </a:rPr>
              <a:t>Hands-on AI Corporate Evangelists Surface as Hot Commodity</a:t>
            </a:r>
            <a:br>
              <a:rPr lang="en-US" sz="1200"/>
            </a:br>
            <a:r>
              <a:rPr lang="en-US" sz="1200" b="0" i="1">
                <a:solidFill>
                  <a:srgbClr val="555555"/>
                </a:solidFill>
                <a:latin typeface="Calibri"/>
              </a:rPr>
              <a:t>Kaustuv Basu </a:t>
            </a:r>
            <a:endParaRPr lang="en-US" sz="1200" i="1">
              <a:solidFill>
                <a:srgbClr val="555555"/>
              </a:solidFill>
              <a:latin typeface="Calibri"/>
            </a:endParaRPr>
          </a:p>
          <a:p>
            <a:endParaRPr sz="1200" b="0" i="1">
              <a:solidFill>
                <a:srgbClr val="555555"/>
              </a:solidFill>
              <a:latin typeface="Calibri"/>
            </a:endParaRPr>
          </a:p>
          <a:p>
            <a:r>
              <a:rPr lang="en-US" sz="1200">
                <a:solidFill>
                  <a:srgbClr val="000000"/>
                </a:solidFill>
                <a:latin typeface="Calibri"/>
                <a:ea typeface="Calibri"/>
                <a:cs typeface="Calibri"/>
              </a:rPr>
              <a:t>The article starts by suggesting that companies need more individuals who are able to help them understand and use AI. These people are referred to as AI evangelists, since they teach employees how to best use these AI tools and help businesses transition to these new AI tools for daily operations. This is important, since it shows that AI is becoming a larger part of business and not something used by technology companies exclusively. The purpose of this implementation is to save time, lower costs, and become more efficient overall. The article then begins to explain that AI is creating new jobs for individuals who understand both business and technology. Overall, this article shows that the technology sector is beginning to expand even larger, since more companies are beginning to invest in these AI tools and workers who are able to use them.</a:t>
            </a:r>
            <a:endParaRPr lang="en-US">
              <a:latin typeface="Calibri"/>
              <a:ea typeface="Calibri"/>
              <a:cs typeface="Calibri"/>
            </a:endParaRPr>
          </a:p>
          <a:p>
            <a:br>
              <a:rPr lang="en-US"/>
            </a:br>
            <a:endParaRPr lang="en-US"/>
          </a:p>
          <a:p>
            <a:br>
              <a:rPr lang="en-US" sz="1200"/>
            </a:br>
            <a:br>
              <a:rPr lang="en-US" sz="1200"/>
            </a:br>
            <a:br>
              <a:rPr lang="en-US" sz="1200"/>
            </a:br>
            <a:br>
              <a:rPr lang="en-US" sz="1200"/>
            </a:br>
            <a:endParaRPr sz="1200" b="0">
              <a:solidFill>
                <a:srgbClr val="000000"/>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PORTER'S FIVE FORCES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Bargaining Power of Buyers and Suppliers</a:t>
            </a:r>
          </a:p>
        </p:txBody>
      </p:sp>
      <p:sp>
        <p:nvSpPr>
          <p:cNvPr id="6" name="TextBox 5"/>
          <p:cNvSpPr txBox="1"/>
          <p:nvPr/>
        </p:nvSpPr>
        <p:spPr>
          <a:xfrm>
            <a:off x="182880" y="886968"/>
            <a:ext cx="5806440" cy="4760278"/>
          </a:xfrm>
          <a:prstGeom prst="rect">
            <a:avLst/>
          </a:prstGeom>
          <a:noFill/>
        </p:spPr>
        <p:txBody>
          <a:bodyPr wrap="square">
            <a:spAutoFit/>
          </a:bodyPr>
          <a:lstStyle/>
          <a:p>
            <a:pPr algn="l">
              <a:spcAft>
                <a:spcPts val="500"/>
              </a:spcAft>
            </a:pPr>
            <a:r>
              <a:rPr sz="1400" b="1">
                <a:solidFill>
                  <a:srgbClr val="1F3864"/>
                </a:solidFill>
                <a:latin typeface="Calibri"/>
              </a:rPr>
              <a:t>Bargaining Power of Buyers  |  Moderate</a:t>
            </a:r>
          </a:p>
          <a:p>
            <a:pPr algn="l">
              <a:spcBef>
                <a:spcPts val="500"/>
              </a:spcBef>
              <a:spcAft>
                <a:spcPts val="400"/>
              </a:spcAft>
            </a:pPr>
            <a:r>
              <a:rPr sz="1400" b="0">
                <a:solidFill>
                  <a:srgbClr val="000000"/>
                </a:solidFill>
                <a:latin typeface="Calibri"/>
              </a:rPr>
              <a:t>Bargaining Power of Buyers represents the pressure that buyers can put on businesses in the technology sector to lower their prices, improve quality, and provide better service. First, in the semiconductor industry, buyers such as Apple and Microsoft purchase computer chips in huge volumes from producers. This allows buyers to purchase these products at a cheaper rate. However, suppliers such as NVIDIA produce very specialized chips, giving themselves an edge. Therefore, buyers in the semiconductor industry have moderate bargaining power.
When it comes to software infrastructure, the bargaining power of buyers is also moderate. Buyers are able to cancel their subscriptions and negotiate contracts with their suppliers, adding to their bargaining power. However, when software systems are very integrated into a business’s operations, it can be very difficult for the buyer to switch in a short period of time. Therefore, increasing switching costs.
In the Consumer Electronics industry, the bargaining power of buyers is moderate. This is due to customers having low switching costs between products. However, producers of consumer electronics such as Apple have strong brand loyalty. This is because many consumers tend to stay with their supplier, even with increases in phone costs.</a:t>
            </a:r>
          </a:p>
        </p:txBody>
      </p:sp>
      <p:sp>
        <p:nvSpPr>
          <p:cNvPr id="7" name="TextBox 6"/>
          <p:cNvSpPr txBox="1"/>
          <p:nvPr/>
        </p:nvSpPr>
        <p:spPr>
          <a:xfrm>
            <a:off x="6199632" y="886968"/>
            <a:ext cx="5806440" cy="4544834"/>
          </a:xfrm>
          <a:prstGeom prst="rect">
            <a:avLst/>
          </a:prstGeom>
          <a:noFill/>
        </p:spPr>
        <p:txBody>
          <a:bodyPr wrap="square">
            <a:spAutoFit/>
          </a:bodyPr>
          <a:lstStyle/>
          <a:p>
            <a:pPr algn="l">
              <a:spcAft>
                <a:spcPts val="500"/>
              </a:spcAft>
            </a:pPr>
            <a:r>
              <a:rPr sz="1400" b="1">
                <a:solidFill>
                  <a:srgbClr val="1F3864"/>
                </a:solidFill>
                <a:latin typeface="Calibri"/>
              </a:rPr>
              <a:t>Bargaining Power of Suppliers  |  High</a:t>
            </a:r>
          </a:p>
          <a:p>
            <a:pPr algn="l">
              <a:spcBef>
                <a:spcPts val="500"/>
              </a:spcBef>
              <a:spcAft>
                <a:spcPts val="400"/>
              </a:spcAft>
            </a:pPr>
            <a:r>
              <a:rPr sz="1400" b="0">
                <a:solidFill>
                  <a:srgbClr val="000000"/>
                </a:solidFill>
                <a:latin typeface="Calibri"/>
              </a:rPr>
              <a:t>When suppliers have a higher bargaining power, they have the ability to raise prices on their customers while also limiting the availability of their products. In the semiconductor industry, the bargaining power of suppliers is very high. According to Morningstar, ASML holds 90% of the market share in the manufacturing of lithography systems for semiconductors. Because of this, ASML is able to raise prices drastically as they are only one of the few suppliers on the market.
In the software infrastructure industry, the bargaining power of suppliers is also high. This is because software firms have the ability to impose high switching costs on their customers. Also, only a few firms run the cloud computing scene. These are firms like AWS and Azure. Because there are fewer firms in the market of cloud computing, buyers have limited and expensive choices. This gives suppliers in the software infrastructure industry an edge.
The bargaining power of suppliers in the consumer electronics industry is weaker than the previous two industries. Consumer electronics firms purchase semiconductors in bulk. This forces semiconductor firms to lower their prices, as firms like Apple buy out the majority of their stock.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PORTER'S FIVE FORCES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Threat of New Entrants and Threat of Substitutes</a:t>
            </a:r>
          </a:p>
        </p:txBody>
      </p:sp>
      <p:sp>
        <p:nvSpPr>
          <p:cNvPr id="6" name="TextBox 5"/>
          <p:cNvSpPr txBox="1"/>
          <p:nvPr/>
        </p:nvSpPr>
        <p:spPr>
          <a:xfrm>
            <a:off x="182880" y="886968"/>
            <a:ext cx="5806440" cy="5191165"/>
          </a:xfrm>
          <a:prstGeom prst="rect">
            <a:avLst/>
          </a:prstGeom>
          <a:noFill/>
        </p:spPr>
        <p:txBody>
          <a:bodyPr wrap="square">
            <a:spAutoFit/>
          </a:bodyPr>
          <a:lstStyle/>
          <a:p>
            <a:pPr algn="l">
              <a:spcAft>
                <a:spcPts val="500"/>
              </a:spcAft>
            </a:pPr>
            <a:r>
              <a:rPr sz="1400" b="1">
                <a:solidFill>
                  <a:srgbClr val="1F3864"/>
                </a:solidFill>
                <a:latin typeface="Calibri"/>
              </a:rPr>
              <a:t>Threat of New Entrants  |  Low to Moderate</a:t>
            </a:r>
          </a:p>
          <a:p>
            <a:pPr algn="l">
              <a:spcBef>
                <a:spcPts val="500"/>
              </a:spcBef>
              <a:spcAft>
                <a:spcPts val="400"/>
              </a:spcAft>
            </a:pPr>
            <a:r>
              <a:rPr sz="1400" b="0">
                <a:solidFill>
                  <a:srgbClr val="000000"/>
                </a:solidFill>
                <a:latin typeface="Calibri"/>
              </a:rPr>
              <a:t>The threat of new entrants measures how easy it is for new competitors to enter a new sector or industry and succeed. In the semiconductor industry, the threat of new entrants is extremely low. The capital needed to start a semiconductor manufacturing business is immense. Along with this, patents are required for the semiconductors produced, which can take years to achieve. Because of these factors it is very difficult for a firm to enter the semiconductor industry.
Although the difficulty of entering the software infrastructure industry is lower compared to the semiconductor industry, it is still difficult to scale within the industry. Software startups are a lot cheaper to produce, as there are no large factories required like in the semiconductor industry. However, it is difficult for new software infrastructure providers to scale as large firms like AWS are powerhouses. AWS and other large software firms have built up trust with their client base and charge switching costs to their clients. Because of this, it can be difficult for startups to hit the ground running.
The threat of new entrants in the consumer electronics industry is very similar to that of the software infrastructure industry. Consumers are very loyal and trusting to their brands when it comes to their smart devices. This is why Apple and Samsung have dominated the market for a long time. It may be simpler to enter the industry, but to be able to compete with the larger firms is much more difficult.</a:t>
            </a:r>
          </a:p>
        </p:txBody>
      </p:sp>
      <p:sp>
        <p:nvSpPr>
          <p:cNvPr id="7" name="TextBox 6"/>
          <p:cNvSpPr txBox="1"/>
          <p:nvPr/>
        </p:nvSpPr>
        <p:spPr>
          <a:xfrm>
            <a:off x="6199632" y="886968"/>
            <a:ext cx="5806440" cy="5406608"/>
          </a:xfrm>
          <a:prstGeom prst="rect">
            <a:avLst/>
          </a:prstGeom>
          <a:noFill/>
        </p:spPr>
        <p:txBody>
          <a:bodyPr wrap="square">
            <a:spAutoFit/>
          </a:bodyPr>
          <a:lstStyle/>
          <a:p>
            <a:pPr algn="l">
              <a:spcAft>
                <a:spcPts val="500"/>
              </a:spcAft>
            </a:pPr>
            <a:r>
              <a:rPr sz="1400" b="1">
                <a:solidFill>
                  <a:srgbClr val="1F3864"/>
                </a:solidFill>
                <a:latin typeface="Calibri"/>
              </a:rPr>
              <a:t>Threat of Substitute Products or Services  |  Moderate</a:t>
            </a:r>
          </a:p>
          <a:p>
            <a:pPr algn="l">
              <a:spcBef>
                <a:spcPts val="500"/>
              </a:spcBef>
              <a:spcAft>
                <a:spcPts val="400"/>
              </a:spcAft>
            </a:pPr>
            <a:r>
              <a:rPr sz="1400" b="0">
                <a:solidFill>
                  <a:srgbClr val="000000"/>
                </a:solidFill>
                <a:latin typeface="Calibri"/>
              </a:rPr>
              <a:t>The threat of substitutes is defined as the chance of customers switching to alternative products or services. In the semiconductor industry, the threat of new substitutes is low. This is due to there not being any replacements to computer chips at the moment as they are essential to a wide variety of electronic devices. Therefore, the threat of new substitutes in the semiconductor industry is low.
Unlike the semiconductor industry, the threat of substitutes in the software infrastructure industry is much higher. AI and open-source software has recently entered the market and is now competing with paid software products. Companies such as Linux and OpenStack have allowed users to have cloud computing for free. Another example of a software emerging successfully in the industry is Zoom. As the pandemic commenced in 2020, Zoom was able to grow substantially as its software benefited online communication. Just as quickly as they succeeded though, they began to fall as platforms such as Microsoft Teams and Google Meet. This reveals how new substitutes can come into the software industry and succeed at faster rates.
The threat of substitutes in the consumer electronics industry is also high. As the market has seen over the past 25 years, innovations in smart devices have made massive strides. From the creation of the BlackBerry to the iPhone, consumer electronics continue to evolve. And as consumer preferences shift at a fast rate, new electronic devices will be released that will change the market further.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PORTER'S FIVE FORCES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Rivalry Among Existing Competitors  |  High</a:t>
            </a:r>
          </a:p>
        </p:txBody>
      </p:sp>
      <p:sp>
        <p:nvSpPr>
          <p:cNvPr id="6" name="TextBox 5"/>
          <p:cNvSpPr txBox="1"/>
          <p:nvPr/>
        </p:nvSpPr>
        <p:spPr>
          <a:xfrm>
            <a:off x="182880" y="886968"/>
            <a:ext cx="11823192" cy="2428870"/>
          </a:xfrm>
          <a:prstGeom prst="rect">
            <a:avLst/>
          </a:prstGeom>
          <a:noFill/>
        </p:spPr>
        <p:txBody>
          <a:bodyPr wrap="square">
            <a:spAutoFit/>
          </a:bodyPr>
          <a:lstStyle/>
          <a:p>
            <a:pPr algn="l">
              <a:spcAft>
                <a:spcPts val="500"/>
              </a:spcAft>
            </a:pPr>
            <a:r>
              <a:rPr sz="1400" b="1">
                <a:solidFill>
                  <a:srgbClr val="1F3864"/>
                </a:solidFill>
                <a:latin typeface="Calibri"/>
              </a:rPr>
              <a:t>Rivalry Among Existing Competitors  |  High</a:t>
            </a:r>
          </a:p>
          <a:p>
            <a:pPr algn="l">
              <a:spcBef>
                <a:spcPts val="600"/>
              </a:spcBef>
              <a:spcAft>
                <a:spcPts val="400"/>
              </a:spcAft>
            </a:pPr>
            <a:r>
              <a:rPr sz="1400" b="0">
                <a:solidFill>
                  <a:srgbClr val="000000"/>
                </a:solidFill>
                <a:latin typeface="Calibri"/>
              </a:rPr>
              <a:t>The rivalry among existing competitors represents the level of competition between firms in a sector or industry. For the semiconductor industry, the rivalry among existing competitors is intense. These firms have extremely high research and development spending to develop the most efficient computer chips. For example, NVIDIA and AMD are investing heavily in AI to create more efficient and powerful chips, creating a competitive landscape.
Rivalry in the software infrastructure industry is also high. Cloud providers are in a price war against their competitors to provide the lowest prices among their competitors. They also fight to maintain a solid platform for their users in order to keep sticky customers.
Lastly, rivalry in the consumer electronics industry is very high. In the U.S., Apple, Samsung, and LG are all competing to create the best products among all smart devices. This competition has led to new innovations as these firms are adding wearable devices to their products (smart watches, glasses). This strong competition should be maintained in the future.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SECTOR RECOMMENDATIONS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Investment Recommendations  |  Technology Sector (SPGSTI)</a:t>
            </a:r>
          </a:p>
        </p:txBody>
      </p:sp>
      <p:sp>
        <p:nvSpPr>
          <p:cNvPr id="6" name="TextBox 5"/>
          <p:cNvSpPr txBox="1"/>
          <p:nvPr/>
        </p:nvSpPr>
        <p:spPr>
          <a:xfrm>
            <a:off x="182880" y="886968"/>
            <a:ext cx="5806440" cy="2477601"/>
          </a:xfrm>
          <a:prstGeom prst="rect">
            <a:avLst/>
          </a:prstGeom>
          <a:noFill/>
        </p:spPr>
        <p:txBody>
          <a:bodyPr wrap="square">
            <a:spAutoFit/>
          </a:bodyPr>
          <a:lstStyle/>
          <a:p>
            <a:pPr algn="l">
              <a:spcAft>
                <a:spcPts val="500"/>
              </a:spcAft>
            </a:pPr>
            <a:r>
              <a:rPr sz="1400" b="1">
                <a:solidFill>
                  <a:srgbClr val="1F3864"/>
                </a:solidFill>
                <a:latin typeface="Calibri"/>
              </a:rPr>
              <a:t>Sector Call: OVERWEIGHT vs. S&amp;P 500</a:t>
            </a:r>
          </a:p>
          <a:p>
            <a:pPr algn="l">
              <a:spcBef>
                <a:spcPts val="500"/>
              </a:spcBef>
              <a:spcAft>
                <a:spcPts val="400"/>
              </a:spcAft>
            </a:pPr>
            <a:r>
              <a:rPr sz="1400" b="0">
                <a:solidFill>
                  <a:srgbClr val="000000"/>
                </a:solidFill>
                <a:latin typeface="Calibri"/>
              </a:rPr>
              <a:t>Our recommendation is to OVERWEIGHT the technology sector relative to the S&amp;P 500. The AI investment cycle is a structural, multi-year trend and not a short-term rotation. Revenue and earnings growth across all three sub-industries consistently outpaced the broader market from 2019 through 2025, and forward 2026 multiples compress materially as earnings catch up to current prices. The sector's 706.33% ten-year return versus the S&amp;P 500's 249.89% reflects sustained fundamental outperformance. We expect this to continue as AI monetization ramps across cloud, chips, and devices.</a:t>
            </a:r>
          </a:p>
          <a:p>
            <a:pPr algn="l">
              <a:spcBef>
                <a:spcPts val="400"/>
              </a:spcBef>
              <a:spcAft>
                <a:spcPts val="400"/>
              </a:spcAft>
            </a:pPr>
            <a:endParaRPr sz="1400" b="0">
              <a:solidFill>
                <a:srgbClr val="000000"/>
              </a:solidFill>
              <a:latin typeface="Calibri"/>
            </a:endParaRPr>
          </a:p>
        </p:txBody>
      </p:sp>
      <p:sp>
        <p:nvSpPr>
          <p:cNvPr id="8" name="TextBox 7"/>
          <p:cNvSpPr txBox="1"/>
          <p:nvPr/>
        </p:nvSpPr>
        <p:spPr>
          <a:xfrm>
            <a:off x="6199632" y="886968"/>
            <a:ext cx="5806440" cy="2805896"/>
          </a:xfrm>
          <a:prstGeom prst="rect">
            <a:avLst/>
          </a:prstGeom>
          <a:noFill/>
        </p:spPr>
        <p:txBody>
          <a:bodyPr wrap="square">
            <a:spAutoFit/>
          </a:bodyPr>
          <a:lstStyle/>
          <a:p>
            <a:pPr algn="l">
              <a:spcAft>
                <a:spcPts val="500"/>
              </a:spcAft>
            </a:pPr>
            <a:r>
              <a:rPr sz="1400" b="1">
                <a:solidFill>
                  <a:srgbClr val="1F3864"/>
                </a:solidFill>
                <a:latin typeface="Calibri"/>
              </a:rPr>
              <a:t>Key Risks</a:t>
            </a:r>
          </a:p>
          <a:p>
            <a:pPr algn="l">
              <a:spcBef>
                <a:spcPts val="500"/>
              </a:spcBef>
              <a:spcAft>
                <a:spcPts val="400"/>
              </a:spcAft>
            </a:pPr>
            <a:r>
              <a:rPr sz="1400" b="0">
                <a:solidFill>
                  <a:srgbClr val="000000"/>
                </a:solidFill>
                <a:latin typeface="Calibri"/>
              </a:rPr>
              <a:t>Key risks to this investment thesis include U.S. and China trade tensions and export controls on advanced semiconductors, which represent a direct threat to the earnings outlook for the semiconductor sub-industry. A Federal Reserve rate increase would compress growth multiples most severely in this sector given its elevated P/E ratios. An AI capital expenditure slowdown, if enterprise customers begin to question ROI on their AI investments, would hurt both semiconductors and cloud infrastructure simultaneously. The semiconductor inventory correction cycle, which has historically repeated every two to three years, remains a structural risk. Finally, antitrust and regulatory action targeting Microsoft, Google, or Apple could create headwinds for the largest index constituents.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 y="45720"/>
            <a:ext cx="11823192" cy="457200"/>
          </a:xfrm>
          <a:prstGeom prst="rect">
            <a:avLst/>
          </a:prstGeom>
          <a:noFill/>
        </p:spPr>
        <p:txBody>
          <a:bodyPr wrap="square">
            <a:spAutoFit/>
          </a:bodyPr>
          <a:lstStyle/>
          <a:p>
            <a:pPr algn="l"/>
            <a:r>
              <a:rPr sz="1800" b="1">
                <a:solidFill>
                  <a:srgbClr val="FFFFFF"/>
                </a:solidFill>
                <a:latin typeface="Calibri"/>
              </a:rPr>
              <a:t>SECTOR RECOMMENDATIONS</a:t>
            </a:r>
          </a:p>
        </p:txBody>
      </p:sp>
      <p:sp>
        <p:nvSpPr>
          <p:cNvPr id="5" name="TextBox 4"/>
          <p:cNvSpPr txBox="1"/>
          <p:nvPr/>
        </p:nvSpPr>
        <p:spPr>
          <a:xfrm>
            <a:off x="182880" y="530352"/>
            <a:ext cx="11823192" cy="246888"/>
          </a:xfrm>
          <a:prstGeom prst="rect">
            <a:avLst/>
          </a:prstGeom>
          <a:noFill/>
        </p:spPr>
        <p:txBody>
          <a:bodyPr wrap="square">
            <a:spAutoFit/>
          </a:bodyPr>
          <a:lstStyle/>
          <a:p>
            <a:pPr algn="l"/>
            <a:r>
              <a:rPr sz="1100" b="0">
                <a:solidFill>
                  <a:srgbClr val="FFFFFF"/>
                </a:solidFill>
                <a:latin typeface="Calibri"/>
              </a:rPr>
              <a:t>Sub-Industry Rankings and Preferred Positions</a:t>
            </a:r>
          </a:p>
        </p:txBody>
      </p:sp>
      <p:sp>
        <p:nvSpPr>
          <p:cNvPr id="6" name="TextBox 5"/>
          <p:cNvSpPr txBox="1"/>
          <p:nvPr/>
        </p:nvSpPr>
        <p:spPr>
          <a:xfrm>
            <a:off x="182880" y="886968"/>
            <a:ext cx="11823192" cy="2644314"/>
          </a:xfrm>
          <a:prstGeom prst="rect">
            <a:avLst/>
          </a:prstGeom>
          <a:noFill/>
        </p:spPr>
        <p:txBody>
          <a:bodyPr wrap="square">
            <a:spAutoFit/>
          </a:bodyPr>
          <a:lstStyle/>
          <a:p>
            <a:pPr algn="l">
              <a:spcAft>
                <a:spcPts val="500"/>
              </a:spcAft>
            </a:pPr>
            <a:r>
              <a:rPr sz="1400" b="1">
                <a:solidFill>
                  <a:srgbClr val="1F3864"/>
                </a:solidFill>
                <a:latin typeface="Calibri"/>
              </a:rPr>
              <a:t>Sub-Industry Rankings</a:t>
            </a:r>
          </a:p>
          <a:p>
            <a:pPr algn="l">
              <a:spcBef>
                <a:spcPts val="600"/>
              </a:spcBef>
              <a:spcAft>
                <a:spcPts val="400"/>
              </a:spcAft>
            </a:pPr>
            <a:r>
              <a:rPr sz="1400" b="0">
                <a:solidFill>
                  <a:srgbClr val="000000"/>
                </a:solidFill>
                <a:latin typeface="Calibri"/>
              </a:rPr>
              <a:t>Software Infrastructure is our preferred sub-industry. Recurring subscription revenues, gross margins of 73 to 77%, and operating margins expanding toward 36% make this the highest-quality, most defensible growth story within the sector. AI increases cloud demand structurally as model inference workloads grow. Our preferred positions are Microsoft and Salesforce.
Semiconductors are rated Overweight but with higher risk. The AI silicon demand cycle is real and R&amp;D investment is accelerating. However, the 2022 to 2023 inventory correction demonstrated how quickly earnings can reverse in a downturn. We recommend NVIDIA for AI GPU exposure, Broadcom for networking and custom silicon, and TSMC as the foundry with no credible substitute. Size positions appropriately given the cyclical risk.
Consumer Electronics is rated Neutral within the sector. The growth story depends largely on Apple's Services segment rather than hardware. Valuation is the most reasonable of the three sub-industries, and exceptional free cash flow generation provides a floor. We would not add new capital here but would hold existing positions.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3B54F-6063-447E-AF37-CFA626CB4A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E0FC114-FE0B-77B1-4C7D-6ABF5D107196}"/>
              </a:ext>
            </a:extLst>
          </p:cNvPr>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C9850181-177D-8484-E646-C1B67009D6E0}"/>
              </a:ext>
            </a:extLst>
          </p:cNvPr>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F534A7A-E0FB-D0CD-ED2D-A35494E989C1}"/>
              </a:ext>
            </a:extLst>
          </p:cNvPr>
          <p:cNvSpPr txBox="1"/>
          <p:nvPr/>
        </p:nvSpPr>
        <p:spPr>
          <a:xfrm>
            <a:off x="182880" y="45720"/>
            <a:ext cx="11823192" cy="369332"/>
          </a:xfrm>
          <a:prstGeom prst="rect">
            <a:avLst/>
          </a:prstGeom>
          <a:noFill/>
        </p:spPr>
        <p:txBody>
          <a:bodyPr wrap="square" lIns="91440" tIns="45720" rIns="91440" bIns="45720" anchor="t">
            <a:spAutoFit/>
          </a:bodyPr>
          <a:lstStyle/>
          <a:p>
            <a:r>
              <a:rPr lang="en-US" b="1">
                <a:solidFill>
                  <a:srgbClr val="FFFFFF"/>
                </a:solidFill>
                <a:latin typeface="Calibri"/>
              </a:rPr>
              <a:t>Works Cited</a:t>
            </a:r>
            <a:endParaRPr lang="en-US"/>
          </a:p>
        </p:txBody>
      </p:sp>
      <p:sp>
        <p:nvSpPr>
          <p:cNvPr id="7" name="TextBox 6">
            <a:extLst>
              <a:ext uri="{FF2B5EF4-FFF2-40B4-BE49-F238E27FC236}">
                <a16:creationId xmlns:a16="http://schemas.microsoft.com/office/drawing/2014/main" id="{18051ED4-D310-E93B-15A8-D355DC50CBD9}"/>
              </a:ext>
            </a:extLst>
          </p:cNvPr>
          <p:cNvSpPr txBox="1"/>
          <p:nvPr/>
        </p:nvSpPr>
        <p:spPr>
          <a:xfrm>
            <a:off x="2424" y="771161"/>
            <a:ext cx="12183976" cy="63863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0" i="0">
                <a:solidFill>
                  <a:srgbClr val="000000"/>
                </a:solidFill>
              </a:rPr>
              <a:t>Apple Inc. </a:t>
            </a:r>
            <a:r>
              <a:rPr lang="en-US" sz="1400" b="0" i="1">
                <a:solidFill>
                  <a:srgbClr val="000000"/>
                </a:solidFill>
              </a:rPr>
              <a:t>Form 10-K Annual Report 2024</a:t>
            </a:r>
            <a:r>
              <a:rPr lang="en-US" sz="1400" b="0" i="0">
                <a:solidFill>
                  <a:srgbClr val="000000"/>
                </a:solidFill>
              </a:rPr>
              <a:t>. U.S. Securities and Exchange Commission, 1 Nov. 2024, </a:t>
            </a:r>
            <a:r>
              <a:rPr lang="en-US" sz="1400" b="0" i="0">
                <a:solidFill>
                  <a:srgbClr val="000000"/>
                </a:solidFill>
                <a:hlinkClick r:id="rId2"/>
              </a:rPr>
              <a:t>www.sec.gov/cgi-bin/</a:t>
            </a:r>
            <a:r>
              <a:rPr lang="en-US" sz="1400">
                <a:solidFill>
                  <a:srgbClr val="000000"/>
                </a:solidFill>
                <a:hlinkClick r:id="rId2"/>
              </a:rPr>
              <a:t>browse-edgar?action</a:t>
            </a:r>
            <a:r>
              <a:rPr lang="en-US" sz="1400" b="0" i="0">
                <a:solidFill>
                  <a:srgbClr val="000000"/>
                </a:solidFill>
                <a:hlinkClick r:id="rId2"/>
              </a:rPr>
              <a:t>=getcompany&amp;CIK=AAPL&amp;type=10-K</a:t>
            </a:r>
            <a:r>
              <a:rPr lang="en-US" sz="1400" b="0" i="0">
                <a:solidFill>
                  <a:srgbClr val="000000"/>
                </a:solidFill>
              </a:rPr>
              <a:t>.</a:t>
            </a:r>
            <a:endParaRPr lang="en-US" sz="1400" b="0" i="0">
              <a:solidFill>
                <a:srgbClr val="000000"/>
              </a:solidFill>
              <a:ea typeface="Calibri"/>
              <a:cs typeface="Calibri"/>
            </a:endParaRPr>
          </a:p>
          <a:p>
            <a:endParaRPr lang="en-US" sz="1400">
              <a:solidFill>
                <a:srgbClr val="000000"/>
              </a:solidFill>
              <a:ea typeface="Calibri"/>
              <a:cs typeface="Calibri"/>
            </a:endParaRPr>
          </a:p>
          <a:p>
            <a:pPr algn="l"/>
            <a:r>
              <a:rPr lang="en-US" sz="1400" b="0" i="0">
                <a:solidFill>
                  <a:srgbClr val="000000"/>
                </a:solidFill>
              </a:rPr>
              <a:t>Bloomberg Intelligence. “Philadelphia Stock Exchange Semiconductor Index (SOX): Highlights, Valuation, Profitability, and Financial Data.” </a:t>
            </a:r>
            <a:r>
              <a:rPr lang="en-US" sz="1400" b="0" i="1">
                <a:solidFill>
                  <a:srgbClr val="000000"/>
                </a:solidFill>
              </a:rPr>
              <a:t>Bloomberg Terminal</a:t>
            </a:r>
            <a:r>
              <a:rPr lang="en-US" sz="1400" b="0" i="0">
                <a:solidFill>
                  <a:srgbClr val="000000"/>
                </a:solidFill>
              </a:rPr>
              <a:t>, 2025.</a:t>
            </a:r>
            <a:endParaRPr lang="en-US" sz="1400" b="0" i="0">
              <a:solidFill>
                <a:srgbClr val="000000"/>
              </a:solidFill>
              <a:ea typeface="Calibri"/>
              <a:cs typeface="Calibri"/>
            </a:endParaRPr>
          </a:p>
          <a:p>
            <a:endParaRPr lang="en-US" sz="1400">
              <a:solidFill>
                <a:srgbClr val="000000"/>
              </a:solidFill>
              <a:ea typeface="Calibri"/>
              <a:cs typeface="Calibri"/>
            </a:endParaRPr>
          </a:p>
          <a:p>
            <a:pPr algn="l"/>
            <a:r>
              <a:rPr lang="en-US" sz="1400" b="0" i="0">
                <a:solidFill>
                  <a:srgbClr val="000000"/>
                </a:solidFill>
              </a:rPr>
              <a:t>Bloomberg Intelligence. “S&amp;P 500 Information Technology Sector (S5INFT): Highlights, Valuation, Profitability, and Financial Data.” </a:t>
            </a:r>
            <a:r>
              <a:rPr lang="en-US" sz="1400" b="0" i="1">
                <a:solidFill>
                  <a:srgbClr val="000000"/>
                </a:solidFill>
              </a:rPr>
              <a:t>Bloomberg Terminal</a:t>
            </a:r>
            <a:r>
              <a:rPr lang="en-US" sz="1400" b="0" i="0">
                <a:solidFill>
                  <a:srgbClr val="000000"/>
                </a:solidFill>
              </a:rPr>
              <a:t>, 2025.</a:t>
            </a:r>
            <a:endParaRPr lang="en-US" sz="1400" b="0" i="0">
              <a:solidFill>
                <a:srgbClr val="000000"/>
              </a:solidFill>
              <a:ea typeface="Calibri"/>
              <a:cs typeface="Calibri"/>
            </a:endParaRPr>
          </a:p>
          <a:p>
            <a:endParaRPr lang="en-US" sz="1400">
              <a:solidFill>
                <a:srgbClr val="000000"/>
              </a:solidFill>
              <a:ea typeface="Calibri"/>
              <a:cs typeface="Calibri"/>
            </a:endParaRPr>
          </a:p>
          <a:p>
            <a:pPr algn="l"/>
            <a:r>
              <a:rPr lang="en-US" sz="1400" b="0" i="0">
                <a:solidFill>
                  <a:srgbClr val="000000"/>
                </a:solidFill>
              </a:rPr>
              <a:t>Broadcom Inc. </a:t>
            </a:r>
            <a:r>
              <a:rPr lang="en-US" sz="1400" b="0" i="1">
                <a:solidFill>
                  <a:srgbClr val="000000"/>
                </a:solidFill>
              </a:rPr>
              <a:t>Form 10-K Annual Report 2024</a:t>
            </a:r>
            <a:r>
              <a:rPr lang="en-US" sz="1400" b="0" i="0">
                <a:solidFill>
                  <a:srgbClr val="000000"/>
                </a:solidFill>
              </a:rPr>
              <a:t>. U.S. Securities and Exchange Commission, 2024, </a:t>
            </a:r>
            <a:r>
              <a:rPr lang="en-US" sz="1400" b="0" i="0">
                <a:solidFill>
                  <a:srgbClr val="000000"/>
                </a:solidFill>
                <a:hlinkClick r:id="rId3"/>
              </a:rPr>
              <a:t>www.sec.gov</a:t>
            </a:r>
            <a:r>
              <a:rPr lang="en-US" sz="1400" b="0" i="0">
                <a:solidFill>
                  <a:srgbClr val="000000"/>
                </a:solidFill>
              </a:rPr>
              <a:t>.</a:t>
            </a:r>
            <a:endParaRPr lang="en-US" sz="1400" b="0" i="0">
              <a:solidFill>
                <a:srgbClr val="000000"/>
              </a:solidFill>
              <a:ea typeface="Calibri"/>
              <a:cs typeface="Calibri"/>
            </a:endParaRPr>
          </a:p>
          <a:p>
            <a:endParaRPr lang="en-US" sz="1400">
              <a:solidFill>
                <a:srgbClr val="000000"/>
              </a:solidFill>
              <a:ea typeface="Calibri"/>
              <a:cs typeface="Calibri"/>
            </a:endParaRPr>
          </a:p>
          <a:p>
            <a:pPr algn="l"/>
            <a:r>
              <a:rPr lang="en-US" sz="1400" b="0" i="0">
                <a:solidFill>
                  <a:srgbClr val="000000"/>
                </a:solidFill>
              </a:rPr>
              <a:t>Gartner. “Gartner Forecasts Worldwide IT Spending to Grow 9.3% in 2025.” </a:t>
            </a:r>
            <a:r>
              <a:rPr lang="en-US" sz="1400" b="0" i="1">
                <a:solidFill>
                  <a:srgbClr val="000000"/>
                </a:solidFill>
              </a:rPr>
              <a:t>Gartner</a:t>
            </a:r>
            <a:r>
              <a:rPr lang="en-US" sz="1400" b="0" i="0">
                <a:solidFill>
                  <a:srgbClr val="000000"/>
                </a:solidFill>
              </a:rPr>
              <a:t>, 20 Jan. 2025, </a:t>
            </a:r>
            <a:r>
              <a:rPr lang="en-US" sz="1400" b="0" i="0">
                <a:solidFill>
                  <a:srgbClr val="000000"/>
                </a:solidFill>
                <a:hlinkClick r:id="rId4"/>
              </a:rPr>
              <a:t>www.gartner.com/en/newsroom/press-releases</a:t>
            </a:r>
            <a:r>
              <a:rPr lang="en-US" sz="1400" b="0" i="0">
                <a:solidFill>
                  <a:srgbClr val="000000"/>
                </a:solidFill>
              </a:rPr>
              <a:t>.</a:t>
            </a:r>
            <a:endParaRPr lang="en-US" sz="1400" b="0" i="0">
              <a:solidFill>
                <a:srgbClr val="000000"/>
              </a:solidFill>
              <a:ea typeface="Calibri"/>
              <a:cs typeface="Calibri"/>
            </a:endParaRPr>
          </a:p>
          <a:p>
            <a:endParaRPr lang="en-US" sz="1400">
              <a:solidFill>
                <a:srgbClr val="000000"/>
              </a:solidFill>
              <a:ea typeface="Calibri"/>
              <a:cs typeface="Calibri"/>
            </a:endParaRPr>
          </a:p>
          <a:p>
            <a:pPr algn="l"/>
            <a:r>
              <a:rPr lang="en-US" sz="1400" b="0" i="0">
                <a:solidFill>
                  <a:srgbClr val="000000"/>
                </a:solidFill>
              </a:rPr>
              <a:t>Intel Corporation. </a:t>
            </a:r>
            <a:r>
              <a:rPr lang="en-US" sz="1400" b="0" i="1">
                <a:solidFill>
                  <a:srgbClr val="000000"/>
                </a:solidFill>
              </a:rPr>
              <a:t>Form 10-K Annual Report 2024</a:t>
            </a:r>
            <a:r>
              <a:rPr lang="en-US" sz="1400" b="0" i="0">
                <a:solidFill>
                  <a:srgbClr val="000000"/>
                </a:solidFill>
              </a:rPr>
              <a:t>. U.S. Securities and Exchange Commission, 2024, </a:t>
            </a:r>
            <a:r>
              <a:rPr lang="en-US" sz="1400" b="0" i="0">
                <a:solidFill>
                  <a:srgbClr val="000000"/>
                </a:solidFill>
                <a:hlinkClick r:id="rId3"/>
              </a:rPr>
              <a:t>www.sec.gov</a:t>
            </a:r>
            <a:r>
              <a:rPr lang="en-US" sz="1400" b="0" i="0">
                <a:solidFill>
                  <a:srgbClr val="000000"/>
                </a:solidFill>
              </a:rPr>
              <a:t>.</a:t>
            </a:r>
            <a:endParaRPr lang="en-US" sz="1400" b="0" i="0">
              <a:solidFill>
                <a:srgbClr val="000000"/>
              </a:solidFill>
              <a:ea typeface="Calibri"/>
              <a:cs typeface="Calibri"/>
            </a:endParaRPr>
          </a:p>
          <a:p>
            <a:endParaRPr lang="en-US" sz="1400">
              <a:solidFill>
                <a:srgbClr val="000000"/>
              </a:solidFill>
              <a:ea typeface="Calibri"/>
              <a:cs typeface="Calibri"/>
            </a:endParaRPr>
          </a:p>
          <a:p>
            <a:pPr algn="l"/>
            <a:r>
              <a:rPr lang="en-US" sz="1400" b="0" i="0">
                <a:solidFill>
                  <a:srgbClr val="000000"/>
                </a:solidFill>
              </a:rPr>
              <a:t>International Data Corporation. “Worldwide PC Market and Consumer Electronics Industry Forecast, 2024–2028.” </a:t>
            </a:r>
            <a:r>
              <a:rPr lang="en-US" sz="1400" b="0" i="1">
                <a:solidFill>
                  <a:srgbClr val="000000"/>
                </a:solidFill>
              </a:rPr>
              <a:t>IDC</a:t>
            </a:r>
            <a:r>
              <a:rPr lang="en-US" sz="1400" b="0" i="0">
                <a:solidFill>
                  <a:srgbClr val="000000"/>
                </a:solidFill>
              </a:rPr>
              <a:t>, 2024, </a:t>
            </a:r>
            <a:r>
              <a:rPr lang="en-US" sz="1400" b="0" i="0">
                <a:solidFill>
                  <a:srgbClr val="000000"/>
                </a:solidFill>
                <a:hlinkClick r:id="rId5"/>
              </a:rPr>
              <a:t>www.idc.com</a:t>
            </a:r>
            <a:r>
              <a:rPr lang="en-US" sz="1400" b="0" i="0">
                <a:solidFill>
                  <a:srgbClr val="000000"/>
                </a:solidFill>
              </a:rPr>
              <a:t>.</a:t>
            </a:r>
            <a:endParaRPr lang="en-US" sz="1400" b="0" i="0">
              <a:solidFill>
                <a:srgbClr val="000000"/>
              </a:solidFill>
              <a:ea typeface="Calibri"/>
              <a:cs typeface="Calibri"/>
            </a:endParaRPr>
          </a:p>
          <a:p>
            <a:endParaRPr lang="en-US" sz="1400">
              <a:solidFill>
                <a:srgbClr val="000000"/>
              </a:solidFill>
              <a:ea typeface="Calibri"/>
              <a:cs typeface="Calibri"/>
            </a:endParaRPr>
          </a:p>
          <a:p>
            <a:pPr algn="l"/>
            <a:r>
              <a:rPr lang="en-US" sz="1400" b="0" i="0">
                <a:solidFill>
                  <a:srgbClr val="000000"/>
                </a:solidFill>
              </a:rPr>
              <a:t>McKinsey Global Institute. “The State of AI in 2024.” </a:t>
            </a:r>
            <a:r>
              <a:rPr lang="en-US" sz="1400" b="0" i="1">
                <a:solidFill>
                  <a:srgbClr val="000000"/>
                </a:solidFill>
              </a:rPr>
              <a:t>McKinsey &amp; Company</a:t>
            </a:r>
            <a:r>
              <a:rPr lang="en-US" sz="1400" b="0" i="0">
                <a:solidFill>
                  <a:srgbClr val="000000"/>
                </a:solidFill>
              </a:rPr>
              <a:t>, May 2024, </a:t>
            </a:r>
            <a:r>
              <a:rPr lang="en-US" sz="1400" b="0" i="0">
                <a:solidFill>
                  <a:srgbClr val="000000"/>
                </a:solidFill>
                <a:hlinkClick r:id="rId6"/>
              </a:rPr>
              <a:t>www.mckinsey.com/capabilities/quantumblack/our-insights/the-state-of-ai</a:t>
            </a:r>
            <a:r>
              <a:rPr lang="en-US" sz="1400" b="0" i="0">
                <a:solidFill>
                  <a:srgbClr val="000000"/>
                </a:solidFill>
              </a:rPr>
              <a:t>.</a:t>
            </a:r>
            <a:endParaRPr lang="en-US" sz="1400" b="0" i="0">
              <a:solidFill>
                <a:srgbClr val="000000"/>
              </a:solidFill>
              <a:ea typeface="Calibri"/>
              <a:cs typeface="Calibri"/>
            </a:endParaRPr>
          </a:p>
          <a:p>
            <a:endParaRPr lang="en-US" sz="1400">
              <a:solidFill>
                <a:srgbClr val="000000"/>
              </a:solidFill>
              <a:ea typeface="Calibri"/>
              <a:cs typeface="Calibri"/>
            </a:endParaRPr>
          </a:p>
          <a:p>
            <a:pPr algn="l"/>
            <a:r>
              <a:rPr lang="en-US" sz="1400" b="0" i="0">
                <a:solidFill>
                  <a:srgbClr val="000000"/>
                </a:solidFill>
              </a:rPr>
              <a:t>Metz, Rachel. “Anthropic Inks $1.8 Billion Computing Deal with Akamai.” </a:t>
            </a:r>
            <a:r>
              <a:rPr lang="en-US" sz="1400" b="0" i="1">
                <a:solidFill>
                  <a:srgbClr val="000000"/>
                </a:solidFill>
              </a:rPr>
              <a:t>Bloomberg</a:t>
            </a:r>
            <a:r>
              <a:rPr lang="en-US" sz="1400" b="0" i="0">
                <a:solidFill>
                  <a:srgbClr val="000000"/>
                </a:solidFill>
              </a:rPr>
              <a:t>, 2024.</a:t>
            </a:r>
            <a:endParaRPr lang="en-US" sz="1400" b="0" i="0">
              <a:solidFill>
                <a:srgbClr val="000000"/>
              </a:solidFill>
              <a:ea typeface="Calibri"/>
              <a:cs typeface="Calibri"/>
            </a:endParaRPr>
          </a:p>
          <a:p>
            <a:endParaRPr lang="en-US" sz="1400">
              <a:solidFill>
                <a:srgbClr val="000000"/>
              </a:solidFill>
              <a:ea typeface="Calibri"/>
              <a:cs typeface="Calibri"/>
            </a:endParaRPr>
          </a:p>
          <a:p>
            <a:pPr algn="l"/>
            <a:r>
              <a:rPr lang="en-US" sz="1400" b="0" i="0">
                <a:solidFill>
                  <a:srgbClr val="000000"/>
                </a:solidFill>
              </a:rPr>
              <a:t>Microsoft Corporation. </a:t>
            </a:r>
            <a:r>
              <a:rPr lang="en-US" sz="1400" b="0" i="1">
                <a:solidFill>
                  <a:srgbClr val="000000"/>
                </a:solidFill>
              </a:rPr>
              <a:t>Form 10-K Annual Report 2024</a:t>
            </a:r>
            <a:r>
              <a:rPr lang="en-US" sz="1400" b="0" i="0">
                <a:solidFill>
                  <a:srgbClr val="000000"/>
                </a:solidFill>
              </a:rPr>
              <a:t>. U.S. Securities and Exchange Commission, 2024, </a:t>
            </a:r>
            <a:r>
              <a:rPr lang="en-US" sz="1400" b="0" i="0">
                <a:solidFill>
                  <a:srgbClr val="000000"/>
                </a:solidFill>
                <a:hlinkClick r:id="rId3"/>
              </a:rPr>
              <a:t>www.sec.gov</a:t>
            </a:r>
            <a:r>
              <a:rPr lang="en-US" sz="1400" b="0" i="0">
                <a:solidFill>
                  <a:srgbClr val="000000"/>
                </a:solidFill>
              </a:rPr>
              <a:t>.</a:t>
            </a:r>
            <a:endParaRPr lang="en-US" sz="1400" b="0" i="0">
              <a:solidFill>
                <a:srgbClr val="000000"/>
              </a:solidFill>
              <a:ea typeface="Calibri"/>
              <a:cs typeface="Calibri"/>
            </a:endParaRPr>
          </a:p>
          <a:p>
            <a:endParaRPr lang="en-US" sz="1400">
              <a:solidFill>
                <a:srgbClr val="000000"/>
              </a:solidFill>
              <a:ea typeface="Calibri"/>
              <a:cs typeface="Calibri"/>
            </a:endParaRPr>
          </a:p>
          <a:p>
            <a:pPr algn="l"/>
            <a:r>
              <a:rPr lang="en-US" sz="1400" b="0" i="0">
                <a:solidFill>
                  <a:srgbClr val="000000"/>
                </a:solidFill>
              </a:rPr>
              <a:t>Morningstar. “ASML Holding NV: Company Report and Market Share Analysis.” </a:t>
            </a:r>
            <a:r>
              <a:rPr lang="en-US" sz="1400" b="0" i="1">
                <a:solidFill>
                  <a:srgbClr val="000000"/>
                </a:solidFill>
              </a:rPr>
              <a:t>Morningstar Direct</a:t>
            </a:r>
            <a:r>
              <a:rPr lang="en-US" sz="1400" b="0" i="0">
                <a:solidFill>
                  <a:srgbClr val="000000"/>
                </a:solidFill>
              </a:rPr>
              <a:t>, 2025, </a:t>
            </a:r>
            <a:r>
              <a:rPr lang="en-US" sz="1400" b="0" i="0">
                <a:solidFill>
                  <a:srgbClr val="000000"/>
                </a:solidFill>
                <a:hlinkClick r:id="rId7"/>
              </a:rPr>
              <a:t>www.morningstar.com</a:t>
            </a:r>
            <a:r>
              <a:rPr lang="en-US" sz="1400" b="0" i="0">
                <a:solidFill>
                  <a:srgbClr val="000000"/>
                </a:solidFill>
              </a:rPr>
              <a:t>.</a:t>
            </a:r>
            <a:endParaRPr lang="en-US" sz="1400" b="0" i="0">
              <a:solidFill>
                <a:srgbClr val="000000"/>
              </a:solidFill>
              <a:ea typeface="Calibri"/>
              <a:cs typeface="Calibri"/>
            </a:endParaRPr>
          </a:p>
          <a:p>
            <a:endParaRPr lang="en-US" sz="1400">
              <a:solidFill>
                <a:srgbClr val="000000"/>
              </a:solidFill>
              <a:ea typeface="Calibri"/>
              <a:cs typeface="Calibri"/>
            </a:endParaRPr>
          </a:p>
          <a:p>
            <a:pPr algn="l"/>
            <a:r>
              <a:rPr lang="en-US" sz="1400" b="0" i="0">
                <a:solidFill>
                  <a:srgbClr val="000000"/>
                </a:solidFill>
              </a:rPr>
              <a:t>NVIDIA Corporation. </a:t>
            </a:r>
            <a:r>
              <a:rPr lang="en-US" sz="1400" b="0" i="1">
                <a:solidFill>
                  <a:srgbClr val="000000"/>
                </a:solidFill>
              </a:rPr>
              <a:t>Form 10-K Annual Report 2024</a:t>
            </a:r>
            <a:r>
              <a:rPr lang="en-US" sz="1400" b="0" i="0">
                <a:solidFill>
                  <a:srgbClr val="000000"/>
                </a:solidFill>
              </a:rPr>
              <a:t>. U.S. Securities and Exchange Commission, 26 Feb. 2025, </a:t>
            </a:r>
            <a:r>
              <a:rPr lang="en-US" sz="1400" b="0" i="0">
                <a:solidFill>
                  <a:srgbClr val="000000"/>
                </a:solidFill>
                <a:hlinkClick r:id="rId3"/>
              </a:rPr>
              <a:t>www.sec.gov</a:t>
            </a:r>
            <a:r>
              <a:rPr lang="en-US" sz="1400" b="0" i="0">
                <a:solidFill>
                  <a:srgbClr val="000000"/>
                </a:solidFill>
              </a:rPr>
              <a:t>.</a:t>
            </a:r>
            <a:endParaRPr lang="en-US" sz="1400" b="0" i="0">
              <a:solidFill>
                <a:srgbClr val="000000"/>
              </a:solidFill>
              <a:ea typeface="Calibri"/>
              <a:cs typeface="Calibri"/>
            </a:endParaRPr>
          </a:p>
          <a:p>
            <a:endParaRPr lang="en-US" sz="1400">
              <a:solidFill>
                <a:srgbClr val="000000"/>
              </a:solidFill>
              <a:ea typeface="Calibri"/>
              <a:cs typeface="Calibri"/>
            </a:endParaRPr>
          </a:p>
          <a:p>
            <a:r>
              <a:rPr lang="en-US" sz="1400" b="0" i="0">
                <a:solidFill>
                  <a:srgbClr val="000000"/>
                </a:solidFill>
              </a:rPr>
              <a:t>NVIDIA Corporation. “NVIDIA Announces Financial Results for Fourth Quarter and Fiscal 2025.” </a:t>
            </a:r>
            <a:r>
              <a:rPr lang="en-US" sz="1400" b="0" i="1">
                <a:solidFill>
                  <a:srgbClr val="000000"/>
                </a:solidFill>
              </a:rPr>
              <a:t>NVIDIA Investor Relations</a:t>
            </a:r>
            <a:r>
              <a:rPr lang="en-US" sz="1400" b="0" i="0">
                <a:solidFill>
                  <a:srgbClr val="000000"/>
                </a:solidFill>
              </a:rPr>
              <a:t>, 26 Feb. 2025, investor.nvidia.com/</a:t>
            </a:r>
            <a:r>
              <a:rPr lang="en-US" sz="1400">
                <a:solidFill>
                  <a:srgbClr val="000000"/>
                </a:solidFill>
              </a:rPr>
              <a:t>news-and events</a:t>
            </a:r>
            <a:r>
              <a:rPr lang="en-US" sz="1400" b="0" i="0">
                <a:solidFill>
                  <a:srgbClr val="000000"/>
                </a:solidFill>
              </a:rPr>
              <a:t>/press-releases.</a:t>
            </a:r>
            <a:endParaRPr lang="en-US" sz="1400" b="0" i="0">
              <a:solidFill>
                <a:srgbClr val="000000"/>
              </a:solidFill>
              <a:ea typeface="Calibri"/>
              <a:cs typeface="Calibri"/>
            </a:endParaRPr>
          </a:p>
          <a:p>
            <a:endParaRPr lang="en-US" sz="1300">
              <a:solidFill>
                <a:srgbClr val="000000"/>
              </a:solidFill>
              <a:ea typeface="Calibri"/>
              <a:cs typeface="Calibri"/>
            </a:endParaRPr>
          </a:p>
          <a:p>
            <a:pPr algn="ctr"/>
            <a:endParaRPr lang="en-US">
              <a:ea typeface="Calibri"/>
              <a:cs typeface="Calibri"/>
            </a:endParaRPr>
          </a:p>
        </p:txBody>
      </p:sp>
    </p:spTree>
    <p:extLst>
      <p:ext uri="{BB962C8B-B14F-4D97-AF65-F5344CB8AC3E}">
        <p14:creationId xmlns:p14="http://schemas.microsoft.com/office/powerpoint/2010/main" val="1064366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77AFC-7481-DB46-D147-0CBBA396A75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82843BA-5F48-9975-0A7F-58E8513D0516}"/>
              </a:ext>
            </a:extLst>
          </p:cNvPr>
          <p:cNvSpPr/>
          <p:nvPr/>
        </p:nvSpPr>
        <p:spPr>
          <a:xfrm>
            <a:off x="0" y="0"/>
            <a:ext cx="12188952" cy="5029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EE3FFAF-F198-CAFE-37D1-700A78E89CFB}"/>
              </a:ext>
            </a:extLst>
          </p:cNvPr>
          <p:cNvSpPr/>
          <p:nvPr/>
        </p:nvSpPr>
        <p:spPr>
          <a:xfrm>
            <a:off x="0" y="502920"/>
            <a:ext cx="12188952" cy="274320"/>
          </a:xfrm>
          <a:prstGeom prst="rect">
            <a:avLst/>
          </a:prstGeom>
          <a:solidFill>
            <a:srgbClr val="2E74B5"/>
          </a:solidFill>
          <a:ln>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3AD28DD-C2FC-464B-FF3B-FEBAED479198}"/>
              </a:ext>
            </a:extLst>
          </p:cNvPr>
          <p:cNvSpPr txBox="1"/>
          <p:nvPr/>
        </p:nvSpPr>
        <p:spPr>
          <a:xfrm>
            <a:off x="182880" y="45720"/>
            <a:ext cx="11823192" cy="369332"/>
          </a:xfrm>
          <a:prstGeom prst="rect">
            <a:avLst/>
          </a:prstGeom>
          <a:noFill/>
        </p:spPr>
        <p:txBody>
          <a:bodyPr wrap="square" lIns="91440" tIns="45720" rIns="91440" bIns="45720" anchor="t">
            <a:spAutoFit/>
          </a:bodyPr>
          <a:lstStyle/>
          <a:p>
            <a:r>
              <a:rPr lang="en-US" b="1">
                <a:solidFill>
                  <a:srgbClr val="FFFFFF"/>
                </a:solidFill>
                <a:latin typeface="Calibri"/>
              </a:rPr>
              <a:t>Works Cited Continued</a:t>
            </a:r>
            <a:endParaRPr lang="en-US"/>
          </a:p>
        </p:txBody>
      </p:sp>
      <p:sp>
        <p:nvSpPr>
          <p:cNvPr id="7" name="TextBox 6">
            <a:extLst>
              <a:ext uri="{FF2B5EF4-FFF2-40B4-BE49-F238E27FC236}">
                <a16:creationId xmlns:a16="http://schemas.microsoft.com/office/drawing/2014/main" id="{1C624677-35E8-93D0-E521-5E9178C79179}"/>
              </a:ext>
            </a:extLst>
          </p:cNvPr>
          <p:cNvSpPr txBox="1"/>
          <p:nvPr/>
        </p:nvSpPr>
        <p:spPr>
          <a:xfrm>
            <a:off x="2424" y="771161"/>
            <a:ext cx="12271246"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Philadelphia Stock Exchange. “PHLX Semiconductor Sector Index (SOX): Index Methodology.” </a:t>
            </a:r>
            <a:r>
              <a:rPr lang="en-US" sz="1400" i="1">
                <a:ea typeface="Calibri"/>
                <a:cs typeface="Calibri"/>
              </a:rPr>
              <a:t>Nasdaq</a:t>
            </a:r>
            <a:r>
              <a:rPr lang="en-US" sz="1400">
                <a:ea typeface="Calibri"/>
                <a:cs typeface="Calibri"/>
              </a:rPr>
              <a:t>, 2024, </a:t>
            </a:r>
            <a:r>
              <a:rPr lang="en-US" sz="1400">
                <a:ea typeface="Calibri"/>
                <a:cs typeface="Calibri"/>
                <a:hlinkClick r:id="rId2"/>
              </a:rPr>
              <a:t>www.nasdaq.com/solutions/nasdaq-phlx-semiconductor-sector-index</a:t>
            </a:r>
            <a:r>
              <a:rPr lang="en-US" sz="1400">
                <a:ea typeface="Calibri"/>
                <a:cs typeface="Calibri"/>
              </a:rPr>
              <a:t>.</a:t>
            </a:r>
          </a:p>
          <a:p>
            <a:endParaRPr lang="en-US" sz="1400">
              <a:ea typeface="Calibri"/>
              <a:cs typeface="Calibri"/>
            </a:endParaRPr>
          </a:p>
          <a:p>
            <a:r>
              <a:rPr lang="en-US" sz="1400">
                <a:ea typeface="Calibri"/>
                <a:cs typeface="Calibri"/>
              </a:rPr>
              <a:t>S&amp;P Dow Jones Indices. “S&amp;P 500 Information Technology Sector Index: Index Methodology.” </a:t>
            </a:r>
            <a:r>
              <a:rPr lang="en-US" sz="1400" i="1">
                <a:ea typeface="Calibri"/>
                <a:cs typeface="Calibri"/>
              </a:rPr>
              <a:t>S&amp;P Global</a:t>
            </a:r>
            <a:r>
              <a:rPr lang="en-US" sz="1400">
                <a:ea typeface="Calibri"/>
                <a:cs typeface="Calibri"/>
              </a:rPr>
              <a:t>, 2024, </a:t>
            </a:r>
            <a:r>
              <a:rPr lang="en-US" sz="1400">
                <a:ea typeface="Calibri"/>
                <a:cs typeface="Calibri"/>
                <a:hlinkClick r:id="rId3"/>
              </a:rPr>
              <a:t>www.spglobal.com/spdji/en</a:t>
            </a:r>
            <a:r>
              <a:rPr lang="en-US" sz="1400">
                <a:ea typeface="Calibri"/>
                <a:cs typeface="Calibri"/>
              </a:rPr>
              <a:t>.</a:t>
            </a:r>
          </a:p>
          <a:p>
            <a:endParaRPr lang="en-US" sz="1400">
              <a:ea typeface="Calibri"/>
              <a:cs typeface="Calibri"/>
            </a:endParaRPr>
          </a:p>
          <a:p>
            <a:r>
              <a:rPr lang="en-US" sz="1400">
                <a:ea typeface="Calibri"/>
                <a:cs typeface="Calibri"/>
              </a:rPr>
              <a:t>S&amp;P Dow Jones Indices. “S&amp;P North American Technology Sector Index (SPGSTI): Fact Sheet and Methodology.” </a:t>
            </a:r>
            <a:r>
              <a:rPr lang="en-US" sz="1400" i="1">
                <a:ea typeface="Calibri"/>
                <a:cs typeface="Calibri"/>
              </a:rPr>
              <a:t>S&amp;P Global</a:t>
            </a:r>
            <a:r>
              <a:rPr lang="en-US" sz="1400">
                <a:ea typeface="Calibri"/>
                <a:cs typeface="Calibri"/>
              </a:rPr>
              <a:t>, 2025, </a:t>
            </a:r>
            <a:r>
              <a:rPr lang="en-US" sz="1400">
                <a:ea typeface="Calibri"/>
                <a:cs typeface="Calibri"/>
                <a:hlinkClick r:id="rId4"/>
              </a:rPr>
              <a:t>www.spglobal.com/spdji/en/indices/equity/sp-north-</a:t>
            </a:r>
            <a:r>
              <a:rPr lang="en-US" sz="1400" err="1">
                <a:ea typeface="Calibri"/>
                <a:cs typeface="Calibri"/>
                <a:hlinkClick r:id="rId4"/>
              </a:rPr>
              <a:t>american</a:t>
            </a:r>
            <a:r>
              <a:rPr lang="en-US" sz="1400">
                <a:ea typeface="Calibri"/>
                <a:cs typeface="Calibri"/>
                <a:hlinkClick r:id="rId4"/>
              </a:rPr>
              <a:t>-technology-sector-index</a:t>
            </a:r>
            <a:r>
              <a:rPr lang="en-US" sz="1400">
                <a:ea typeface="Calibri"/>
                <a:cs typeface="Calibri"/>
              </a:rPr>
              <a:t>.</a:t>
            </a:r>
          </a:p>
          <a:p>
            <a:endParaRPr lang="en-US" sz="1400">
              <a:ea typeface="Calibri"/>
              <a:cs typeface="Calibri"/>
            </a:endParaRPr>
          </a:p>
          <a:p>
            <a:r>
              <a:rPr lang="en-US" sz="1400">
                <a:ea typeface="Calibri"/>
                <a:cs typeface="Calibri"/>
              </a:rPr>
              <a:t>Salesforce Inc. </a:t>
            </a:r>
            <a:r>
              <a:rPr lang="en-US" sz="1400" i="1">
                <a:ea typeface="Calibri"/>
                <a:cs typeface="Calibri"/>
              </a:rPr>
              <a:t>Form 10-K Annual Report 2024</a:t>
            </a:r>
            <a:r>
              <a:rPr lang="en-US" sz="1400">
                <a:ea typeface="Calibri"/>
                <a:cs typeface="Calibri"/>
              </a:rPr>
              <a:t>. U.S. Securities and Exchange Commission, 2024, </a:t>
            </a:r>
            <a:r>
              <a:rPr lang="en-US" sz="1400">
                <a:ea typeface="Calibri"/>
                <a:cs typeface="Calibri"/>
                <a:hlinkClick r:id="rId5"/>
              </a:rPr>
              <a:t>www.sec.gov</a:t>
            </a:r>
            <a:r>
              <a:rPr lang="en-US" sz="1400">
                <a:ea typeface="Calibri"/>
                <a:cs typeface="Calibri"/>
              </a:rPr>
              <a:t>.</a:t>
            </a:r>
          </a:p>
          <a:p>
            <a:endParaRPr lang="en-US" sz="1400">
              <a:ea typeface="Calibri"/>
              <a:cs typeface="Calibri"/>
            </a:endParaRPr>
          </a:p>
          <a:p>
            <a:r>
              <a:rPr lang="en-US" sz="1400">
                <a:ea typeface="Calibri"/>
                <a:cs typeface="Calibri"/>
              </a:rPr>
              <a:t>Semiconductor Industry Association. “2024 State of the U.S. Semiconductor Industry.” </a:t>
            </a:r>
            <a:r>
              <a:rPr lang="en-US" sz="1400" i="1">
                <a:ea typeface="Calibri"/>
                <a:cs typeface="Calibri"/>
              </a:rPr>
              <a:t>SIA</a:t>
            </a:r>
            <a:r>
              <a:rPr lang="en-US" sz="1400">
                <a:ea typeface="Calibri"/>
                <a:cs typeface="Calibri"/>
              </a:rPr>
              <a:t>, Sept. 2024, </a:t>
            </a:r>
            <a:r>
              <a:rPr lang="en-US" sz="1400">
                <a:ea typeface="Calibri"/>
                <a:cs typeface="Calibri"/>
                <a:hlinkClick r:id="rId6"/>
              </a:rPr>
              <a:t>www.semiconductors.org/state-of-the-u-s-semiconductor-industry</a:t>
            </a:r>
            <a:r>
              <a:rPr lang="en-US" sz="1400">
                <a:ea typeface="Calibri"/>
                <a:cs typeface="Calibri"/>
              </a:rPr>
              <a:t>.</a:t>
            </a:r>
          </a:p>
          <a:p>
            <a:endParaRPr lang="en-US" sz="1400">
              <a:ea typeface="Calibri"/>
              <a:cs typeface="Calibri"/>
            </a:endParaRPr>
          </a:p>
          <a:p>
            <a:r>
              <a:rPr lang="en-US" sz="1400">
                <a:ea typeface="Calibri"/>
                <a:cs typeface="Calibri"/>
              </a:rPr>
              <a:t>Sobhani, Kunjan, and Oscar Hernandez Tejada. “Apple Deal Would Be Intel Foundry’s Biggest Validation: React.” </a:t>
            </a:r>
            <a:r>
              <a:rPr lang="en-US" sz="1400" i="1">
                <a:ea typeface="Calibri"/>
                <a:cs typeface="Calibri"/>
              </a:rPr>
              <a:t>Bloomberg Intelligence</a:t>
            </a:r>
            <a:r>
              <a:rPr lang="en-US" sz="1400">
                <a:ea typeface="Calibri"/>
                <a:cs typeface="Calibri"/>
              </a:rPr>
              <a:t>, </a:t>
            </a:r>
            <a:r>
              <a:rPr lang="en-US" sz="1400" i="1">
                <a:ea typeface="Calibri"/>
                <a:cs typeface="Calibri"/>
              </a:rPr>
              <a:t>Bloomberg Terminal</a:t>
            </a:r>
            <a:r>
              <a:rPr lang="en-US" sz="1400">
                <a:ea typeface="Calibri"/>
                <a:cs typeface="Calibri"/>
              </a:rPr>
              <a:t>, 2025.</a:t>
            </a:r>
          </a:p>
          <a:p>
            <a:endParaRPr lang="en-US" sz="1400">
              <a:ea typeface="Calibri"/>
              <a:cs typeface="Calibri"/>
            </a:endParaRPr>
          </a:p>
          <a:p>
            <a:r>
              <a:rPr lang="en-US" sz="1400">
                <a:ea typeface="Calibri"/>
                <a:cs typeface="Calibri"/>
              </a:rPr>
              <a:t>Taiwan Semiconductor Manufacturing Company. </a:t>
            </a:r>
            <a:r>
              <a:rPr lang="en-US" sz="1400" i="1">
                <a:ea typeface="Calibri"/>
                <a:cs typeface="Calibri"/>
              </a:rPr>
              <a:t>TSMC 2024 Annual Report</a:t>
            </a:r>
            <a:r>
              <a:rPr lang="en-US" sz="1400">
                <a:ea typeface="Calibri"/>
                <a:cs typeface="Calibri"/>
              </a:rPr>
              <a:t>. </a:t>
            </a:r>
            <a:r>
              <a:rPr lang="en-US" sz="1400" i="1">
                <a:ea typeface="Calibri"/>
                <a:cs typeface="Calibri"/>
              </a:rPr>
              <a:t>TSMC Investor Relations</a:t>
            </a:r>
            <a:r>
              <a:rPr lang="en-US" sz="1400">
                <a:ea typeface="Calibri"/>
                <a:cs typeface="Calibri"/>
              </a:rPr>
              <a:t>, 2025, investor.tsmc.com.</a:t>
            </a:r>
          </a:p>
          <a:p>
            <a:endParaRPr lang="en-US" sz="1400">
              <a:ea typeface="Calibri"/>
              <a:cs typeface="Calibri"/>
            </a:endParaRPr>
          </a:p>
          <a:p>
            <a:r>
              <a:rPr lang="en-US" sz="1400">
                <a:ea typeface="Calibri"/>
                <a:cs typeface="Calibri"/>
              </a:rPr>
              <a:t>Torrence, Rebecca. “AI Chipmaker Cerebras Is Said to Plan Raising IPO Price Range.” </a:t>
            </a:r>
            <a:r>
              <a:rPr lang="en-US" sz="1400" i="1">
                <a:ea typeface="Calibri"/>
                <a:cs typeface="Calibri"/>
              </a:rPr>
              <a:t>Bloomberg</a:t>
            </a:r>
            <a:r>
              <a:rPr lang="en-US" sz="1400">
                <a:ea typeface="Calibri"/>
                <a:cs typeface="Calibri"/>
              </a:rPr>
              <a:t>, 2024.</a:t>
            </a:r>
          </a:p>
          <a:p>
            <a:endParaRPr lang="en-US" sz="1400">
              <a:ea typeface="Calibri"/>
              <a:cs typeface="Calibri"/>
            </a:endParaRPr>
          </a:p>
          <a:p>
            <a:r>
              <a:rPr lang="en-US" sz="1400">
                <a:ea typeface="Calibri"/>
                <a:cs typeface="Calibri"/>
              </a:rPr>
              <a:t>U.S. Bureau of Economic Analysis. “Gross Domestic Product, Third Quarter 2024.” </a:t>
            </a:r>
            <a:r>
              <a:rPr lang="en-US" sz="1400" i="1">
                <a:ea typeface="Calibri"/>
                <a:cs typeface="Calibri"/>
              </a:rPr>
              <a:t>BEA</a:t>
            </a:r>
            <a:r>
              <a:rPr lang="en-US" sz="1400">
                <a:ea typeface="Calibri"/>
                <a:cs typeface="Calibri"/>
              </a:rPr>
              <a:t>, 30 Oct. 2024, </a:t>
            </a:r>
            <a:r>
              <a:rPr lang="en-US" sz="1400">
                <a:ea typeface="Calibri"/>
                <a:cs typeface="Calibri"/>
                <a:hlinkClick r:id="rId7"/>
              </a:rPr>
              <a:t>www.bea.gov/news/2024/gross-domestic-product-third-quarter-2024</a:t>
            </a:r>
            <a:r>
              <a:rPr lang="en-US" sz="1400">
                <a:ea typeface="Calibri"/>
                <a:cs typeface="Calibri"/>
              </a:rPr>
              <a:t>.</a:t>
            </a:r>
          </a:p>
          <a:p>
            <a:endParaRPr lang="en-US" sz="1400">
              <a:ea typeface="Calibri"/>
              <a:cs typeface="Calibri"/>
            </a:endParaRPr>
          </a:p>
          <a:p>
            <a:r>
              <a:rPr lang="en-US" sz="1400">
                <a:ea typeface="Calibri"/>
                <a:cs typeface="Calibri"/>
              </a:rPr>
              <a:t>U.S. Semiconductor Industry Association and Boston Consulting Group. “Strengthening the Global Semiconductor Supply Chain in an Uncertain Era.” </a:t>
            </a:r>
            <a:r>
              <a:rPr lang="en-US" sz="1400" i="1">
                <a:ea typeface="Calibri"/>
                <a:cs typeface="Calibri"/>
              </a:rPr>
              <a:t>Boston Consulting Group</a:t>
            </a:r>
            <a:r>
              <a:rPr lang="en-US" sz="1400">
                <a:ea typeface="Calibri"/>
                <a:cs typeface="Calibri"/>
              </a:rPr>
              <a:t>, Apr. 2021, </a:t>
            </a:r>
            <a:r>
              <a:rPr lang="en-US" sz="1400">
                <a:ea typeface="Calibri"/>
                <a:cs typeface="Calibri"/>
                <a:hlinkClick r:id="rId8"/>
              </a:rPr>
              <a:t>www.bcg.com/publications/2021/strengthening-the-global-semiconductor-supply-chain</a:t>
            </a:r>
            <a:r>
              <a:rPr lang="en-US" sz="1400">
                <a:ea typeface="Calibri"/>
                <a:cs typeface="Calibri"/>
              </a:rPr>
              <a:t>.</a:t>
            </a:r>
          </a:p>
          <a:p>
            <a:pPr algn="ctr"/>
            <a:endParaRPr lang="en-US">
              <a:ea typeface="Calibri"/>
              <a:cs typeface="Calibri"/>
            </a:endParaRPr>
          </a:p>
        </p:txBody>
      </p:sp>
    </p:spTree>
    <p:extLst>
      <p:ext uri="{BB962C8B-B14F-4D97-AF65-F5344CB8AC3E}">
        <p14:creationId xmlns:p14="http://schemas.microsoft.com/office/powerpoint/2010/main" val="2474218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809929af-2d25-45bf-9837-089eb9cfbd01}" enabled="0" method="" siteId="{809929af-2d25-45bf-9837-089eb9cfbd01}" removed="1"/>
</clbl:labelList>
</file>

<file path=docProps/app.xml><?xml version="1.0" encoding="utf-8"?>
<Properties xmlns="http://schemas.openxmlformats.org/officeDocument/2006/extended-properties" xmlns:vt="http://schemas.openxmlformats.org/officeDocument/2006/docPropsVTypes">
  <TotalTime>0</TotalTime>
  <Words>5850</Words>
  <Application>Microsoft Office PowerPoint</Application>
  <PresentationFormat>Custom</PresentationFormat>
  <Paragraphs>197</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Arnav Mathur</dc:creator>
  <cp:keywords/>
  <dc:description>generated using python-pptx</dc:description>
  <cp:lastModifiedBy>Mathur, Arnie (Student)</cp:lastModifiedBy>
  <cp:revision>2</cp:revision>
  <dcterms:created xsi:type="dcterms:W3CDTF">2013-01-27T09:14:16Z</dcterms:created>
  <dcterms:modified xsi:type="dcterms:W3CDTF">2026-05-28T21:34:55Z</dcterms:modified>
  <cp:category/>
</cp:coreProperties>
</file>