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1" r:id="rId6"/>
    <p:sldId id="260" r:id="rId7"/>
  </p:sldIdLst>
  <p:sldSz cx="7772400" cy="1005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62B835-4CE3-42A1-9E3B-19FCB277755B}" v="17" dt="2026-05-28T21:28:51.14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1"/>
    <p:restoredTop sz="94645"/>
  </p:normalViewPr>
  <p:slideViewPr>
    <p:cSldViewPr snapToGrid="0" snapToObjects="1">
      <p:cViewPr varScale="1">
        <p:scale>
          <a:sx n="46" d="100"/>
          <a:sy n="46" d="100"/>
        </p:scale>
        <p:origin x="2358"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nav Mathur" userId="0b8253723396d9f3" providerId="Windows Live" clId="Web-{1A62B835-4CE3-42A1-9E3B-19FCB277755B}"/>
    <pc:docChg chg="modSld">
      <pc:chgData name="Arnav Mathur" userId="0b8253723396d9f3" providerId="Windows Live" clId="Web-{1A62B835-4CE3-42A1-9E3B-19FCB277755B}" dt="2026-05-28T21:28:51.145" v="7"/>
      <pc:docMkLst>
        <pc:docMk/>
      </pc:docMkLst>
      <pc:sldChg chg="delSp modSp">
        <pc:chgData name="Arnav Mathur" userId="0b8253723396d9f3" providerId="Windows Live" clId="Web-{1A62B835-4CE3-42A1-9E3B-19FCB277755B}" dt="2026-05-28T21:28:51.145" v="7"/>
        <pc:sldMkLst>
          <pc:docMk/>
          <pc:sldMk cId="0" sldId="256"/>
        </pc:sldMkLst>
        <pc:spChg chg="mod">
          <ac:chgData name="Arnav Mathur" userId="0b8253723396d9f3" providerId="Windows Live" clId="Web-{1A62B835-4CE3-42A1-9E3B-19FCB277755B}" dt="2026-05-28T21:28:38.628" v="6" actId="20577"/>
          <ac:spMkLst>
            <pc:docMk/>
            <pc:sldMk cId="0" sldId="256"/>
            <ac:spMk id="3" creationId="{00000000-0000-0000-0000-000000000000}"/>
          </ac:spMkLst>
        </pc:spChg>
        <pc:spChg chg="del">
          <ac:chgData name="Arnav Mathur" userId="0b8253723396d9f3" providerId="Windows Live" clId="Web-{1A62B835-4CE3-42A1-9E3B-19FCB277755B}" dt="2026-05-28T21:28:51.145" v="7"/>
          <ac:spMkLst>
            <pc:docMk/>
            <pc:sldMk cId="0" sldId="256"/>
            <ac:spMk id="5" creationId="{00000000-0000-0000-0000-000000000000}"/>
          </ac:spMkLst>
        </pc:spChg>
        <pc:spChg chg="mod">
          <ac:chgData name="Arnav Mathur" userId="0b8253723396d9f3" providerId="Windows Live" clId="Web-{1A62B835-4CE3-42A1-9E3B-19FCB277755B}" dt="2026-05-28T21:28:25.955" v="2" actId="20577"/>
          <ac:spMkLst>
            <pc:docMk/>
            <pc:sldMk cId="0" sldId="256"/>
            <ac:spMk id="11" creationId="{00000000-0000-0000-0000-000000000000}"/>
          </ac:spMkLst>
        </pc:spChg>
        <pc:spChg chg="mod">
          <ac:chgData name="Arnav Mathur" userId="0b8253723396d9f3" providerId="Windows Live" clId="Web-{1A62B835-4CE3-42A1-9E3B-19FCB277755B}" dt="2026-05-28T21:28:32.503" v="3" actId="20577"/>
          <ac:spMkLst>
            <pc:docMk/>
            <pc:sldMk cId="0" sldId="256"/>
            <ac:spMk id="12"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7772400" cy="502920"/>
          </a:xfrm>
          <a:prstGeom prst="rect">
            <a:avLst/>
          </a:prstGeom>
          <a:solidFill>
            <a:srgbClr val="1F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TextBox 2"/>
          <p:cNvSpPr txBox="1"/>
          <p:nvPr/>
        </p:nvSpPr>
        <p:spPr>
          <a:xfrm>
            <a:off x="164592" y="64008"/>
            <a:ext cx="3200400" cy="246221"/>
          </a:xfrm>
          <a:prstGeom prst="rect">
            <a:avLst/>
          </a:prstGeom>
          <a:noFill/>
        </p:spPr>
        <p:txBody>
          <a:bodyPr wrap="square" lIns="91440" tIns="45720" rIns="91440" bIns="45720" anchor="t">
            <a:spAutoFit/>
          </a:bodyPr>
          <a:lstStyle/>
          <a:p>
            <a:r>
              <a:rPr lang="en-US" sz="1000" b="1">
                <a:solidFill>
                  <a:srgbClr val="FFFFFF"/>
                </a:solidFill>
                <a:latin typeface="Times New Roman"/>
                <a:cs typeface="Times New Roman"/>
              </a:rPr>
              <a:t>WMT </a:t>
            </a:r>
            <a:r>
              <a:rPr sz="1000" b="1" i="0" dirty="0">
                <a:solidFill>
                  <a:srgbClr val="FFFFFF"/>
                </a:solidFill>
                <a:latin typeface="Times New Roman"/>
                <a:cs typeface="Times New Roman"/>
              </a:rPr>
              <a:t>|  EQUITY RESEARCH</a:t>
            </a:r>
          </a:p>
        </p:txBody>
      </p:sp>
      <p:sp>
        <p:nvSpPr>
          <p:cNvPr id="4" name="TextBox 3"/>
          <p:cNvSpPr txBox="1"/>
          <p:nvPr/>
        </p:nvSpPr>
        <p:spPr>
          <a:xfrm>
            <a:off x="2286000" y="64008"/>
            <a:ext cx="4114800" cy="261610"/>
          </a:xfrm>
          <a:prstGeom prst="rect">
            <a:avLst/>
          </a:prstGeom>
          <a:noFill/>
        </p:spPr>
        <p:txBody>
          <a:bodyPr wrap="square">
            <a:spAutoFit/>
          </a:bodyPr>
          <a:lstStyle/>
          <a:p>
            <a:pPr algn="ctr"/>
            <a:r>
              <a:rPr sz="1100" b="1" i="0">
                <a:solidFill>
                  <a:srgbClr val="0071CE"/>
                </a:solidFill>
                <a:latin typeface="Times New Roman" panose="02020603050405020304" pitchFamily="18" charset="0"/>
                <a:cs typeface="Times New Roman" panose="02020603050405020304" pitchFamily="18" charset="0"/>
              </a:rPr>
              <a:t>EQUITY RESEARCH  |  INITIATING COVERAGE</a:t>
            </a:r>
          </a:p>
        </p:txBody>
      </p:sp>
      <p:sp>
        <p:nvSpPr>
          <p:cNvPr id="6" name="Rectangle 5"/>
          <p:cNvSpPr/>
          <p:nvPr/>
        </p:nvSpPr>
        <p:spPr>
          <a:xfrm>
            <a:off x="0" y="502920"/>
            <a:ext cx="7772400" cy="36576"/>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 name="Rectangle 6"/>
          <p:cNvSpPr/>
          <p:nvPr/>
        </p:nvSpPr>
        <p:spPr>
          <a:xfrm>
            <a:off x="0" y="9802368"/>
            <a:ext cx="7772400" cy="256032"/>
          </a:xfrm>
          <a:prstGeom prst="rect">
            <a:avLst/>
          </a:prstGeom>
          <a:solidFill>
            <a:srgbClr val="1F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8" name="TextBox 7"/>
          <p:cNvSpPr txBox="1"/>
          <p:nvPr/>
        </p:nvSpPr>
        <p:spPr>
          <a:xfrm>
            <a:off x="164592" y="9811512"/>
            <a:ext cx="5943600" cy="200055"/>
          </a:xfrm>
          <a:prstGeom prst="rect">
            <a:avLst/>
          </a:prstGeom>
          <a:noFill/>
        </p:spPr>
        <p:txBody>
          <a:bodyPr wrap="square">
            <a:spAutoFit/>
          </a:bodyPr>
          <a:lstStyle/>
          <a:p>
            <a:pPr algn="l"/>
            <a:r>
              <a:rPr sz="700" b="0" i="0">
                <a:solidFill>
                  <a:srgbClr val="BBBBBB"/>
                </a:solidFill>
                <a:latin typeface="Times New Roman" panose="02020603050405020304" pitchFamily="18" charset="0"/>
                <a:cs typeface="Times New Roman" panose="02020603050405020304" pitchFamily="18" charset="0"/>
              </a:rPr>
              <a:t>Walmart Inc. (WMT)  |  Equity Research  |  FIN 431  |  Portfolio Analysis</a:t>
            </a:r>
          </a:p>
        </p:txBody>
      </p:sp>
      <p:sp>
        <p:nvSpPr>
          <p:cNvPr id="9" name="TextBox 8"/>
          <p:cNvSpPr txBox="1"/>
          <p:nvPr/>
        </p:nvSpPr>
        <p:spPr>
          <a:xfrm>
            <a:off x="7132320" y="9811512"/>
            <a:ext cx="502920" cy="200055"/>
          </a:xfrm>
          <a:prstGeom prst="rect">
            <a:avLst/>
          </a:prstGeom>
          <a:noFill/>
        </p:spPr>
        <p:txBody>
          <a:bodyPr wrap="square">
            <a:spAutoFit/>
          </a:bodyPr>
          <a:lstStyle/>
          <a:p>
            <a:pPr algn="r"/>
            <a:r>
              <a:rPr sz="700" b="0" i="0">
                <a:solidFill>
                  <a:srgbClr val="BBBBBB"/>
                </a:solidFill>
                <a:latin typeface="Times New Roman" panose="02020603050405020304" pitchFamily="18" charset="0"/>
                <a:cs typeface="Times New Roman" panose="02020603050405020304" pitchFamily="18" charset="0"/>
              </a:rPr>
              <a:t>Page 1</a:t>
            </a:r>
          </a:p>
        </p:txBody>
      </p:sp>
      <p:sp>
        <p:nvSpPr>
          <p:cNvPr id="10" name="Rectangle 9"/>
          <p:cNvSpPr/>
          <p:nvPr/>
        </p:nvSpPr>
        <p:spPr>
          <a:xfrm>
            <a:off x="0" y="557784"/>
            <a:ext cx="7772400" cy="640080"/>
          </a:xfrm>
          <a:prstGeom prst="rect">
            <a:avLst/>
          </a:prstGeom>
          <a:solidFill>
            <a:srgbClr val="1F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1" name="TextBox 10"/>
          <p:cNvSpPr txBox="1"/>
          <p:nvPr/>
        </p:nvSpPr>
        <p:spPr>
          <a:xfrm>
            <a:off x="182880" y="594360"/>
            <a:ext cx="5029200" cy="400110"/>
          </a:xfrm>
          <a:prstGeom prst="rect">
            <a:avLst/>
          </a:prstGeom>
          <a:noFill/>
        </p:spPr>
        <p:txBody>
          <a:bodyPr wrap="square" lIns="91440" tIns="45720" rIns="91440" bIns="45720" anchor="t">
            <a:spAutoFit/>
          </a:bodyPr>
          <a:lstStyle/>
          <a:p>
            <a:pPr algn="l"/>
            <a:r>
              <a:rPr lang="en-US" sz="2000" b="1">
                <a:solidFill>
                  <a:srgbClr val="FFFFFF"/>
                </a:solidFill>
                <a:latin typeface="Times New Roman"/>
                <a:cs typeface="Times New Roman"/>
              </a:rPr>
              <a:t>Walmart</a:t>
            </a:r>
            <a:endParaRPr lang="en-US" sz="2000" b="1" i="0" dirty="0">
              <a:solidFill>
                <a:srgbClr val="FFFFFF"/>
              </a:solidFill>
              <a:latin typeface="Times New Roman" panose="02020603050405020304" pitchFamily="18" charset="0"/>
              <a:cs typeface="Times New Roman" panose="02020603050405020304" pitchFamily="18" charset="0"/>
            </a:endParaRPr>
          </a:p>
        </p:txBody>
      </p:sp>
      <p:sp>
        <p:nvSpPr>
          <p:cNvPr id="12" name="TextBox 11"/>
          <p:cNvSpPr txBox="1"/>
          <p:nvPr/>
        </p:nvSpPr>
        <p:spPr>
          <a:xfrm>
            <a:off x="182880" y="886968"/>
            <a:ext cx="2286000" cy="230832"/>
          </a:xfrm>
          <a:prstGeom prst="rect">
            <a:avLst/>
          </a:prstGeom>
          <a:noFill/>
        </p:spPr>
        <p:txBody>
          <a:bodyPr wrap="square" lIns="91440" tIns="45720" rIns="91440" bIns="45720" anchor="t">
            <a:spAutoFit/>
          </a:bodyPr>
          <a:lstStyle/>
          <a:p>
            <a:pPr algn="l"/>
            <a:r>
              <a:rPr sz="900" b="0" i="0" dirty="0">
                <a:solidFill>
                  <a:srgbClr val="AAAAAA"/>
                </a:solidFill>
                <a:latin typeface="Times New Roman"/>
                <a:cs typeface="Times New Roman"/>
              </a:rPr>
              <a:t>NYSE: </a:t>
            </a:r>
            <a:r>
              <a:rPr lang="en-US" sz="900">
                <a:solidFill>
                  <a:srgbClr val="AAAAAA"/>
                </a:solidFill>
                <a:latin typeface="Times New Roman"/>
                <a:cs typeface="Times New Roman"/>
              </a:rPr>
              <a:t>WMT</a:t>
            </a:r>
            <a:endParaRPr sz="900" b="0" i="0" dirty="0">
              <a:solidFill>
                <a:srgbClr val="AAAAAA"/>
              </a:solidFill>
              <a:latin typeface="Times New Roman" panose="02020603050405020304" pitchFamily="18" charset="0"/>
              <a:cs typeface="Times New Roman" panose="02020603050405020304" pitchFamily="18" charset="0"/>
            </a:endParaRPr>
          </a:p>
        </p:txBody>
      </p:sp>
      <p:sp>
        <p:nvSpPr>
          <p:cNvPr id="13" name="Rectangle 12"/>
          <p:cNvSpPr/>
          <p:nvPr/>
        </p:nvSpPr>
        <p:spPr>
          <a:xfrm>
            <a:off x="5852160" y="612648"/>
            <a:ext cx="804672" cy="320040"/>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5" name="TextBox 14"/>
          <p:cNvSpPr txBox="1"/>
          <p:nvPr/>
        </p:nvSpPr>
        <p:spPr>
          <a:xfrm>
            <a:off x="6693408" y="612648"/>
            <a:ext cx="914400" cy="323165"/>
          </a:xfrm>
          <a:prstGeom prst="rect">
            <a:avLst/>
          </a:prstGeom>
          <a:noFill/>
        </p:spPr>
        <p:txBody>
          <a:bodyPr wrap="square">
            <a:spAutoFit/>
          </a:bodyPr>
          <a:lstStyle/>
          <a:p>
            <a:pPr algn="l"/>
            <a:r>
              <a:rPr sz="750" b="1" i="0">
                <a:solidFill>
                  <a:srgbClr val="AAAAAA"/>
                </a:solidFill>
                <a:latin typeface="Times New Roman" panose="02020603050405020304" pitchFamily="18" charset="0"/>
                <a:cs typeface="Times New Roman" panose="02020603050405020304" pitchFamily="18" charset="0"/>
              </a:rPr>
              <a:t>12-Month Price Target:</a:t>
            </a:r>
          </a:p>
        </p:txBody>
      </p:sp>
      <p:sp>
        <p:nvSpPr>
          <p:cNvPr id="16" name="TextBox 15"/>
          <p:cNvSpPr txBox="1"/>
          <p:nvPr/>
        </p:nvSpPr>
        <p:spPr>
          <a:xfrm>
            <a:off x="6693408" y="825466"/>
            <a:ext cx="914400" cy="292388"/>
          </a:xfrm>
          <a:prstGeom prst="rect">
            <a:avLst/>
          </a:prstGeom>
          <a:noFill/>
        </p:spPr>
        <p:txBody>
          <a:bodyPr wrap="square">
            <a:spAutoFit/>
          </a:bodyPr>
          <a:lstStyle/>
          <a:p>
            <a:pPr algn="l"/>
            <a:r>
              <a:rPr sz="1300" b="1" i="0" dirty="0">
                <a:solidFill>
                  <a:srgbClr val="0071CE"/>
                </a:solidFill>
                <a:latin typeface="Times New Roman" panose="02020603050405020304" pitchFamily="18" charset="0"/>
                <a:cs typeface="Times New Roman" panose="02020603050405020304" pitchFamily="18" charset="0"/>
              </a:rPr>
              <a:t>$140.00</a:t>
            </a:r>
          </a:p>
        </p:txBody>
      </p:sp>
      <p:sp>
        <p:nvSpPr>
          <p:cNvPr id="17" name="Rectangle 16"/>
          <p:cNvSpPr/>
          <p:nvPr/>
        </p:nvSpPr>
        <p:spPr>
          <a:xfrm>
            <a:off x="0" y="1216152"/>
            <a:ext cx="1295400" cy="502920"/>
          </a:xfrm>
          <a:prstGeom prst="rect">
            <a:avLst/>
          </a:prstGeom>
          <a:solidFill>
            <a:srgbClr val="1F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8" name="TextBox 17"/>
          <p:cNvSpPr txBox="1"/>
          <p:nvPr/>
        </p:nvSpPr>
        <p:spPr>
          <a:xfrm>
            <a:off x="45720" y="1234440"/>
            <a:ext cx="1203960" cy="200055"/>
          </a:xfrm>
          <a:prstGeom prst="rect">
            <a:avLst/>
          </a:prstGeom>
          <a:noFill/>
        </p:spPr>
        <p:txBody>
          <a:bodyPr wrap="square">
            <a:spAutoFit/>
          </a:bodyPr>
          <a:lstStyle/>
          <a:p>
            <a:pPr algn="ctr"/>
            <a:r>
              <a:rPr sz="700" b="0" i="0">
                <a:solidFill>
                  <a:srgbClr val="AAAAAA"/>
                </a:solidFill>
                <a:latin typeface="Times New Roman" panose="02020603050405020304" pitchFamily="18" charset="0"/>
                <a:cs typeface="Times New Roman" panose="02020603050405020304" pitchFamily="18" charset="0"/>
              </a:rPr>
              <a:t>Current Price</a:t>
            </a:r>
          </a:p>
        </p:txBody>
      </p:sp>
      <p:sp>
        <p:nvSpPr>
          <p:cNvPr id="19" name="TextBox 18"/>
          <p:cNvSpPr txBox="1"/>
          <p:nvPr/>
        </p:nvSpPr>
        <p:spPr>
          <a:xfrm>
            <a:off x="45720" y="1417320"/>
            <a:ext cx="1203960" cy="256032"/>
          </a:xfrm>
          <a:prstGeom prst="rect">
            <a:avLst/>
          </a:prstGeom>
          <a:noFill/>
        </p:spPr>
        <p:txBody>
          <a:bodyPr wrap="square">
            <a:spAutoFit/>
          </a:bodyPr>
          <a:lstStyle/>
          <a:p>
            <a:pPr algn="ctr"/>
            <a:r>
              <a:rPr sz="1050" b="1" i="0">
                <a:solidFill>
                  <a:srgbClr val="FFFFFF"/>
                </a:solidFill>
                <a:latin typeface="Times New Roman" panose="02020603050405020304" pitchFamily="18" charset="0"/>
                <a:cs typeface="Times New Roman" panose="02020603050405020304" pitchFamily="18" charset="0"/>
              </a:rPr>
              <a:t>$127.50</a:t>
            </a:r>
          </a:p>
        </p:txBody>
      </p:sp>
      <p:sp>
        <p:nvSpPr>
          <p:cNvPr id="20" name="Rectangle 19"/>
          <p:cNvSpPr/>
          <p:nvPr/>
        </p:nvSpPr>
        <p:spPr>
          <a:xfrm>
            <a:off x="1295400" y="1216152"/>
            <a:ext cx="1295400" cy="502920"/>
          </a:xfrm>
          <a:prstGeom prst="rect">
            <a:avLst/>
          </a:prstGeom>
          <a:solidFill>
            <a:srgbClr val="4A4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1" name="TextBox 20"/>
          <p:cNvSpPr txBox="1"/>
          <p:nvPr/>
        </p:nvSpPr>
        <p:spPr>
          <a:xfrm>
            <a:off x="1341120" y="1234440"/>
            <a:ext cx="1203960" cy="200055"/>
          </a:xfrm>
          <a:prstGeom prst="rect">
            <a:avLst/>
          </a:prstGeom>
          <a:noFill/>
        </p:spPr>
        <p:txBody>
          <a:bodyPr wrap="square">
            <a:spAutoFit/>
          </a:bodyPr>
          <a:lstStyle/>
          <a:p>
            <a:pPr algn="ctr"/>
            <a:r>
              <a:rPr sz="700" b="0" i="0">
                <a:solidFill>
                  <a:srgbClr val="AAAAAA"/>
                </a:solidFill>
                <a:latin typeface="Times New Roman" panose="02020603050405020304" pitchFamily="18" charset="0"/>
                <a:cs typeface="Times New Roman" panose="02020603050405020304" pitchFamily="18" charset="0"/>
              </a:rPr>
              <a:t>Market Cap</a:t>
            </a:r>
          </a:p>
        </p:txBody>
      </p:sp>
      <p:sp>
        <p:nvSpPr>
          <p:cNvPr id="22" name="TextBox 21"/>
          <p:cNvSpPr txBox="1"/>
          <p:nvPr/>
        </p:nvSpPr>
        <p:spPr>
          <a:xfrm>
            <a:off x="1341120" y="1417320"/>
            <a:ext cx="1203960" cy="256032"/>
          </a:xfrm>
          <a:prstGeom prst="rect">
            <a:avLst/>
          </a:prstGeom>
          <a:noFill/>
        </p:spPr>
        <p:txBody>
          <a:bodyPr wrap="square">
            <a:spAutoFit/>
          </a:bodyPr>
          <a:lstStyle/>
          <a:p>
            <a:pPr algn="ctr"/>
            <a:r>
              <a:rPr sz="1050" b="1" i="0">
                <a:solidFill>
                  <a:srgbClr val="FFFFFF"/>
                </a:solidFill>
                <a:latin typeface="Times New Roman" panose="02020603050405020304" pitchFamily="18" charset="0"/>
                <a:cs typeface="Times New Roman" panose="02020603050405020304" pitchFamily="18" charset="0"/>
              </a:rPr>
              <a:t>~$1.02T</a:t>
            </a:r>
          </a:p>
        </p:txBody>
      </p:sp>
      <p:sp>
        <p:nvSpPr>
          <p:cNvPr id="23" name="Rectangle 22"/>
          <p:cNvSpPr/>
          <p:nvPr/>
        </p:nvSpPr>
        <p:spPr>
          <a:xfrm>
            <a:off x="2590800" y="1216152"/>
            <a:ext cx="1295400" cy="502920"/>
          </a:xfrm>
          <a:prstGeom prst="rect">
            <a:avLst/>
          </a:prstGeom>
          <a:solidFill>
            <a:srgbClr val="1F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4" name="TextBox 23"/>
          <p:cNvSpPr txBox="1"/>
          <p:nvPr/>
        </p:nvSpPr>
        <p:spPr>
          <a:xfrm>
            <a:off x="2636520" y="1234440"/>
            <a:ext cx="1203960" cy="200055"/>
          </a:xfrm>
          <a:prstGeom prst="rect">
            <a:avLst/>
          </a:prstGeom>
          <a:noFill/>
        </p:spPr>
        <p:txBody>
          <a:bodyPr wrap="square">
            <a:spAutoFit/>
          </a:bodyPr>
          <a:lstStyle/>
          <a:p>
            <a:pPr algn="ctr"/>
            <a:r>
              <a:rPr sz="700" b="0" i="0">
                <a:solidFill>
                  <a:srgbClr val="AAAAAA"/>
                </a:solidFill>
                <a:latin typeface="Times New Roman" panose="02020603050405020304" pitchFamily="18" charset="0"/>
                <a:cs typeface="Times New Roman" panose="02020603050405020304" pitchFamily="18" charset="0"/>
              </a:rPr>
              <a:t>52-Week Range</a:t>
            </a:r>
          </a:p>
        </p:txBody>
      </p:sp>
      <p:sp>
        <p:nvSpPr>
          <p:cNvPr id="25" name="TextBox 24"/>
          <p:cNvSpPr txBox="1"/>
          <p:nvPr/>
        </p:nvSpPr>
        <p:spPr>
          <a:xfrm>
            <a:off x="2636520" y="1417320"/>
            <a:ext cx="1203960" cy="256032"/>
          </a:xfrm>
          <a:prstGeom prst="rect">
            <a:avLst/>
          </a:prstGeom>
          <a:noFill/>
        </p:spPr>
        <p:txBody>
          <a:bodyPr wrap="square">
            <a:spAutoFit/>
          </a:bodyPr>
          <a:lstStyle/>
          <a:p>
            <a:pPr algn="ctr"/>
            <a:r>
              <a:rPr sz="1050" b="1" i="0">
                <a:solidFill>
                  <a:srgbClr val="FFFFFF"/>
                </a:solidFill>
                <a:latin typeface="Times New Roman" panose="02020603050405020304" pitchFamily="18" charset="0"/>
                <a:cs typeface="Times New Roman" panose="02020603050405020304" pitchFamily="18" charset="0"/>
              </a:rPr>
              <a:t>$82 - $130</a:t>
            </a:r>
          </a:p>
        </p:txBody>
      </p:sp>
      <p:sp>
        <p:nvSpPr>
          <p:cNvPr id="26" name="Rectangle 25"/>
          <p:cNvSpPr/>
          <p:nvPr/>
        </p:nvSpPr>
        <p:spPr>
          <a:xfrm>
            <a:off x="3886200" y="1216152"/>
            <a:ext cx="1295400" cy="502920"/>
          </a:xfrm>
          <a:prstGeom prst="rect">
            <a:avLst/>
          </a:prstGeom>
          <a:solidFill>
            <a:srgbClr val="4A4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7" name="TextBox 26"/>
          <p:cNvSpPr txBox="1"/>
          <p:nvPr/>
        </p:nvSpPr>
        <p:spPr>
          <a:xfrm>
            <a:off x="3931920" y="1234440"/>
            <a:ext cx="1203960" cy="200055"/>
          </a:xfrm>
          <a:prstGeom prst="rect">
            <a:avLst/>
          </a:prstGeom>
          <a:noFill/>
        </p:spPr>
        <p:txBody>
          <a:bodyPr wrap="square">
            <a:spAutoFit/>
          </a:bodyPr>
          <a:lstStyle/>
          <a:p>
            <a:pPr algn="ctr"/>
            <a:r>
              <a:rPr sz="700" b="0" i="0">
                <a:solidFill>
                  <a:srgbClr val="AAAAAA"/>
                </a:solidFill>
                <a:latin typeface="Times New Roman" panose="02020603050405020304" pitchFamily="18" charset="0"/>
                <a:cs typeface="Times New Roman" panose="02020603050405020304" pitchFamily="18" charset="0"/>
              </a:rPr>
              <a:t>FY25 Revenue</a:t>
            </a:r>
          </a:p>
        </p:txBody>
      </p:sp>
      <p:sp>
        <p:nvSpPr>
          <p:cNvPr id="28" name="TextBox 27"/>
          <p:cNvSpPr txBox="1"/>
          <p:nvPr/>
        </p:nvSpPr>
        <p:spPr>
          <a:xfrm>
            <a:off x="3931920" y="1417320"/>
            <a:ext cx="1203960" cy="256032"/>
          </a:xfrm>
          <a:prstGeom prst="rect">
            <a:avLst/>
          </a:prstGeom>
          <a:noFill/>
        </p:spPr>
        <p:txBody>
          <a:bodyPr wrap="square">
            <a:spAutoFit/>
          </a:bodyPr>
          <a:lstStyle/>
          <a:p>
            <a:pPr algn="ctr"/>
            <a:r>
              <a:rPr sz="1050" b="1" i="0">
                <a:solidFill>
                  <a:srgbClr val="FFFFFF"/>
                </a:solidFill>
                <a:latin typeface="Times New Roman" panose="02020603050405020304" pitchFamily="18" charset="0"/>
                <a:cs typeface="Times New Roman" panose="02020603050405020304" pitchFamily="18" charset="0"/>
              </a:rPr>
              <a:t>$680.9B</a:t>
            </a:r>
          </a:p>
        </p:txBody>
      </p:sp>
      <p:sp>
        <p:nvSpPr>
          <p:cNvPr id="29" name="Rectangle 28"/>
          <p:cNvSpPr/>
          <p:nvPr/>
        </p:nvSpPr>
        <p:spPr>
          <a:xfrm>
            <a:off x="5181600" y="1216152"/>
            <a:ext cx="1295400" cy="502920"/>
          </a:xfrm>
          <a:prstGeom prst="rect">
            <a:avLst/>
          </a:prstGeom>
          <a:solidFill>
            <a:srgbClr val="1F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0" name="TextBox 29"/>
          <p:cNvSpPr txBox="1"/>
          <p:nvPr/>
        </p:nvSpPr>
        <p:spPr>
          <a:xfrm>
            <a:off x="5227320" y="1234440"/>
            <a:ext cx="1203960" cy="200055"/>
          </a:xfrm>
          <a:prstGeom prst="rect">
            <a:avLst/>
          </a:prstGeom>
          <a:noFill/>
        </p:spPr>
        <p:txBody>
          <a:bodyPr wrap="square">
            <a:spAutoFit/>
          </a:bodyPr>
          <a:lstStyle/>
          <a:p>
            <a:pPr algn="ctr"/>
            <a:r>
              <a:rPr sz="700" b="0" i="0">
                <a:solidFill>
                  <a:srgbClr val="AAAAAA"/>
                </a:solidFill>
                <a:latin typeface="Times New Roman" panose="02020603050405020304" pitchFamily="18" charset="0"/>
                <a:cs typeface="Times New Roman" panose="02020603050405020304" pitchFamily="18" charset="0"/>
              </a:rPr>
              <a:t>FY26 FCF Margin</a:t>
            </a:r>
          </a:p>
        </p:txBody>
      </p:sp>
      <p:sp>
        <p:nvSpPr>
          <p:cNvPr id="31" name="TextBox 30"/>
          <p:cNvSpPr txBox="1"/>
          <p:nvPr/>
        </p:nvSpPr>
        <p:spPr>
          <a:xfrm>
            <a:off x="5227320" y="1417320"/>
            <a:ext cx="1203960" cy="256032"/>
          </a:xfrm>
          <a:prstGeom prst="rect">
            <a:avLst/>
          </a:prstGeom>
          <a:noFill/>
        </p:spPr>
        <p:txBody>
          <a:bodyPr wrap="square">
            <a:spAutoFit/>
          </a:bodyPr>
          <a:lstStyle/>
          <a:p>
            <a:pPr algn="ctr"/>
            <a:r>
              <a:rPr sz="1050" b="1" i="0">
                <a:solidFill>
                  <a:srgbClr val="FFFFFF"/>
                </a:solidFill>
                <a:latin typeface="Times New Roman" panose="02020603050405020304" pitchFamily="18" charset="0"/>
                <a:cs typeface="Times New Roman" panose="02020603050405020304" pitchFamily="18" charset="0"/>
              </a:rPr>
              <a:t>2.1%</a:t>
            </a:r>
          </a:p>
        </p:txBody>
      </p:sp>
      <p:sp>
        <p:nvSpPr>
          <p:cNvPr id="32" name="Rectangle 31"/>
          <p:cNvSpPr/>
          <p:nvPr/>
        </p:nvSpPr>
        <p:spPr>
          <a:xfrm>
            <a:off x="6477000" y="1216152"/>
            <a:ext cx="1295400" cy="502920"/>
          </a:xfrm>
          <a:prstGeom prst="rect">
            <a:avLst/>
          </a:prstGeom>
          <a:solidFill>
            <a:srgbClr val="4A4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3" name="TextBox 32"/>
          <p:cNvSpPr txBox="1"/>
          <p:nvPr/>
        </p:nvSpPr>
        <p:spPr>
          <a:xfrm>
            <a:off x="6522720" y="1234440"/>
            <a:ext cx="1203960" cy="200055"/>
          </a:xfrm>
          <a:prstGeom prst="rect">
            <a:avLst/>
          </a:prstGeom>
          <a:noFill/>
        </p:spPr>
        <p:txBody>
          <a:bodyPr wrap="square">
            <a:spAutoFit/>
          </a:bodyPr>
          <a:lstStyle/>
          <a:p>
            <a:pPr algn="ctr"/>
            <a:r>
              <a:rPr sz="700" b="0" i="0">
                <a:solidFill>
                  <a:srgbClr val="AAAAAA"/>
                </a:solidFill>
                <a:latin typeface="Times New Roman" panose="02020603050405020304" pitchFamily="18" charset="0"/>
                <a:cs typeface="Times New Roman" panose="02020603050405020304" pitchFamily="18" charset="0"/>
              </a:rPr>
              <a:t>FY26 P/E (GAAP)</a:t>
            </a:r>
          </a:p>
        </p:txBody>
      </p:sp>
      <p:sp>
        <p:nvSpPr>
          <p:cNvPr id="34" name="TextBox 33"/>
          <p:cNvSpPr txBox="1"/>
          <p:nvPr/>
        </p:nvSpPr>
        <p:spPr>
          <a:xfrm>
            <a:off x="6522720" y="1417320"/>
            <a:ext cx="1203960" cy="256032"/>
          </a:xfrm>
          <a:prstGeom prst="rect">
            <a:avLst/>
          </a:prstGeom>
          <a:noFill/>
        </p:spPr>
        <p:txBody>
          <a:bodyPr wrap="square">
            <a:spAutoFit/>
          </a:bodyPr>
          <a:lstStyle/>
          <a:p>
            <a:pPr algn="ctr"/>
            <a:r>
              <a:rPr sz="1050" b="1" i="0">
                <a:solidFill>
                  <a:srgbClr val="FFFFFF"/>
                </a:solidFill>
                <a:latin typeface="Times New Roman" panose="02020603050405020304" pitchFamily="18" charset="0"/>
                <a:cs typeface="Times New Roman" panose="02020603050405020304" pitchFamily="18" charset="0"/>
              </a:rPr>
              <a:t>46.7x</a:t>
            </a:r>
          </a:p>
        </p:txBody>
      </p:sp>
      <p:sp>
        <p:nvSpPr>
          <p:cNvPr id="35" name="Rectangle 34"/>
          <p:cNvSpPr/>
          <p:nvPr/>
        </p:nvSpPr>
        <p:spPr>
          <a:xfrm>
            <a:off x="182880" y="1764792"/>
            <a:ext cx="2011680" cy="201168"/>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6" name="TextBox 35"/>
          <p:cNvSpPr txBox="1"/>
          <p:nvPr/>
        </p:nvSpPr>
        <p:spPr>
          <a:xfrm>
            <a:off x="237744" y="1783080"/>
            <a:ext cx="1901952" cy="207749"/>
          </a:xfrm>
          <a:prstGeom prst="rect">
            <a:avLst/>
          </a:prstGeom>
          <a:noFill/>
        </p:spPr>
        <p:txBody>
          <a:bodyPr wrap="square">
            <a:spAutoFit/>
          </a:bodyPr>
          <a:lstStyle/>
          <a:p>
            <a:pPr algn="l"/>
            <a:r>
              <a:rPr sz="750" b="1" i="0">
                <a:solidFill>
                  <a:srgbClr val="FFFFFF"/>
                </a:solidFill>
                <a:latin typeface="Times New Roman" panose="02020603050405020304" pitchFamily="18" charset="0"/>
                <a:cs typeface="Times New Roman" panose="02020603050405020304" pitchFamily="18" charset="0"/>
              </a:rPr>
              <a:t>BUSINESS DESCRIPTION</a:t>
            </a:r>
          </a:p>
        </p:txBody>
      </p:sp>
      <p:sp>
        <p:nvSpPr>
          <p:cNvPr id="37" name="TextBox 36"/>
          <p:cNvSpPr txBox="1"/>
          <p:nvPr/>
        </p:nvSpPr>
        <p:spPr>
          <a:xfrm>
            <a:off x="182880" y="1993392"/>
            <a:ext cx="3611880" cy="2211375"/>
          </a:xfrm>
          <a:prstGeom prst="rect">
            <a:avLst/>
          </a:prstGeom>
          <a:noFill/>
        </p:spPr>
        <p:txBody>
          <a:bodyPr wrap="square">
            <a:spAutoFit/>
          </a:bodyPr>
          <a:lstStyle/>
          <a:p>
            <a:pPr algn="l"/>
            <a:r>
              <a:rPr sz="810" b="0" i="0">
                <a:solidFill>
                  <a:srgbClr val="1F1F1F"/>
                </a:solidFill>
                <a:latin typeface="Times New Roman" panose="02020603050405020304" pitchFamily="18" charset="0"/>
                <a:cs typeface="Times New Roman" panose="02020603050405020304" pitchFamily="18" charset="0"/>
              </a:rPr>
              <a:t>Walmart Inc., founded in 1962 by Sam Walton in Rogers, Arkansas, is the world's largest retailer by revenue, operating approximately 10,500 stores and clubs under 46 banners across 19 countries. The company operates three reportable segments: Walmart US, which accounts for approximately 73 percent of consolidated net sales and includes the flagship supercenter, neighborhood market, and discount store formats; Walmart International, which encompasses operations in Mexico through Walmex, India through Flipkart, China, and other markets; and Sam's Club, the membership-based warehouse format competing directly with Costco.
Beyond its core merchandise and grocery operations, Walmart has built a growing portfolio of high-margin adjacent businesses including Walmart Connect, its digital advertising platform leveraging first-party purchase data from approximately 240 million weekly customer visits; Walmart GoLocal, a delivery-as-a-service offering; Walmart Fulfillment Services for third-party marketplace sellers; and Walmart Plus, its membership subscription program. These businesses collectively represent a meaningful source of margin expansion over the next three to five years.</a:t>
            </a:r>
          </a:p>
        </p:txBody>
      </p:sp>
      <p:sp>
        <p:nvSpPr>
          <p:cNvPr id="38" name="Rectangle 37"/>
          <p:cNvSpPr/>
          <p:nvPr/>
        </p:nvSpPr>
        <p:spPr>
          <a:xfrm>
            <a:off x="182880" y="4050792"/>
            <a:ext cx="2011680" cy="201168"/>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9" name="TextBox 38"/>
          <p:cNvSpPr txBox="1"/>
          <p:nvPr/>
        </p:nvSpPr>
        <p:spPr>
          <a:xfrm>
            <a:off x="237744" y="4069080"/>
            <a:ext cx="1901952" cy="207749"/>
          </a:xfrm>
          <a:prstGeom prst="rect">
            <a:avLst/>
          </a:prstGeom>
          <a:noFill/>
        </p:spPr>
        <p:txBody>
          <a:bodyPr wrap="square">
            <a:spAutoFit/>
          </a:bodyPr>
          <a:lstStyle/>
          <a:p>
            <a:pPr algn="l"/>
            <a:r>
              <a:rPr sz="750" b="1" i="0">
                <a:solidFill>
                  <a:srgbClr val="FFFFFF"/>
                </a:solidFill>
                <a:latin typeface="Times New Roman" panose="02020603050405020304" pitchFamily="18" charset="0"/>
                <a:cs typeface="Times New Roman" panose="02020603050405020304" pitchFamily="18" charset="0"/>
              </a:rPr>
              <a:t>INVESTMENT THESIS</a:t>
            </a:r>
          </a:p>
        </p:txBody>
      </p:sp>
      <p:sp>
        <p:nvSpPr>
          <p:cNvPr id="40" name="TextBox 39"/>
          <p:cNvSpPr txBox="1"/>
          <p:nvPr/>
        </p:nvSpPr>
        <p:spPr>
          <a:xfrm>
            <a:off x="182880" y="4279392"/>
            <a:ext cx="4815838" cy="2431435"/>
          </a:xfrm>
          <a:prstGeom prst="rect">
            <a:avLst/>
          </a:prstGeom>
          <a:noFill/>
        </p:spPr>
        <p:txBody>
          <a:bodyPr wrap="square">
            <a:spAutoFit/>
          </a:bodyPr>
          <a:lstStyle/>
          <a:p>
            <a:pPr algn="l"/>
            <a:r>
              <a:rPr sz="800" b="0" dirty="0">
                <a:solidFill>
                  <a:srgbClr val="1F1F1F"/>
                </a:solidFill>
                <a:latin typeface="Times New Roman" panose="02020603050405020304" pitchFamily="18" charset="0"/>
                <a:cs typeface="Times New Roman" panose="02020603050405020304" pitchFamily="18" charset="0"/>
              </a:rPr>
              <a:t>Digital Advertising as a Structural Margin Driver. Walmart Connect generated an estimated $3.4 billion in global advertising revenue in fiscal year 2025, growing approximately 30 percent year over year. The business carries near-100 percent gross margins and benefits from Walmart's proprietary first-party purchase data, which covers a breadth and depth of consumer behavior that most digital advertising platforms cannot replicate. We estimate advertising revenue will reach $6 to $8 billion by fiscal year 2028, driving 30 to 50 basis points of annual EBITDA margin expansion and meaningfully de-linking revenue growth from operating income growth.</a:t>
            </a:r>
          </a:p>
          <a:p>
            <a:pPr algn="l"/>
            <a:endParaRPr sz="800" b="0" dirty="0">
              <a:solidFill>
                <a:srgbClr val="1F1F1F"/>
              </a:solidFill>
              <a:latin typeface="Times New Roman" panose="02020603050405020304" pitchFamily="18" charset="0"/>
              <a:cs typeface="Times New Roman" panose="02020603050405020304" pitchFamily="18" charset="0"/>
            </a:endParaRPr>
          </a:p>
          <a:p>
            <a:pPr algn="l"/>
            <a:r>
              <a:rPr sz="800" b="0" dirty="0">
                <a:solidFill>
                  <a:srgbClr val="1F1F1F"/>
                </a:solidFill>
                <a:latin typeface="Times New Roman" panose="02020603050405020304" pitchFamily="18" charset="0"/>
                <a:cs typeface="Times New Roman" panose="02020603050405020304" pitchFamily="18" charset="0"/>
              </a:rPr>
              <a:t>E-Commerce Inflection and Marketplace Monetization. Walmart US e-commerce grew 22 percent in fiscal year 2025, and the platform's same-day delivery and curbside pickup infrastructure now reaches approximately 93 percent of the US population. The company's third-party marketplace, Walmart Fulfillment Services, and advertising platform are converging into an integrated ecosystem that progressively improves returns on the substantial logistics capital deployed over the past five years. Internationally, Flipkart and </a:t>
            </a:r>
            <a:r>
              <a:rPr sz="800" b="0" dirty="0" err="1">
                <a:solidFill>
                  <a:srgbClr val="1F1F1F"/>
                </a:solidFill>
                <a:latin typeface="Times New Roman" panose="02020603050405020304" pitchFamily="18" charset="0"/>
                <a:cs typeface="Times New Roman" panose="02020603050405020304" pitchFamily="18" charset="0"/>
              </a:rPr>
              <a:t>Walmex</a:t>
            </a:r>
            <a:r>
              <a:rPr sz="800" b="0" dirty="0">
                <a:solidFill>
                  <a:srgbClr val="1F1F1F"/>
                </a:solidFill>
                <a:latin typeface="Times New Roman" panose="02020603050405020304" pitchFamily="18" charset="0"/>
                <a:cs typeface="Times New Roman" panose="02020603050405020304" pitchFamily="18" charset="0"/>
              </a:rPr>
              <a:t> each reported double-digit growth.</a:t>
            </a:r>
          </a:p>
          <a:p>
            <a:pPr algn="l"/>
            <a:endParaRPr sz="800" b="0" dirty="0">
              <a:solidFill>
                <a:srgbClr val="1F1F1F"/>
              </a:solidFill>
              <a:latin typeface="Times New Roman" panose="02020603050405020304" pitchFamily="18" charset="0"/>
              <a:cs typeface="Times New Roman" panose="02020603050405020304" pitchFamily="18" charset="0"/>
            </a:endParaRPr>
          </a:p>
          <a:p>
            <a:pPr algn="l"/>
            <a:r>
              <a:rPr sz="800" b="0" dirty="0">
                <a:solidFill>
                  <a:srgbClr val="1F1F1F"/>
                </a:solidFill>
                <a:latin typeface="Times New Roman" panose="02020603050405020304" pitchFamily="18" charset="0"/>
                <a:cs typeface="Times New Roman" panose="02020603050405020304" pitchFamily="18" charset="0"/>
              </a:rPr>
              <a:t>Defensive Positioning in a Volatile Macro Environment. Walmart's value-price positioning drives consistent market share gains during periods of consumer stress. Walmart's own consumer research shows meaningful trade-down inflows from higher-income households during inflationary periods, as occurred in fiscal years 2023 and 2024. The current macroeconomic backdrop of elevated uncertainty and tariff-driven inflation creates a structural demand tailwind unique to Walmart's positioning among large-cap retailers.</a:t>
            </a:r>
          </a:p>
        </p:txBody>
      </p:sp>
      <p:sp>
        <p:nvSpPr>
          <p:cNvPr id="41" name="Rectangle 40"/>
          <p:cNvSpPr/>
          <p:nvPr/>
        </p:nvSpPr>
        <p:spPr>
          <a:xfrm>
            <a:off x="3977639" y="1764792"/>
            <a:ext cx="3611880" cy="201168"/>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2" name="TextBox 41"/>
          <p:cNvSpPr txBox="1"/>
          <p:nvPr/>
        </p:nvSpPr>
        <p:spPr>
          <a:xfrm>
            <a:off x="4032503" y="1783080"/>
            <a:ext cx="3502152" cy="207749"/>
          </a:xfrm>
          <a:prstGeom prst="rect">
            <a:avLst/>
          </a:prstGeom>
          <a:noFill/>
        </p:spPr>
        <p:txBody>
          <a:bodyPr wrap="square">
            <a:spAutoFit/>
          </a:bodyPr>
          <a:lstStyle/>
          <a:p>
            <a:pPr algn="l"/>
            <a:r>
              <a:rPr sz="750" b="1" i="0">
                <a:solidFill>
                  <a:srgbClr val="FFFFFF"/>
                </a:solidFill>
                <a:latin typeface="Times New Roman" panose="02020603050405020304" pitchFamily="18" charset="0"/>
                <a:cs typeface="Times New Roman" panose="02020603050405020304" pitchFamily="18" charset="0"/>
              </a:rPr>
              <a:t>FIGURE 1: WMT PRICE HISTORY (SPLIT-ADJUSTED)</a:t>
            </a:r>
          </a:p>
        </p:txBody>
      </p:sp>
      <p:pic>
        <p:nvPicPr>
          <p:cNvPr id="43" name="Picture 42" descr="image.png"/>
          <p:cNvPicPr>
            <a:picLocks noChangeAspect="1"/>
          </p:cNvPicPr>
          <p:nvPr/>
        </p:nvPicPr>
        <p:blipFill>
          <a:blip r:embed="rId2"/>
          <a:stretch>
            <a:fillRect/>
          </a:stretch>
        </p:blipFill>
        <p:spPr>
          <a:xfrm>
            <a:off x="3977639" y="1993392"/>
            <a:ext cx="3611880" cy="2194560"/>
          </a:xfrm>
          <a:prstGeom prst="rect">
            <a:avLst/>
          </a:prstGeom>
        </p:spPr>
      </p:pic>
      <p:sp>
        <p:nvSpPr>
          <p:cNvPr id="44" name="Rectangle 43"/>
          <p:cNvSpPr/>
          <p:nvPr/>
        </p:nvSpPr>
        <p:spPr>
          <a:xfrm>
            <a:off x="5135879" y="4233672"/>
            <a:ext cx="2453640" cy="201168"/>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5" name="TextBox 44"/>
          <p:cNvSpPr txBox="1"/>
          <p:nvPr/>
        </p:nvSpPr>
        <p:spPr>
          <a:xfrm>
            <a:off x="5105399" y="4236235"/>
            <a:ext cx="2590801" cy="207749"/>
          </a:xfrm>
          <a:prstGeom prst="rect">
            <a:avLst/>
          </a:prstGeom>
          <a:noFill/>
        </p:spPr>
        <p:txBody>
          <a:bodyPr wrap="square">
            <a:spAutoFit/>
          </a:bodyPr>
          <a:lstStyle/>
          <a:p>
            <a:pPr algn="l"/>
            <a:r>
              <a:rPr sz="750" b="1" i="0" dirty="0">
                <a:solidFill>
                  <a:srgbClr val="FFFFFF"/>
                </a:solidFill>
                <a:latin typeface="Times New Roman" panose="02020603050405020304" pitchFamily="18" charset="0"/>
                <a:cs typeface="Times New Roman" panose="02020603050405020304" pitchFamily="18" charset="0"/>
              </a:rPr>
              <a:t>FIGURE 2: PERFORMANCE VS. TGT, COST, S&amp;P 500</a:t>
            </a:r>
          </a:p>
        </p:txBody>
      </p:sp>
      <p:pic>
        <p:nvPicPr>
          <p:cNvPr id="46" name="Picture 45" descr="image.png"/>
          <p:cNvPicPr>
            <a:picLocks noChangeAspect="1"/>
          </p:cNvPicPr>
          <p:nvPr/>
        </p:nvPicPr>
        <p:blipFill>
          <a:blip r:embed="rId3"/>
          <a:stretch>
            <a:fillRect/>
          </a:stretch>
        </p:blipFill>
        <p:spPr>
          <a:xfrm>
            <a:off x="4998718" y="4501134"/>
            <a:ext cx="2727962" cy="1997964"/>
          </a:xfrm>
          <a:prstGeom prst="rect">
            <a:avLst/>
          </a:prstGeom>
        </p:spPr>
      </p:pic>
      <p:sp>
        <p:nvSpPr>
          <p:cNvPr id="47" name="Rectangle 46"/>
          <p:cNvSpPr/>
          <p:nvPr/>
        </p:nvSpPr>
        <p:spPr>
          <a:xfrm>
            <a:off x="182880" y="6720840"/>
            <a:ext cx="2011680" cy="201168"/>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8" name="TextBox 47"/>
          <p:cNvSpPr txBox="1"/>
          <p:nvPr/>
        </p:nvSpPr>
        <p:spPr>
          <a:xfrm>
            <a:off x="237744" y="6739128"/>
            <a:ext cx="1901952" cy="207749"/>
          </a:xfrm>
          <a:prstGeom prst="rect">
            <a:avLst/>
          </a:prstGeom>
          <a:noFill/>
        </p:spPr>
        <p:txBody>
          <a:bodyPr wrap="square">
            <a:spAutoFit/>
          </a:bodyPr>
          <a:lstStyle/>
          <a:p>
            <a:pPr algn="l"/>
            <a:r>
              <a:rPr sz="750" b="1" i="0" dirty="0">
                <a:solidFill>
                  <a:srgbClr val="FFFFFF"/>
                </a:solidFill>
                <a:latin typeface="Times New Roman" panose="02020603050405020304" pitchFamily="18" charset="0"/>
                <a:cs typeface="Times New Roman" panose="02020603050405020304" pitchFamily="18" charset="0"/>
              </a:rPr>
              <a:t>FINANCIAL SNAPSHOT</a:t>
            </a:r>
          </a:p>
        </p:txBody>
      </p:sp>
      <p:sp>
        <p:nvSpPr>
          <p:cNvPr id="49" name="Rectangle 48"/>
          <p:cNvSpPr/>
          <p:nvPr/>
        </p:nvSpPr>
        <p:spPr>
          <a:xfrm>
            <a:off x="182880" y="6940296"/>
            <a:ext cx="1645920" cy="214884"/>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0" name="TextBox 49"/>
          <p:cNvSpPr txBox="1"/>
          <p:nvPr/>
        </p:nvSpPr>
        <p:spPr>
          <a:xfrm>
            <a:off x="219456" y="6958584"/>
            <a:ext cx="1572768" cy="215444"/>
          </a:xfrm>
          <a:prstGeom prst="rect">
            <a:avLst/>
          </a:prstGeom>
          <a:noFill/>
        </p:spPr>
        <p:txBody>
          <a:bodyPr wrap="square">
            <a:spAutoFit/>
          </a:bodyPr>
          <a:lstStyle/>
          <a:p>
            <a:pPr algn="ctr"/>
            <a:r>
              <a:rPr sz="800" b="1" i="0">
                <a:solidFill>
                  <a:srgbClr val="FFFFFF"/>
                </a:solidFill>
                <a:latin typeface="Times New Roman" panose="02020603050405020304" pitchFamily="18" charset="0"/>
                <a:cs typeface="Times New Roman" panose="02020603050405020304" pitchFamily="18" charset="0"/>
              </a:rPr>
              <a:t>Metric</a:t>
            </a:r>
          </a:p>
        </p:txBody>
      </p:sp>
      <p:sp>
        <p:nvSpPr>
          <p:cNvPr id="51" name="Rectangle 50"/>
          <p:cNvSpPr/>
          <p:nvPr/>
        </p:nvSpPr>
        <p:spPr>
          <a:xfrm>
            <a:off x="1828800" y="6940296"/>
            <a:ext cx="1234440" cy="214884"/>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2" name="TextBox 51"/>
          <p:cNvSpPr txBox="1"/>
          <p:nvPr/>
        </p:nvSpPr>
        <p:spPr>
          <a:xfrm>
            <a:off x="1865376" y="6958584"/>
            <a:ext cx="1161288" cy="215444"/>
          </a:xfrm>
          <a:prstGeom prst="rect">
            <a:avLst/>
          </a:prstGeom>
          <a:noFill/>
        </p:spPr>
        <p:txBody>
          <a:bodyPr wrap="square">
            <a:spAutoFit/>
          </a:bodyPr>
          <a:lstStyle/>
          <a:p>
            <a:pPr algn="ctr"/>
            <a:r>
              <a:rPr sz="800" b="1" i="0">
                <a:solidFill>
                  <a:srgbClr val="FFFFFF"/>
                </a:solidFill>
                <a:latin typeface="Times New Roman" panose="02020603050405020304" pitchFamily="18" charset="0"/>
                <a:cs typeface="Times New Roman" panose="02020603050405020304" pitchFamily="18" charset="0"/>
              </a:rPr>
              <a:t>FY24</a:t>
            </a:r>
          </a:p>
        </p:txBody>
      </p:sp>
      <p:sp>
        <p:nvSpPr>
          <p:cNvPr id="53" name="Rectangle 52"/>
          <p:cNvSpPr/>
          <p:nvPr/>
        </p:nvSpPr>
        <p:spPr>
          <a:xfrm>
            <a:off x="3063240" y="6940296"/>
            <a:ext cx="1234440" cy="214884"/>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4" name="TextBox 53"/>
          <p:cNvSpPr txBox="1"/>
          <p:nvPr/>
        </p:nvSpPr>
        <p:spPr>
          <a:xfrm>
            <a:off x="3099816" y="6958584"/>
            <a:ext cx="1161288" cy="215444"/>
          </a:xfrm>
          <a:prstGeom prst="rect">
            <a:avLst/>
          </a:prstGeom>
          <a:noFill/>
        </p:spPr>
        <p:txBody>
          <a:bodyPr wrap="square">
            <a:spAutoFit/>
          </a:bodyPr>
          <a:lstStyle/>
          <a:p>
            <a:pPr algn="ctr"/>
            <a:r>
              <a:rPr sz="800" b="1" i="0">
                <a:solidFill>
                  <a:srgbClr val="FFFFFF"/>
                </a:solidFill>
                <a:latin typeface="Times New Roman" panose="02020603050405020304" pitchFamily="18" charset="0"/>
                <a:cs typeface="Times New Roman" panose="02020603050405020304" pitchFamily="18" charset="0"/>
              </a:rPr>
              <a:t>FY25</a:t>
            </a:r>
          </a:p>
        </p:txBody>
      </p:sp>
      <p:sp>
        <p:nvSpPr>
          <p:cNvPr id="55" name="Rectangle 54"/>
          <p:cNvSpPr/>
          <p:nvPr/>
        </p:nvSpPr>
        <p:spPr>
          <a:xfrm>
            <a:off x="4297680" y="6940296"/>
            <a:ext cx="1234440" cy="214884"/>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6" name="TextBox 55"/>
          <p:cNvSpPr txBox="1"/>
          <p:nvPr/>
        </p:nvSpPr>
        <p:spPr>
          <a:xfrm>
            <a:off x="4334256" y="6958584"/>
            <a:ext cx="1161288" cy="215444"/>
          </a:xfrm>
          <a:prstGeom prst="rect">
            <a:avLst/>
          </a:prstGeom>
          <a:noFill/>
        </p:spPr>
        <p:txBody>
          <a:bodyPr wrap="square">
            <a:spAutoFit/>
          </a:bodyPr>
          <a:lstStyle/>
          <a:p>
            <a:pPr algn="ctr"/>
            <a:r>
              <a:rPr sz="800" b="1" i="0">
                <a:solidFill>
                  <a:srgbClr val="FFFFFF"/>
                </a:solidFill>
                <a:latin typeface="Times New Roman" panose="02020603050405020304" pitchFamily="18" charset="0"/>
                <a:cs typeface="Times New Roman" panose="02020603050405020304" pitchFamily="18" charset="0"/>
              </a:rPr>
              <a:t>FY26A</a:t>
            </a:r>
          </a:p>
        </p:txBody>
      </p:sp>
      <p:sp>
        <p:nvSpPr>
          <p:cNvPr id="57" name="Rectangle 56"/>
          <p:cNvSpPr/>
          <p:nvPr/>
        </p:nvSpPr>
        <p:spPr>
          <a:xfrm>
            <a:off x="5532120" y="6940296"/>
            <a:ext cx="1234440" cy="214884"/>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8" name="TextBox 57"/>
          <p:cNvSpPr txBox="1"/>
          <p:nvPr/>
        </p:nvSpPr>
        <p:spPr>
          <a:xfrm>
            <a:off x="5568696" y="6958584"/>
            <a:ext cx="1161288" cy="215444"/>
          </a:xfrm>
          <a:prstGeom prst="rect">
            <a:avLst/>
          </a:prstGeom>
          <a:noFill/>
        </p:spPr>
        <p:txBody>
          <a:bodyPr wrap="square">
            <a:spAutoFit/>
          </a:bodyPr>
          <a:lstStyle/>
          <a:p>
            <a:pPr algn="ctr"/>
            <a:r>
              <a:rPr sz="800" b="1" i="0">
                <a:solidFill>
                  <a:srgbClr val="FFFFFF"/>
                </a:solidFill>
                <a:latin typeface="Times New Roman" panose="02020603050405020304" pitchFamily="18" charset="0"/>
                <a:cs typeface="Times New Roman" panose="02020603050405020304" pitchFamily="18" charset="0"/>
              </a:rPr>
              <a:t>FY27E</a:t>
            </a:r>
          </a:p>
        </p:txBody>
      </p:sp>
      <p:sp>
        <p:nvSpPr>
          <p:cNvPr id="59" name="Rectangle 58"/>
          <p:cNvSpPr/>
          <p:nvPr/>
        </p:nvSpPr>
        <p:spPr>
          <a:xfrm>
            <a:off x="182880" y="7155180"/>
            <a:ext cx="164592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60" name="TextBox 59"/>
          <p:cNvSpPr txBox="1"/>
          <p:nvPr/>
        </p:nvSpPr>
        <p:spPr>
          <a:xfrm>
            <a:off x="219456" y="7173468"/>
            <a:ext cx="1572768" cy="215444"/>
          </a:xfrm>
          <a:prstGeom prst="rect">
            <a:avLst/>
          </a:prstGeom>
          <a:noFill/>
        </p:spPr>
        <p:txBody>
          <a:bodyPr wrap="square">
            <a:spAutoFit/>
          </a:bodyPr>
          <a:lstStyle/>
          <a:p>
            <a:pPr algn="l"/>
            <a:r>
              <a:rPr sz="800" b="1" i="0">
                <a:solidFill>
                  <a:srgbClr val="1F1F1F"/>
                </a:solidFill>
                <a:latin typeface="Times New Roman" panose="02020603050405020304" pitchFamily="18" charset="0"/>
                <a:cs typeface="Times New Roman" panose="02020603050405020304" pitchFamily="18" charset="0"/>
              </a:rPr>
              <a:t>Revenue ($B)</a:t>
            </a:r>
          </a:p>
        </p:txBody>
      </p:sp>
      <p:sp>
        <p:nvSpPr>
          <p:cNvPr id="61" name="Rectangle 60"/>
          <p:cNvSpPr/>
          <p:nvPr/>
        </p:nvSpPr>
        <p:spPr>
          <a:xfrm>
            <a:off x="1828800" y="7155180"/>
            <a:ext cx="123444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62" name="TextBox 61"/>
          <p:cNvSpPr txBox="1"/>
          <p:nvPr/>
        </p:nvSpPr>
        <p:spPr>
          <a:xfrm>
            <a:off x="1865376" y="7173468"/>
            <a:ext cx="116128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$648.1</a:t>
            </a:r>
          </a:p>
        </p:txBody>
      </p:sp>
      <p:sp>
        <p:nvSpPr>
          <p:cNvPr id="63" name="Rectangle 62"/>
          <p:cNvSpPr/>
          <p:nvPr/>
        </p:nvSpPr>
        <p:spPr>
          <a:xfrm>
            <a:off x="3063240" y="7155180"/>
            <a:ext cx="123444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64" name="TextBox 63"/>
          <p:cNvSpPr txBox="1"/>
          <p:nvPr/>
        </p:nvSpPr>
        <p:spPr>
          <a:xfrm>
            <a:off x="3099816" y="7173468"/>
            <a:ext cx="116128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$681.0</a:t>
            </a:r>
          </a:p>
        </p:txBody>
      </p:sp>
      <p:sp>
        <p:nvSpPr>
          <p:cNvPr id="65" name="Rectangle 64"/>
          <p:cNvSpPr/>
          <p:nvPr/>
        </p:nvSpPr>
        <p:spPr>
          <a:xfrm>
            <a:off x="4297680" y="7155180"/>
            <a:ext cx="123444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66" name="TextBox 65"/>
          <p:cNvSpPr txBox="1"/>
          <p:nvPr/>
        </p:nvSpPr>
        <p:spPr>
          <a:xfrm>
            <a:off x="4334256" y="7173468"/>
            <a:ext cx="116128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$713.2</a:t>
            </a:r>
          </a:p>
        </p:txBody>
      </p:sp>
      <p:sp>
        <p:nvSpPr>
          <p:cNvPr id="67" name="Rectangle 66"/>
          <p:cNvSpPr/>
          <p:nvPr/>
        </p:nvSpPr>
        <p:spPr>
          <a:xfrm>
            <a:off x="5532120" y="7155180"/>
            <a:ext cx="123444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68" name="TextBox 67"/>
          <p:cNvSpPr txBox="1"/>
          <p:nvPr/>
        </p:nvSpPr>
        <p:spPr>
          <a:xfrm>
            <a:off x="5568696" y="7173468"/>
            <a:ext cx="116128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$748.8E</a:t>
            </a:r>
          </a:p>
        </p:txBody>
      </p:sp>
      <p:sp>
        <p:nvSpPr>
          <p:cNvPr id="69" name="Rectangle 68"/>
          <p:cNvSpPr/>
          <p:nvPr/>
        </p:nvSpPr>
        <p:spPr>
          <a:xfrm>
            <a:off x="182880" y="7370064"/>
            <a:ext cx="164592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0" name="TextBox 69"/>
          <p:cNvSpPr txBox="1"/>
          <p:nvPr/>
        </p:nvSpPr>
        <p:spPr>
          <a:xfrm>
            <a:off x="219456" y="7388352"/>
            <a:ext cx="1572768" cy="215444"/>
          </a:xfrm>
          <a:prstGeom prst="rect">
            <a:avLst/>
          </a:prstGeom>
          <a:noFill/>
        </p:spPr>
        <p:txBody>
          <a:bodyPr wrap="square">
            <a:spAutoFit/>
          </a:bodyPr>
          <a:lstStyle/>
          <a:p>
            <a:pPr algn="l"/>
            <a:r>
              <a:rPr sz="800" b="1" i="0">
                <a:solidFill>
                  <a:srgbClr val="1F1F1F"/>
                </a:solidFill>
                <a:latin typeface="Times New Roman" panose="02020603050405020304" pitchFamily="18" charset="0"/>
                <a:cs typeface="Times New Roman" panose="02020603050405020304" pitchFamily="18" charset="0"/>
              </a:rPr>
              <a:t>EBITDA ($B)</a:t>
            </a:r>
          </a:p>
        </p:txBody>
      </p:sp>
      <p:sp>
        <p:nvSpPr>
          <p:cNvPr id="71" name="Rectangle 70"/>
          <p:cNvSpPr/>
          <p:nvPr/>
        </p:nvSpPr>
        <p:spPr>
          <a:xfrm>
            <a:off x="1828800" y="7370064"/>
            <a:ext cx="123444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2" name="TextBox 71"/>
          <p:cNvSpPr txBox="1"/>
          <p:nvPr/>
        </p:nvSpPr>
        <p:spPr>
          <a:xfrm>
            <a:off x="1865376" y="7388352"/>
            <a:ext cx="116128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$38.9</a:t>
            </a:r>
          </a:p>
        </p:txBody>
      </p:sp>
      <p:sp>
        <p:nvSpPr>
          <p:cNvPr id="73" name="Rectangle 72"/>
          <p:cNvSpPr/>
          <p:nvPr/>
        </p:nvSpPr>
        <p:spPr>
          <a:xfrm>
            <a:off x="3063240" y="7370064"/>
            <a:ext cx="123444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4" name="TextBox 73"/>
          <p:cNvSpPr txBox="1"/>
          <p:nvPr/>
        </p:nvSpPr>
        <p:spPr>
          <a:xfrm>
            <a:off x="3099816" y="7388352"/>
            <a:ext cx="116128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$42.3</a:t>
            </a:r>
          </a:p>
        </p:txBody>
      </p:sp>
      <p:sp>
        <p:nvSpPr>
          <p:cNvPr id="75" name="Rectangle 74"/>
          <p:cNvSpPr/>
          <p:nvPr/>
        </p:nvSpPr>
        <p:spPr>
          <a:xfrm>
            <a:off x="4297680" y="7370064"/>
            <a:ext cx="123444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6" name="TextBox 75"/>
          <p:cNvSpPr txBox="1"/>
          <p:nvPr/>
        </p:nvSpPr>
        <p:spPr>
          <a:xfrm>
            <a:off x="4334256" y="7388352"/>
            <a:ext cx="116128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$44.0</a:t>
            </a:r>
          </a:p>
        </p:txBody>
      </p:sp>
      <p:sp>
        <p:nvSpPr>
          <p:cNvPr id="77" name="Rectangle 76"/>
          <p:cNvSpPr/>
          <p:nvPr/>
        </p:nvSpPr>
        <p:spPr>
          <a:xfrm>
            <a:off x="5532120" y="7370064"/>
            <a:ext cx="123444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8" name="TextBox 77"/>
          <p:cNvSpPr txBox="1"/>
          <p:nvPr/>
        </p:nvSpPr>
        <p:spPr>
          <a:xfrm>
            <a:off x="5568696" y="7388352"/>
            <a:ext cx="116128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$46.2E</a:t>
            </a:r>
          </a:p>
        </p:txBody>
      </p:sp>
      <p:sp>
        <p:nvSpPr>
          <p:cNvPr id="79" name="Rectangle 78"/>
          <p:cNvSpPr/>
          <p:nvPr/>
        </p:nvSpPr>
        <p:spPr>
          <a:xfrm>
            <a:off x="182880" y="7584948"/>
            <a:ext cx="164592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80" name="TextBox 79"/>
          <p:cNvSpPr txBox="1"/>
          <p:nvPr/>
        </p:nvSpPr>
        <p:spPr>
          <a:xfrm>
            <a:off x="219456" y="7603236"/>
            <a:ext cx="1572768" cy="215444"/>
          </a:xfrm>
          <a:prstGeom prst="rect">
            <a:avLst/>
          </a:prstGeom>
          <a:noFill/>
        </p:spPr>
        <p:txBody>
          <a:bodyPr wrap="square">
            <a:spAutoFit/>
          </a:bodyPr>
          <a:lstStyle/>
          <a:p>
            <a:pPr algn="l"/>
            <a:r>
              <a:rPr sz="800" b="1" i="0">
                <a:solidFill>
                  <a:srgbClr val="1F1F1F"/>
                </a:solidFill>
                <a:latin typeface="Times New Roman" panose="02020603050405020304" pitchFamily="18" charset="0"/>
                <a:cs typeface="Times New Roman" panose="02020603050405020304" pitchFamily="18" charset="0"/>
              </a:rPr>
              <a:t>EPS (GAAP Dil.)</a:t>
            </a:r>
          </a:p>
        </p:txBody>
      </p:sp>
      <p:sp>
        <p:nvSpPr>
          <p:cNvPr id="81" name="Rectangle 80"/>
          <p:cNvSpPr/>
          <p:nvPr/>
        </p:nvSpPr>
        <p:spPr>
          <a:xfrm>
            <a:off x="1828800" y="7584948"/>
            <a:ext cx="123444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82" name="TextBox 81"/>
          <p:cNvSpPr txBox="1"/>
          <p:nvPr/>
        </p:nvSpPr>
        <p:spPr>
          <a:xfrm>
            <a:off x="1865376" y="7603236"/>
            <a:ext cx="116128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$1.91</a:t>
            </a:r>
          </a:p>
        </p:txBody>
      </p:sp>
      <p:sp>
        <p:nvSpPr>
          <p:cNvPr id="83" name="Rectangle 82"/>
          <p:cNvSpPr/>
          <p:nvPr/>
        </p:nvSpPr>
        <p:spPr>
          <a:xfrm>
            <a:off x="3063240" y="7584948"/>
            <a:ext cx="123444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84" name="TextBox 83"/>
          <p:cNvSpPr txBox="1"/>
          <p:nvPr/>
        </p:nvSpPr>
        <p:spPr>
          <a:xfrm>
            <a:off x="3099816" y="7603236"/>
            <a:ext cx="116128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$2.41</a:t>
            </a:r>
          </a:p>
        </p:txBody>
      </p:sp>
      <p:sp>
        <p:nvSpPr>
          <p:cNvPr id="85" name="Rectangle 84"/>
          <p:cNvSpPr/>
          <p:nvPr/>
        </p:nvSpPr>
        <p:spPr>
          <a:xfrm>
            <a:off x="4297680" y="7584948"/>
            <a:ext cx="123444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86" name="TextBox 85"/>
          <p:cNvSpPr txBox="1"/>
          <p:nvPr/>
        </p:nvSpPr>
        <p:spPr>
          <a:xfrm>
            <a:off x="4334256" y="7603236"/>
            <a:ext cx="116128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$2.73</a:t>
            </a:r>
          </a:p>
        </p:txBody>
      </p:sp>
      <p:sp>
        <p:nvSpPr>
          <p:cNvPr id="87" name="Rectangle 86"/>
          <p:cNvSpPr/>
          <p:nvPr/>
        </p:nvSpPr>
        <p:spPr>
          <a:xfrm>
            <a:off x="5532120" y="7584948"/>
            <a:ext cx="123444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88" name="TextBox 87"/>
          <p:cNvSpPr txBox="1"/>
          <p:nvPr/>
        </p:nvSpPr>
        <p:spPr>
          <a:xfrm>
            <a:off x="5568696" y="7603236"/>
            <a:ext cx="116128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$2.87E</a:t>
            </a:r>
          </a:p>
        </p:txBody>
      </p:sp>
      <p:sp>
        <p:nvSpPr>
          <p:cNvPr id="89" name="Rectangle 88"/>
          <p:cNvSpPr/>
          <p:nvPr/>
        </p:nvSpPr>
        <p:spPr>
          <a:xfrm>
            <a:off x="182880" y="7799832"/>
            <a:ext cx="164592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90" name="TextBox 89"/>
          <p:cNvSpPr txBox="1"/>
          <p:nvPr/>
        </p:nvSpPr>
        <p:spPr>
          <a:xfrm>
            <a:off x="219456" y="7818120"/>
            <a:ext cx="1572768" cy="215444"/>
          </a:xfrm>
          <a:prstGeom prst="rect">
            <a:avLst/>
          </a:prstGeom>
          <a:noFill/>
        </p:spPr>
        <p:txBody>
          <a:bodyPr wrap="square">
            <a:spAutoFit/>
          </a:bodyPr>
          <a:lstStyle/>
          <a:p>
            <a:pPr algn="l"/>
            <a:r>
              <a:rPr sz="800" b="1" i="0">
                <a:solidFill>
                  <a:srgbClr val="1F1F1F"/>
                </a:solidFill>
                <a:latin typeface="Times New Roman" panose="02020603050405020304" pitchFamily="18" charset="0"/>
                <a:cs typeface="Times New Roman" panose="02020603050405020304" pitchFamily="18" charset="0"/>
              </a:rPr>
              <a:t>FCF ($B)</a:t>
            </a:r>
          </a:p>
        </p:txBody>
      </p:sp>
      <p:sp>
        <p:nvSpPr>
          <p:cNvPr id="91" name="Rectangle 90"/>
          <p:cNvSpPr/>
          <p:nvPr/>
        </p:nvSpPr>
        <p:spPr>
          <a:xfrm>
            <a:off x="1828800" y="7799832"/>
            <a:ext cx="123444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92" name="TextBox 91"/>
          <p:cNvSpPr txBox="1"/>
          <p:nvPr/>
        </p:nvSpPr>
        <p:spPr>
          <a:xfrm>
            <a:off x="1865376" y="7818120"/>
            <a:ext cx="116128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$15.1</a:t>
            </a:r>
          </a:p>
        </p:txBody>
      </p:sp>
      <p:sp>
        <p:nvSpPr>
          <p:cNvPr id="93" name="Rectangle 92"/>
          <p:cNvSpPr/>
          <p:nvPr/>
        </p:nvSpPr>
        <p:spPr>
          <a:xfrm>
            <a:off x="3063240" y="7799832"/>
            <a:ext cx="123444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94" name="TextBox 93"/>
          <p:cNvSpPr txBox="1"/>
          <p:nvPr/>
        </p:nvSpPr>
        <p:spPr>
          <a:xfrm>
            <a:off x="3099816" y="7818120"/>
            <a:ext cx="116128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$12.7</a:t>
            </a:r>
          </a:p>
        </p:txBody>
      </p:sp>
      <p:sp>
        <p:nvSpPr>
          <p:cNvPr id="95" name="Rectangle 94"/>
          <p:cNvSpPr/>
          <p:nvPr/>
        </p:nvSpPr>
        <p:spPr>
          <a:xfrm>
            <a:off x="4297680" y="7799832"/>
            <a:ext cx="123444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96" name="TextBox 95"/>
          <p:cNvSpPr txBox="1"/>
          <p:nvPr/>
        </p:nvSpPr>
        <p:spPr>
          <a:xfrm>
            <a:off x="4334256" y="7818120"/>
            <a:ext cx="116128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$14.9</a:t>
            </a:r>
          </a:p>
        </p:txBody>
      </p:sp>
      <p:sp>
        <p:nvSpPr>
          <p:cNvPr id="97" name="Rectangle 96"/>
          <p:cNvSpPr/>
          <p:nvPr/>
        </p:nvSpPr>
        <p:spPr>
          <a:xfrm>
            <a:off x="5532120" y="7799832"/>
            <a:ext cx="123444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98" name="TextBox 97"/>
          <p:cNvSpPr txBox="1"/>
          <p:nvPr/>
        </p:nvSpPr>
        <p:spPr>
          <a:xfrm>
            <a:off x="5568696" y="7818120"/>
            <a:ext cx="116128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$15.7E</a:t>
            </a:r>
          </a:p>
        </p:txBody>
      </p:sp>
      <p:sp>
        <p:nvSpPr>
          <p:cNvPr id="99" name="Rectangle 98"/>
          <p:cNvSpPr/>
          <p:nvPr/>
        </p:nvSpPr>
        <p:spPr>
          <a:xfrm>
            <a:off x="182880" y="8014716"/>
            <a:ext cx="164592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00" name="TextBox 99"/>
          <p:cNvSpPr txBox="1"/>
          <p:nvPr/>
        </p:nvSpPr>
        <p:spPr>
          <a:xfrm>
            <a:off x="219456" y="8033004"/>
            <a:ext cx="1572768" cy="215444"/>
          </a:xfrm>
          <a:prstGeom prst="rect">
            <a:avLst/>
          </a:prstGeom>
          <a:noFill/>
        </p:spPr>
        <p:txBody>
          <a:bodyPr wrap="square">
            <a:spAutoFit/>
          </a:bodyPr>
          <a:lstStyle/>
          <a:p>
            <a:pPr algn="l"/>
            <a:r>
              <a:rPr sz="800" b="1" i="0">
                <a:solidFill>
                  <a:srgbClr val="1F1F1F"/>
                </a:solidFill>
                <a:latin typeface="Times New Roman" panose="02020603050405020304" pitchFamily="18" charset="0"/>
                <a:cs typeface="Times New Roman" panose="02020603050405020304" pitchFamily="18" charset="0"/>
              </a:rPr>
              <a:t>FCF Margin</a:t>
            </a:r>
          </a:p>
        </p:txBody>
      </p:sp>
      <p:sp>
        <p:nvSpPr>
          <p:cNvPr id="101" name="Rectangle 100"/>
          <p:cNvSpPr/>
          <p:nvPr/>
        </p:nvSpPr>
        <p:spPr>
          <a:xfrm>
            <a:off x="1828800" y="8014716"/>
            <a:ext cx="123444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02" name="TextBox 101"/>
          <p:cNvSpPr txBox="1"/>
          <p:nvPr/>
        </p:nvSpPr>
        <p:spPr>
          <a:xfrm>
            <a:off x="1865376" y="8033004"/>
            <a:ext cx="116128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2.3%</a:t>
            </a:r>
          </a:p>
        </p:txBody>
      </p:sp>
      <p:sp>
        <p:nvSpPr>
          <p:cNvPr id="103" name="Rectangle 102"/>
          <p:cNvSpPr/>
          <p:nvPr/>
        </p:nvSpPr>
        <p:spPr>
          <a:xfrm>
            <a:off x="3063240" y="8014716"/>
            <a:ext cx="123444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04" name="TextBox 103"/>
          <p:cNvSpPr txBox="1"/>
          <p:nvPr/>
        </p:nvSpPr>
        <p:spPr>
          <a:xfrm>
            <a:off x="3099816" y="8033004"/>
            <a:ext cx="116128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1.9%</a:t>
            </a:r>
          </a:p>
        </p:txBody>
      </p:sp>
      <p:sp>
        <p:nvSpPr>
          <p:cNvPr id="105" name="Rectangle 104"/>
          <p:cNvSpPr/>
          <p:nvPr/>
        </p:nvSpPr>
        <p:spPr>
          <a:xfrm>
            <a:off x="4297680" y="8014716"/>
            <a:ext cx="123444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06" name="TextBox 105"/>
          <p:cNvSpPr txBox="1"/>
          <p:nvPr/>
        </p:nvSpPr>
        <p:spPr>
          <a:xfrm>
            <a:off x="4334256" y="8033004"/>
            <a:ext cx="116128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2.1%</a:t>
            </a:r>
          </a:p>
        </p:txBody>
      </p:sp>
      <p:sp>
        <p:nvSpPr>
          <p:cNvPr id="107" name="Rectangle 106"/>
          <p:cNvSpPr/>
          <p:nvPr/>
        </p:nvSpPr>
        <p:spPr>
          <a:xfrm>
            <a:off x="5532120" y="8014716"/>
            <a:ext cx="123444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08" name="TextBox 107"/>
          <p:cNvSpPr txBox="1"/>
          <p:nvPr/>
        </p:nvSpPr>
        <p:spPr>
          <a:xfrm>
            <a:off x="5568696" y="8033004"/>
            <a:ext cx="116128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2.1%</a:t>
            </a:r>
          </a:p>
        </p:txBody>
      </p:sp>
      <p:sp>
        <p:nvSpPr>
          <p:cNvPr id="109" name="Rectangle 108"/>
          <p:cNvSpPr/>
          <p:nvPr/>
        </p:nvSpPr>
        <p:spPr>
          <a:xfrm>
            <a:off x="182880" y="8229600"/>
            <a:ext cx="164592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10" name="TextBox 109"/>
          <p:cNvSpPr txBox="1"/>
          <p:nvPr/>
        </p:nvSpPr>
        <p:spPr>
          <a:xfrm>
            <a:off x="219456" y="8247888"/>
            <a:ext cx="1572768" cy="215444"/>
          </a:xfrm>
          <a:prstGeom prst="rect">
            <a:avLst/>
          </a:prstGeom>
          <a:noFill/>
        </p:spPr>
        <p:txBody>
          <a:bodyPr wrap="square">
            <a:spAutoFit/>
          </a:bodyPr>
          <a:lstStyle/>
          <a:p>
            <a:pPr algn="l"/>
            <a:r>
              <a:rPr sz="800" b="1" i="0">
                <a:solidFill>
                  <a:srgbClr val="1F1F1F"/>
                </a:solidFill>
                <a:latin typeface="Times New Roman" panose="02020603050405020304" pitchFamily="18" charset="0"/>
                <a:cs typeface="Times New Roman" panose="02020603050405020304" pitchFamily="18" charset="0"/>
              </a:rPr>
              <a:t>Rev. Growth YoY</a:t>
            </a:r>
          </a:p>
        </p:txBody>
      </p:sp>
      <p:sp>
        <p:nvSpPr>
          <p:cNvPr id="111" name="Rectangle 110"/>
          <p:cNvSpPr/>
          <p:nvPr/>
        </p:nvSpPr>
        <p:spPr>
          <a:xfrm>
            <a:off x="1828800" y="8229600"/>
            <a:ext cx="123444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12" name="TextBox 111"/>
          <p:cNvSpPr txBox="1"/>
          <p:nvPr/>
        </p:nvSpPr>
        <p:spPr>
          <a:xfrm>
            <a:off x="1865376" y="8247888"/>
            <a:ext cx="116128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5.1%</a:t>
            </a:r>
          </a:p>
        </p:txBody>
      </p:sp>
      <p:sp>
        <p:nvSpPr>
          <p:cNvPr id="113" name="Rectangle 112"/>
          <p:cNvSpPr/>
          <p:nvPr/>
        </p:nvSpPr>
        <p:spPr>
          <a:xfrm>
            <a:off x="3063240" y="8229600"/>
            <a:ext cx="123444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14" name="TextBox 113"/>
          <p:cNvSpPr txBox="1"/>
          <p:nvPr/>
        </p:nvSpPr>
        <p:spPr>
          <a:xfrm>
            <a:off x="3099816" y="8247888"/>
            <a:ext cx="116128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5.1%</a:t>
            </a:r>
          </a:p>
        </p:txBody>
      </p:sp>
      <p:sp>
        <p:nvSpPr>
          <p:cNvPr id="115" name="Rectangle 114"/>
          <p:cNvSpPr/>
          <p:nvPr/>
        </p:nvSpPr>
        <p:spPr>
          <a:xfrm>
            <a:off x="4297680" y="8229600"/>
            <a:ext cx="123444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16" name="TextBox 115"/>
          <p:cNvSpPr txBox="1"/>
          <p:nvPr/>
        </p:nvSpPr>
        <p:spPr>
          <a:xfrm>
            <a:off x="4334256" y="8247888"/>
            <a:ext cx="116128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4.7%</a:t>
            </a:r>
          </a:p>
        </p:txBody>
      </p:sp>
      <p:sp>
        <p:nvSpPr>
          <p:cNvPr id="117" name="Rectangle 116"/>
          <p:cNvSpPr/>
          <p:nvPr/>
        </p:nvSpPr>
        <p:spPr>
          <a:xfrm>
            <a:off x="5532120" y="8229600"/>
            <a:ext cx="123444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18" name="TextBox 117"/>
          <p:cNvSpPr txBox="1"/>
          <p:nvPr/>
        </p:nvSpPr>
        <p:spPr>
          <a:xfrm>
            <a:off x="5568696" y="8247888"/>
            <a:ext cx="116128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5.0%E</a:t>
            </a:r>
          </a:p>
        </p:txBody>
      </p:sp>
      <p:sp>
        <p:nvSpPr>
          <p:cNvPr id="119" name="Rectangle 118"/>
          <p:cNvSpPr/>
          <p:nvPr/>
        </p:nvSpPr>
        <p:spPr>
          <a:xfrm>
            <a:off x="182880" y="8595360"/>
            <a:ext cx="7406640" cy="1078992"/>
          </a:xfrm>
          <a:prstGeom prst="rect">
            <a:avLst/>
          </a:prstGeom>
          <a:solidFill>
            <a:srgbClr val="E0EEF8"/>
          </a:solidFill>
          <a:ln w="19050">
            <a:solidFill>
              <a:srgbClr val="0071C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20" name="TextBox 119"/>
          <p:cNvSpPr txBox="1"/>
          <p:nvPr/>
        </p:nvSpPr>
        <p:spPr>
          <a:xfrm>
            <a:off x="274320" y="8622792"/>
            <a:ext cx="4572000" cy="230832"/>
          </a:xfrm>
          <a:prstGeom prst="rect">
            <a:avLst/>
          </a:prstGeom>
          <a:noFill/>
        </p:spPr>
        <p:txBody>
          <a:bodyPr wrap="square">
            <a:spAutoFit/>
          </a:bodyPr>
          <a:lstStyle/>
          <a:p>
            <a:pPr algn="l"/>
            <a:r>
              <a:rPr sz="900" b="1" i="0">
                <a:solidFill>
                  <a:srgbClr val="1F1F1F"/>
                </a:solidFill>
                <a:latin typeface="Times New Roman" panose="02020603050405020304" pitchFamily="18" charset="0"/>
                <a:cs typeface="Times New Roman" panose="02020603050405020304" pitchFamily="18" charset="0"/>
              </a:rPr>
              <a:t>Recommendation Summary</a:t>
            </a:r>
          </a:p>
        </p:txBody>
      </p:sp>
      <p:sp>
        <p:nvSpPr>
          <p:cNvPr id="121" name="TextBox 120"/>
          <p:cNvSpPr txBox="1"/>
          <p:nvPr/>
        </p:nvSpPr>
        <p:spPr>
          <a:xfrm>
            <a:off x="274320" y="8823960"/>
            <a:ext cx="7223760" cy="584775"/>
          </a:xfrm>
          <a:prstGeom prst="rect">
            <a:avLst/>
          </a:prstGeom>
          <a:noFill/>
        </p:spPr>
        <p:txBody>
          <a:bodyPr wrap="square">
            <a:spAutoFit/>
          </a:bodyPr>
          <a:lstStyle/>
          <a:p>
            <a:pPr algn="l"/>
            <a:r>
              <a:rPr sz="800" b="0" i="0">
                <a:solidFill>
                  <a:srgbClr val="1F1F1F"/>
                </a:solidFill>
                <a:latin typeface="Times New Roman" panose="02020603050405020304" pitchFamily="18" charset="0"/>
                <a:cs typeface="Times New Roman" panose="02020603050405020304" pitchFamily="18" charset="0"/>
              </a:rPr>
              <a:t>We initiate coverage of Walmart Inc. with a BUY recommendation and a 12-month price target of $140.00, representing 9.8 percent upside from the current price of $127.50. Our target is derived from a blended valuation of a forward P/E multiple of 49x applied to FY27E GAAP EPS of $2.87 (implied $140.63), an EV/EBITDA approach at 25x FY27E EBITDA of $46.2 billion (implied $140.65), and a market multipliers composite of $102.69. The primary investment catalysts are Walmart Connect advertising revenue growth, e-commerce margin improvement, and ongoing consumer trade-down dynamics that favor Walmart's value positioning.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7772400" cy="502920"/>
          </a:xfrm>
          <a:prstGeom prst="rect">
            <a:avLst/>
          </a:prstGeom>
          <a:solidFill>
            <a:srgbClr val="1F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TextBox 2"/>
          <p:cNvSpPr txBox="1"/>
          <p:nvPr/>
        </p:nvSpPr>
        <p:spPr>
          <a:xfrm>
            <a:off x="164592" y="64008"/>
            <a:ext cx="3200400" cy="246221"/>
          </a:xfrm>
          <a:prstGeom prst="rect">
            <a:avLst/>
          </a:prstGeom>
          <a:noFill/>
        </p:spPr>
        <p:txBody>
          <a:bodyPr wrap="square">
            <a:spAutoFit/>
          </a:bodyPr>
          <a:lstStyle/>
          <a:p>
            <a:pPr algn="l"/>
            <a:r>
              <a:rPr sz="1000" b="1" i="0">
                <a:solidFill>
                  <a:srgbClr val="FFFFFF"/>
                </a:solidFill>
                <a:latin typeface="Times New Roman" panose="02020603050405020304" pitchFamily="18" charset="0"/>
                <a:cs typeface="Times New Roman" panose="02020603050405020304" pitchFamily="18" charset="0"/>
              </a:rPr>
              <a:t>WMT  |  EQUITY RESEARCH</a:t>
            </a:r>
          </a:p>
        </p:txBody>
      </p:sp>
      <p:sp>
        <p:nvSpPr>
          <p:cNvPr id="4" name="TextBox 3"/>
          <p:cNvSpPr txBox="1"/>
          <p:nvPr/>
        </p:nvSpPr>
        <p:spPr>
          <a:xfrm>
            <a:off x="2286000" y="64008"/>
            <a:ext cx="4114800" cy="261610"/>
          </a:xfrm>
          <a:prstGeom prst="rect">
            <a:avLst/>
          </a:prstGeom>
          <a:noFill/>
        </p:spPr>
        <p:txBody>
          <a:bodyPr wrap="square">
            <a:spAutoFit/>
          </a:bodyPr>
          <a:lstStyle/>
          <a:p>
            <a:pPr algn="ctr"/>
            <a:r>
              <a:rPr sz="1100" b="1" i="0">
                <a:solidFill>
                  <a:srgbClr val="0071CE"/>
                </a:solidFill>
                <a:latin typeface="Times New Roman" panose="02020603050405020304" pitchFamily="18" charset="0"/>
                <a:cs typeface="Times New Roman" panose="02020603050405020304" pitchFamily="18" charset="0"/>
              </a:rPr>
              <a:t>PERFORMANCE &amp; COMPETITIVE POSITIONING</a:t>
            </a:r>
          </a:p>
        </p:txBody>
      </p:sp>
      <p:sp>
        <p:nvSpPr>
          <p:cNvPr id="5" name="TextBox 4"/>
          <p:cNvSpPr txBox="1"/>
          <p:nvPr/>
        </p:nvSpPr>
        <p:spPr>
          <a:xfrm>
            <a:off x="5669280" y="64008"/>
            <a:ext cx="1920240" cy="223138"/>
          </a:xfrm>
          <a:prstGeom prst="rect">
            <a:avLst/>
          </a:prstGeom>
          <a:noFill/>
        </p:spPr>
        <p:txBody>
          <a:bodyPr wrap="square">
            <a:spAutoFit/>
          </a:bodyPr>
          <a:lstStyle/>
          <a:p>
            <a:pPr algn="r"/>
            <a:r>
              <a:rPr sz="850" b="0" i="0">
                <a:solidFill>
                  <a:srgbClr val="FFFFFF"/>
                </a:solidFill>
                <a:latin typeface="Times New Roman" panose="02020603050405020304" pitchFamily="18" charset="0"/>
                <a:cs typeface="Times New Roman" panose="02020603050405020304" pitchFamily="18" charset="0"/>
              </a:rPr>
              <a:t>April 2026  |  FIN 431</a:t>
            </a:r>
          </a:p>
        </p:txBody>
      </p:sp>
      <p:sp>
        <p:nvSpPr>
          <p:cNvPr id="6" name="Rectangle 5"/>
          <p:cNvSpPr/>
          <p:nvPr/>
        </p:nvSpPr>
        <p:spPr>
          <a:xfrm>
            <a:off x="0" y="502920"/>
            <a:ext cx="7772400" cy="36576"/>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 name="Rectangle 6"/>
          <p:cNvSpPr/>
          <p:nvPr/>
        </p:nvSpPr>
        <p:spPr>
          <a:xfrm>
            <a:off x="0" y="9802368"/>
            <a:ext cx="7772400" cy="256032"/>
          </a:xfrm>
          <a:prstGeom prst="rect">
            <a:avLst/>
          </a:prstGeom>
          <a:solidFill>
            <a:srgbClr val="1F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8" name="TextBox 7"/>
          <p:cNvSpPr txBox="1"/>
          <p:nvPr/>
        </p:nvSpPr>
        <p:spPr>
          <a:xfrm>
            <a:off x="164592" y="9811512"/>
            <a:ext cx="5943600" cy="200055"/>
          </a:xfrm>
          <a:prstGeom prst="rect">
            <a:avLst/>
          </a:prstGeom>
          <a:noFill/>
        </p:spPr>
        <p:txBody>
          <a:bodyPr wrap="square">
            <a:spAutoFit/>
          </a:bodyPr>
          <a:lstStyle/>
          <a:p>
            <a:pPr algn="l"/>
            <a:r>
              <a:rPr sz="700" b="0" i="0">
                <a:solidFill>
                  <a:srgbClr val="BBBBBB"/>
                </a:solidFill>
                <a:latin typeface="Times New Roman" panose="02020603050405020304" pitchFamily="18" charset="0"/>
                <a:cs typeface="Times New Roman" panose="02020603050405020304" pitchFamily="18" charset="0"/>
              </a:rPr>
              <a:t>Walmart Inc. (WMT)  |  Equity Research  |  FIN 431  |  Portfolio Analysis</a:t>
            </a:r>
          </a:p>
        </p:txBody>
      </p:sp>
      <p:sp>
        <p:nvSpPr>
          <p:cNvPr id="9" name="TextBox 8"/>
          <p:cNvSpPr txBox="1"/>
          <p:nvPr/>
        </p:nvSpPr>
        <p:spPr>
          <a:xfrm>
            <a:off x="7132320" y="9811512"/>
            <a:ext cx="502920" cy="200055"/>
          </a:xfrm>
          <a:prstGeom prst="rect">
            <a:avLst/>
          </a:prstGeom>
          <a:noFill/>
        </p:spPr>
        <p:txBody>
          <a:bodyPr wrap="square">
            <a:spAutoFit/>
          </a:bodyPr>
          <a:lstStyle/>
          <a:p>
            <a:pPr algn="r"/>
            <a:r>
              <a:rPr sz="700" b="0" i="0">
                <a:solidFill>
                  <a:srgbClr val="BBBBBB"/>
                </a:solidFill>
                <a:latin typeface="Times New Roman" panose="02020603050405020304" pitchFamily="18" charset="0"/>
                <a:cs typeface="Times New Roman" panose="02020603050405020304" pitchFamily="18" charset="0"/>
              </a:rPr>
              <a:t>Page 2</a:t>
            </a:r>
          </a:p>
        </p:txBody>
      </p:sp>
      <p:sp>
        <p:nvSpPr>
          <p:cNvPr id="10" name="Rectangle 9"/>
          <p:cNvSpPr/>
          <p:nvPr/>
        </p:nvSpPr>
        <p:spPr>
          <a:xfrm>
            <a:off x="182880" y="621792"/>
            <a:ext cx="3657600" cy="201168"/>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1" name="TextBox 10"/>
          <p:cNvSpPr txBox="1"/>
          <p:nvPr/>
        </p:nvSpPr>
        <p:spPr>
          <a:xfrm>
            <a:off x="237744" y="640080"/>
            <a:ext cx="3547872" cy="207749"/>
          </a:xfrm>
          <a:prstGeom prst="rect">
            <a:avLst/>
          </a:prstGeom>
          <a:noFill/>
        </p:spPr>
        <p:txBody>
          <a:bodyPr wrap="square">
            <a:spAutoFit/>
          </a:bodyPr>
          <a:lstStyle/>
          <a:p>
            <a:pPr algn="l"/>
            <a:r>
              <a:rPr sz="750" b="1" i="0">
                <a:solidFill>
                  <a:srgbClr val="FFFFFF"/>
                </a:solidFill>
                <a:latin typeface="Times New Roman" panose="02020603050405020304" pitchFamily="18" charset="0"/>
                <a:cs typeface="Times New Roman" panose="02020603050405020304" pitchFamily="18" charset="0"/>
              </a:rPr>
              <a:t>INDUSTRY OVERVIEW AND COMPETITIVE LANDSCAPE</a:t>
            </a:r>
          </a:p>
        </p:txBody>
      </p:sp>
      <p:sp>
        <p:nvSpPr>
          <p:cNvPr id="12" name="TextBox 11"/>
          <p:cNvSpPr txBox="1"/>
          <p:nvPr/>
        </p:nvSpPr>
        <p:spPr>
          <a:xfrm>
            <a:off x="182880" y="850392"/>
            <a:ext cx="7406640" cy="596574"/>
          </a:xfrm>
          <a:prstGeom prst="rect">
            <a:avLst/>
          </a:prstGeom>
          <a:noFill/>
        </p:spPr>
        <p:txBody>
          <a:bodyPr wrap="square">
            <a:spAutoFit/>
          </a:bodyPr>
          <a:lstStyle/>
          <a:p>
            <a:pPr algn="l"/>
            <a:r>
              <a:rPr sz="819" b="0" i="0">
                <a:solidFill>
                  <a:srgbClr val="1F1F1F"/>
                </a:solidFill>
                <a:latin typeface="Times New Roman" panose="02020603050405020304" pitchFamily="18" charset="0"/>
                <a:cs typeface="Times New Roman" panose="02020603050405020304" pitchFamily="18" charset="0"/>
              </a:rPr>
              <a:t>The US retail industry is undergoing a structural bifurcation between value-oriented formats that are gaining share and premium or specialty formats that are losing it. Walmart sits at the center of this shift, benefiting from both its historic position as the dominant grocery and general merchandise destination for value-conscious consumers and its rapidly improving digital and e-commerce capabilities that are attracting higher-income households. Global retail e-commerce sales are projected to reach approximately $8 trillion by calendar year 2027, with grocery representing the fastest-growing category in the United States.</a:t>
            </a:r>
          </a:p>
        </p:txBody>
      </p:sp>
      <p:sp>
        <p:nvSpPr>
          <p:cNvPr id="13" name="Rectangle 12"/>
          <p:cNvSpPr/>
          <p:nvPr/>
        </p:nvSpPr>
        <p:spPr>
          <a:xfrm>
            <a:off x="182880" y="1883664"/>
            <a:ext cx="3657600" cy="201168"/>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4" name="TextBox 13"/>
          <p:cNvSpPr txBox="1"/>
          <p:nvPr/>
        </p:nvSpPr>
        <p:spPr>
          <a:xfrm>
            <a:off x="237744" y="1901952"/>
            <a:ext cx="3547872" cy="207749"/>
          </a:xfrm>
          <a:prstGeom prst="rect">
            <a:avLst/>
          </a:prstGeom>
          <a:noFill/>
        </p:spPr>
        <p:txBody>
          <a:bodyPr wrap="square">
            <a:spAutoFit/>
          </a:bodyPr>
          <a:lstStyle/>
          <a:p>
            <a:pPr algn="l"/>
            <a:r>
              <a:rPr sz="750" b="1" i="0">
                <a:solidFill>
                  <a:srgbClr val="FFFFFF"/>
                </a:solidFill>
                <a:latin typeface="Times New Roman" panose="02020603050405020304" pitchFamily="18" charset="0"/>
                <a:cs typeface="Times New Roman" panose="02020603050405020304" pitchFamily="18" charset="0"/>
              </a:rPr>
              <a:t>FIGURE 3: NET SALES BY SEGMENT ($B)</a:t>
            </a:r>
          </a:p>
        </p:txBody>
      </p:sp>
      <p:pic>
        <p:nvPicPr>
          <p:cNvPr id="15" name="Picture 14" descr="image.png"/>
          <p:cNvPicPr>
            <a:picLocks noChangeAspect="1"/>
          </p:cNvPicPr>
          <p:nvPr/>
        </p:nvPicPr>
        <p:blipFill>
          <a:blip r:embed="rId2"/>
          <a:stretch>
            <a:fillRect/>
          </a:stretch>
        </p:blipFill>
        <p:spPr>
          <a:xfrm>
            <a:off x="182880" y="2112264"/>
            <a:ext cx="3657600" cy="2148840"/>
          </a:xfrm>
          <a:prstGeom prst="rect">
            <a:avLst/>
          </a:prstGeom>
        </p:spPr>
      </p:pic>
      <p:sp>
        <p:nvSpPr>
          <p:cNvPr id="16" name="Rectangle 15"/>
          <p:cNvSpPr/>
          <p:nvPr/>
        </p:nvSpPr>
        <p:spPr>
          <a:xfrm>
            <a:off x="3977639" y="1883664"/>
            <a:ext cx="3611880" cy="201168"/>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7" name="TextBox 16"/>
          <p:cNvSpPr txBox="1"/>
          <p:nvPr/>
        </p:nvSpPr>
        <p:spPr>
          <a:xfrm>
            <a:off x="4032503" y="1901952"/>
            <a:ext cx="3502152" cy="207749"/>
          </a:xfrm>
          <a:prstGeom prst="rect">
            <a:avLst/>
          </a:prstGeom>
          <a:noFill/>
        </p:spPr>
        <p:txBody>
          <a:bodyPr wrap="square">
            <a:spAutoFit/>
          </a:bodyPr>
          <a:lstStyle/>
          <a:p>
            <a:pPr algn="l"/>
            <a:r>
              <a:rPr sz="750" b="1" i="0">
                <a:solidFill>
                  <a:srgbClr val="FFFFFF"/>
                </a:solidFill>
                <a:latin typeface="Times New Roman" panose="02020603050405020304" pitchFamily="18" charset="0"/>
                <a:cs typeface="Times New Roman" panose="02020603050405020304" pitchFamily="18" charset="0"/>
              </a:rPr>
              <a:t>FIGURE 4: E-COMMERCE YOY GROWTH (%)</a:t>
            </a:r>
          </a:p>
        </p:txBody>
      </p:sp>
      <p:pic>
        <p:nvPicPr>
          <p:cNvPr id="18" name="Picture 17" descr="image.png"/>
          <p:cNvPicPr>
            <a:picLocks noChangeAspect="1"/>
          </p:cNvPicPr>
          <p:nvPr/>
        </p:nvPicPr>
        <p:blipFill>
          <a:blip r:embed="rId3"/>
          <a:stretch>
            <a:fillRect/>
          </a:stretch>
        </p:blipFill>
        <p:spPr>
          <a:xfrm>
            <a:off x="3977639" y="2112264"/>
            <a:ext cx="3611880" cy="2148840"/>
          </a:xfrm>
          <a:prstGeom prst="rect">
            <a:avLst/>
          </a:prstGeom>
        </p:spPr>
      </p:pic>
      <p:sp>
        <p:nvSpPr>
          <p:cNvPr id="19" name="Rectangle 18"/>
          <p:cNvSpPr/>
          <p:nvPr/>
        </p:nvSpPr>
        <p:spPr>
          <a:xfrm>
            <a:off x="182880" y="4352544"/>
            <a:ext cx="3474720" cy="201168"/>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0" name="TextBox 19"/>
          <p:cNvSpPr txBox="1"/>
          <p:nvPr/>
        </p:nvSpPr>
        <p:spPr>
          <a:xfrm>
            <a:off x="237744" y="4370832"/>
            <a:ext cx="3364992" cy="207749"/>
          </a:xfrm>
          <a:prstGeom prst="rect">
            <a:avLst/>
          </a:prstGeom>
          <a:noFill/>
        </p:spPr>
        <p:txBody>
          <a:bodyPr wrap="square">
            <a:spAutoFit/>
          </a:bodyPr>
          <a:lstStyle/>
          <a:p>
            <a:pPr algn="l"/>
            <a:r>
              <a:rPr sz="750" b="1" i="0">
                <a:solidFill>
                  <a:srgbClr val="FFFFFF"/>
                </a:solidFill>
                <a:latin typeface="Times New Roman" panose="02020603050405020304" pitchFamily="18" charset="0"/>
                <a:cs typeface="Times New Roman" panose="02020603050405020304" pitchFamily="18" charset="0"/>
              </a:rPr>
              <a:t>COMPETITIVE ANALYSIS: WMT VS. TGT, COST, AMZN</a:t>
            </a:r>
          </a:p>
        </p:txBody>
      </p:sp>
      <p:sp>
        <p:nvSpPr>
          <p:cNvPr id="21" name="TextBox 20"/>
          <p:cNvSpPr txBox="1"/>
          <p:nvPr/>
        </p:nvSpPr>
        <p:spPr>
          <a:xfrm>
            <a:off x="182880" y="4581144"/>
            <a:ext cx="3703320" cy="3170099"/>
          </a:xfrm>
          <a:prstGeom prst="rect">
            <a:avLst/>
          </a:prstGeom>
          <a:noFill/>
        </p:spPr>
        <p:txBody>
          <a:bodyPr wrap="square">
            <a:spAutoFit/>
          </a:bodyPr>
          <a:lstStyle/>
          <a:p>
            <a:pPr algn="l"/>
            <a:r>
              <a:rPr sz="800" b="0" i="0">
                <a:solidFill>
                  <a:srgbClr val="1F1F1F"/>
                </a:solidFill>
                <a:latin typeface="Times New Roman" panose="02020603050405020304" pitchFamily="18" charset="0"/>
                <a:cs typeface="Times New Roman" panose="02020603050405020304" pitchFamily="18" charset="0"/>
              </a:rPr>
              <a:t>Target Corporation has experienced significant structural headwinds since fiscal year 2022, including a severe inventory overhang, elevated shrinkage and organized retail crime costs, and a misalignment between its merchandise assortment and the post-pandemic consumer preference for value and necessity. Target's comparable sales declined in fiscal years 2024 and 2025, and the company has reduced its capital allocation guidance as it works to right-size its operating cost structure. By contrast, Walmart gained an estimated 30 to 40 basis points of grocery market share from Target over the same period.
Costco represents a different competitive dynamic. Its membership model generates a highly predictable, high-margin revenue stream ($4.8 billion in membership fees in fiscal year 2024) that subsidizes below-market merchandise pricing. Costco and Walmart are less directly competitive due to Costco's bulk-purchase format and suburban warehouse locations, and both have demonstrated strong unit volume trends. We view Costco as a complementary rather than substitutive consumer behavior, with overlap primarily in consumables and private label.
Amazon remains the most significant competitive threat in the medium to long term. Amazon's grocery ambitions, including its Fresh and Whole Foods formats, have not achieved meaningful scale relative to Walmart's 4,700-plus US locations and established grocery infrastructure. However, Amazon's Prime ecosystem and same-day delivery capabilities create a genuine competitive tension in consumables, household goods, and health and beauty categories. Walmart has responded by accelerating Walmart Plus enrollment and buildout of its automated fulfillment center network through a multi-year partnership with Alert Innovation.</a:t>
            </a:r>
          </a:p>
        </p:txBody>
      </p:sp>
      <p:sp>
        <p:nvSpPr>
          <p:cNvPr id="22" name="Rectangle 21"/>
          <p:cNvSpPr/>
          <p:nvPr/>
        </p:nvSpPr>
        <p:spPr>
          <a:xfrm>
            <a:off x="3977639" y="4352544"/>
            <a:ext cx="3611880" cy="201168"/>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3" name="TextBox 22"/>
          <p:cNvSpPr txBox="1"/>
          <p:nvPr/>
        </p:nvSpPr>
        <p:spPr>
          <a:xfrm>
            <a:off x="4032503" y="4370832"/>
            <a:ext cx="3502152" cy="207749"/>
          </a:xfrm>
          <a:prstGeom prst="rect">
            <a:avLst/>
          </a:prstGeom>
          <a:noFill/>
        </p:spPr>
        <p:txBody>
          <a:bodyPr wrap="square">
            <a:spAutoFit/>
          </a:bodyPr>
          <a:lstStyle/>
          <a:p>
            <a:pPr algn="l"/>
            <a:r>
              <a:rPr sz="750" b="1" i="0">
                <a:solidFill>
                  <a:srgbClr val="FFFFFF"/>
                </a:solidFill>
                <a:latin typeface="Times New Roman" panose="02020603050405020304" pitchFamily="18" charset="0"/>
                <a:cs typeface="Times New Roman" panose="02020603050405020304" pitchFamily="18" charset="0"/>
              </a:rPr>
              <a:t>FIGURE 5: REVENUE AND FCF GROWTH ($B)</a:t>
            </a:r>
          </a:p>
        </p:txBody>
      </p:sp>
      <p:pic>
        <p:nvPicPr>
          <p:cNvPr id="24" name="Picture 23" descr="image.png"/>
          <p:cNvPicPr>
            <a:picLocks noChangeAspect="1"/>
          </p:cNvPicPr>
          <p:nvPr/>
        </p:nvPicPr>
        <p:blipFill>
          <a:blip r:embed="rId4"/>
          <a:stretch>
            <a:fillRect/>
          </a:stretch>
        </p:blipFill>
        <p:spPr>
          <a:xfrm>
            <a:off x="3977639" y="4581144"/>
            <a:ext cx="3611880" cy="2194560"/>
          </a:xfrm>
          <a:prstGeom prst="rect">
            <a:avLst/>
          </a:prstGeom>
        </p:spPr>
      </p:pic>
      <p:sp>
        <p:nvSpPr>
          <p:cNvPr id="25" name="Rectangle 24"/>
          <p:cNvSpPr/>
          <p:nvPr/>
        </p:nvSpPr>
        <p:spPr>
          <a:xfrm>
            <a:off x="3977639" y="6867144"/>
            <a:ext cx="3611880" cy="201168"/>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6" name="TextBox 25"/>
          <p:cNvSpPr txBox="1"/>
          <p:nvPr/>
        </p:nvSpPr>
        <p:spPr>
          <a:xfrm>
            <a:off x="4032503" y="6885432"/>
            <a:ext cx="3502152" cy="207749"/>
          </a:xfrm>
          <a:prstGeom prst="rect">
            <a:avLst/>
          </a:prstGeom>
          <a:noFill/>
        </p:spPr>
        <p:txBody>
          <a:bodyPr wrap="square">
            <a:spAutoFit/>
          </a:bodyPr>
          <a:lstStyle/>
          <a:p>
            <a:pPr algn="l"/>
            <a:r>
              <a:rPr sz="750" b="1" i="0">
                <a:solidFill>
                  <a:srgbClr val="FFFFFF"/>
                </a:solidFill>
                <a:latin typeface="Times New Roman" panose="02020603050405020304" pitchFamily="18" charset="0"/>
                <a:cs typeface="Times New Roman" panose="02020603050405020304" pitchFamily="18" charset="0"/>
              </a:rPr>
              <a:t>NEAR-TERM CATALYSTS</a:t>
            </a:r>
          </a:p>
        </p:txBody>
      </p:sp>
      <p:sp>
        <p:nvSpPr>
          <p:cNvPr id="27" name="Rectangle 26"/>
          <p:cNvSpPr/>
          <p:nvPr/>
        </p:nvSpPr>
        <p:spPr>
          <a:xfrm>
            <a:off x="3977639" y="7095744"/>
            <a:ext cx="2377440" cy="214884"/>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8" name="TextBox 27"/>
          <p:cNvSpPr txBox="1"/>
          <p:nvPr/>
        </p:nvSpPr>
        <p:spPr>
          <a:xfrm>
            <a:off x="4014215" y="7114032"/>
            <a:ext cx="2304288" cy="215444"/>
          </a:xfrm>
          <a:prstGeom prst="rect">
            <a:avLst/>
          </a:prstGeom>
          <a:noFill/>
        </p:spPr>
        <p:txBody>
          <a:bodyPr wrap="square">
            <a:spAutoFit/>
          </a:bodyPr>
          <a:lstStyle/>
          <a:p>
            <a:pPr algn="ctr"/>
            <a:r>
              <a:rPr sz="800" b="1" i="0">
                <a:solidFill>
                  <a:srgbClr val="FFFFFF"/>
                </a:solidFill>
                <a:latin typeface="Times New Roman" panose="02020603050405020304" pitchFamily="18" charset="0"/>
                <a:cs typeface="Times New Roman" panose="02020603050405020304" pitchFamily="18" charset="0"/>
              </a:rPr>
              <a:t>Catalyst</a:t>
            </a:r>
          </a:p>
        </p:txBody>
      </p:sp>
      <p:sp>
        <p:nvSpPr>
          <p:cNvPr id="29" name="Rectangle 28"/>
          <p:cNvSpPr/>
          <p:nvPr/>
        </p:nvSpPr>
        <p:spPr>
          <a:xfrm>
            <a:off x="6355079" y="7095744"/>
            <a:ext cx="1143000" cy="214884"/>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0" name="TextBox 29"/>
          <p:cNvSpPr txBox="1"/>
          <p:nvPr/>
        </p:nvSpPr>
        <p:spPr>
          <a:xfrm>
            <a:off x="6391655" y="7114032"/>
            <a:ext cx="1069848" cy="215444"/>
          </a:xfrm>
          <a:prstGeom prst="rect">
            <a:avLst/>
          </a:prstGeom>
          <a:noFill/>
        </p:spPr>
        <p:txBody>
          <a:bodyPr wrap="square">
            <a:spAutoFit/>
          </a:bodyPr>
          <a:lstStyle/>
          <a:p>
            <a:pPr algn="ctr"/>
            <a:r>
              <a:rPr sz="800" b="1" i="0">
                <a:solidFill>
                  <a:srgbClr val="FFFFFF"/>
                </a:solidFill>
                <a:latin typeface="Times New Roman" panose="02020603050405020304" pitchFamily="18" charset="0"/>
                <a:cs typeface="Times New Roman" panose="02020603050405020304" pitchFamily="18" charset="0"/>
              </a:rPr>
              <a:t>Expected Timing</a:t>
            </a:r>
          </a:p>
        </p:txBody>
      </p:sp>
      <p:sp>
        <p:nvSpPr>
          <p:cNvPr id="31" name="Rectangle 30"/>
          <p:cNvSpPr/>
          <p:nvPr/>
        </p:nvSpPr>
        <p:spPr>
          <a:xfrm>
            <a:off x="3977639" y="7310628"/>
            <a:ext cx="237744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2" name="TextBox 31"/>
          <p:cNvSpPr txBox="1"/>
          <p:nvPr/>
        </p:nvSpPr>
        <p:spPr>
          <a:xfrm>
            <a:off x="4014215" y="7328916"/>
            <a:ext cx="2304288" cy="215444"/>
          </a:xfrm>
          <a:prstGeom prst="rect">
            <a:avLst/>
          </a:prstGeom>
          <a:noFill/>
        </p:spPr>
        <p:txBody>
          <a:bodyPr wrap="square">
            <a:spAutoFit/>
          </a:bodyPr>
          <a:lstStyle/>
          <a:p>
            <a:pPr algn="l"/>
            <a:r>
              <a:rPr sz="800" b="1" i="0">
                <a:solidFill>
                  <a:srgbClr val="1F1F1F"/>
                </a:solidFill>
                <a:latin typeface="Times New Roman" panose="02020603050405020304" pitchFamily="18" charset="0"/>
                <a:cs typeface="Times New Roman" panose="02020603050405020304" pitchFamily="18" charset="0"/>
              </a:rPr>
              <a:t>Q1 FY26 earnings report</a:t>
            </a:r>
          </a:p>
        </p:txBody>
      </p:sp>
      <p:sp>
        <p:nvSpPr>
          <p:cNvPr id="33" name="Rectangle 32"/>
          <p:cNvSpPr/>
          <p:nvPr/>
        </p:nvSpPr>
        <p:spPr>
          <a:xfrm>
            <a:off x="6355079" y="7310628"/>
            <a:ext cx="114300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4" name="TextBox 33"/>
          <p:cNvSpPr txBox="1"/>
          <p:nvPr/>
        </p:nvSpPr>
        <p:spPr>
          <a:xfrm>
            <a:off x="6391655" y="7328916"/>
            <a:ext cx="106984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May 2026</a:t>
            </a:r>
          </a:p>
        </p:txBody>
      </p:sp>
      <p:sp>
        <p:nvSpPr>
          <p:cNvPr id="35" name="Rectangle 34"/>
          <p:cNvSpPr/>
          <p:nvPr/>
        </p:nvSpPr>
        <p:spPr>
          <a:xfrm>
            <a:off x="3977639" y="7525512"/>
            <a:ext cx="237744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6" name="TextBox 35"/>
          <p:cNvSpPr txBox="1"/>
          <p:nvPr/>
        </p:nvSpPr>
        <p:spPr>
          <a:xfrm>
            <a:off x="4014215" y="7543800"/>
            <a:ext cx="2304288" cy="215444"/>
          </a:xfrm>
          <a:prstGeom prst="rect">
            <a:avLst/>
          </a:prstGeom>
          <a:noFill/>
        </p:spPr>
        <p:txBody>
          <a:bodyPr wrap="square">
            <a:spAutoFit/>
          </a:bodyPr>
          <a:lstStyle/>
          <a:p>
            <a:pPr algn="l"/>
            <a:r>
              <a:rPr sz="800" b="1" i="0">
                <a:solidFill>
                  <a:srgbClr val="1F1F1F"/>
                </a:solidFill>
                <a:latin typeface="Times New Roman" panose="02020603050405020304" pitchFamily="18" charset="0"/>
                <a:cs typeface="Times New Roman" panose="02020603050405020304" pitchFamily="18" charset="0"/>
              </a:rPr>
              <a:t>Walmart Connect advertising ramp</a:t>
            </a:r>
          </a:p>
        </p:txBody>
      </p:sp>
      <p:sp>
        <p:nvSpPr>
          <p:cNvPr id="37" name="Rectangle 36"/>
          <p:cNvSpPr/>
          <p:nvPr/>
        </p:nvSpPr>
        <p:spPr>
          <a:xfrm>
            <a:off x="6355079" y="7525512"/>
            <a:ext cx="114300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8" name="TextBox 37"/>
          <p:cNvSpPr txBox="1"/>
          <p:nvPr/>
        </p:nvSpPr>
        <p:spPr>
          <a:xfrm>
            <a:off x="6391655" y="7543800"/>
            <a:ext cx="106984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Ongoing</a:t>
            </a:r>
          </a:p>
        </p:txBody>
      </p:sp>
      <p:sp>
        <p:nvSpPr>
          <p:cNvPr id="39" name="Rectangle 38"/>
          <p:cNvSpPr/>
          <p:nvPr/>
        </p:nvSpPr>
        <p:spPr>
          <a:xfrm>
            <a:off x="3977639" y="7740396"/>
            <a:ext cx="237744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0" name="TextBox 39"/>
          <p:cNvSpPr txBox="1"/>
          <p:nvPr/>
        </p:nvSpPr>
        <p:spPr>
          <a:xfrm>
            <a:off x="4014215" y="7758684"/>
            <a:ext cx="2304288" cy="215444"/>
          </a:xfrm>
          <a:prstGeom prst="rect">
            <a:avLst/>
          </a:prstGeom>
          <a:noFill/>
        </p:spPr>
        <p:txBody>
          <a:bodyPr wrap="square">
            <a:spAutoFit/>
          </a:bodyPr>
          <a:lstStyle/>
          <a:p>
            <a:pPr algn="l"/>
            <a:r>
              <a:rPr sz="800" b="1" i="0">
                <a:solidFill>
                  <a:srgbClr val="1F1F1F"/>
                </a:solidFill>
                <a:latin typeface="Times New Roman" panose="02020603050405020304" pitchFamily="18" charset="0"/>
                <a:cs typeface="Times New Roman" panose="02020603050405020304" pitchFamily="18" charset="0"/>
              </a:rPr>
              <a:t>Walmart Plus membership growth</a:t>
            </a:r>
          </a:p>
        </p:txBody>
      </p:sp>
      <p:sp>
        <p:nvSpPr>
          <p:cNvPr id="41" name="Rectangle 40"/>
          <p:cNvSpPr/>
          <p:nvPr/>
        </p:nvSpPr>
        <p:spPr>
          <a:xfrm>
            <a:off x="6355079" y="7740396"/>
            <a:ext cx="114300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2" name="TextBox 41"/>
          <p:cNvSpPr txBox="1"/>
          <p:nvPr/>
        </p:nvSpPr>
        <p:spPr>
          <a:xfrm>
            <a:off x="6391655" y="7758684"/>
            <a:ext cx="106984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Ongoing</a:t>
            </a:r>
          </a:p>
        </p:txBody>
      </p:sp>
      <p:sp>
        <p:nvSpPr>
          <p:cNvPr id="43" name="Rectangle 42"/>
          <p:cNvSpPr/>
          <p:nvPr/>
        </p:nvSpPr>
        <p:spPr>
          <a:xfrm>
            <a:off x="3977639" y="7955280"/>
            <a:ext cx="237744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4" name="TextBox 43"/>
          <p:cNvSpPr txBox="1"/>
          <p:nvPr/>
        </p:nvSpPr>
        <p:spPr>
          <a:xfrm>
            <a:off x="4014215" y="7973568"/>
            <a:ext cx="2304288" cy="215444"/>
          </a:xfrm>
          <a:prstGeom prst="rect">
            <a:avLst/>
          </a:prstGeom>
          <a:noFill/>
        </p:spPr>
        <p:txBody>
          <a:bodyPr wrap="square">
            <a:spAutoFit/>
          </a:bodyPr>
          <a:lstStyle/>
          <a:p>
            <a:pPr algn="l"/>
            <a:r>
              <a:rPr sz="800" b="1" i="0">
                <a:solidFill>
                  <a:srgbClr val="1F1F1F"/>
                </a:solidFill>
                <a:latin typeface="Times New Roman" panose="02020603050405020304" pitchFamily="18" charset="0"/>
                <a:cs typeface="Times New Roman" panose="02020603050405020304" pitchFamily="18" charset="0"/>
              </a:rPr>
              <a:t>Flipkart IPO preparation</a:t>
            </a:r>
          </a:p>
        </p:txBody>
      </p:sp>
      <p:sp>
        <p:nvSpPr>
          <p:cNvPr id="45" name="Rectangle 44"/>
          <p:cNvSpPr/>
          <p:nvPr/>
        </p:nvSpPr>
        <p:spPr>
          <a:xfrm>
            <a:off x="6355079" y="7955280"/>
            <a:ext cx="114300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6" name="TextBox 45"/>
          <p:cNvSpPr txBox="1"/>
          <p:nvPr/>
        </p:nvSpPr>
        <p:spPr>
          <a:xfrm>
            <a:off x="6391655" y="7973568"/>
            <a:ext cx="106984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CY2026-27E</a:t>
            </a:r>
          </a:p>
        </p:txBody>
      </p:sp>
      <p:sp>
        <p:nvSpPr>
          <p:cNvPr id="47" name="Rectangle 46"/>
          <p:cNvSpPr/>
          <p:nvPr/>
        </p:nvSpPr>
        <p:spPr>
          <a:xfrm>
            <a:off x="3977639" y="8170164"/>
            <a:ext cx="237744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8" name="TextBox 47"/>
          <p:cNvSpPr txBox="1"/>
          <p:nvPr/>
        </p:nvSpPr>
        <p:spPr>
          <a:xfrm>
            <a:off x="4014215" y="8188452"/>
            <a:ext cx="2304288" cy="215444"/>
          </a:xfrm>
          <a:prstGeom prst="rect">
            <a:avLst/>
          </a:prstGeom>
          <a:noFill/>
        </p:spPr>
        <p:txBody>
          <a:bodyPr wrap="square">
            <a:spAutoFit/>
          </a:bodyPr>
          <a:lstStyle/>
          <a:p>
            <a:pPr algn="l"/>
            <a:r>
              <a:rPr sz="800" b="1" i="0">
                <a:solidFill>
                  <a:srgbClr val="1F1F1F"/>
                </a:solidFill>
                <a:latin typeface="Times New Roman" panose="02020603050405020304" pitchFamily="18" charset="0"/>
                <a:cs typeface="Times New Roman" panose="02020603050405020304" pitchFamily="18" charset="0"/>
              </a:rPr>
              <a:t>Automation cost savings (FAST)</a:t>
            </a:r>
          </a:p>
        </p:txBody>
      </p:sp>
      <p:sp>
        <p:nvSpPr>
          <p:cNvPr id="49" name="Rectangle 48"/>
          <p:cNvSpPr/>
          <p:nvPr/>
        </p:nvSpPr>
        <p:spPr>
          <a:xfrm>
            <a:off x="6355079" y="8170164"/>
            <a:ext cx="114300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0" name="TextBox 49"/>
          <p:cNvSpPr txBox="1"/>
          <p:nvPr/>
        </p:nvSpPr>
        <p:spPr>
          <a:xfrm>
            <a:off x="6391655" y="8188452"/>
            <a:ext cx="106984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FY27E</a:t>
            </a:r>
          </a:p>
        </p:txBody>
      </p:sp>
      <p:sp>
        <p:nvSpPr>
          <p:cNvPr id="51" name="Rectangle 50"/>
          <p:cNvSpPr/>
          <p:nvPr/>
        </p:nvSpPr>
        <p:spPr>
          <a:xfrm>
            <a:off x="182880" y="8476488"/>
            <a:ext cx="1815084" cy="201168"/>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2" name="TextBox 51"/>
          <p:cNvSpPr txBox="1"/>
          <p:nvPr/>
        </p:nvSpPr>
        <p:spPr>
          <a:xfrm>
            <a:off x="219456" y="8494776"/>
            <a:ext cx="1741932" cy="207749"/>
          </a:xfrm>
          <a:prstGeom prst="rect">
            <a:avLst/>
          </a:prstGeom>
          <a:noFill/>
        </p:spPr>
        <p:txBody>
          <a:bodyPr wrap="square">
            <a:spAutoFit/>
          </a:bodyPr>
          <a:lstStyle/>
          <a:p>
            <a:pPr algn="ctr"/>
            <a:r>
              <a:rPr sz="750" b="1" i="0">
                <a:solidFill>
                  <a:srgbClr val="FFFFFF"/>
                </a:solidFill>
                <a:latin typeface="Times New Roman" panose="02020603050405020304" pitchFamily="18" charset="0"/>
                <a:cs typeface="Times New Roman" panose="02020603050405020304" pitchFamily="18" charset="0"/>
              </a:rPr>
              <a:t>Strengths</a:t>
            </a:r>
          </a:p>
        </p:txBody>
      </p:sp>
      <p:sp>
        <p:nvSpPr>
          <p:cNvPr id="53" name="TextBox 52"/>
          <p:cNvSpPr txBox="1"/>
          <p:nvPr/>
        </p:nvSpPr>
        <p:spPr>
          <a:xfrm>
            <a:off x="219456" y="8705088"/>
            <a:ext cx="1778508" cy="307777"/>
          </a:xfrm>
          <a:prstGeom prst="rect">
            <a:avLst/>
          </a:prstGeom>
          <a:noFill/>
        </p:spPr>
        <p:txBody>
          <a:bodyPr wrap="square">
            <a:spAutoFit/>
          </a:bodyPr>
          <a:lstStyle/>
          <a:p>
            <a:pPr algn="l"/>
            <a:r>
              <a:rPr sz="700" b="0" i="0">
                <a:solidFill>
                  <a:srgbClr val="1F1F1F"/>
                </a:solidFill>
                <a:latin typeface="Times New Roman" panose="02020603050405020304" pitchFamily="18" charset="0"/>
                <a:cs typeface="Times New Roman" panose="02020603050405020304" pitchFamily="18" charset="0"/>
              </a:rPr>
              <a:t>#1 US grocer  |  240M weekly customers  |  First-party data moat  |  ~$1.0T market cap</a:t>
            </a:r>
          </a:p>
        </p:txBody>
      </p:sp>
      <p:sp>
        <p:nvSpPr>
          <p:cNvPr id="54" name="Rectangle 53"/>
          <p:cNvSpPr/>
          <p:nvPr/>
        </p:nvSpPr>
        <p:spPr>
          <a:xfrm>
            <a:off x="2034540" y="8476488"/>
            <a:ext cx="1815084" cy="20116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5" name="TextBox 54"/>
          <p:cNvSpPr txBox="1"/>
          <p:nvPr/>
        </p:nvSpPr>
        <p:spPr>
          <a:xfrm>
            <a:off x="2071116" y="8494776"/>
            <a:ext cx="1741932" cy="207749"/>
          </a:xfrm>
          <a:prstGeom prst="rect">
            <a:avLst/>
          </a:prstGeom>
          <a:noFill/>
        </p:spPr>
        <p:txBody>
          <a:bodyPr wrap="square">
            <a:spAutoFit/>
          </a:bodyPr>
          <a:lstStyle/>
          <a:p>
            <a:pPr algn="ctr"/>
            <a:r>
              <a:rPr sz="750" b="1" i="0">
                <a:solidFill>
                  <a:srgbClr val="FFFFFF"/>
                </a:solidFill>
                <a:latin typeface="Times New Roman" panose="02020603050405020304" pitchFamily="18" charset="0"/>
                <a:cs typeface="Times New Roman" panose="02020603050405020304" pitchFamily="18" charset="0"/>
              </a:rPr>
              <a:t>Weaknesses</a:t>
            </a:r>
          </a:p>
        </p:txBody>
      </p:sp>
      <p:sp>
        <p:nvSpPr>
          <p:cNvPr id="56" name="TextBox 55"/>
          <p:cNvSpPr txBox="1"/>
          <p:nvPr/>
        </p:nvSpPr>
        <p:spPr>
          <a:xfrm>
            <a:off x="2071116" y="8705088"/>
            <a:ext cx="1778508" cy="415498"/>
          </a:xfrm>
          <a:prstGeom prst="rect">
            <a:avLst/>
          </a:prstGeom>
          <a:noFill/>
        </p:spPr>
        <p:txBody>
          <a:bodyPr wrap="square">
            <a:spAutoFit/>
          </a:bodyPr>
          <a:lstStyle/>
          <a:p>
            <a:pPr algn="l"/>
            <a:r>
              <a:rPr sz="700" b="0" i="0">
                <a:solidFill>
                  <a:srgbClr val="1F1F1F"/>
                </a:solidFill>
                <a:latin typeface="Times New Roman" panose="02020603050405020304" pitchFamily="18" charset="0"/>
                <a:cs typeface="Times New Roman" panose="02020603050405020304" pitchFamily="18" charset="0"/>
              </a:rPr>
              <a:t>Thin FCF margins (1.9%)  |  Labor cost pressure  |  International complexity (Flipkart)</a:t>
            </a:r>
          </a:p>
        </p:txBody>
      </p:sp>
      <p:sp>
        <p:nvSpPr>
          <p:cNvPr id="57" name="Rectangle 56"/>
          <p:cNvSpPr/>
          <p:nvPr/>
        </p:nvSpPr>
        <p:spPr>
          <a:xfrm>
            <a:off x="3886200" y="8476488"/>
            <a:ext cx="1815084" cy="201168"/>
          </a:xfrm>
          <a:prstGeom prst="rect">
            <a:avLst/>
          </a:prstGeom>
          <a:solidFill>
            <a:srgbClr val="3786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8" name="TextBox 57"/>
          <p:cNvSpPr txBox="1"/>
          <p:nvPr/>
        </p:nvSpPr>
        <p:spPr>
          <a:xfrm>
            <a:off x="3922776" y="8494776"/>
            <a:ext cx="1741932" cy="207749"/>
          </a:xfrm>
          <a:prstGeom prst="rect">
            <a:avLst/>
          </a:prstGeom>
          <a:noFill/>
        </p:spPr>
        <p:txBody>
          <a:bodyPr wrap="square">
            <a:spAutoFit/>
          </a:bodyPr>
          <a:lstStyle/>
          <a:p>
            <a:pPr algn="ctr"/>
            <a:r>
              <a:rPr sz="750" b="1" i="0">
                <a:solidFill>
                  <a:srgbClr val="FFFFFF"/>
                </a:solidFill>
                <a:latin typeface="Times New Roman" panose="02020603050405020304" pitchFamily="18" charset="0"/>
                <a:cs typeface="Times New Roman" panose="02020603050405020304" pitchFamily="18" charset="0"/>
              </a:rPr>
              <a:t>Opportunities</a:t>
            </a:r>
          </a:p>
        </p:txBody>
      </p:sp>
      <p:sp>
        <p:nvSpPr>
          <p:cNvPr id="59" name="TextBox 58"/>
          <p:cNvSpPr txBox="1"/>
          <p:nvPr/>
        </p:nvSpPr>
        <p:spPr>
          <a:xfrm>
            <a:off x="3922776" y="8705088"/>
            <a:ext cx="1778508" cy="307777"/>
          </a:xfrm>
          <a:prstGeom prst="rect">
            <a:avLst/>
          </a:prstGeom>
          <a:noFill/>
        </p:spPr>
        <p:txBody>
          <a:bodyPr wrap="square">
            <a:spAutoFit/>
          </a:bodyPr>
          <a:lstStyle/>
          <a:p>
            <a:pPr algn="l"/>
            <a:r>
              <a:rPr sz="700" b="0" i="0">
                <a:solidFill>
                  <a:srgbClr val="1F1F1F"/>
                </a:solidFill>
                <a:latin typeface="Times New Roman" panose="02020603050405020304" pitchFamily="18" charset="0"/>
                <a:cs typeface="Times New Roman" panose="02020603050405020304" pitchFamily="18" charset="0"/>
              </a:rPr>
              <a:t>Advertising monetization  |  Marketplace fees  |  Walmart+ subscription  |  Healthcare</a:t>
            </a:r>
          </a:p>
        </p:txBody>
      </p:sp>
      <p:sp>
        <p:nvSpPr>
          <p:cNvPr id="60" name="Rectangle 59"/>
          <p:cNvSpPr/>
          <p:nvPr/>
        </p:nvSpPr>
        <p:spPr>
          <a:xfrm>
            <a:off x="5737860" y="8476488"/>
            <a:ext cx="1815084" cy="201168"/>
          </a:xfrm>
          <a:prstGeom prst="rect">
            <a:avLst/>
          </a:prstGeom>
          <a:solidFill>
            <a:srgbClr val="4A4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61" name="TextBox 60"/>
          <p:cNvSpPr txBox="1"/>
          <p:nvPr/>
        </p:nvSpPr>
        <p:spPr>
          <a:xfrm>
            <a:off x="5774436" y="8494776"/>
            <a:ext cx="1741932" cy="207749"/>
          </a:xfrm>
          <a:prstGeom prst="rect">
            <a:avLst/>
          </a:prstGeom>
          <a:noFill/>
        </p:spPr>
        <p:txBody>
          <a:bodyPr wrap="square">
            <a:spAutoFit/>
          </a:bodyPr>
          <a:lstStyle/>
          <a:p>
            <a:pPr algn="ctr"/>
            <a:r>
              <a:rPr sz="750" b="1" i="0">
                <a:solidFill>
                  <a:srgbClr val="FFFFFF"/>
                </a:solidFill>
                <a:latin typeface="Times New Roman" panose="02020603050405020304" pitchFamily="18" charset="0"/>
                <a:cs typeface="Times New Roman" panose="02020603050405020304" pitchFamily="18" charset="0"/>
              </a:rPr>
              <a:t>Threats</a:t>
            </a:r>
          </a:p>
        </p:txBody>
      </p:sp>
      <p:sp>
        <p:nvSpPr>
          <p:cNvPr id="62" name="TextBox 61"/>
          <p:cNvSpPr txBox="1"/>
          <p:nvPr/>
        </p:nvSpPr>
        <p:spPr>
          <a:xfrm>
            <a:off x="5774436" y="8705088"/>
            <a:ext cx="1778508" cy="415498"/>
          </a:xfrm>
          <a:prstGeom prst="rect">
            <a:avLst/>
          </a:prstGeom>
          <a:noFill/>
        </p:spPr>
        <p:txBody>
          <a:bodyPr wrap="square">
            <a:spAutoFit/>
          </a:bodyPr>
          <a:lstStyle/>
          <a:p>
            <a:pPr algn="l"/>
            <a:r>
              <a:rPr sz="700" b="0" i="0">
                <a:solidFill>
                  <a:srgbClr val="1F1F1F"/>
                </a:solidFill>
                <a:latin typeface="Times New Roman" panose="02020603050405020304" pitchFamily="18" charset="0"/>
                <a:cs typeface="Times New Roman" panose="02020603050405020304" pitchFamily="18" charset="0"/>
              </a:rPr>
              <a:t>Amazon grocery expansion  |  Consumer spending slowdown  |  Tariff-driven cost inflation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7772400" cy="502920"/>
          </a:xfrm>
          <a:prstGeom prst="rect">
            <a:avLst/>
          </a:prstGeom>
          <a:solidFill>
            <a:srgbClr val="1F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TextBox 2"/>
          <p:cNvSpPr txBox="1"/>
          <p:nvPr/>
        </p:nvSpPr>
        <p:spPr>
          <a:xfrm>
            <a:off x="164592" y="64008"/>
            <a:ext cx="3200400" cy="246221"/>
          </a:xfrm>
          <a:prstGeom prst="rect">
            <a:avLst/>
          </a:prstGeom>
          <a:noFill/>
        </p:spPr>
        <p:txBody>
          <a:bodyPr wrap="square">
            <a:spAutoFit/>
          </a:bodyPr>
          <a:lstStyle/>
          <a:p>
            <a:pPr algn="l"/>
            <a:r>
              <a:rPr sz="1000" b="1" i="0">
                <a:solidFill>
                  <a:srgbClr val="FFFFFF"/>
                </a:solidFill>
                <a:latin typeface="Times New Roman" panose="02020603050405020304" pitchFamily="18" charset="0"/>
                <a:cs typeface="Times New Roman" panose="02020603050405020304" pitchFamily="18" charset="0"/>
              </a:rPr>
              <a:t>WMT  |  EQUITY RESEARCH</a:t>
            </a:r>
          </a:p>
        </p:txBody>
      </p:sp>
      <p:sp>
        <p:nvSpPr>
          <p:cNvPr id="4" name="TextBox 3"/>
          <p:cNvSpPr txBox="1"/>
          <p:nvPr/>
        </p:nvSpPr>
        <p:spPr>
          <a:xfrm>
            <a:off x="2286000" y="64008"/>
            <a:ext cx="4114800" cy="261610"/>
          </a:xfrm>
          <a:prstGeom prst="rect">
            <a:avLst/>
          </a:prstGeom>
          <a:noFill/>
        </p:spPr>
        <p:txBody>
          <a:bodyPr wrap="square">
            <a:spAutoFit/>
          </a:bodyPr>
          <a:lstStyle/>
          <a:p>
            <a:pPr algn="ctr"/>
            <a:r>
              <a:rPr sz="1100" b="1" i="0">
                <a:solidFill>
                  <a:srgbClr val="0071CE"/>
                </a:solidFill>
                <a:latin typeface="Times New Roman" panose="02020603050405020304" pitchFamily="18" charset="0"/>
                <a:cs typeface="Times New Roman" panose="02020603050405020304" pitchFamily="18" charset="0"/>
              </a:rPr>
              <a:t>VALUATIONS &amp; FINANCIALS</a:t>
            </a:r>
          </a:p>
        </p:txBody>
      </p:sp>
      <p:sp>
        <p:nvSpPr>
          <p:cNvPr id="5" name="TextBox 4"/>
          <p:cNvSpPr txBox="1"/>
          <p:nvPr/>
        </p:nvSpPr>
        <p:spPr>
          <a:xfrm>
            <a:off x="5669280" y="64008"/>
            <a:ext cx="1920240" cy="223138"/>
          </a:xfrm>
          <a:prstGeom prst="rect">
            <a:avLst/>
          </a:prstGeom>
          <a:noFill/>
        </p:spPr>
        <p:txBody>
          <a:bodyPr wrap="square">
            <a:spAutoFit/>
          </a:bodyPr>
          <a:lstStyle/>
          <a:p>
            <a:pPr algn="r"/>
            <a:r>
              <a:rPr sz="850" b="0" i="0">
                <a:solidFill>
                  <a:srgbClr val="FFFFFF"/>
                </a:solidFill>
                <a:latin typeface="Times New Roman" panose="02020603050405020304" pitchFamily="18" charset="0"/>
                <a:cs typeface="Times New Roman" panose="02020603050405020304" pitchFamily="18" charset="0"/>
              </a:rPr>
              <a:t>April 2026  |  FIN 431</a:t>
            </a:r>
          </a:p>
        </p:txBody>
      </p:sp>
      <p:sp>
        <p:nvSpPr>
          <p:cNvPr id="6" name="Rectangle 5"/>
          <p:cNvSpPr/>
          <p:nvPr/>
        </p:nvSpPr>
        <p:spPr>
          <a:xfrm>
            <a:off x="0" y="502920"/>
            <a:ext cx="7772400" cy="36576"/>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 name="Rectangle 6"/>
          <p:cNvSpPr/>
          <p:nvPr/>
        </p:nvSpPr>
        <p:spPr>
          <a:xfrm>
            <a:off x="0" y="9802368"/>
            <a:ext cx="7772400" cy="256032"/>
          </a:xfrm>
          <a:prstGeom prst="rect">
            <a:avLst/>
          </a:prstGeom>
          <a:solidFill>
            <a:srgbClr val="1F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8" name="TextBox 7"/>
          <p:cNvSpPr txBox="1"/>
          <p:nvPr/>
        </p:nvSpPr>
        <p:spPr>
          <a:xfrm>
            <a:off x="164592" y="9811512"/>
            <a:ext cx="5943600" cy="200055"/>
          </a:xfrm>
          <a:prstGeom prst="rect">
            <a:avLst/>
          </a:prstGeom>
          <a:noFill/>
        </p:spPr>
        <p:txBody>
          <a:bodyPr wrap="square">
            <a:spAutoFit/>
          </a:bodyPr>
          <a:lstStyle/>
          <a:p>
            <a:pPr algn="l"/>
            <a:r>
              <a:rPr sz="700" b="0" i="0">
                <a:solidFill>
                  <a:srgbClr val="BBBBBB"/>
                </a:solidFill>
                <a:latin typeface="Times New Roman" panose="02020603050405020304" pitchFamily="18" charset="0"/>
                <a:cs typeface="Times New Roman" panose="02020603050405020304" pitchFamily="18" charset="0"/>
              </a:rPr>
              <a:t>Walmart Inc. (WMT)  |  Equity Research  |  FIN 431  |  Portfolio Analysis</a:t>
            </a:r>
          </a:p>
        </p:txBody>
      </p:sp>
      <p:sp>
        <p:nvSpPr>
          <p:cNvPr id="9" name="TextBox 8"/>
          <p:cNvSpPr txBox="1"/>
          <p:nvPr/>
        </p:nvSpPr>
        <p:spPr>
          <a:xfrm>
            <a:off x="7132320" y="9811512"/>
            <a:ext cx="502920" cy="200055"/>
          </a:xfrm>
          <a:prstGeom prst="rect">
            <a:avLst/>
          </a:prstGeom>
          <a:noFill/>
        </p:spPr>
        <p:txBody>
          <a:bodyPr wrap="square">
            <a:spAutoFit/>
          </a:bodyPr>
          <a:lstStyle/>
          <a:p>
            <a:pPr algn="r"/>
            <a:r>
              <a:rPr sz="700" b="0" i="0">
                <a:solidFill>
                  <a:srgbClr val="BBBBBB"/>
                </a:solidFill>
                <a:latin typeface="Times New Roman" panose="02020603050405020304" pitchFamily="18" charset="0"/>
                <a:cs typeface="Times New Roman" panose="02020603050405020304" pitchFamily="18" charset="0"/>
              </a:rPr>
              <a:t>Page 3</a:t>
            </a:r>
          </a:p>
        </p:txBody>
      </p:sp>
      <p:sp>
        <p:nvSpPr>
          <p:cNvPr id="10" name="Rectangle 9"/>
          <p:cNvSpPr/>
          <p:nvPr/>
        </p:nvSpPr>
        <p:spPr>
          <a:xfrm>
            <a:off x="182880" y="621792"/>
            <a:ext cx="2286000" cy="201168"/>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1" name="TextBox 10"/>
          <p:cNvSpPr txBox="1"/>
          <p:nvPr/>
        </p:nvSpPr>
        <p:spPr>
          <a:xfrm>
            <a:off x="237744" y="640080"/>
            <a:ext cx="2176272" cy="207749"/>
          </a:xfrm>
          <a:prstGeom prst="rect">
            <a:avLst/>
          </a:prstGeom>
          <a:noFill/>
        </p:spPr>
        <p:txBody>
          <a:bodyPr wrap="square">
            <a:spAutoFit/>
          </a:bodyPr>
          <a:lstStyle/>
          <a:p>
            <a:pPr algn="l"/>
            <a:r>
              <a:rPr sz="750" b="1" i="0">
                <a:solidFill>
                  <a:srgbClr val="FFFFFF"/>
                </a:solidFill>
                <a:latin typeface="Times New Roman" panose="02020603050405020304" pitchFamily="18" charset="0"/>
                <a:cs typeface="Times New Roman" panose="02020603050405020304" pitchFamily="18" charset="0"/>
              </a:rPr>
              <a:t>FIGURE 6: FINANCIAL SUMMARY</a:t>
            </a:r>
          </a:p>
        </p:txBody>
      </p:sp>
      <p:sp>
        <p:nvSpPr>
          <p:cNvPr id="12" name="Rectangle 11"/>
          <p:cNvSpPr/>
          <p:nvPr/>
        </p:nvSpPr>
        <p:spPr>
          <a:xfrm>
            <a:off x="182880" y="850392"/>
            <a:ext cx="1828800" cy="214884"/>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3" name="TextBox 12"/>
          <p:cNvSpPr txBox="1"/>
          <p:nvPr/>
        </p:nvSpPr>
        <p:spPr>
          <a:xfrm>
            <a:off x="219456" y="868680"/>
            <a:ext cx="1755648" cy="369332"/>
          </a:xfrm>
          <a:prstGeom prst="rect">
            <a:avLst/>
          </a:prstGeom>
          <a:noFill/>
        </p:spPr>
        <p:txBody>
          <a:bodyPr wrap="square">
            <a:spAutoFit/>
          </a:bodyPr>
          <a:lstStyle/>
          <a:p>
            <a:pPr algn="ctr"/>
            <a:endParaRPr>
              <a:latin typeface="Times New Roman" panose="02020603050405020304" pitchFamily="18" charset="0"/>
              <a:cs typeface="Times New Roman" panose="02020603050405020304" pitchFamily="18" charset="0"/>
            </a:endParaRPr>
          </a:p>
        </p:txBody>
      </p:sp>
      <p:sp>
        <p:nvSpPr>
          <p:cNvPr id="14" name="Rectangle 13"/>
          <p:cNvSpPr/>
          <p:nvPr/>
        </p:nvSpPr>
        <p:spPr>
          <a:xfrm>
            <a:off x="2011680" y="850392"/>
            <a:ext cx="1188720" cy="214884"/>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5" name="TextBox 14"/>
          <p:cNvSpPr txBox="1"/>
          <p:nvPr/>
        </p:nvSpPr>
        <p:spPr>
          <a:xfrm>
            <a:off x="2048256" y="868680"/>
            <a:ext cx="1115568" cy="215444"/>
          </a:xfrm>
          <a:prstGeom prst="rect">
            <a:avLst/>
          </a:prstGeom>
          <a:noFill/>
        </p:spPr>
        <p:txBody>
          <a:bodyPr wrap="square">
            <a:spAutoFit/>
          </a:bodyPr>
          <a:lstStyle/>
          <a:p>
            <a:pPr algn="ctr"/>
            <a:r>
              <a:rPr sz="800" b="1" i="0">
                <a:solidFill>
                  <a:srgbClr val="FFFFFF"/>
                </a:solidFill>
                <a:latin typeface="Times New Roman" panose="02020603050405020304" pitchFamily="18" charset="0"/>
                <a:cs typeface="Times New Roman" panose="02020603050405020304" pitchFamily="18" charset="0"/>
              </a:rPr>
              <a:t>FY24</a:t>
            </a:r>
          </a:p>
        </p:txBody>
      </p:sp>
      <p:sp>
        <p:nvSpPr>
          <p:cNvPr id="16" name="Rectangle 15"/>
          <p:cNvSpPr/>
          <p:nvPr/>
        </p:nvSpPr>
        <p:spPr>
          <a:xfrm>
            <a:off x="3200400" y="850392"/>
            <a:ext cx="1188720" cy="214884"/>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7" name="TextBox 16"/>
          <p:cNvSpPr txBox="1"/>
          <p:nvPr/>
        </p:nvSpPr>
        <p:spPr>
          <a:xfrm>
            <a:off x="3236976" y="868680"/>
            <a:ext cx="1115568" cy="215444"/>
          </a:xfrm>
          <a:prstGeom prst="rect">
            <a:avLst/>
          </a:prstGeom>
          <a:noFill/>
        </p:spPr>
        <p:txBody>
          <a:bodyPr wrap="square">
            <a:spAutoFit/>
          </a:bodyPr>
          <a:lstStyle/>
          <a:p>
            <a:pPr algn="ctr"/>
            <a:r>
              <a:rPr sz="800" b="1" i="0">
                <a:solidFill>
                  <a:srgbClr val="FFFFFF"/>
                </a:solidFill>
                <a:latin typeface="Times New Roman" panose="02020603050405020304" pitchFamily="18" charset="0"/>
                <a:cs typeface="Times New Roman" panose="02020603050405020304" pitchFamily="18" charset="0"/>
              </a:rPr>
              <a:t>FY25</a:t>
            </a:r>
          </a:p>
        </p:txBody>
      </p:sp>
      <p:sp>
        <p:nvSpPr>
          <p:cNvPr id="18" name="Rectangle 17"/>
          <p:cNvSpPr/>
          <p:nvPr/>
        </p:nvSpPr>
        <p:spPr>
          <a:xfrm>
            <a:off x="4389120" y="850392"/>
            <a:ext cx="1188720" cy="214884"/>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9" name="TextBox 18"/>
          <p:cNvSpPr txBox="1"/>
          <p:nvPr/>
        </p:nvSpPr>
        <p:spPr>
          <a:xfrm>
            <a:off x="4425696" y="868680"/>
            <a:ext cx="1115568" cy="215444"/>
          </a:xfrm>
          <a:prstGeom prst="rect">
            <a:avLst/>
          </a:prstGeom>
          <a:noFill/>
        </p:spPr>
        <p:txBody>
          <a:bodyPr wrap="square">
            <a:spAutoFit/>
          </a:bodyPr>
          <a:lstStyle/>
          <a:p>
            <a:pPr algn="ctr"/>
            <a:r>
              <a:rPr sz="800" b="1" i="0">
                <a:solidFill>
                  <a:srgbClr val="FFFFFF"/>
                </a:solidFill>
                <a:latin typeface="Times New Roman" panose="02020603050405020304" pitchFamily="18" charset="0"/>
                <a:cs typeface="Times New Roman" panose="02020603050405020304" pitchFamily="18" charset="0"/>
              </a:rPr>
              <a:t>FY26A</a:t>
            </a:r>
          </a:p>
        </p:txBody>
      </p:sp>
      <p:sp>
        <p:nvSpPr>
          <p:cNvPr id="20" name="Rectangle 19"/>
          <p:cNvSpPr/>
          <p:nvPr/>
        </p:nvSpPr>
        <p:spPr>
          <a:xfrm>
            <a:off x="5577840" y="850392"/>
            <a:ext cx="1188720" cy="214884"/>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1" name="TextBox 20"/>
          <p:cNvSpPr txBox="1"/>
          <p:nvPr/>
        </p:nvSpPr>
        <p:spPr>
          <a:xfrm>
            <a:off x="5614416" y="868680"/>
            <a:ext cx="1115568" cy="215444"/>
          </a:xfrm>
          <a:prstGeom prst="rect">
            <a:avLst/>
          </a:prstGeom>
          <a:noFill/>
        </p:spPr>
        <p:txBody>
          <a:bodyPr wrap="square">
            <a:spAutoFit/>
          </a:bodyPr>
          <a:lstStyle/>
          <a:p>
            <a:pPr algn="ctr"/>
            <a:r>
              <a:rPr sz="800" b="1" i="0">
                <a:solidFill>
                  <a:srgbClr val="FFFFFF"/>
                </a:solidFill>
                <a:latin typeface="Times New Roman" panose="02020603050405020304" pitchFamily="18" charset="0"/>
                <a:cs typeface="Times New Roman" panose="02020603050405020304" pitchFamily="18" charset="0"/>
              </a:rPr>
              <a:t>FY27E</a:t>
            </a:r>
          </a:p>
        </p:txBody>
      </p:sp>
      <p:sp>
        <p:nvSpPr>
          <p:cNvPr id="22" name="Rectangle 21"/>
          <p:cNvSpPr/>
          <p:nvPr/>
        </p:nvSpPr>
        <p:spPr>
          <a:xfrm>
            <a:off x="182880" y="1065276"/>
            <a:ext cx="182880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3" name="TextBox 22"/>
          <p:cNvSpPr txBox="1"/>
          <p:nvPr/>
        </p:nvSpPr>
        <p:spPr>
          <a:xfrm>
            <a:off x="219456" y="1083564"/>
            <a:ext cx="1755648" cy="215444"/>
          </a:xfrm>
          <a:prstGeom prst="rect">
            <a:avLst/>
          </a:prstGeom>
          <a:noFill/>
        </p:spPr>
        <p:txBody>
          <a:bodyPr wrap="square">
            <a:spAutoFit/>
          </a:bodyPr>
          <a:lstStyle/>
          <a:p>
            <a:pPr algn="l"/>
            <a:r>
              <a:rPr sz="800" b="1" i="0">
                <a:solidFill>
                  <a:srgbClr val="1F1F1F"/>
                </a:solidFill>
                <a:latin typeface="Times New Roman" panose="02020603050405020304" pitchFamily="18" charset="0"/>
                <a:cs typeface="Times New Roman" panose="02020603050405020304" pitchFamily="18" charset="0"/>
              </a:rPr>
              <a:t>Revenue ($B)</a:t>
            </a:r>
          </a:p>
        </p:txBody>
      </p:sp>
      <p:sp>
        <p:nvSpPr>
          <p:cNvPr id="24" name="Rectangle 23"/>
          <p:cNvSpPr/>
          <p:nvPr/>
        </p:nvSpPr>
        <p:spPr>
          <a:xfrm>
            <a:off x="2011680" y="1065276"/>
            <a:ext cx="118872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5" name="TextBox 24"/>
          <p:cNvSpPr txBox="1"/>
          <p:nvPr/>
        </p:nvSpPr>
        <p:spPr>
          <a:xfrm>
            <a:off x="2048256" y="1083564"/>
            <a:ext cx="111556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$648.1</a:t>
            </a:r>
          </a:p>
        </p:txBody>
      </p:sp>
      <p:sp>
        <p:nvSpPr>
          <p:cNvPr id="26" name="Rectangle 25"/>
          <p:cNvSpPr/>
          <p:nvPr/>
        </p:nvSpPr>
        <p:spPr>
          <a:xfrm>
            <a:off x="3200400" y="1065276"/>
            <a:ext cx="118872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7" name="TextBox 26"/>
          <p:cNvSpPr txBox="1"/>
          <p:nvPr/>
        </p:nvSpPr>
        <p:spPr>
          <a:xfrm>
            <a:off x="3236976" y="1083564"/>
            <a:ext cx="111556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$681.0</a:t>
            </a:r>
          </a:p>
        </p:txBody>
      </p:sp>
      <p:sp>
        <p:nvSpPr>
          <p:cNvPr id="28" name="Rectangle 27"/>
          <p:cNvSpPr/>
          <p:nvPr/>
        </p:nvSpPr>
        <p:spPr>
          <a:xfrm>
            <a:off x="4389120" y="1065276"/>
            <a:ext cx="118872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9" name="TextBox 28"/>
          <p:cNvSpPr txBox="1"/>
          <p:nvPr/>
        </p:nvSpPr>
        <p:spPr>
          <a:xfrm>
            <a:off x="4425696" y="1083564"/>
            <a:ext cx="111556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$713.2</a:t>
            </a:r>
          </a:p>
        </p:txBody>
      </p:sp>
      <p:sp>
        <p:nvSpPr>
          <p:cNvPr id="30" name="Rectangle 29"/>
          <p:cNvSpPr/>
          <p:nvPr/>
        </p:nvSpPr>
        <p:spPr>
          <a:xfrm>
            <a:off x="5577840" y="1065276"/>
            <a:ext cx="118872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1" name="TextBox 30"/>
          <p:cNvSpPr txBox="1"/>
          <p:nvPr/>
        </p:nvSpPr>
        <p:spPr>
          <a:xfrm>
            <a:off x="5614416" y="1083564"/>
            <a:ext cx="111556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$748.8E</a:t>
            </a:r>
          </a:p>
        </p:txBody>
      </p:sp>
      <p:sp>
        <p:nvSpPr>
          <p:cNvPr id="32" name="Rectangle 31"/>
          <p:cNvSpPr/>
          <p:nvPr/>
        </p:nvSpPr>
        <p:spPr>
          <a:xfrm>
            <a:off x="182880" y="1280160"/>
            <a:ext cx="182880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3" name="TextBox 32"/>
          <p:cNvSpPr txBox="1"/>
          <p:nvPr/>
        </p:nvSpPr>
        <p:spPr>
          <a:xfrm>
            <a:off x="219456" y="1298448"/>
            <a:ext cx="1755648" cy="215444"/>
          </a:xfrm>
          <a:prstGeom prst="rect">
            <a:avLst/>
          </a:prstGeom>
          <a:noFill/>
        </p:spPr>
        <p:txBody>
          <a:bodyPr wrap="square">
            <a:spAutoFit/>
          </a:bodyPr>
          <a:lstStyle/>
          <a:p>
            <a:pPr algn="l"/>
            <a:r>
              <a:rPr sz="800" b="1" i="0">
                <a:solidFill>
                  <a:srgbClr val="1F1F1F"/>
                </a:solidFill>
                <a:latin typeface="Times New Roman" panose="02020603050405020304" pitchFamily="18" charset="0"/>
                <a:cs typeface="Times New Roman" panose="02020603050405020304" pitchFamily="18" charset="0"/>
              </a:rPr>
              <a:t>EBITDA ($B)</a:t>
            </a:r>
          </a:p>
        </p:txBody>
      </p:sp>
      <p:sp>
        <p:nvSpPr>
          <p:cNvPr id="34" name="Rectangle 33"/>
          <p:cNvSpPr/>
          <p:nvPr/>
        </p:nvSpPr>
        <p:spPr>
          <a:xfrm>
            <a:off x="2011680" y="1280160"/>
            <a:ext cx="118872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5" name="TextBox 34"/>
          <p:cNvSpPr txBox="1"/>
          <p:nvPr/>
        </p:nvSpPr>
        <p:spPr>
          <a:xfrm>
            <a:off x="2048256" y="1298448"/>
            <a:ext cx="111556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$38.9</a:t>
            </a:r>
          </a:p>
        </p:txBody>
      </p:sp>
      <p:sp>
        <p:nvSpPr>
          <p:cNvPr id="36" name="Rectangle 35"/>
          <p:cNvSpPr/>
          <p:nvPr/>
        </p:nvSpPr>
        <p:spPr>
          <a:xfrm>
            <a:off x="3200400" y="1280160"/>
            <a:ext cx="118872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7" name="TextBox 36"/>
          <p:cNvSpPr txBox="1"/>
          <p:nvPr/>
        </p:nvSpPr>
        <p:spPr>
          <a:xfrm>
            <a:off x="3236976" y="1298448"/>
            <a:ext cx="111556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$42.3</a:t>
            </a:r>
          </a:p>
        </p:txBody>
      </p:sp>
      <p:sp>
        <p:nvSpPr>
          <p:cNvPr id="38" name="Rectangle 37"/>
          <p:cNvSpPr/>
          <p:nvPr/>
        </p:nvSpPr>
        <p:spPr>
          <a:xfrm>
            <a:off x="4389120" y="1280160"/>
            <a:ext cx="118872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9" name="TextBox 38"/>
          <p:cNvSpPr txBox="1"/>
          <p:nvPr/>
        </p:nvSpPr>
        <p:spPr>
          <a:xfrm>
            <a:off x="4425696" y="1298448"/>
            <a:ext cx="111556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$44.0</a:t>
            </a:r>
          </a:p>
        </p:txBody>
      </p:sp>
      <p:sp>
        <p:nvSpPr>
          <p:cNvPr id="40" name="Rectangle 39"/>
          <p:cNvSpPr/>
          <p:nvPr/>
        </p:nvSpPr>
        <p:spPr>
          <a:xfrm>
            <a:off x="5577840" y="1280160"/>
            <a:ext cx="118872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1" name="TextBox 40"/>
          <p:cNvSpPr txBox="1"/>
          <p:nvPr/>
        </p:nvSpPr>
        <p:spPr>
          <a:xfrm>
            <a:off x="5614416" y="1298448"/>
            <a:ext cx="111556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$46.2E</a:t>
            </a:r>
          </a:p>
        </p:txBody>
      </p:sp>
      <p:sp>
        <p:nvSpPr>
          <p:cNvPr id="42" name="Rectangle 41"/>
          <p:cNvSpPr/>
          <p:nvPr/>
        </p:nvSpPr>
        <p:spPr>
          <a:xfrm>
            <a:off x="182880" y="1495044"/>
            <a:ext cx="182880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3" name="TextBox 42"/>
          <p:cNvSpPr txBox="1"/>
          <p:nvPr/>
        </p:nvSpPr>
        <p:spPr>
          <a:xfrm>
            <a:off x="219456" y="1513332"/>
            <a:ext cx="1755648" cy="215444"/>
          </a:xfrm>
          <a:prstGeom prst="rect">
            <a:avLst/>
          </a:prstGeom>
          <a:noFill/>
        </p:spPr>
        <p:txBody>
          <a:bodyPr wrap="square">
            <a:spAutoFit/>
          </a:bodyPr>
          <a:lstStyle/>
          <a:p>
            <a:pPr algn="l"/>
            <a:r>
              <a:rPr sz="800" b="1" i="0">
                <a:solidFill>
                  <a:srgbClr val="1F1F1F"/>
                </a:solidFill>
                <a:latin typeface="Times New Roman" panose="02020603050405020304" pitchFamily="18" charset="0"/>
                <a:cs typeface="Times New Roman" panose="02020603050405020304" pitchFamily="18" charset="0"/>
              </a:rPr>
              <a:t>EPS (GAAP Diluted)</a:t>
            </a:r>
          </a:p>
        </p:txBody>
      </p:sp>
      <p:sp>
        <p:nvSpPr>
          <p:cNvPr id="44" name="Rectangle 43"/>
          <p:cNvSpPr/>
          <p:nvPr/>
        </p:nvSpPr>
        <p:spPr>
          <a:xfrm>
            <a:off x="2011680" y="1495044"/>
            <a:ext cx="118872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5" name="TextBox 44"/>
          <p:cNvSpPr txBox="1"/>
          <p:nvPr/>
        </p:nvSpPr>
        <p:spPr>
          <a:xfrm>
            <a:off x="2048256" y="1513332"/>
            <a:ext cx="111556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$1.91</a:t>
            </a:r>
          </a:p>
        </p:txBody>
      </p:sp>
      <p:sp>
        <p:nvSpPr>
          <p:cNvPr id="46" name="Rectangle 45"/>
          <p:cNvSpPr/>
          <p:nvPr/>
        </p:nvSpPr>
        <p:spPr>
          <a:xfrm>
            <a:off x="3200400" y="1495044"/>
            <a:ext cx="118872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7" name="TextBox 46"/>
          <p:cNvSpPr txBox="1"/>
          <p:nvPr/>
        </p:nvSpPr>
        <p:spPr>
          <a:xfrm>
            <a:off x="3236976" y="1513332"/>
            <a:ext cx="111556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$2.41</a:t>
            </a:r>
          </a:p>
        </p:txBody>
      </p:sp>
      <p:sp>
        <p:nvSpPr>
          <p:cNvPr id="48" name="Rectangle 47"/>
          <p:cNvSpPr/>
          <p:nvPr/>
        </p:nvSpPr>
        <p:spPr>
          <a:xfrm>
            <a:off x="4389120" y="1495044"/>
            <a:ext cx="118872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9" name="TextBox 48"/>
          <p:cNvSpPr txBox="1"/>
          <p:nvPr/>
        </p:nvSpPr>
        <p:spPr>
          <a:xfrm>
            <a:off x="4425696" y="1513332"/>
            <a:ext cx="111556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$2.73</a:t>
            </a:r>
          </a:p>
        </p:txBody>
      </p:sp>
      <p:sp>
        <p:nvSpPr>
          <p:cNvPr id="50" name="Rectangle 49"/>
          <p:cNvSpPr/>
          <p:nvPr/>
        </p:nvSpPr>
        <p:spPr>
          <a:xfrm>
            <a:off x="5577840" y="1495044"/>
            <a:ext cx="118872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1" name="TextBox 50"/>
          <p:cNvSpPr txBox="1"/>
          <p:nvPr/>
        </p:nvSpPr>
        <p:spPr>
          <a:xfrm>
            <a:off x="5614416" y="1513332"/>
            <a:ext cx="111556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$2.87E</a:t>
            </a:r>
          </a:p>
        </p:txBody>
      </p:sp>
      <p:sp>
        <p:nvSpPr>
          <p:cNvPr id="52" name="Rectangle 51"/>
          <p:cNvSpPr/>
          <p:nvPr/>
        </p:nvSpPr>
        <p:spPr>
          <a:xfrm>
            <a:off x="182880" y="1709928"/>
            <a:ext cx="182880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3" name="TextBox 52"/>
          <p:cNvSpPr txBox="1"/>
          <p:nvPr/>
        </p:nvSpPr>
        <p:spPr>
          <a:xfrm>
            <a:off x="219456" y="1728216"/>
            <a:ext cx="1755648" cy="215444"/>
          </a:xfrm>
          <a:prstGeom prst="rect">
            <a:avLst/>
          </a:prstGeom>
          <a:noFill/>
        </p:spPr>
        <p:txBody>
          <a:bodyPr wrap="square">
            <a:spAutoFit/>
          </a:bodyPr>
          <a:lstStyle/>
          <a:p>
            <a:pPr algn="l"/>
            <a:r>
              <a:rPr sz="800" b="1" i="0">
                <a:solidFill>
                  <a:srgbClr val="1F1F1F"/>
                </a:solidFill>
                <a:latin typeface="Times New Roman" panose="02020603050405020304" pitchFamily="18" charset="0"/>
                <a:cs typeface="Times New Roman" panose="02020603050405020304" pitchFamily="18" charset="0"/>
              </a:rPr>
              <a:t>Net Income ($B)</a:t>
            </a:r>
          </a:p>
        </p:txBody>
      </p:sp>
      <p:sp>
        <p:nvSpPr>
          <p:cNvPr id="54" name="Rectangle 53"/>
          <p:cNvSpPr/>
          <p:nvPr/>
        </p:nvSpPr>
        <p:spPr>
          <a:xfrm>
            <a:off x="2011680" y="1709928"/>
            <a:ext cx="118872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5" name="TextBox 54"/>
          <p:cNvSpPr txBox="1"/>
          <p:nvPr/>
        </p:nvSpPr>
        <p:spPr>
          <a:xfrm>
            <a:off x="2048256" y="1728216"/>
            <a:ext cx="111556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$15.5</a:t>
            </a:r>
          </a:p>
        </p:txBody>
      </p:sp>
      <p:sp>
        <p:nvSpPr>
          <p:cNvPr id="56" name="Rectangle 55"/>
          <p:cNvSpPr/>
          <p:nvPr/>
        </p:nvSpPr>
        <p:spPr>
          <a:xfrm>
            <a:off x="3200400" y="1709928"/>
            <a:ext cx="118872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7" name="TextBox 56"/>
          <p:cNvSpPr txBox="1"/>
          <p:nvPr/>
        </p:nvSpPr>
        <p:spPr>
          <a:xfrm>
            <a:off x="3236976" y="1728216"/>
            <a:ext cx="111556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$19.4</a:t>
            </a:r>
          </a:p>
        </p:txBody>
      </p:sp>
      <p:sp>
        <p:nvSpPr>
          <p:cNvPr id="58" name="Rectangle 57"/>
          <p:cNvSpPr/>
          <p:nvPr/>
        </p:nvSpPr>
        <p:spPr>
          <a:xfrm>
            <a:off x="4389120" y="1709928"/>
            <a:ext cx="118872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9" name="TextBox 58"/>
          <p:cNvSpPr txBox="1"/>
          <p:nvPr/>
        </p:nvSpPr>
        <p:spPr>
          <a:xfrm>
            <a:off x="4425696" y="1728216"/>
            <a:ext cx="111556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$21.9</a:t>
            </a:r>
          </a:p>
        </p:txBody>
      </p:sp>
      <p:sp>
        <p:nvSpPr>
          <p:cNvPr id="60" name="Rectangle 59"/>
          <p:cNvSpPr/>
          <p:nvPr/>
        </p:nvSpPr>
        <p:spPr>
          <a:xfrm>
            <a:off x="5577840" y="1709928"/>
            <a:ext cx="118872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61" name="TextBox 60"/>
          <p:cNvSpPr txBox="1"/>
          <p:nvPr/>
        </p:nvSpPr>
        <p:spPr>
          <a:xfrm>
            <a:off x="5614416" y="1728216"/>
            <a:ext cx="111556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$23.0E</a:t>
            </a:r>
          </a:p>
        </p:txBody>
      </p:sp>
      <p:sp>
        <p:nvSpPr>
          <p:cNvPr id="62" name="Rectangle 61"/>
          <p:cNvSpPr/>
          <p:nvPr/>
        </p:nvSpPr>
        <p:spPr>
          <a:xfrm>
            <a:off x="182880" y="1924812"/>
            <a:ext cx="182880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63" name="TextBox 62"/>
          <p:cNvSpPr txBox="1"/>
          <p:nvPr/>
        </p:nvSpPr>
        <p:spPr>
          <a:xfrm>
            <a:off x="219456" y="1943100"/>
            <a:ext cx="1755648" cy="215444"/>
          </a:xfrm>
          <a:prstGeom prst="rect">
            <a:avLst/>
          </a:prstGeom>
          <a:noFill/>
        </p:spPr>
        <p:txBody>
          <a:bodyPr wrap="square">
            <a:spAutoFit/>
          </a:bodyPr>
          <a:lstStyle/>
          <a:p>
            <a:pPr algn="l"/>
            <a:r>
              <a:rPr sz="800" b="1" i="0">
                <a:solidFill>
                  <a:srgbClr val="1F1F1F"/>
                </a:solidFill>
                <a:latin typeface="Times New Roman" panose="02020603050405020304" pitchFamily="18" charset="0"/>
                <a:cs typeface="Times New Roman" panose="02020603050405020304" pitchFamily="18" charset="0"/>
              </a:rPr>
              <a:t>Free Cash Flow ($B)</a:t>
            </a:r>
          </a:p>
        </p:txBody>
      </p:sp>
      <p:sp>
        <p:nvSpPr>
          <p:cNvPr id="64" name="Rectangle 63"/>
          <p:cNvSpPr/>
          <p:nvPr/>
        </p:nvSpPr>
        <p:spPr>
          <a:xfrm>
            <a:off x="2011680" y="1924812"/>
            <a:ext cx="118872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65" name="TextBox 64"/>
          <p:cNvSpPr txBox="1"/>
          <p:nvPr/>
        </p:nvSpPr>
        <p:spPr>
          <a:xfrm>
            <a:off x="2048256" y="1943100"/>
            <a:ext cx="111556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$15.1</a:t>
            </a:r>
          </a:p>
        </p:txBody>
      </p:sp>
      <p:sp>
        <p:nvSpPr>
          <p:cNvPr id="66" name="Rectangle 65"/>
          <p:cNvSpPr/>
          <p:nvPr/>
        </p:nvSpPr>
        <p:spPr>
          <a:xfrm>
            <a:off x="3200400" y="1924812"/>
            <a:ext cx="118872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67" name="TextBox 66"/>
          <p:cNvSpPr txBox="1"/>
          <p:nvPr/>
        </p:nvSpPr>
        <p:spPr>
          <a:xfrm>
            <a:off x="3236976" y="1943100"/>
            <a:ext cx="111556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$12.7</a:t>
            </a:r>
          </a:p>
        </p:txBody>
      </p:sp>
      <p:sp>
        <p:nvSpPr>
          <p:cNvPr id="68" name="Rectangle 67"/>
          <p:cNvSpPr/>
          <p:nvPr/>
        </p:nvSpPr>
        <p:spPr>
          <a:xfrm>
            <a:off x="4389120" y="1924812"/>
            <a:ext cx="118872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69" name="TextBox 68"/>
          <p:cNvSpPr txBox="1"/>
          <p:nvPr/>
        </p:nvSpPr>
        <p:spPr>
          <a:xfrm>
            <a:off x="4425696" y="1943100"/>
            <a:ext cx="111556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$14.9</a:t>
            </a:r>
          </a:p>
        </p:txBody>
      </p:sp>
      <p:sp>
        <p:nvSpPr>
          <p:cNvPr id="70" name="Rectangle 69"/>
          <p:cNvSpPr/>
          <p:nvPr/>
        </p:nvSpPr>
        <p:spPr>
          <a:xfrm>
            <a:off x="5577840" y="1924812"/>
            <a:ext cx="118872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1" name="TextBox 70"/>
          <p:cNvSpPr txBox="1"/>
          <p:nvPr/>
        </p:nvSpPr>
        <p:spPr>
          <a:xfrm>
            <a:off x="5614416" y="1943100"/>
            <a:ext cx="111556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$15.7E</a:t>
            </a:r>
          </a:p>
        </p:txBody>
      </p:sp>
      <p:sp>
        <p:nvSpPr>
          <p:cNvPr id="72" name="Rectangle 71"/>
          <p:cNvSpPr/>
          <p:nvPr/>
        </p:nvSpPr>
        <p:spPr>
          <a:xfrm>
            <a:off x="182880" y="2139696"/>
            <a:ext cx="182880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3" name="TextBox 72"/>
          <p:cNvSpPr txBox="1"/>
          <p:nvPr/>
        </p:nvSpPr>
        <p:spPr>
          <a:xfrm>
            <a:off x="219456" y="2157984"/>
            <a:ext cx="1755648" cy="215444"/>
          </a:xfrm>
          <a:prstGeom prst="rect">
            <a:avLst/>
          </a:prstGeom>
          <a:noFill/>
        </p:spPr>
        <p:txBody>
          <a:bodyPr wrap="square">
            <a:spAutoFit/>
          </a:bodyPr>
          <a:lstStyle/>
          <a:p>
            <a:pPr algn="l"/>
            <a:r>
              <a:rPr sz="800" b="1" i="0">
                <a:solidFill>
                  <a:srgbClr val="1F1F1F"/>
                </a:solidFill>
                <a:latin typeface="Times New Roman" panose="02020603050405020304" pitchFamily="18" charset="0"/>
                <a:cs typeface="Times New Roman" panose="02020603050405020304" pitchFamily="18" charset="0"/>
              </a:rPr>
              <a:t>Capital Expenditures</a:t>
            </a:r>
          </a:p>
        </p:txBody>
      </p:sp>
      <p:sp>
        <p:nvSpPr>
          <p:cNvPr id="74" name="Rectangle 73"/>
          <p:cNvSpPr/>
          <p:nvPr/>
        </p:nvSpPr>
        <p:spPr>
          <a:xfrm>
            <a:off x="2011680" y="2139696"/>
            <a:ext cx="118872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5" name="TextBox 74"/>
          <p:cNvSpPr txBox="1"/>
          <p:nvPr/>
        </p:nvSpPr>
        <p:spPr>
          <a:xfrm>
            <a:off x="2048256" y="2157984"/>
            <a:ext cx="111556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$(20.6)</a:t>
            </a:r>
          </a:p>
        </p:txBody>
      </p:sp>
      <p:sp>
        <p:nvSpPr>
          <p:cNvPr id="76" name="Rectangle 75"/>
          <p:cNvSpPr/>
          <p:nvPr/>
        </p:nvSpPr>
        <p:spPr>
          <a:xfrm>
            <a:off x="3200400" y="2139696"/>
            <a:ext cx="118872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7" name="TextBox 76"/>
          <p:cNvSpPr txBox="1"/>
          <p:nvPr/>
        </p:nvSpPr>
        <p:spPr>
          <a:xfrm>
            <a:off x="3236976" y="2157984"/>
            <a:ext cx="111556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$(23.8)</a:t>
            </a:r>
          </a:p>
        </p:txBody>
      </p:sp>
      <p:sp>
        <p:nvSpPr>
          <p:cNvPr id="78" name="Rectangle 77"/>
          <p:cNvSpPr/>
          <p:nvPr/>
        </p:nvSpPr>
        <p:spPr>
          <a:xfrm>
            <a:off x="4389120" y="2139696"/>
            <a:ext cx="118872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9" name="TextBox 78"/>
          <p:cNvSpPr txBox="1"/>
          <p:nvPr/>
        </p:nvSpPr>
        <p:spPr>
          <a:xfrm>
            <a:off x="4425696" y="2157984"/>
            <a:ext cx="111556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$(26.6)</a:t>
            </a:r>
          </a:p>
        </p:txBody>
      </p:sp>
      <p:sp>
        <p:nvSpPr>
          <p:cNvPr id="80" name="Rectangle 79"/>
          <p:cNvSpPr/>
          <p:nvPr/>
        </p:nvSpPr>
        <p:spPr>
          <a:xfrm>
            <a:off x="5577840" y="2139696"/>
            <a:ext cx="118872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81" name="TextBox 80"/>
          <p:cNvSpPr txBox="1"/>
          <p:nvPr/>
        </p:nvSpPr>
        <p:spPr>
          <a:xfrm>
            <a:off x="5614416" y="2157984"/>
            <a:ext cx="111556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$(28.0E)</a:t>
            </a:r>
          </a:p>
        </p:txBody>
      </p:sp>
      <p:sp>
        <p:nvSpPr>
          <p:cNvPr id="82" name="Rectangle 81"/>
          <p:cNvSpPr/>
          <p:nvPr/>
        </p:nvSpPr>
        <p:spPr>
          <a:xfrm>
            <a:off x="182880" y="2354580"/>
            <a:ext cx="182880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83" name="TextBox 82"/>
          <p:cNvSpPr txBox="1"/>
          <p:nvPr/>
        </p:nvSpPr>
        <p:spPr>
          <a:xfrm>
            <a:off x="219456" y="2372868"/>
            <a:ext cx="1755648" cy="215444"/>
          </a:xfrm>
          <a:prstGeom prst="rect">
            <a:avLst/>
          </a:prstGeom>
          <a:noFill/>
        </p:spPr>
        <p:txBody>
          <a:bodyPr wrap="square">
            <a:spAutoFit/>
          </a:bodyPr>
          <a:lstStyle/>
          <a:p>
            <a:pPr algn="l"/>
            <a:r>
              <a:rPr sz="800" b="1" i="0">
                <a:solidFill>
                  <a:srgbClr val="1F1F1F"/>
                </a:solidFill>
                <a:latin typeface="Times New Roman" panose="02020603050405020304" pitchFamily="18" charset="0"/>
                <a:cs typeface="Times New Roman" panose="02020603050405020304" pitchFamily="18" charset="0"/>
              </a:rPr>
              <a:t>EV/EBITDA</a:t>
            </a:r>
          </a:p>
        </p:txBody>
      </p:sp>
      <p:sp>
        <p:nvSpPr>
          <p:cNvPr id="84" name="Rectangle 83"/>
          <p:cNvSpPr/>
          <p:nvPr/>
        </p:nvSpPr>
        <p:spPr>
          <a:xfrm>
            <a:off x="2011680" y="2354580"/>
            <a:ext cx="118872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85" name="TextBox 84"/>
          <p:cNvSpPr txBox="1"/>
          <p:nvPr/>
        </p:nvSpPr>
        <p:spPr>
          <a:xfrm>
            <a:off x="2048256" y="2372868"/>
            <a:ext cx="111556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27.0x</a:t>
            </a:r>
          </a:p>
        </p:txBody>
      </p:sp>
      <p:sp>
        <p:nvSpPr>
          <p:cNvPr id="86" name="Rectangle 85"/>
          <p:cNvSpPr/>
          <p:nvPr/>
        </p:nvSpPr>
        <p:spPr>
          <a:xfrm>
            <a:off x="3200400" y="2354580"/>
            <a:ext cx="118872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87" name="TextBox 86"/>
          <p:cNvSpPr txBox="1"/>
          <p:nvPr/>
        </p:nvSpPr>
        <p:spPr>
          <a:xfrm>
            <a:off x="3236976" y="2372868"/>
            <a:ext cx="111556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24.8x</a:t>
            </a:r>
          </a:p>
        </p:txBody>
      </p:sp>
      <p:sp>
        <p:nvSpPr>
          <p:cNvPr id="88" name="Rectangle 87"/>
          <p:cNvSpPr/>
          <p:nvPr/>
        </p:nvSpPr>
        <p:spPr>
          <a:xfrm>
            <a:off x="4389120" y="2354580"/>
            <a:ext cx="118872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89" name="TextBox 88"/>
          <p:cNvSpPr txBox="1"/>
          <p:nvPr/>
        </p:nvSpPr>
        <p:spPr>
          <a:xfrm>
            <a:off x="4425696" y="2372868"/>
            <a:ext cx="111556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23.9x</a:t>
            </a:r>
          </a:p>
        </p:txBody>
      </p:sp>
      <p:sp>
        <p:nvSpPr>
          <p:cNvPr id="90" name="Rectangle 89"/>
          <p:cNvSpPr/>
          <p:nvPr/>
        </p:nvSpPr>
        <p:spPr>
          <a:xfrm>
            <a:off x="5577840" y="2354580"/>
            <a:ext cx="118872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91" name="TextBox 90"/>
          <p:cNvSpPr txBox="1"/>
          <p:nvPr/>
        </p:nvSpPr>
        <p:spPr>
          <a:xfrm>
            <a:off x="5614416" y="2372868"/>
            <a:ext cx="111556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22.7x</a:t>
            </a:r>
          </a:p>
        </p:txBody>
      </p:sp>
      <p:sp>
        <p:nvSpPr>
          <p:cNvPr id="92" name="Rectangle 91"/>
          <p:cNvSpPr/>
          <p:nvPr/>
        </p:nvSpPr>
        <p:spPr>
          <a:xfrm>
            <a:off x="182880" y="2569464"/>
            <a:ext cx="182880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93" name="TextBox 92"/>
          <p:cNvSpPr txBox="1"/>
          <p:nvPr/>
        </p:nvSpPr>
        <p:spPr>
          <a:xfrm>
            <a:off x="219456" y="2587752"/>
            <a:ext cx="1755648" cy="215444"/>
          </a:xfrm>
          <a:prstGeom prst="rect">
            <a:avLst/>
          </a:prstGeom>
          <a:noFill/>
        </p:spPr>
        <p:txBody>
          <a:bodyPr wrap="square">
            <a:spAutoFit/>
          </a:bodyPr>
          <a:lstStyle/>
          <a:p>
            <a:pPr algn="l"/>
            <a:r>
              <a:rPr sz="800" b="1" i="0">
                <a:solidFill>
                  <a:srgbClr val="1F1F1F"/>
                </a:solidFill>
                <a:latin typeface="Times New Roman" panose="02020603050405020304" pitchFamily="18" charset="0"/>
                <a:cs typeface="Times New Roman" panose="02020603050405020304" pitchFamily="18" charset="0"/>
              </a:rPr>
              <a:t>P/FCF</a:t>
            </a:r>
          </a:p>
        </p:txBody>
      </p:sp>
      <p:sp>
        <p:nvSpPr>
          <p:cNvPr id="94" name="Rectangle 93"/>
          <p:cNvSpPr/>
          <p:nvPr/>
        </p:nvSpPr>
        <p:spPr>
          <a:xfrm>
            <a:off x="2011680" y="2569464"/>
            <a:ext cx="118872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95" name="TextBox 94"/>
          <p:cNvSpPr txBox="1"/>
          <p:nvPr/>
        </p:nvSpPr>
        <p:spPr>
          <a:xfrm>
            <a:off x="2048256" y="2587752"/>
            <a:ext cx="111556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68.4x</a:t>
            </a:r>
          </a:p>
        </p:txBody>
      </p:sp>
      <p:sp>
        <p:nvSpPr>
          <p:cNvPr id="96" name="Rectangle 95"/>
          <p:cNvSpPr/>
          <p:nvPr/>
        </p:nvSpPr>
        <p:spPr>
          <a:xfrm>
            <a:off x="3200400" y="2569464"/>
            <a:ext cx="118872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97" name="TextBox 96"/>
          <p:cNvSpPr txBox="1"/>
          <p:nvPr/>
        </p:nvSpPr>
        <p:spPr>
          <a:xfrm>
            <a:off x="3236976" y="2587752"/>
            <a:ext cx="111556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81.4x</a:t>
            </a:r>
          </a:p>
        </p:txBody>
      </p:sp>
      <p:sp>
        <p:nvSpPr>
          <p:cNvPr id="98" name="Rectangle 97"/>
          <p:cNvSpPr/>
          <p:nvPr/>
        </p:nvSpPr>
        <p:spPr>
          <a:xfrm>
            <a:off x="4389120" y="2569464"/>
            <a:ext cx="118872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99" name="TextBox 98"/>
          <p:cNvSpPr txBox="1"/>
          <p:nvPr/>
        </p:nvSpPr>
        <p:spPr>
          <a:xfrm>
            <a:off x="4425696" y="2587752"/>
            <a:ext cx="111556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68.1x</a:t>
            </a:r>
          </a:p>
        </p:txBody>
      </p:sp>
      <p:sp>
        <p:nvSpPr>
          <p:cNvPr id="100" name="Rectangle 99"/>
          <p:cNvSpPr/>
          <p:nvPr/>
        </p:nvSpPr>
        <p:spPr>
          <a:xfrm>
            <a:off x="5577840" y="2569464"/>
            <a:ext cx="118872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01" name="TextBox 100"/>
          <p:cNvSpPr txBox="1"/>
          <p:nvPr/>
        </p:nvSpPr>
        <p:spPr>
          <a:xfrm>
            <a:off x="5614416" y="2587752"/>
            <a:ext cx="111556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64.8x</a:t>
            </a:r>
          </a:p>
        </p:txBody>
      </p:sp>
      <p:sp>
        <p:nvSpPr>
          <p:cNvPr id="102" name="Rectangle 101"/>
          <p:cNvSpPr/>
          <p:nvPr/>
        </p:nvSpPr>
        <p:spPr>
          <a:xfrm>
            <a:off x="182880" y="2784348"/>
            <a:ext cx="182880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03" name="TextBox 102"/>
          <p:cNvSpPr txBox="1"/>
          <p:nvPr/>
        </p:nvSpPr>
        <p:spPr>
          <a:xfrm>
            <a:off x="219456" y="2802636"/>
            <a:ext cx="1755648" cy="215444"/>
          </a:xfrm>
          <a:prstGeom prst="rect">
            <a:avLst/>
          </a:prstGeom>
          <a:noFill/>
        </p:spPr>
        <p:txBody>
          <a:bodyPr wrap="square">
            <a:spAutoFit/>
          </a:bodyPr>
          <a:lstStyle/>
          <a:p>
            <a:pPr algn="l"/>
            <a:r>
              <a:rPr sz="800" b="1" i="0">
                <a:solidFill>
                  <a:srgbClr val="1F1F1F"/>
                </a:solidFill>
                <a:latin typeface="Times New Roman" panose="02020603050405020304" pitchFamily="18" charset="0"/>
                <a:cs typeface="Times New Roman" panose="02020603050405020304" pitchFamily="18" charset="0"/>
              </a:rPr>
              <a:t>P/E (GAAP)</a:t>
            </a:r>
          </a:p>
        </p:txBody>
      </p:sp>
      <p:sp>
        <p:nvSpPr>
          <p:cNvPr id="104" name="Rectangle 103"/>
          <p:cNvSpPr/>
          <p:nvPr/>
        </p:nvSpPr>
        <p:spPr>
          <a:xfrm>
            <a:off x="2011680" y="2784348"/>
            <a:ext cx="118872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05" name="TextBox 104"/>
          <p:cNvSpPr txBox="1"/>
          <p:nvPr/>
        </p:nvSpPr>
        <p:spPr>
          <a:xfrm>
            <a:off x="2048256" y="2802636"/>
            <a:ext cx="111556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66.8x</a:t>
            </a:r>
          </a:p>
        </p:txBody>
      </p:sp>
      <p:sp>
        <p:nvSpPr>
          <p:cNvPr id="106" name="Rectangle 105"/>
          <p:cNvSpPr/>
          <p:nvPr/>
        </p:nvSpPr>
        <p:spPr>
          <a:xfrm>
            <a:off x="3200400" y="2784348"/>
            <a:ext cx="118872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07" name="TextBox 106"/>
          <p:cNvSpPr txBox="1"/>
          <p:nvPr/>
        </p:nvSpPr>
        <p:spPr>
          <a:xfrm>
            <a:off x="3236976" y="2802636"/>
            <a:ext cx="111556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52.9x</a:t>
            </a:r>
          </a:p>
        </p:txBody>
      </p:sp>
      <p:sp>
        <p:nvSpPr>
          <p:cNvPr id="108" name="Rectangle 107"/>
          <p:cNvSpPr/>
          <p:nvPr/>
        </p:nvSpPr>
        <p:spPr>
          <a:xfrm>
            <a:off x="4389120" y="2784348"/>
            <a:ext cx="118872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09" name="TextBox 108"/>
          <p:cNvSpPr txBox="1"/>
          <p:nvPr/>
        </p:nvSpPr>
        <p:spPr>
          <a:xfrm>
            <a:off x="4425696" y="2802636"/>
            <a:ext cx="111556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46.7x</a:t>
            </a:r>
          </a:p>
        </p:txBody>
      </p:sp>
      <p:sp>
        <p:nvSpPr>
          <p:cNvPr id="110" name="Rectangle 109"/>
          <p:cNvSpPr/>
          <p:nvPr/>
        </p:nvSpPr>
        <p:spPr>
          <a:xfrm>
            <a:off x="5577840" y="2784348"/>
            <a:ext cx="118872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11" name="TextBox 110"/>
          <p:cNvSpPr txBox="1"/>
          <p:nvPr/>
        </p:nvSpPr>
        <p:spPr>
          <a:xfrm>
            <a:off x="5614416" y="2802636"/>
            <a:ext cx="111556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44.4x</a:t>
            </a:r>
          </a:p>
        </p:txBody>
      </p:sp>
      <p:sp>
        <p:nvSpPr>
          <p:cNvPr id="112" name="Rectangle 111"/>
          <p:cNvSpPr/>
          <p:nvPr/>
        </p:nvSpPr>
        <p:spPr>
          <a:xfrm>
            <a:off x="182880" y="2999232"/>
            <a:ext cx="182880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13" name="TextBox 112"/>
          <p:cNvSpPr txBox="1"/>
          <p:nvPr/>
        </p:nvSpPr>
        <p:spPr>
          <a:xfrm>
            <a:off x="219456" y="3017520"/>
            <a:ext cx="1755648" cy="215444"/>
          </a:xfrm>
          <a:prstGeom prst="rect">
            <a:avLst/>
          </a:prstGeom>
          <a:noFill/>
        </p:spPr>
        <p:txBody>
          <a:bodyPr wrap="square">
            <a:spAutoFit/>
          </a:bodyPr>
          <a:lstStyle/>
          <a:p>
            <a:pPr algn="l"/>
            <a:r>
              <a:rPr sz="800" b="1" i="0">
                <a:solidFill>
                  <a:srgbClr val="1F1F1F"/>
                </a:solidFill>
                <a:latin typeface="Times New Roman" panose="02020603050405020304" pitchFamily="18" charset="0"/>
                <a:cs typeface="Times New Roman" panose="02020603050405020304" pitchFamily="18" charset="0"/>
              </a:rPr>
              <a:t>Revenue Growth YoY</a:t>
            </a:r>
          </a:p>
        </p:txBody>
      </p:sp>
      <p:sp>
        <p:nvSpPr>
          <p:cNvPr id="114" name="Rectangle 113"/>
          <p:cNvSpPr/>
          <p:nvPr/>
        </p:nvSpPr>
        <p:spPr>
          <a:xfrm>
            <a:off x="2011680" y="2999232"/>
            <a:ext cx="118872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15" name="TextBox 114"/>
          <p:cNvSpPr txBox="1"/>
          <p:nvPr/>
        </p:nvSpPr>
        <p:spPr>
          <a:xfrm>
            <a:off x="2048256" y="3017520"/>
            <a:ext cx="111556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5.1%</a:t>
            </a:r>
          </a:p>
        </p:txBody>
      </p:sp>
      <p:sp>
        <p:nvSpPr>
          <p:cNvPr id="116" name="Rectangle 115"/>
          <p:cNvSpPr/>
          <p:nvPr/>
        </p:nvSpPr>
        <p:spPr>
          <a:xfrm>
            <a:off x="3200400" y="2999232"/>
            <a:ext cx="118872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17" name="TextBox 116"/>
          <p:cNvSpPr txBox="1"/>
          <p:nvPr/>
        </p:nvSpPr>
        <p:spPr>
          <a:xfrm>
            <a:off x="3236976" y="3017520"/>
            <a:ext cx="111556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5.1%</a:t>
            </a:r>
          </a:p>
        </p:txBody>
      </p:sp>
      <p:sp>
        <p:nvSpPr>
          <p:cNvPr id="118" name="Rectangle 117"/>
          <p:cNvSpPr/>
          <p:nvPr/>
        </p:nvSpPr>
        <p:spPr>
          <a:xfrm>
            <a:off x="4389120" y="2999232"/>
            <a:ext cx="118872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19" name="TextBox 118"/>
          <p:cNvSpPr txBox="1"/>
          <p:nvPr/>
        </p:nvSpPr>
        <p:spPr>
          <a:xfrm>
            <a:off x="4425696" y="3017520"/>
            <a:ext cx="111556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4.7%</a:t>
            </a:r>
          </a:p>
        </p:txBody>
      </p:sp>
      <p:sp>
        <p:nvSpPr>
          <p:cNvPr id="120" name="Rectangle 119"/>
          <p:cNvSpPr/>
          <p:nvPr/>
        </p:nvSpPr>
        <p:spPr>
          <a:xfrm>
            <a:off x="5577840" y="2999232"/>
            <a:ext cx="118872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21" name="TextBox 120"/>
          <p:cNvSpPr txBox="1"/>
          <p:nvPr/>
        </p:nvSpPr>
        <p:spPr>
          <a:xfrm>
            <a:off x="5614416" y="3017520"/>
            <a:ext cx="111556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5.0%E</a:t>
            </a:r>
          </a:p>
        </p:txBody>
      </p:sp>
      <p:sp>
        <p:nvSpPr>
          <p:cNvPr id="122" name="Rectangle 121"/>
          <p:cNvSpPr/>
          <p:nvPr/>
        </p:nvSpPr>
        <p:spPr>
          <a:xfrm>
            <a:off x="182880" y="3214116"/>
            <a:ext cx="182880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23" name="TextBox 122"/>
          <p:cNvSpPr txBox="1"/>
          <p:nvPr/>
        </p:nvSpPr>
        <p:spPr>
          <a:xfrm>
            <a:off x="219456" y="3232404"/>
            <a:ext cx="1755648" cy="215444"/>
          </a:xfrm>
          <a:prstGeom prst="rect">
            <a:avLst/>
          </a:prstGeom>
          <a:noFill/>
        </p:spPr>
        <p:txBody>
          <a:bodyPr wrap="square">
            <a:spAutoFit/>
          </a:bodyPr>
          <a:lstStyle/>
          <a:p>
            <a:pPr algn="l"/>
            <a:r>
              <a:rPr sz="800" b="1" i="0">
                <a:solidFill>
                  <a:srgbClr val="1F1F1F"/>
                </a:solidFill>
                <a:latin typeface="Times New Roman" panose="02020603050405020304" pitchFamily="18" charset="0"/>
                <a:cs typeface="Times New Roman" panose="02020603050405020304" pitchFamily="18" charset="0"/>
              </a:rPr>
              <a:t>EBITDA Margin</a:t>
            </a:r>
          </a:p>
        </p:txBody>
      </p:sp>
      <p:sp>
        <p:nvSpPr>
          <p:cNvPr id="124" name="Rectangle 123"/>
          <p:cNvSpPr/>
          <p:nvPr/>
        </p:nvSpPr>
        <p:spPr>
          <a:xfrm>
            <a:off x="2011680" y="3214116"/>
            <a:ext cx="118872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25" name="TextBox 124"/>
          <p:cNvSpPr txBox="1"/>
          <p:nvPr/>
        </p:nvSpPr>
        <p:spPr>
          <a:xfrm>
            <a:off x="2048256" y="3232404"/>
            <a:ext cx="111556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6.0%</a:t>
            </a:r>
          </a:p>
        </p:txBody>
      </p:sp>
      <p:sp>
        <p:nvSpPr>
          <p:cNvPr id="126" name="Rectangle 125"/>
          <p:cNvSpPr/>
          <p:nvPr/>
        </p:nvSpPr>
        <p:spPr>
          <a:xfrm>
            <a:off x="3200400" y="3214116"/>
            <a:ext cx="118872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27" name="TextBox 126"/>
          <p:cNvSpPr txBox="1"/>
          <p:nvPr/>
        </p:nvSpPr>
        <p:spPr>
          <a:xfrm>
            <a:off x="3236976" y="3232404"/>
            <a:ext cx="111556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6.2%</a:t>
            </a:r>
          </a:p>
        </p:txBody>
      </p:sp>
      <p:sp>
        <p:nvSpPr>
          <p:cNvPr id="128" name="Rectangle 127"/>
          <p:cNvSpPr/>
          <p:nvPr/>
        </p:nvSpPr>
        <p:spPr>
          <a:xfrm>
            <a:off x="4389120" y="3214116"/>
            <a:ext cx="118872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29" name="TextBox 128"/>
          <p:cNvSpPr txBox="1"/>
          <p:nvPr/>
        </p:nvSpPr>
        <p:spPr>
          <a:xfrm>
            <a:off x="4425696" y="3232404"/>
            <a:ext cx="111556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6.2%</a:t>
            </a:r>
          </a:p>
        </p:txBody>
      </p:sp>
      <p:sp>
        <p:nvSpPr>
          <p:cNvPr id="130" name="Rectangle 129"/>
          <p:cNvSpPr/>
          <p:nvPr/>
        </p:nvSpPr>
        <p:spPr>
          <a:xfrm>
            <a:off x="5577840" y="3214116"/>
            <a:ext cx="118872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31" name="TextBox 130"/>
          <p:cNvSpPr txBox="1"/>
          <p:nvPr/>
        </p:nvSpPr>
        <p:spPr>
          <a:xfrm>
            <a:off x="5614416" y="3232404"/>
            <a:ext cx="111556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6.2%</a:t>
            </a:r>
          </a:p>
        </p:txBody>
      </p:sp>
      <p:sp>
        <p:nvSpPr>
          <p:cNvPr id="132" name="Rectangle 131"/>
          <p:cNvSpPr/>
          <p:nvPr/>
        </p:nvSpPr>
        <p:spPr>
          <a:xfrm>
            <a:off x="182880" y="3429000"/>
            <a:ext cx="182880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33" name="TextBox 132"/>
          <p:cNvSpPr txBox="1"/>
          <p:nvPr/>
        </p:nvSpPr>
        <p:spPr>
          <a:xfrm>
            <a:off x="219456" y="3447288"/>
            <a:ext cx="1755648" cy="215444"/>
          </a:xfrm>
          <a:prstGeom prst="rect">
            <a:avLst/>
          </a:prstGeom>
          <a:noFill/>
        </p:spPr>
        <p:txBody>
          <a:bodyPr wrap="square">
            <a:spAutoFit/>
          </a:bodyPr>
          <a:lstStyle/>
          <a:p>
            <a:pPr algn="l"/>
            <a:r>
              <a:rPr sz="800" b="1" i="0">
                <a:solidFill>
                  <a:srgbClr val="1F1F1F"/>
                </a:solidFill>
                <a:latin typeface="Times New Roman" panose="02020603050405020304" pitchFamily="18" charset="0"/>
                <a:cs typeface="Times New Roman" panose="02020603050405020304" pitchFamily="18" charset="0"/>
              </a:rPr>
              <a:t>FCF Margin</a:t>
            </a:r>
          </a:p>
        </p:txBody>
      </p:sp>
      <p:sp>
        <p:nvSpPr>
          <p:cNvPr id="134" name="Rectangle 133"/>
          <p:cNvSpPr/>
          <p:nvPr/>
        </p:nvSpPr>
        <p:spPr>
          <a:xfrm>
            <a:off x="2011680" y="3429000"/>
            <a:ext cx="118872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35" name="TextBox 134"/>
          <p:cNvSpPr txBox="1"/>
          <p:nvPr/>
        </p:nvSpPr>
        <p:spPr>
          <a:xfrm>
            <a:off x="2048256" y="3447288"/>
            <a:ext cx="111556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2.3%</a:t>
            </a:r>
          </a:p>
        </p:txBody>
      </p:sp>
      <p:sp>
        <p:nvSpPr>
          <p:cNvPr id="136" name="Rectangle 135"/>
          <p:cNvSpPr/>
          <p:nvPr/>
        </p:nvSpPr>
        <p:spPr>
          <a:xfrm>
            <a:off x="3200400" y="3429000"/>
            <a:ext cx="118872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37" name="TextBox 136"/>
          <p:cNvSpPr txBox="1"/>
          <p:nvPr/>
        </p:nvSpPr>
        <p:spPr>
          <a:xfrm>
            <a:off x="3236976" y="3447288"/>
            <a:ext cx="111556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1.9%</a:t>
            </a:r>
          </a:p>
        </p:txBody>
      </p:sp>
      <p:sp>
        <p:nvSpPr>
          <p:cNvPr id="138" name="Rectangle 137"/>
          <p:cNvSpPr/>
          <p:nvPr/>
        </p:nvSpPr>
        <p:spPr>
          <a:xfrm>
            <a:off x="4389120" y="3429000"/>
            <a:ext cx="118872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39" name="TextBox 138"/>
          <p:cNvSpPr txBox="1"/>
          <p:nvPr/>
        </p:nvSpPr>
        <p:spPr>
          <a:xfrm>
            <a:off x="4425696" y="3447288"/>
            <a:ext cx="111556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2.1%</a:t>
            </a:r>
          </a:p>
        </p:txBody>
      </p:sp>
      <p:sp>
        <p:nvSpPr>
          <p:cNvPr id="140" name="Rectangle 139"/>
          <p:cNvSpPr/>
          <p:nvPr/>
        </p:nvSpPr>
        <p:spPr>
          <a:xfrm>
            <a:off x="5577840" y="3429000"/>
            <a:ext cx="118872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41" name="TextBox 140"/>
          <p:cNvSpPr txBox="1"/>
          <p:nvPr/>
        </p:nvSpPr>
        <p:spPr>
          <a:xfrm>
            <a:off x="5614416" y="3447288"/>
            <a:ext cx="111556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2.1%</a:t>
            </a:r>
          </a:p>
        </p:txBody>
      </p:sp>
      <p:sp>
        <p:nvSpPr>
          <p:cNvPr id="142" name="Rectangle 141"/>
          <p:cNvSpPr/>
          <p:nvPr/>
        </p:nvSpPr>
        <p:spPr>
          <a:xfrm>
            <a:off x="182880" y="3643884"/>
            <a:ext cx="182880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43" name="TextBox 142"/>
          <p:cNvSpPr txBox="1"/>
          <p:nvPr/>
        </p:nvSpPr>
        <p:spPr>
          <a:xfrm>
            <a:off x="219456" y="3662172"/>
            <a:ext cx="1755648" cy="215444"/>
          </a:xfrm>
          <a:prstGeom prst="rect">
            <a:avLst/>
          </a:prstGeom>
          <a:noFill/>
        </p:spPr>
        <p:txBody>
          <a:bodyPr wrap="square">
            <a:spAutoFit/>
          </a:bodyPr>
          <a:lstStyle/>
          <a:p>
            <a:pPr algn="l"/>
            <a:r>
              <a:rPr sz="800" b="1" i="0">
                <a:solidFill>
                  <a:srgbClr val="1F1F1F"/>
                </a:solidFill>
                <a:latin typeface="Times New Roman" panose="02020603050405020304" pitchFamily="18" charset="0"/>
                <a:cs typeface="Times New Roman" panose="02020603050405020304" pitchFamily="18" charset="0"/>
              </a:rPr>
              <a:t>Net Income Margin</a:t>
            </a:r>
          </a:p>
        </p:txBody>
      </p:sp>
      <p:sp>
        <p:nvSpPr>
          <p:cNvPr id="144" name="Rectangle 143"/>
          <p:cNvSpPr/>
          <p:nvPr/>
        </p:nvSpPr>
        <p:spPr>
          <a:xfrm>
            <a:off x="2011680" y="3643884"/>
            <a:ext cx="118872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45" name="TextBox 144"/>
          <p:cNvSpPr txBox="1"/>
          <p:nvPr/>
        </p:nvSpPr>
        <p:spPr>
          <a:xfrm>
            <a:off x="2048256" y="3662172"/>
            <a:ext cx="111556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2.4%</a:t>
            </a:r>
          </a:p>
        </p:txBody>
      </p:sp>
      <p:sp>
        <p:nvSpPr>
          <p:cNvPr id="146" name="Rectangle 145"/>
          <p:cNvSpPr/>
          <p:nvPr/>
        </p:nvSpPr>
        <p:spPr>
          <a:xfrm>
            <a:off x="3200400" y="3643884"/>
            <a:ext cx="118872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47" name="TextBox 146"/>
          <p:cNvSpPr txBox="1"/>
          <p:nvPr/>
        </p:nvSpPr>
        <p:spPr>
          <a:xfrm>
            <a:off x="3236976" y="3662172"/>
            <a:ext cx="111556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2.9%</a:t>
            </a:r>
          </a:p>
        </p:txBody>
      </p:sp>
      <p:sp>
        <p:nvSpPr>
          <p:cNvPr id="148" name="Rectangle 147"/>
          <p:cNvSpPr/>
          <p:nvPr/>
        </p:nvSpPr>
        <p:spPr>
          <a:xfrm>
            <a:off x="4389120" y="3643884"/>
            <a:ext cx="118872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49" name="TextBox 148"/>
          <p:cNvSpPr txBox="1"/>
          <p:nvPr/>
        </p:nvSpPr>
        <p:spPr>
          <a:xfrm>
            <a:off x="4425696" y="3662172"/>
            <a:ext cx="111556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3.1%</a:t>
            </a:r>
          </a:p>
        </p:txBody>
      </p:sp>
      <p:sp>
        <p:nvSpPr>
          <p:cNvPr id="150" name="Rectangle 149"/>
          <p:cNvSpPr/>
          <p:nvPr/>
        </p:nvSpPr>
        <p:spPr>
          <a:xfrm>
            <a:off x="5577840" y="3643884"/>
            <a:ext cx="118872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51" name="TextBox 150"/>
          <p:cNvSpPr txBox="1"/>
          <p:nvPr/>
        </p:nvSpPr>
        <p:spPr>
          <a:xfrm>
            <a:off x="5614416" y="3662172"/>
            <a:ext cx="1115568" cy="215444"/>
          </a:xfrm>
          <a:prstGeom prst="rect">
            <a:avLst/>
          </a:prstGeom>
          <a:noFill/>
        </p:spPr>
        <p:txBody>
          <a:bodyPr wrap="square">
            <a:spAutoFit/>
          </a:bodyPr>
          <a:lstStyle/>
          <a:p>
            <a:pPr algn="ctr"/>
            <a:r>
              <a:rPr sz="800" b="0" i="0">
                <a:solidFill>
                  <a:srgbClr val="1F1F1F"/>
                </a:solidFill>
                <a:latin typeface="Times New Roman" panose="02020603050405020304" pitchFamily="18" charset="0"/>
                <a:cs typeface="Times New Roman" panose="02020603050405020304" pitchFamily="18" charset="0"/>
              </a:rPr>
              <a:t>3.1%</a:t>
            </a:r>
          </a:p>
        </p:txBody>
      </p:sp>
      <p:sp>
        <p:nvSpPr>
          <p:cNvPr id="152" name="Rectangle 151"/>
          <p:cNvSpPr/>
          <p:nvPr/>
        </p:nvSpPr>
        <p:spPr>
          <a:xfrm>
            <a:off x="182880" y="4023360"/>
            <a:ext cx="2743200" cy="201168"/>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53" name="TextBox 152"/>
          <p:cNvSpPr txBox="1"/>
          <p:nvPr/>
        </p:nvSpPr>
        <p:spPr>
          <a:xfrm>
            <a:off x="237744" y="4041648"/>
            <a:ext cx="2633472" cy="207749"/>
          </a:xfrm>
          <a:prstGeom prst="rect">
            <a:avLst/>
          </a:prstGeom>
          <a:noFill/>
        </p:spPr>
        <p:txBody>
          <a:bodyPr wrap="square">
            <a:spAutoFit/>
          </a:bodyPr>
          <a:lstStyle/>
          <a:p>
            <a:pPr algn="l"/>
            <a:r>
              <a:rPr sz="750" b="1" i="0">
                <a:solidFill>
                  <a:srgbClr val="FFFFFF"/>
                </a:solidFill>
                <a:latin typeface="Times New Roman" panose="02020603050405020304" pitchFamily="18" charset="0"/>
                <a:cs typeface="Times New Roman" panose="02020603050405020304" pitchFamily="18" charset="0"/>
              </a:rPr>
              <a:t>FIGURE 7: VALUATION MODEL SUMMARY</a:t>
            </a:r>
          </a:p>
        </p:txBody>
      </p:sp>
      <p:sp>
        <p:nvSpPr>
          <p:cNvPr id="154" name="Rectangle 153"/>
          <p:cNvSpPr/>
          <p:nvPr/>
        </p:nvSpPr>
        <p:spPr>
          <a:xfrm>
            <a:off x="182880" y="4251960"/>
            <a:ext cx="2331720" cy="2468880"/>
          </a:xfrm>
          <a:prstGeom prst="rect">
            <a:avLst/>
          </a:prstGeom>
          <a:solidFill>
            <a:srgbClr val="E0EEF8"/>
          </a:solidFill>
          <a:ln w="12700">
            <a:solidFill>
              <a:srgbClr val="0071C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55" name="TextBox 154"/>
          <p:cNvSpPr txBox="1"/>
          <p:nvPr/>
        </p:nvSpPr>
        <p:spPr>
          <a:xfrm>
            <a:off x="256032" y="4297680"/>
            <a:ext cx="2176272" cy="223138"/>
          </a:xfrm>
          <a:prstGeom prst="rect">
            <a:avLst/>
          </a:prstGeom>
          <a:noFill/>
        </p:spPr>
        <p:txBody>
          <a:bodyPr wrap="square">
            <a:spAutoFit/>
          </a:bodyPr>
          <a:lstStyle/>
          <a:p>
            <a:pPr algn="l"/>
            <a:r>
              <a:rPr sz="850" b="1" i="0">
                <a:solidFill>
                  <a:srgbClr val="0071CE"/>
                </a:solidFill>
                <a:latin typeface="Times New Roman" panose="02020603050405020304" pitchFamily="18" charset="0"/>
                <a:cs typeface="Times New Roman" panose="02020603050405020304" pitchFamily="18" charset="0"/>
              </a:rPr>
              <a:t>Free Cash Flow Model (FCFM)</a:t>
            </a:r>
          </a:p>
        </p:txBody>
      </p:sp>
      <p:sp>
        <p:nvSpPr>
          <p:cNvPr id="156" name="TextBox 155"/>
          <p:cNvSpPr txBox="1"/>
          <p:nvPr/>
        </p:nvSpPr>
        <p:spPr>
          <a:xfrm>
            <a:off x="256032" y="4526280"/>
            <a:ext cx="2176272" cy="212366"/>
          </a:xfrm>
          <a:prstGeom prst="rect">
            <a:avLst/>
          </a:prstGeom>
          <a:noFill/>
        </p:spPr>
        <p:txBody>
          <a:bodyPr wrap="square">
            <a:spAutoFit/>
          </a:bodyPr>
          <a:lstStyle/>
          <a:p>
            <a:pPr algn="l"/>
            <a:r>
              <a:rPr sz="780" b="0" i="0">
                <a:solidFill>
                  <a:srgbClr val="1F1F1F"/>
                </a:solidFill>
                <a:latin typeface="Times New Roman" panose="02020603050405020304" pitchFamily="18" charset="0"/>
                <a:cs typeface="Times New Roman" panose="02020603050405020304" pitchFamily="18" charset="0"/>
              </a:rPr>
              <a:t>Base FCF (FY26A): $14,923M  (10-K)</a:t>
            </a:r>
          </a:p>
        </p:txBody>
      </p:sp>
      <p:sp>
        <p:nvSpPr>
          <p:cNvPr id="157" name="TextBox 156"/>
          <p:cNvSpPr txBox="1"/>
          <p:nvPr/>
        </p:nvSpPr>
        <p:spPr>
          <a:xfrm>
            <a:off x="256032" y="4695444"/>
            <a:ext cx="2176272" cy="212366"/>
          </a:xfrm>
          <a:prstGeom prst="rect">
            <a:avLst/>
          </a:prstGeom>
          <a:noFill/>
        </p:spPr>
        <p:txBody>
          <a:bodyPr wrap="square">
            <a:spAutoFit/>
          </a:bodyPr>
          <a:lstStyle/>
          <a:p>
            <a:pPr algn="l"/>
            <a:r>
              <a:rPr sz="780" b="0" i="0">
                <a:solidFill>
                  <a:srgbClr val="1F1F1F"/>
                </a:solidFill>
                <a:latin typeface="Times New Roman" panose="02020603050405020304" pitchFamily="18" charset="0"/>
                <a:cs typeface="Times New Roman" panose="02020603050405020304" pitchFamily="18" charset="0"/>
              </a:rPr>
              <a:t>FCF/Sales Margin (wtd. avg): 1.87%</a:t>
            </a:r>
          </a:p>
        </p:txBody>
      </p:sp>
      <p:sp>
        <p:nvSpPr>
          <p:cNvPr id="158" name="TextBox 157"/>
          <p:cNvSpPr txBox="1"/>
          <p:nvPr/>
        </p:nvSpPr>
        <p:spPr>
          <a:xfrm>
            <a:off x="256032" y="4864608"/>
            <a:ext cx="2176272" cy="212366"/>
          </a:xfrm>
          <a:prstGeom prst="rect">
            <a:avLst/>
          </a:prstGeom>
          <a:noFill/>
        </p:spPr>
        <p:txBody>
          <a:bodyPr wrap="square">
            <a:spAutoFit/>
          </a:bodyPr>
          <a:lstStyle/>
          <a:p>
            <a:pPr algn="l"/>
            <a:r>
              <a:rPr sz="780" b="0" i="0">
                <a:solidFill>
                  <a:srgbClr val="1F1F1F"/>
                </a:solidFill>
                <a:latin typeface="Times New Roman" panose="02020603050405020304" pitchFamily="18" charset="0"/>
                <a:cs typeface="Times New Roman" panose="02020603050405020304" pitchFamily="18" charset="0"/>
              </a:rPr>
              <a:t>WACC (beta-adjusted): 6.50%</a:t>
            </a:r>
          </a:p>
        </p:txBody>
      </p:sp>
      <p:sp>
        <p:nvSpPr>
          <p:cNvPr id="159" name="TextBox 158"/>
          <p:cNvSpPr txBox="1"/>
          <p:nvPr/>
        </p:nvSpPr>
        <p:spPr>
          <a:xfrm>
            <a:off x="256032" y="5033772"/>
            <a:ext cx="2176272" cy="212366"/>
          </a:xfrm>
          <a:prstGeom prst="rect">
            <a:avLst/>
          </a:prstGeom>
          <a:noFill/>
        </p:spPr>
        <p:txBody>
          <a:bodyPr wrap="square">
            <a:spAutoFit/>
          </a:bodyPr>
          <a:lstStyle/>
          <a:p>
            <a:pPr algn="l"/>
            <a:r>
              <a:rPr sz="780" b="0" i="0">
                <a:solidFill>
                  <a:srgbClr val="1F1F1F"/>
                </a:solidFill>
                <a:latin typeface="Times New Roman" panose="02020603050405020304" pitchFamily="18" charset="0"/>
                <a:cs typeface="Times New Roman" panose="02020603050405020304" pitchFamily="18" charset="0"/>
              </a:rPr>
              <a:t>Growth: 5.0% (Yrs 1-4) / 3.0% (Terminal)</a:t>
            </a:r>
          </a:p>
        </p:txBody>
      </p:sp>
      <p:sp>
        <p:nvSpPr>
          <p:cNvPr id="160" name="TextBox 159"/>
          <p:cNvSpPr txBox="1"/>
          <p:nvPr/>
        </p:nvSpPr>
        <p:spPr>
          <a:xfrm>
            <a:off x="256032" y="5202936"/>
            <a:ext cx="2176272" cy="212366"/>
          </a:xfrm>
          <a:prstGeom prst="rect">
            <a:avLst/>
          </a:prstGeom>
          <a:noFill/>
        </p:spPr>
        <p:txBody>
          <a:bodyPr wrap="square">
            <a:spAutoFit/>
          </a:bodyPr>
          <a:lstStyle/>
          <a:p>
            <a:pPr algn="l"/>
            <a:r>
              <a:rPr sz="780" b="0" i="0">
                <a:solidFill>
                  <a:srgbClr val="1F1F1F"/>
                </a:solidFill>
                <a:latin typeface="Times New Roman" panose="02020603050405020304" pitchFamily="18" charset="0"/>
                <a:cs typeface="Times New Roman" panose="02020603050405020304" pitchFamily="18" charset="0"/>
              </a:rPr>
              <a:t>Total Debt: $44,762M  (10-K)</a:t>
            </a:r>
          </a:p>
        </p:txBody>
      </p:sp>
      <p:sp>
        <p:nvSpPr>
          <p:cNvPr id="161" name="TextBox 160"/>
          <p:cNvSpPr txBox="1"/>
          <p:nvPr/>
        </p:nvSpPr>
        <p:spPr>
          <a:xfrm>
            <a:off x="256032" y="5372100"/>
            <a:ext cx="2176272" cy="212366"/>
          </a:xfrm>
          <a:prstGeom prst="rect">
            <a:avLst/>
          </a:prstGeom>
          <a:noFill/>
        </p:spPr>
        <p:txBody>
          <a:bodyPr wrap="square">
            <a:spAutoFit/>
          </a:bodyPr>
          <a:lstStyle/>
          <a:p>
            <a:pPr algn="l"/>
            <a:r>
              <a:rPr sz="780" b="0" i="0">
                <a:solidFill>
                  <a:srgbClr val="1F1F1F"/>
                </a:solidFill>
                <a:latin typeface="Times New Roman" panose="02020603050405020304" pitchFamily="18" charset="0"/>
                <a:cs typeface="Times New Roman" panose="02020603050405020304" pitchFamily="18" charset="0"/>
              </a:rPr>
              <a:t>Shares Outstanding: 7,970M  (10-K)</a:t>
            </a:r>
          </a:p>
        </p:txBody>
      </p:sp>
      <p:sp>
        <p:nvSpPr>
          <p:cNvPr id="162" name="TextBox 161"/>
          <p:cNvSpPr txBox="1"/>
          <p:nvPr/>
        </p:nvSpPr>
        <p:spPr>
          <a:xfrm>
            <a:off x="256032" y="5541264"/>
            <a:ext cx="2176272" cy="369332"/>
          </a:xfrm>
          <a:prstGeom prst="rect">
            <a:avLst/>
          </a:prstGeom>
          <a:noFill/>
        </p:spPr>
        <p:txBody>
          <a:bodyPr wrap="square">
            <a:spAutoFit/>
          </a:bodyPr>
          <a:lstStyle/>
          <a:p>
            <a:pPr algn="l"/>
            <a:endParaRPr>
              <a:latin typeface="Times New Roman" panose="02020603050405020304" pitchFamily="18" charset="0"/>
              <a:cs typeface="Times New Roman" panose="02020603050405020304" pitchFamily="18" charset="0"/>
            </a:endParaRPr>
          </a:p>
        </p:txBody>
      </p:sp>
      <p:sp>
        <p:nvSpPr>
          <p:cNvPr id="163" name="TextBox 162"/>
          <p:cNvSpPr txBox="1"/>
          <p:nvPr/>
        </p:nvSpPr>
        <p:spPr>
          <a:xfrm>
            <a:off x="256032" y="5710428"/>
            <a:ext cx="2176272" cy="212366"/>
          </a:xfrm>
          <a:prstGeom prst="rect">
            <a:avLst/>
          </a:prstGeom>
          <a:noFill/>
        </p:spPr>
        <p:txBody>
          <a:bodyPr wrap="square">
            <a:spAutoFit/>
          </a:bodyPr>
          <a:lstStyle/>
          <a:p>
            <a:pPr algn="l"/>
            <a:r>
              <a:rPr sz="780" b="1" i="0">
                <a:solidFill>
                  <a:srgbClr val="0071CE"/>
                </a:solidFill>
                <a:latin typeface="Times New Roman" panose="02020603050405020304" pitchFamily="18" charset="0"/>
                <a:cs typeface="Times New Roman" panose="02020603050405020304" pitchFamily="18" charset="0"/>
              </a:rPr>
              <a:t>Intrinsic Value (P0): $48.84</a:t>
            </a:r>
          </a:p>
        </p:txBody>
      </p:sp>
      <p:sp>
        <p:nvSpPr>
          <p:cNvPr id="164" name="TextBox 163"/>
          <p:cNvSpPr txBox="1"/>
          <p:nvPr/>
        </p:nvSpPr>
        <p:spPr>
          <a:xfrm>
            <a:off x="256032" y="5879592"/>
            <a:ext cx="2176272" cy="212366"/>
          </a:xfrm>
          <a:prstGeom prst="rect">
            <a:avLst/>
          </a:prstGeom>
          <a:noFill/>
        </p:spPr>
        <p:txBody>
          <a:bodyPr wrap="square">
            <a:spAutoFit/>
          </a:bodyPr>
          <a:lstStyle/>
          <a:p>
            <a:pPr algn="l"/>
            <a:r>
              <a:rPr sz="780" b="1" i="0">
                <a:solidFill>
                  <a:srgbClr val="0071CE"/>
                </a:solidFill>
                <a:latin typeface="Times New Roman" panose="02020603050405020304" pitchFamily="18" charset="0"/>
                <a:cs typeface="Times New Roman" panose="02020603050405020304" pitchFamily="18" charset="0"/>
              </a:rPr>
              <a:t>12-Month Target (P1): $50.52</a:t>
            </a:r>
          </a:p>
        </p:txBody>
      </p:sp>
      <p:sp>
        <p:nvSpPr>
          <p:cNvPr id="165" name="TextBox 164"/>
          <p:cNvSpPr txBox="1"/>
          <p:nvPr/>
        </p:nvSpPr>
        <p:spPr>
          <a:xfrm>
            <a:off x="256032" y="6048756"/>
            <a:ext cx="2176272" cy="369332"/>
          </a:xfrm>
          <a:prstGeom prst="rect">
            <a:avLst/>
          </a:prstGeom>
          <a:noFill/>
        </p:spPr>
        <p:txBody>
          <a:bodyPr wrap="square">
            <a:spAutoFit/>
          </a:bodyPr>
          <a:lstStyle/>
          <a:p>
            <a:pPr algn="l"/>
            <a:endParaRPr>
              <a:latin typeface="Times New Roman" panose="02020603050405020304" pitchFamily="18" charset="0"/>
              <a:cs typeface="Times New Roman" panose="02020603050405020304" pitchFamily="18" charset="0"/>
            </a:endParaRPr>
          </a:p>
        </p:txBody>
      </p:sp>
      <p:sp>
        <p:nvSpPr>
          <p:cNvPr id="166" name="TextBox 165"/>
          <p:cNvSpPr txBox="1"/>
          <p:nvPr/>
        </p:nvSpPr>
        <p:spPr>
          <a:xfrm>
            <a:off x="237744" y="6080133"/>
            <a:ext cx="2176272" cy="207749"/>
          </a:xfrm>
          <a:prstGeom prst="rect">
            <a:avLst/>
          </a:prstGeom>
          <a:noFill/>
        </p:spPr>
        <p:txBody>
          <a:bodyPr wrap="square">
            <a:spAutoFit/>
          </a:bodyPr>
          <a:lstStyle/>
          <a:p>
            <a:pPr algn="l"/>
            <a:r>
              <a:rPr sz="750" b="0" i="0">
                <a:solidFill>
                  <a:srgbClr val="1F1F1F"/>
                </a:solidFill>
                <a:latin typeface="Times New Roman" panose="02020603050405020304" pitchFamily="18" charset="0"/>
                <a:cs typeface="Times New Roman" panose="02020603050405020304" pitchFamily="18" charset="0"/>
              </a:rPr>
              <a:t>Note: FCFM reflects thin FCF margins</a:t>
            </a:r>
          </a:p>
        </p:txBody>
      </p:sp>
      <p:sp>
        <p:nvSpPr>
          <p:cNvPr id="167" name="TextBox 166"/>
          <p:cNvSpPr txBox="1"/>
          <p:nvPr/>
        </p:nvSpPr>
        <p:spPr>
          <a:xfrm>
            <a:off x="238997" y="6236772"/>
            <a:ext cx="2176272" cy="207749"/>
          </a:xfrm>
          <a:prstGeom prst="rect">
            <a:avLst/>
          </a:prstGeom>
          <a:noFill/>
        </p:spPr>
        <p:txBody>
          <a:bodyPr wrap="square">
            <a:spAutoFit/>
          </a:bodyPr>
          <a:lstStyle/>
          <a:p>
            <a:pPr algn="l"/>
            <a:r>
              <a:rPr sz="750" b="0" i="0">
                <a:solidFill>
                  <a:srgbClr val="1F1F1F"/>
                </a:solidFill>
                <a:latin typeface="Times New Roman" panose="02020603050405020304" pitchFamily="18" charset="0"/>
                <a:cs typeface="Times New Roman" panose="02020603050405020304" pitchFamily="18" charset="0"/>
              </a:rPr>
              <a:t>(1.87% wtd. avg) typical of large-format</a:t>
            </a:r>
          </a:p>
        </p:txBody>
      </p:sp>
      <p:sp>
        <p:nvSpPr>
          <p:cNvPr id="168" name="TextBox 167"/>
          <p:cNvSpPr txBox="1"/>
          <p:nvPr/>
        </p:nvSpPr>
        <p:spPr>
          <a:xfrm>
            <a:off x="256283" y="6374621"/>
            <a:ext cx="2176272" cy="207749"/>
          </a:xfrm>
          <a:prstGeom prst="rect">
            <a:avLst/>
          </a:prstGeom>
          <a:noFill/>
        </p:spPr>
        <p:txBody>
          <a:bodyPr wrap="square">
            <a:spAutoFit/>
          </a:bodyPr>
          <a:lstStyle/>
          <a:p>
            <a:pPr algn="l"/>
            <a:r>
              <a:rPr sz="750" b="0" i="0">
                <a:solidFill>
                  <a:srgbClr val="1F1F1F"/>
                </a:solidFill>
                <a:latin typeface="Times New Roman" panose="02020603050405020304" pitchFamily="18" charset="0"/>
                <a:cs typeface="Times New Roman" panose="02020603050405020304" pitchFamily="18" charset="0"/>
              </a:rPr>
              <a:t>retail. Primary valuation: Fwd P/E &amp; EV/</a:t>
            </a:r>
          </a:p>
        </p:txBody>
      </p:sp>
      <p:sp>
        <p:nvSpPr>
          <p:cNvPr id="169" name="TextBox 168"/>
          <p:cNvSpPr txBox="1"/>
          <p:nvPr/>
        </p:nvSpPr>
        <p:spPr>
          <a:xfrm>
            <a:off x="256283" y="6524995"/>
            <a:ext cx="2176272" cy="207749"/>
          </a:xfrm>
          <a:prstGeom prst="rect">
            <a:avLst/>
          </a:prstGeom>
          <a:noFill/>
        </p:spPr>
        <p:txBody>
          <a:bodyPr wrap="square">
            <a:spAutoFit/>
          </a:bodyPr>
          <a:lstStyle/>
          <a:p>
            <a:pPr algn="l"/>
            <a:r>
              <a:rPr sz="750" b="0" i="0">
                <a:solidFill>
                  <a:srgbClr val="1F1F1F"/>
                </a:solidFill>
                <a:latin typeface="Times New Roman" panose="02020603050405020304" pitchFamily="18" charset="0"/>
                <a:cs typeface="Times New Roman" panose="02020603050405020304" pitchFamily="18" charset="0"/>
              </a:rPr>
              <a:t>EBITDA. See valuation summary.</a:t>
            </a:r>
          </a:p>
        </p:txBody>
      </p:sp>
      <p:sp>
        <p:nvSpPr>
          <p:cNvPr id="170" name="Rectangle 169"/>
          <p:cNvSpPr/>
          <p:nvPr/>
        </p:nvSpPr>
        <p:spPr>
          <a:xfrm>
            <a:off x="2651760" y="4251960"/>
            <a:ext cx="2331720" cy="2468880"/>
          </a:xfrm>
          <a:prstGeom prst="rect">
            <a:avLst/>
          </a:prstGeom>
          <a:solidFill>
            <a:srgbClr val="F0F4F8"/>
          </a:solidFill>
          <a:ln w="12700">
            <a:solidFill>
              <a:srgbClr val="004C9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71" name="TextBox 170"/>
          <p:cNvSpPr txBox="1"/>
          <p:nvPr/>
        </p:nvSpPr>
        <p:spPr>
          <a:xfrm>
            <a:off x="2724912" y="4297680"/>
            <a:ext cx="2176272" cy="223138"/>
          </a:xfrm>
          <a:prstGeom prst="rect">
            <a:avLst/>
          </a:prstGeom>
          <a:noFill/>
        </p:spPr>
        <p:txBody>
          <a:bodyPr wrap="square">
            <a:spAutoFit/>
          </a:bodyPr>
          <a:lstStyle/>
          <a:p>
            <a:pPr algn="l"/>
            <a:r>
              <a:rPr sz="850" b="1" i="0">
                <a:solidFill>
                  <a:srgbClr val="004C97"/>
                </a:solidFill>
                <a:latin typeface="Times New Roman" panose="02020603050405020304" pitchFamily="18" charset="0"/>
                <a:cs typeface="Times New Roman" panose="02020603050405020304" pitchFamily="18" charset="0"/>
              </a:rPr>
              <a:t>Residual Income Model (RIM)</a:t>
            </a:r>
          </a:p>
        </p:txBody>
      </p:sp>
      <p:sp>
        <p:nvSpPr>
          <p:cNvPr id="172" name="TextBox 171"/>
          <p:cNvSpPr txBox="1"/>
          <p:nvPr/>
        </p:nvSpPr>
        <p:spPr>
          <a:xfrm>
            <a:off x="2724912" y="4526280"/>
            <a:ext cx="2176272" cy="207749"/>
          </a:xfrm>
          <a:prstGeom prst="rect">
            <a:avLst/>
          </a:prstGeom>
          <a:noFill/>
        </p:spPr>
        <p:txBody>
          <a:bodyPr wrap="square">
            <a:spAutoFit/>
          </a:bodyPr>
          <a:lstStyle/>
          <a:p>
            <a:pPr algn="l"/>
            <a:r>
              <a:rPr sz="750" b="0" i="0">
                <a:solidFill>
                  <a:srgbClr val="004C97"/>
                </a:solidFill>
                <a:latin typeface="Times New Roman" panose="02020603050405020304" pitchFamily="18" charset="0"/>
                <a:cs typeface="Times New Roman" panose="02020603050405020304" pitchFamily="18" charset="0"/>
              </a:rPr>
              <a:t>BVPS (FY25): $10.97</a:t>
            </a:r>
          </a:p>
        </p:txBody>
      </p:sp>
      <p:sp>
        <p:nvSpPr>
          <p:cNvPr id="173" name="TextBox 172"/>
          <p:cNvSpPr txBox="1"/>
          <p:nvPr/>
        </p:nvSpPr>
        <p:spPr>
          <a:xfrm>
            <a:off x="2724912" y="4695444"/>
            <a:ext cx="2176272" cy="207749"/>
          </a:xfrm>
          <a:prstGeom prst="rect">
            <a:avLst/>
          </a:prstGeom>
          <a:noFill/>
        </p:spPr>
        <p:txBody>
          <a:bodyPr wrap="square">
            <a:spAutoFit/>
          </a:bodyPr>
          <a:lstStyle/>
          <a:p>
            <a:pPr algn="l"/>
            <a:r>
              <a:rPr sz="750" b="0" i="0">
                <a:solidFill>
                  <a:srgbClr val="1F1F1F"/>
                </a:solidFill>
                <a:latin typeface="Times New Roman" panose="02020603050405020304" pitchFamily="18" charset="0"/>
                <a:cs typeface="Times New Roman" panose="02020603050405020304" pitchFamily="18" charset="0"/>
              </a:rPr>
              <a:t>Rs (CAPM beta-adj.): 6.80%</a:t>
            </a:r>
          </a:p>
        </p:txBody>
      </p:sp>
      <p:sp>
        <p:nvSpPr>
          <p:cNvPr id="174" name="TextBox 173"/>
          <p:cNvSpPr txBox="1"/>
          <p:nvPr/>
        </p:nvSpPr>
        <p:spPr>
          <a:xfrm>
            <a:off x="2724912" y="4864608"/>
            <a:ext cx="2176272" cy="207749"/>
          </a:xfrm>
          <a:prstGeom prst="rect">
            <a:avLst/>
          </a:prstGeom>
          <a:noFill/>
        </p:spPr>
        <p:txBody>
          <a:bodyPr wrap="square">
            <a:spAutoFit/>
          </a:bodyPr>
          <a:lstStyle/>
          <a:p>
            <a:pPr algn="l"/>
            <a:r>
              <a:rPr sz="750" b="0" i="0">
                <a:solidFill>
                  <a:srgbClr val="1F1F1F"/>
                </a:solidFill>
                <a:latin typeface="Times New Roman" panose="02020603050405020304" pitchFamily="18" charset="0"/>
                <a:cs typeface="Times New Roman" panose="02020603050405020304" pitchFamily="18" charset="0"/>
              </a:rPr>
              <a:t>ROE (FY25 Adj.): ~22.9%</a:t>
            </a:r>
          </a:p>
        </p:txBody>
      </p:sp>
      <p:sp>
        <p:nvSpPr>
          <p:cNvPr id="175" name="TextBox 174"/>
          <p:cNvSpPr txBox="1"/>
          <p:nvPr/>
        </p:nvSpPr>
        <p:spPr>
          <a:xfrm>
            <a:off x="2724912" y="5033772"/>
            <a:ext cx="2176272" cy="369332"/>
          </a:xfrm>
          <a:prstGeom prst="rect">
            <a:avLst/>
          </a:prstGeom>
          <a:noFill/>
        </p:spPr>
        <p:txBody>
          <a:bodyPr wrap="square">
            <a:spAutoFit/>
          </a:bodyPr>
          <a:lstStyle/>
          <a:p>
            <a:pPr algn="l"/>
            <a:endParaRPr>
              <a:latin typeface="Times New Roman" panose="02020603050405020304" pitchFamily="18" charset="0"/>
              <a:cs typeface="Times New Roman" panose="02020603050405020304" pitchFamily="18" charset="0"/>
            </a:endParaRPr>
          </a:p>
        </p:txBody>
      </p:sp>
      <p:sp>
        <p:nvSpPr>
          <p:cNvPr id="176" name="TextBox 175"/>
          <p:cNvSpPr txBox="1"/>
          <p:nvPr/>
        </p:nvSpPr>
        <p:spPr>
          <a:xfrm>
            <a:off x="2724912" y="5202936"/>
            <a:ext cx="2176272" cy="207749"/>
          </a:xfrm>
          <a:prstGeom prst="rect">
            <a:avLst/>
          </a:prstGeom>
          <a:noFill/>
        </p:spPr>
        <p:txBody>
          <a:bodyPr wrap="square">
            <a:spAutoFit/>
          </a:bodyPr>
          <a:lstStyle/>
          <a:p>
            <a:pPr algn="l"/>
            <a:r>
              <a:rPr sz="750" b="0" i="0">
                <a:solidFill>
                  <a:srgbClr val="1F1F1F"/>
                </a:solidFill>
                <a:latin typeface="Times New Roman" panose="02020603050405020304" pitchFamily="18" charset="0"/>
                <a:cs typeface="Times New Roman" panose="02020603050405020304" pitchFamily="18" charset="0"/>
              </a:rPr>
              <a:t>Unlike NVDA, WMT has a meaningful</a:t>
            </a:r>
          </a:p>
        </p:txBody>
      </p:sp>
      <p:sp>
        <p:nvSpPr>
          <p:cNvPr id="177" name="TextBox 176"/>
          <p:cNvSpPr txBox="1"/>
          <p:nvPr/>
        </p:nvSpPr>
        <p:spPr>
          <a:xfrm>
            <a:off x="2724912" y="5372100"/>
            <a:ext cx="2176272" cy="207749"/>
          </a:xfrm>
          <a:prstGeom prst="rect">
            <a:avLst/>
          </a:prstGeom>
          <a:noFill/>
        </p:spPr>
        <p:txBody>
          <a:bodyPr wrap="square">
            <a:spAutoFit/>
          </a:bodyPr>
          <a:lstStyle/>
          <a:p>
            <a:pPr algn="l"/>
            <a:r>
              <a:rPr sz="750" b="0" i="0">
                <a:solidFill>
                  <a:srgbClr val="1F1F1F"/>
                </a:solidFill>
                <a:latin typeface="Times New Roman" panose="02020603050405020304" pitchFamily="18" charset="0"/>
                <a:cs typeface="Times New Roman" panose="02020603050405020304" pitchFamily="18" charset="0"/>
              </a:rPr>
              <a:t>book value ($10.97/share) making</a:t>
            </a:r>
          </a:p>
        </p:txBody>
      </p:sp>
      <p:sp>
        <p:nvSpPr>
          <p:cNvPr id="178" name="TextBox 177"/>
          <p:cNvSpPr txBox="1"/>
          <p:nvPr/>
        </p:nvSpPr>
        <p:spPr>
          <a:xfrm>
            <a:off x="2724912" y="5541264"/>
            <a:ext cx="2176272" cy="207749"/>
          </a:xfrm>
          <a:prstGeom prst="rect">
            <a:avLst/>
          </a:prstGeom>
          <a:noFill/>
        </p:spPr>
        <p:txBody>
          <a:bodyPr wrap="square">
            <a:spAutoFit/>
          </a:bodyPr>
          <a:lstStyle/>
          <a:p>
            <a:pPr algn="l"/>
            <a:r>
              <a:rPr sz="750" b="0" i="0">
                <a:solidFill>
                  <a:srgbClr val="1F1F1F"/>
                </a:solidFill>
                <a:latin typeface="Times New Roman" panose="02020603050405020304" pitchFamily="18" charset="0"/>
                <a:cs typeface="Times New Roman" panose="02020603050405020304" pitchFamily="18" charset="0"/>
              </a:rPr>
              <a:t>the RIM more structurally applicable.</a:t>
            </a:r>
          </a:p>
        </p:txBody>
      </p:sp>
      <p:sp>
        <p:nvSpPr>
          <p:cNvPr id="179" name="TextBox 178"/>
          <p:cNvSpPr txBox="1"/>
          <p:nvPr/>
        </p:nvSpPr>
        <p:spPr>
          <a:xfrm>
            <a:off x="2724912" y="5710428"/>
            <a:ext cx="2176272" cy="369332"/>
          </a:xfrm>
          <a:prstGeom prst="rect">
            <a:avLst/>
          </a:prstGeom>
          <a:noFill/>
        </p:spPr>
        <p:txBody>
          <a:bodyPr wrap="square">
            <a:spAutoFit/>
          </a:bodyPr>
          <a:lstStyle/>
          <a:p>
            <a:pPr algn="l"/>
            <a:endParaRPr>
              <a:latin typeface="Times New Roman" panose="02020603050405020304" pitchFamily="18" charset="0"/>
              <a:cs typeface="Times New Roman" panose="02020603050405020304" pitchFamily="18" charset="0"/>
            </a:endParaRPr>
          </a:p>
        </p:txBody>
      </p:sp>
      <p:sp>
        <p:nvSpPr>
          <p:cNvPr id="180" name="TextBox 179"/>
          <p:cNvSpPr txBox="1"/>
          <p:nvPr/>
        </p:nvSpPr>
        <p:spPr>
          <a:xfrm>
            <a:off x="2724912" y="5879592"/>
            <a:ext cx="2176272" cy="207749"/>
          </a:xfrm>
          <a:prstGeom prst="rect">
            <a:avLst/>
          </a:prstGeom>
          <a:noFill/>
        </p:spPr>
        <p:txBody>
          <a:bodyPr wrap="square">
            <a:spAutoFit/>
          </a:bodyPr>
          <a:lstStyle/>
          <a:p>
            <a:pPr algn="l"/>
            <a:r>
              <a:rPr sz="750" b="0" i="0">
                <a:solidFill>
                  <a:srgbClr val="1F1F1F"/>
                </a:solidFill>
                <a:latin typeface="Times New Roman" panose="02020603050405020304" pitchFamily="18" charset="0"/>
                <a:cs typeface="Times New Roman" panose="02020603050405020304" pitchFamily="18" charset="0"/>
              </a:rPr>
              <a:t>Beta-adjusted Rs of 6.80% reflects</a:t>
            </a:r>
          </a:p>
        </p:txBody>
      </p:sp>
      <p:sp>
        <p:nvSpPr>
          <p:cNvPr id="181" name="TextBox 180"/>
          <p:cNvSpPr txBox="1"/>
          <p:nvPr/>
        </p:nvSpPr>
        <p:spPr>
          <a:xfrm>
            <a:off x="2724912" y="6048756"/>
            <a:ext cx="2176272" cy="207749"/>
          </a:xfrm>
          <a:prstGeom prst="rect">
            <a:avLst/>
          </a:prstGeom>
          <a:noFill/>
        </p:spPr>
        <p:txBody>
          <a:bodyPr wrap="square">
            <a:spAutoFit/>
          </a:bodyPr>
          <a:lstStyle/>
          <a:p>
            <a:pPr algn="l"/>
            <a:r>
              <a:rPr sz="750" b="0" i="0">
                <a:solidFill>
                  <a:srgbClr val="1F1F1F"/>
                </a:solidFill>
                <a:latin typeface="Times New Roman" panose="02020603050405020304" pitchFamily="18" charset="0"/>
                <a:cs typeface="Times New Roman" panose="02020603050405020304" pitchFamily="18" charset="0"/>
              </a:rPr>
              <a:t>WMT's defensive low-beta profile.</a:t>
            </a:r>
          </a:p>
        </p:txBody>
      </p:sp>
      <p:sp>
        <p:nvSpPr>
          <p:cNvPr id="182" name="TextBox 181"/>
          <p:cNvSpPr txBox="1"/>
          <p:nvPr/>
        </p:nvSpPr>
        <p:spPr>
          <a:xfrm>
            <a:off x="2724912" y="6217920"/>
            <a:ext cx="2176272" cy="207749"/>
          </a:xfrm>
          <a:prstGeom prst="rect">
            <a:avLst/>
          </a:prstGeom>
          <a:noFill/>
        </p:spPr>
        <p:txBody>
          <a:bodyPr wrap="square">
            <a:spAutoFit/>
          </a:bodyPr>
          <a:lstStyle/>
          <a:p>
            <a:pPr algn="l"/>
            <a:r>
              <a:rPr sz="750" b="0" i="0">
                <a:solidFill>
                  <a:srgbClr val="1F1F1F"/>
                </a:solidFill>
                <a:latin typeface="Times New Roman" panose="02020603050405020304" pitchFamily="18" charset="0"/>
                <a:cs typeface="Times New Roman" panose="02020603050405020304" pitchFamily="18" charset="0"/>
              </a:rPr>
              <a:t>Model P0 directionally supportive</a:t>
            </a:r>
          </a:p>
        </p:txBody>
      </p:sp>
      <p:sp>
        <p:nvSpPr>
          <p:cNvPr id="183" name="TextBox 182"/>
          <p:cNvSpPr txBox="1"/>
          <p:nvPr/>
        </p:nvSpPr>
        <p:spPr>
          <a:xfrm>
            <a:off x="2724912" y="6387084"/>
            <a:ext cx="2176272" cy="207749"/>
          </a:xfrm>
          <a:prstGeom prst="rect">
            <a:avLst/>
          </a:prstGeom>
          <a:noFill/>
        </p:spPr>
        <p:txBody>
          <a:bodyPr wrap="square">
            <a:spAutoFit/>
          </a:bodyPr>
          <a:lstStyle/>
          <a:p>
            <a:pPr algn="l"/>
            <a:r>
              <a:rPr sz="750" b="0" i="0">
                <a:solidFill>
                  <a:srgbClr val="1F1F1F"/>
                </a:solidFill>
                <a:latin typeface="Times New Roman" panose="02020603050405020304" pitchFamily="18" charset="0"/>
                <a:cs typeface="Times New Roman" panose="02020603050405020304" pitchFamily="18" charset="0"/>
              </a:rPr>
              <a:t>but not used as primary estimate.</a:t>
            </a:r>
          </a:p>
        </p:txBody>
      </p:sp>
      <p:sp>
        <p:nvSpPr>
          <p:cNvPr id="184" name="TextBox 183"/>
          <p:cNvSpPr txBox="1"/>
          <p:nvPr/>
        </p:nvSpPr>
        <p:spPr>
          <a:xfrm>
            <a:off x="2724912" y="6556248"/>
            <a:ext cx="2176272" cy="369332"/>
          </a:xfrm>
          <a:prstGeom prst="rect">
            <a:avLst/>
          </a:prstGeom>
          <a:noFill/>
        </p:spPr>
        <p:txBody>
          <a:bodyPr wrap="square">
            <a:spAutoFit/>
          </a:bodyPr>
          <a:lstStyle/>
          <a:p>
            <a:pPr algn="l"/>
            <a:endParaRPr>
              <a:latin typeface="Times New Roman" panose="02020603050405020304" pitchFamily="18" charset="0"/>
              <a:cs typeface="Times New Roman" panose="02020603050405020304" pitchFamily="18" charset="0"/>
            </a:endParaRPr>
          </a:p>
        </p:txBody>
      </p:sp>
      <p:sp>
        <p:nvSpPr>
          <p:cNvPr id="185" name="TextBox 184"/>
          <p:cNvSpPr txBox="1"/>
          <p:nvPr/>
        </p:nvSpPr>
        <p:spPr>
          <a:xfrm>
            <a:off x="2706624" y="6524995"/>
            <a:ext cx="2176272" cy="207749"/>
          </a:xfrm>
          <a:prstGeom prst="rect">
            <a:avLst/>
          </a:prstGeom>
          <a:noFill/>
        </p:spPr>
        <p:txBody>
          <a:bodyPr wrap="square">
            <a:spAutoFit/>
          </a:bodyPr>
          <a:lstStyle/>
          <a:p>
            <a:pPr algn="l"/>
            <a:r>
              <a:rPr sz="750" b="0" i="0" dirty="0">
                <a:solidFill>
                  <a:srgbClr val="1F1F1F"/>
                </a:solidFill>
                <a:latin typeface="Times New Roman" panose="02020603050405020304" pitchFamily="18" charset="0"/>
                <a:cs typeface="Times New Roman" panose="02020603050405020304" pitchFamily="18" charset="0"/>
              </a:rPr>
              <a:t>Supplementary input only.</a:t>
            </a:r>
          </a:p>
        </p:txBody>
      </p:sp>
      <p:sp>
        <p:nvSpPr>
          <p:cNvPr id="186" name="Rectangle 185"/>
          <p:cNvSpPr/>
          <p:nvPr/>
        </p:nvSpPr>
        <p:spPr>
          <a:xfrm>
            <a:off x="5120640" y="4251960"/>
            <a:ext cx="2468880" cy="2468880"/>
          </a:xfrm>
          <a:prstGeom prst="rect">
            <a:avLst/>
          </a:prstGeom>
          <a:solidFill>
            <a:srgbClr val="FFF8E0"/>
          </a:solidFill>
          <a:ln w="12700">
            <a:solidFill>
              <a:srgbClr val="FFC22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87" name="TextBox 186"/>
          <p:cNvSpPr txBox="1"/>
          <p:nvPr/>
        </p:nvSpPr>
        <p:spPr>
          <a:xfrm>
            <a:off x="5193792" y="4297680"/>
            <a:ext cx="2304288" cy="223138"/>
          </a:xfrm>
          <a:prstGeom prst="rect">
            <a:avLst/>
          </a:prstGeom>
          <a:noFill/>
        </p:spPr>
        <p:txBody>
          <a:bodyPr wrap="square">
            <a:spAutoFit/>
          </a:bodyPr>
          <a:lstStyle/>
          <a:p>
            <a:pPr algn="l"/>
            <a:r>
              <a:rPr sz="850" b="1" i="0">
                <a:solidFill>
                  <a:srgbClr val="A07A00"/>
                </a:solidFill>
                <a:latin typeface="Times New Roman" panose="02020603050405020304" pitchFamily="18" charset="0"/>
                <a:cs typeface="Times New Roman" panose="02020603050405020304" pitchFamily="18" charset="0"/>
              </a:rPr>
              <a:t>Market Multipliers (Comps)</a:t>
            </a:r>
          </a:p>
        </p:txBody>
      </p:sp>
      <p:sp>
        <p:nvSpPr>
          <p:cNvPr id="188" name="TextBox 187"/>
          <p:cNvSpPr txBox="1"/>
          <p:nvPr/>
        </p:nvSpPr>
        <p:spPr>
          <a:xfrm>
            <a:off x="5193792" y="4526280"/>
            <a:ext cx="2304288" cy="207749"/>
          </a:xfrm>
          <a:prstGeom prst="rect">
            <a:avLst/>
          </a:prstGeom>
          <a:noFill/>
        </p:spPr>
        <p:txBody>
          <a:bodyPr wrap="square">
            <a:spAutoFit/>
          </a:bodyPr>
          <a:lstStyle/>
          <a:p>
            <a:pPr algn="l"/>
            <a:r>
              <a:rPr sz="750" b="0" i="0">
                <a:solidFill>
                  <a:srgbClr val="1F1F1F"/>
                </a:solidFill>
                <a:latin typeface="Times New Roman" panose="02020603050405020304" pitchFamily="18" charset="0"/>
                <a:cs typeface="Times New Roman" panose="02020603050405020304" pitchFamily="18" charset="0"/>
              </a:rPr>
              <a:t>Comp Set: TGT, COST, AMZN</a:t>
            </a:r>
          </a:p>
        </p:txBody>
      </p:sp>
      <p:sp>
        <p:nvSpPr>
          <p:cNvPr id="189" name="TextBox 188"/>
          <p:cNvSpPr txBox="1"/>
          <p:nvPr/>
        </p:nvSpPr>
        <p:spPr>
          <a:xfrm>
            <a:off x="5193792" y="4695444"/>
            <a:ext cx="2304288" cy="369332"/>
          </a:xfrm>
          <a:prstGeom prst="rect">
            <a:avLst/>
          </a:prstGeom>
          <a:noFill/>
        </p:spPr>
        <p:txBody>
          <a:bodyPr wrap="square">
            <a:spAutoFit/>
          </a:bodyPr>
          <a:lstStyle/>
          <a:p>
            <a:pPr algn="l"/>
            <a:endParaRPr>
              <a:latin typeface="Times New Roman" panose="02020603050405020304" pitchFamily="18" charset="0"/>
              <a:cs typeface="Times New Roman" panose="02020603050405020304" pitchFamily="18" charset="0"/>
            </a:endParaRPr>
          </a:p>
        </p:txBody>
      </p:sp>
      <p:sp>
        <p:nvSpPr>
          <p:cNvPr id="190" name="TextBox 189"/>
          <p:cNvSpPr txBox="1"/>
          <p:nvPr/>
        </p:nvSpPr>
        <p:spPr>
          <a:xfrm>
            <a:off x="5193792" y="4864608"/>
            <a:ext cx="2304288" cy="207749"/>
          </a:xfrm>
          <a:prstGeom prst="rect">
            <a:avLst/>
          </a:prstGeom>
          <a:noFill/>
        </p:spPr>
        <p:txBody>
          <a:bodyPr wrap="square">
            <a:spAutoFit/>
          </a:bodyPr>
          <a:lstStyle/>
          <a:p>
            <a:pPr algn="l"/>
            <a:r>
              <a:rPr sz="750" b="0" i="0">
                <a:solidFill>
                  <a:srgbClr val="1F1F1F"/>
                </a:solidFill>
                <a:latin typeface="Times New Roman" panose="02020603050405020304" pitchFamily="18" charset="0"/>
                <a:cs typeface="Times New Roman" panose="02020603050405020304" pitchFamily="18" charset="0"/>
              </a:rPr>
              <a:t>P/B:      $110.38  (8.83x × $12.50 BVPS)</a:t>
            </a:r>
          </a:p>
        </p:txBody>
      </p:sp>
      <p:sp>
        <p:nvSpPr>
          <p:cNvPr id="191" name="TextBox 190"/>
          <p:cNvSpPr txBox="1"/>
          <p:nvPr/>
        </p:nvSpPr>
        <p:spPr>
          <a:xfrm>
            <a:off x="5193792" y="5033772"/>
            <a:ext cx="2304288" cy="207749"/>
          </a:xfrm>
          <a:prstGeom prst="rect">
            <a:avLst/>
          </a:prstGeom>
          <a:noFill/>
        </p:spPr>
        <p:txBody>
          <a:bodyPr wrap="square">
            <a:spAutoFit/>
          </a:bodyPr>
          <a:lstStyle/>
          <a:p>
            <a:pPr algn="l"/>
            <a:r>
              <a:rPr sz="750" b="0" i="0">
                <a:solidFill>
                  <a:srgbClr val="1F1F1F"/>
                </a:solidFill>
                <a:latin typeface="Times New Roman" panose="02020603050405020304" pitchFamily="18" charset="0"/>
                <a:cs typeface="Times New Roman" panose="02020603050405020304" pitchFamily="18" charset="0"/>
              </a:rPr>
              <a:t>P/Sales:  $70.90   (0.80x × $88.63)</a:t>
            </a:r>
          </a:p>
        </p:txBody>
      </p:sp>
      <p:sp>
        <p:nvSpPr>
          <p:cNvPr id="192" name="TextBox 191"/>
          <p:cNvSpPr txBox="1"/>
          <p:nvPr/>
        </p:nvSpPr>
        <p:spPr>
          <a:xfrm>
            <a:off x="5193792" y="5202936"/>
            <a:ext cx="2304288" cy="207749"/>
          </a:xfrm>
          <a:prstGeom prst="rect">
            <a:avLst/>
          </a:prstGeom>
          <a:noFill/>
        </p:spPr>
        <p:txBody>
          <a:bodyPr wrap="square">
            <a:spAutoFit/>
          </a:bodyPr>
          <a:lstStyle/>
          <a:p>
            <a:pPr algn="l"/>
            <a:r>
              <a:rPr sz="750" b="0" i="0">
                <a:solidFill>
                  <a:srgbClr val="1F1F1F"/>
                </a:solidFill>
                <a:latin typeface="Times New Roman" panose="02020603050405020304" pitchFamily="18" charset="0"/>
                <a:cs typeface="Times New Roman" panose="02020603050405020304" pitchFamily="18" charset="0"/>
              </a:rPr>
              <a:t>P/EPS:    $92.82   (34x × $2.73 EPS)</a:t>
            </a:r>
          </a:p>
        </p:txBody>
      </p:sp>
      <p:sp>
        <p:nvSpPr>
          <p:cNvPr id="193" name="TextBox 192"/>
          <p:cNvSpPr txBox="1"/>
          <p:nvPr/>
        </p:nvSpPr>
        <p:spPr>
          <a:xfrm>
            <a:off x="5193792" y="5372100"/>
            <a:ext cx="2304288" cy="207749"/>
          </a:xfrm>
          <a:prstGeom prst="rect">
            <a:avLst/>
          </a:prstGeom>
          <a:noFill/>
        </p:spPr>
        <p:txBody>
          <a:bodyPr wrap="square">
            <a:spAutoFit/>
          </a:bodyPr>
          <a:lstStyle/>
          <a:p>
            <a:pPr algn="l"/>
            <a:r>
              <a:rPr sz="750" b="0" i="0">
                <a:solidFill>
                  <a:srgbClr val="1F1F1F"/>
                </a:solidFill>
                <a:latin typeface="Times New Roman" panose="02020603050405020304" pitchFamily="18" charset="0"/>
                <a:cs typeface="Times New Roman" panose="02020603050405020304" pitchFamily="18" charset="0"/>
              </a:rPr>
              <a:t>P/FCF:    $67.32   (36x × $1.87)</a:t>
            </a:r>
          </a:p>
        </p:txBody>
      </p:sp>
      <p:sp>
        <p:nvSpPr>
          <p:cNvPr id="194" name="TextBox 193"/>
          <p:cNvSpPr txBox="1"/>
          <p:nvPr/>
        </p:nvSpPr>
        <p:spPr>
          <a:xfrm>
            <a:off x="5193792" y="5541264"/>
            <a:ext cx="2304288" cy="207749"/>
          </a:xfrm>
          <a:prstGeom prst="rect">
            <a:avLst/>
          </a:prstGeom>
          <a:noFill/>
        </p:spPr>
        <p:txBody>
          <a:bodyPr wrap="square">
            <a:spAutoFit/>
          </a:bodyPr>
          <a:lstStyle/>
          <a:p>
            <a:pPr algn="l"/>
            <a:r>
              <a:rPr sz="750" b="0" i="0">
                <a:solidFill>
                  <a:srgbClr val="1F1F1F"/>
                </a:solidFill>
                <a:latin typeface="Times New Roman" panose="02020603050405020304" pitchFamily="18" charset="0"/>
                <a:cs typeface="Times New Roman" panose="02020603050405020304" pitchFamily="18" charset="0"/>
              </a:rPr>
              <a:t>P/EBITDA: $104.88  (19x × $5.52)</a:t>
            </a:r>
          </a:p>
        </p:txBody>
      </p:sp>
      <p:sp>
        <p:nvSpPr>
          <p:cNvPr id="195" name="TextBox 194"/>
          <p:cNvSpPr txBox="1"/>
          <p:nvPr/>
        </p:nvSpPr>
        <p:spPr>
          <a:xfrm>
            <a:off x="5193792" y="5710428"/>
            <a:ext cx="2304288" cy="369332"/>
          </a:xfrm>
          <a:prstGeom prst="rect">
            <a:avLst/>
          </a:prstGeom>
          <a:noFill/>
        </p:spPr>
        <p:txBody>
          <a:bodyPr wrap="square">
            <a:spAutoFit/>
          </a:bodyPr>
          <a:lstStyle/>
          <a:p>
            <a:pPr algn="l"/>
            <a:endParaRPr>
              <a:latin typeface="Times New Roman" panose="02020603050405020304" pitchFamily="18" charset="0"/>
              <a:cs typeface="Times New Roman" panose="02020603050405020304" pitchFamily="18" charset="0"/>
            </a:endParaRPr>
          </a:p>
        </p:txBody>
      </p:sp>
      <p:sp>
        <p:nvSpPr>
          <p:cNvPr id="196" name="TextBox 195"/>
          <p:cNvSpPr txBox="1"/>
          <p:nvPr/>
        </p:nvSpPr>
        <p:spPr>
          <a:xfrm>
            <a:off x="5193792" y="5879592"/>
            <a:ext cx="2304288" cy="207749"/>
          </a:xfrm>
          <a:prstGeom prst="rect">
            <a:avLst/>
          </a:prstGeom>
          <a:noFill/>
        </p:spPr>
        <p:txBody>
          <a:bodyPr wrap="square">
            <a:spAutoFit/>
          </a:bodyPr>
          <a:lstStyle/>
          <a:p>
            <a:pPr algn="l"/>
            <a:r>
              <a:rPr sz="750" b="1" i="0">
                <a:solidFill>
                  <a:srgbClr val="A07A00"/>
                </a:solidFill>
                <a:latin typeface="Times New Roman" panose="02020603050405020304" pitchFamily="18" charset="0"/>
                <a:cs typeface="Times New Roman" panose="02020603050405020304" pitchFamily="18" charset="0"/>
              </a:rPr>
              <a:t>Adj. Average: $102.69</a:t>
            </a:r>
          </a:p>
        </p:txBody>
      </p:sp>
      <p:sp>
        <p:nvSpPr>
          <p:cNvPr id="197" name="TextBox 196"/>
          <p:cNvSpPr txBox="1"/>
          <p:nvPr/>
        </p:nvSpPr>
        <p:spPr>
          <a:xfrm>
            <a:off x="5193792" y="6048756"/>
            <a:ext cx="2304288" cy="207749"/>
          </a:xfrm>
          <a:prstGeom prst="rect">
            <a:avLst/>
          </a:prstGeom>
          <a:noFill/>
        </p:spPr>
        <p:txBody>
          <a:bodyPr wrap="square">
            <a:spAutoFit/>
          </a:bodyPr>
          <a:lstStyle/>
          <a:p>
            <a:pPr algn="l"/>
            <a:r>
              <a:rPr sz="750" b="0" i="0">
                <a:solidFill>
                  <a:srgbClr val="1F1F1F"/>
                </a:solidFill>
                <a:latin typeface="Times New Roman" panose="02020603050405020304" pitchFamily="18" charset="0"/>
                <a:cs typeface="Times New Roman" panose="02020603050405020304" pitchFamily="18" charset="0"/>
              </a:rPr>
              <a:t>(Excl. P/Sales AMZN distortion</a:t>
            </a:r>
          </a:p>
        </p:txBody>
      </p:sp>
      <p:sp>
        <p:nvSpPr>
          <p:cNvPr id="198" name="TextBox 197"/>
          <p:cNvSpPr txBox="1"/>
          <p:nvPr/>
        </p:nvSpPr>
        <p:spPr>
          <a:xfrm>
            <a:off x="5193792" y="6217920"/>
            <a:ext cx="2304288" cy="207749"/>
          </a:xfrm>
          <a:prstGeom prst="rect">
            <a:avLst/>
          </a:prstGeom>
          <a:noFill/>
        </p:spPr>
        <p:txBody>
          <a:bodyPr wrap="square">
            <a:spAutoFit/>
          </a:bodyPr>
          <a:lstStyle/>
          <a:p>
            <a:pPr algn="l"/>
            <a:r>
              <a:rPr sz="750" b="0" i="0">
                <a:solidFill>
                  <a:srgbClr val="1F1F1F"/>
                </a:solidFill>
                <a:latin typeface="Times New Roman" panose="02020603050405020304" pitchFamily="18" charset="0"/>
                <a:cs typeface="Times New Roman" panose="02020603050405020304" pitchFamily="18" charset="0"/>
              </a:rPr>
              <a:t>and P/FCF — least relevant for</a:t>
            </a:r>
          </a:p>
        </p:txBody>
      </p:sp>
      <p:sp>
        <p:nvSpPr>
          <p:cNvPr id="199" name="TextBox 198"/>
          <p:cNvSpPr txBox="1"/>
          <p:nvPr/>
        </p:nvSpPr>
        <p:spPr>
          <a:xfrm>
            <a:off x="5193792" y="6387084"/>
            <a:ext cx="2304288" cy="207749"/>
          </a:xfrm>
          <a:prstGeom prst="rect">
            <a:avLst/>
          </a:prstGeom>
          <a:noFill/>
        </p:spPr>
        <p:txBody>
          <a:bodyPr wrap="square">
            <a:spAutoFit/>
          </a:bodyPr>
          <a:lstStyle/>
          <a:p>
            <a:pPr algn="l"/>
            <a:r>
              <a:rPr sz="750" b="0" i="0">
                <a:solidFill>
                  <a:srgbClr val="1F1F1F"/>
                </a:solidFill>
                <a:latin typeface="Times New Roman" panose="02020603050405020304" pitchFamily="18" charset="0"/>
                <a:cs typeface="Times New Roman" panose="02020603050405020304" pitchFamily="18" charset="0"/>
              </a:rPr>
              <a:t>a high-capex retailer)</a:t>
            </a:r>
          </a:p>
        </p:txBody>
      </p:sp>
      <p:sp>
        <p:nvSpPr>
          <p:cNvPr id="200" name="Rectangle 199"/>
          <p:cNvSpPr/>
          <p:nvPr/>
        </p:nvSpPr>
        <p:spPr>
          <a:xfrm>
            <a:off x="182880" y="6812280"/>
            <a:ext cx="3200400" cy="201168"/>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01" name="TextBox 200"/>
          <p:cNvSpPr txBox="1"/>
          <p:nvPr/>
        </p:nvSpPr>
        <p:spPr>
          <a:xfrm>
            <a:off x="237744" y="6830568"/>
            <a:ext cx="3090672" cy="207749"/>
          </a:xfrm>
          <a:prstGeom prst="rect">
            <a:avLst/>
          </a:prstGeom>
          <a:noFill/>
        </p:spPr>
        <p:txBody>
          <a:bodyPr wrap="square">
            <a:spAutoFit/>
          </a:bodyPr>
          <a:lstStyle/>
          <a:p>
            <a:pPr algn="l"/>
            <a:r>
              <a:rPr sz="750" b="1" i="0">
                <a:solidFill>
                  <a:srgbClr val="FFFFFF"/>
                </a:solidFill>
                <a:latin typeface="Times New Roman" panose="02020603050405020304" pitchFamily="18" charset="0"/>
                <a:cs typeface="Times New Roman" panose="02020603050405020304" pitchFamily="18" charset="0"/>
              </a:rPr>
              <a:t>FIGURE 8: VALUATION SUMMARY VS. CURRENT PRICE</a:t>
            </a:r>
          </a:p>
        </p:txBody>
      </p:sp>
      <p:pic>
        <p:nvPicPr>
          <p:cNvPr id="202" name="Picture 201" descr="image.png"/>
          <p:cNvPicPr>
            <a:picLocks noChangeAspect="1"/>
          </p:cNvPicPr>
          <p:nvPr/>
        </p:nvPicPr>
        <p:blipFill>
          <a:blip r:embed="rId2"/>
          <a:stretch>
            <a:fillRect/>
          </a:stretch>
        </p:blipFill>
        <p:spPr>
          <a:xfrm>
            <a:off x="182880" y="7040880"/>
            <a:ext cx="3840480" cy="2148840"/>
          </a:xfrm>
          <a:prstGeom prst="rect">
            <a:avLst/>
          </a:prstGeom>
        </p:spPr>
      </p:pic>
      <p:sp>
        <p:nvSpPr>
          <p:cNvPr id="203" name="Rectangle 202"/>
          <p:cNvSpPr/>
          <p:nvPr/>
        </p:nvSpPr>
        <p:spPr>
          <a:xfrm>
            <a:off x="4160520" y="6812280"/>
            <a:ext cx="2560320" cy="201168"/>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04" name="TextBox 203"/>
          <p:cNvSpPr txBox="1"/>
          <p:nvPr/>
        </p:nvSpPr>
        <p:spPr>
          <a:xfrm>
            <a:off x="4215384" y="6830568"/>
            <a:ext cx="2450592" cy="207749"/>
          </a:xfrm>
          <a:prstGeom prst="rect">
            <a:avLst/>
          </a:prstGeom>
          <a:noFill/>
        </p:spPr>
        <p:txBody>
          <a:bodyPr wrap="square">
            <a:spAutoFit/>
          </a:bodyPr>
          <a:lstStyle/>
          <a:p>
            <a:pPr algn="l"/>
            <a:r>
              <a:rPr sz="750" b="1" i="0">
                <a:solidFill>
                  <a:srgbClr val="FFFFFF"/>
                </a:solidFill>
                <a:latin typeface="Times New Roman" panose="02020603050405020304" pitchFamily="18" charset="0"/>
                <a:cs typeface="Times New Roman" panose="02020603050405020304" pitchFamily="18" charset="0"/>
              </a:rPr>
              <a:t>PRICE TARGET DERIVATION</a:t>
            </a:r>
          </a:p>
        </p:txBody>
      </p:sp>
      <p:sp>
        <p:nvSpPr>
          <p:cNvPr id="205" name="TextBox 204"/>
          <p:cNvSpPr txBox="1"/>
          <p:nvPr/>
        </p:nvSpPr>
        <p:spPr>
          <a:xfrm>
            <a:off x="4160520" y="7040880"/>
            <a:ext cx="3429000" cy="2012859"/>
          </a:xfrm>
          <a:prstGeom prst="rect">
            <a:avLst/>
          </a:prstGeom>
          <a:noFill/>
        </p:spPr>
        <p:txBody>
          <a:bodyPr wrap="square">
            <a:spAutoFit/>
          </a:bodyPr>
          <a:lstStyle/>
          <a:p>
            <a:pPr algn="l"/>
            <a:r>
              <a:rPr sz="780" b="0" i="0">
                <a:solidFill>
                  <a:srgbClr val="1F1F1F"/>
                </a:solidFill>
                <a:latin typeface="Times New Roman" panose="02020603050405020304" pitchFamily="18" charset="0"/>
                <a:cs typeface="Times New Roman" panose="02020603050405020304" pitchFamily="18" charset="0"/>
              </a:rPr>
              <a:t>Our 12-month price target of $140.00 is derived from a blended analysis of three methodologies, with primary weight on forward earnings and enterprise value approaches. A forward P/E of 49x applied to our FY27E GAAP EPS estimate of $2.87 yields $140.63. This multiple reflects WMT's premium re-rating driven by advertising monetization and e-commerce growth, consistent with WMT's 5-year average forward P/E of approximately 48-50x. An EV/EBITDA approach using 25x on FY27E EBITDA of $46.2 billion yields an implied equity value of $140.65 per share. Our market multipliers composite of $102.69 reflects the average of peer-based multiples.
The Free Cash Flow Model uses a beta-adjusted WACC of 6.50%, derived from WMT's 5-year beta of approximately 0.50 (cost of equity: 4.30% + 0.50×5.0% = 6.80%; blended with after-tax debt cost). The FCFM intrinsic value of $48.84 reflects WMT's characteristically thin FCF margins (1.87% wtd. avg) typical of large-format retail — it serves as a floor, with primary valuation driven by forward earnings multiples.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7772400" cy="502920"/>
          </a:xfrm>
          <a:prstGeom prst="rect">
            <a:avLst/>
          </a:prstGeom>
          <a:solidFill>
            <a:srgbClr val="1F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TextBox 2"/>
          <p:cNvSpPr txBox="1"/>
          <p:nvPr/>
        </p:nvSpPr>
        <p:spPr>
          <a:xfrm>
            <a:off x="164592" y="64008"/>
            <a:ext cx="3200400" cy="246221"/>
          </a:xfrm>
          <a:prstGeom prst="rect">
            <a:avLst/>
          </a:prstGeom>
          <a:noFill/>
        </p:spPr>
        <p:txBody>
          <a:bodyPr wrap="square">
            <a:spAutoFit/>
          </a:bodyPr>
          <a:lstStyle/>
          <a:p>
            <a:pPr algn="l"/>
            <a:r>
              <a:rPr sz="1000" b="1" i="0">
                <a:solidFill>
                  <a:srgbClr val="FFFFFF"/>
                </a:solidFill>
                <a:latin typeface="Times New Roman" panose="02020603050405020304" pitchFamily="18" charset="0"/>
                <a:cs typeface="Times New Roman" panose="02020603050405020304" pitchFamily="18" charset="0"/>
              </a:rPr>
              <a:t>WMT  |  EQUITY RESEARCH</a:t>
            </a:r>
          </a:p>
        </p:txBody>
      </p:sp>
      <p:sp>
        <p:nvSpPr>
          <p:cNvPr id="4" name="TextBox 3"/>
          <p:cNvSpPr txBox="1"/>
          <p:nvPr/>
        </p:nvSpPr>
        <p:spPr>
          <a:xfrm>
            <a:off x="2286000" y="64008"/>
            <a:ext cx="4114800" cy="261610"/>
          </a:xfrm>
          <a:prstGeom prst="rect">
            <a:avLst/>
          </a:prstGeom>
          <a:noFill/>
        </p:spPr>
        <p:txBody>
          <a:bodyPr wrap="square">
            <a:spAutoFit/>
          </a:bodyPr>
          <a:lstStyle/>
          <a:p>
            <a:pPr algn="ctr"/>
            <a:r>
              <a:rPr sz="1100" b="1" i="0">
                <a:solidFill>
                  <a:srgbClr val="0071CE"/>
                </a:solidFill>
                <a:latin typeface="Times New Roman" panose="02020603050405020304" pitchFamily="18" charset="0"/>
                <a:cs typeface="Times New Roman" panose="02020603050405020304" pitchFamily="18" charset="0"/>
              </a:rPr>
              <a:t>INVESTMENT RISKS</a:t>
            </a:r>
          </a:p>
        </p:txBody>
      </p:sp>
      <p:sp>
        <p:nvSpPr>
          <p:cNvPr id="5" name="TextBox 4"/>
          <p:cNvSpPr txBox="1"/>
          <p:nvPr/>
        </p:nvSpPr>
        <p:spPr>
          <a:xfrm>
            <a:off x="5669280" y="64008"/>
            <a:ext cx="1920240" cy="223138"/>
          </a:xfrm>
          <a:prstGeom prst="rect">
            <a:avLst/>
          </a:prstGeom>
          <a:noFill/>
        </p:spPr>
        <p:txBody>
          <a:bodyPr wrap="square">
            <a:spAutoFit/>
          </a:bodyPr>
          <a:lstStyle/>
          <a:p>
            <a:pPr algn="r"/>
            <a:r>
              <a:rPr sz="850" b="0" i="0">
                <a:solidFill>
                  <a:srgbClr val="FFFFFF"/>
                </a:solidFill>
                <a:latin typeface="Times New Roman" panose="02020603050405020304" pitchFamily="18" charset="0"/>
                <a:cs typeface="Times New Roman" panose="02020603050405020304" pitchFamily="18" charset="0"/>
              </a:rPr>
              <a:t>April 2026  |  FIN 431</a:t>
            </a:r>
          </a:p>
        </p:txBody>
      </p:sp>
      <p:sp>
        <p:nvSpPr>
          <p:cNvPr id="6" name="Rectangle 5"/>
          <p:cNvSpPr/>
          <p:nvPr/>
        </p:nvSpPr>
        <p:spPr>
          <a:xfrm>
            <a:off x="0" y="502920"/>
            <a:ext cx="7772400" cy="36576"/>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 name="Rectangle 6"/>
          <p:cNvSpPr/>
          <p:nvPr/>
        </p:nvSpPr>
        <p:spPr>
          <a:xfrm>
            <a:off x="0" y="9802368"/>
            <a:ext cx="7772400" cy="256032"/>
          </a:xfrm>
          <a:prstGeom prst="rect">
            <a:avLst/>
          </a:prstGeom>
          <a:solidFill>
            <a:srgbClr val="1F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8" name="TextBox 7"/>
          <p:cNvSpPr txBox="1"/>
          <p:nvPr/>
        </p:nvSpPr>
        <p:spPr>
          <a:xfrm>
            <a:off x="164592" y="9811512"/>
            <a:ext cx="5943600" cy="200055"/>
          </a:xfrm>
          <a:prstGeom prst="rect">
            <a:avLst/>
          </a:prstGeom>
          <a:noFill/>
        </p:spPr>
        <p:txBody>
          <a:bodyPr wrap="square">
            <a:spAutoFit/>
          </a:bodyPr>
          <a:lstStyle/>
          <a:p>
            <a:pPr algn="l"/>
            <a:r>
              <a:rPr sz="700" b="0" i="0">
                <a:solidFill>
                  <a:srgbClr val="BBBBBB"/>
                </a:solidFill>
                <a:latin typeface="Times New Roman" panose="02020603050405020304" pitchFamily="18" charset="0"/>
                <a:cs typeface="Times New Roman" panose="02020603050405020304" pitchFamily="18" charset="0"/>
              </a:rPr>
              <a:t>Walmart Inc. (WMT)  |  Equity Research  |  FIN 431  |  Portfolio Analysis</a:t>
            </a:r>
          </a:p>
        </p:txBody>
      </p:sp>
      <p:sp>
        <p:nvSpPr>
          <p:cNvPr id="9" name="TextBox 8"/>
          <p:cNvSpPr txBox="1"/>
          <p:nvPr/>
        </p:nvSpPr>
        <p:spPr>
          <a:xfrm>
            <a:off x="7132320" y="9811512"/>
            <a:ext cx="502920" cy="200055"/>
          </a:xfrm>
          <a:prstGeom prst="rect">
            <a:avLst/>
          </a:prstGeom>
          <a:noFill/>
        </p:spPr>
        <p:txBody>
          <a:bodyPr wrap="square">
            <a:spAutoFit/>
          </a:bodyPr>
          <a:lstStyle/>
          <a:p>
            <a:pPr algn="r"/>
            <a:r>
              <a:rPr sz="700" b="0" i="0">
                <a:solidFill>
                  <a:srgbClr val="BBBBBB"/>
                </a:solidFill>
                <a:latin typeface="Times New Roman" panose="02020603050405020304" pitchFamily="18" charset="0"/>
                <a:cs typeface="Times New Roman" panose="02020603050405020304" pitchFamily="18" charset="0"/>
              </a:rPr>
              <a:t>Page 4</a:t>
            </a:r>
          </a:p>
        </p:txBody>
      </p:sp>
      <p:sp>
        <p:nvSpPr>
          <p:cNvPr id="10" name="Rectangle 9"/>
          <p:cNvSpPr/>
          <p:nvPr/>
        </p:nvSpPr>
        <p:spPr>
          <a:xfrm>
            <a:off x="182880" y="621792"/>
            <a:ext cx="2286000" cy="201168"/>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1" name="TextBox 10"/>
          <p:cNvSpPr txBox="1"/>
          <p:nvPr/>
        </p:nvSpPr>
        <p:spPr>
          <a:xfrm>
            <a:off x="237744" y="640080"/>
            <a:ext cx="2176272" cy="207749"/>
          </a:xfrm>
          <a:prstGeom prst="rect">
            <a:avLst/>
          </a:prstGeom>
          <a:noFill/>
        </p:spPr>
        <p:txBody>
          <a:bodyPr wrap="square">
            <a:spAutoFit/>
          </a:bodyPr>
          <a:lstStyle/>
          <a:p>
            <a:pPr algn="l"/>
            <a:r>
              <a:rPr sz="750" b="1" i="0">
                <a:solidFill>
                  <a:srgbClr val="FFFFFF"/>
                </a:solidFill>
                <a:latin typeface="Times New Roman" panose="02020603050405020304" pitchFamily="18" charset="0"/>
                <a:cs typeface="Times New Roman" panose="02020603050405020304" pitchFamily="18" charset="0"/>
              </a:rPr>
              <a:t>RISK FACTOR ANALYSIS</a:t>
            </a:r>
          </a:p>
        </p:txBody>
      </p:sp>
      <p:sp>
        <p:nvSpPr>
          <p:cNvPr id="12" name="TextBox 11"/>
          <p:cNvSpPr txBox="1"/>
          <p:nvPr/>
        </p:nvSpPr>
        <p:spPr>
          <a:xfrm>
            <a:off x="182880" y="850392"/>
            <a:ext cx="7406640" cy="344453"/>
          </a:xfrm>
          <a:prstGeom prst="rect">
            <a:avLst/>
          </a:prstGeom>
          <a:noFill/>
        </p:spPr>
        <p:txBody>
          <a:bodyPr wrap="square">
            <a:spAutoFit/>
          </a:bodyPr>
          <a:lstStyle/>
          <a:p>
            <a:pPr algn="l"/>
            <a:r>
              <a:rPr sz="819" b="0" i="0">
                <a:solidFill>
                  <a:srgbClr val="1F1F1F"/>
                </a:solidFill>
                <a:latin typeface="Times New Roman" panose="02020603050405020304" pitchFamily="18" charset="0"/>
                <a:cs typeface="Times New Roman" panose="02020603050405020304" pitchFamily="18" charset="0"/>
              </a:rPr>
              <a:t>The following risk factors represent the primary considerations that could prevent Walmart from achieving our 12-month price target of $140.00. Each risk has been assessed for probability and potential magnitude of financial impact.</a:t>
            </a:r>
          </a:p>
        </p:txBody>
      </p:sp>
      <p:sp>
        <p:nvSpPr>
          <p:cNvPr id="13" name="Rectangle 12"/>
          <p:cNvSpPr/>
          <p:nvPr/>
        </p:nvSpPr>
        <p:spPr>
          <a:xfrm>
            <a:off x="182880" y="1307592"/>
            <a:ext cx="7406640" cy="219456"/>
          </a:xfrm>
          <a:prstGeom prst="rect">
            <a:avLst/>
          </a:prstGeom>
          <a:solidFill>
            <a:srgbClr val="1F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4" name="TextBox 13"/>
          <p:cNvSpPr txBox="1"/>
          <p:nvPr/>
        </p:nvSpPr>
        <p:spPr>
          <a:xfrm>
            <a:off x="256032" y="1325880"/>
            <a:ext cx="5029200" cy="223138"/>
          </a:xfrm>
          <a:prstGeom prst="rect">
            <a:avLst/>
          </a:prstGeom>
          <a:noFill/>
        </p:spPr>
        <p:txBody>
          <a:bodyPr wrap="square">
            <a:spAutoFit/>
          </a:bodyPr>
          <a:lstStyle/>
          <a:p>
            <a:pPr algn="l"/>
            <a:r>
              <a:rPr sz="850" b="1" i="0">
                <a:solidFill>
                  <a:srgbClr val="FFFFFF"/>
                </a:solidFill>
                <a:latin typeface="Times New Roman" panose="02020603050405020304" pitchFamily="18" charset="0"/>
                <a:cs typeface="Times New Roman" panose="02020603050405020304" pitchFamily="18" charset="0"/>
              </a:rPr>
              <a:t>Consumer Spending Slowdown and Tariff-Driven Cost Inflation</a:t>
            </a:r>
          </a:p>
        </p:txBody>
      </p:sp>
      <p:sp>
        <p:nvSpPr>
          <p:cNvPr id="15" name="Rectangle 14"/>
          <p:cNvSpPr/>
          <p:nvPr/>
        </p:nvSpPr>
        <p:spPr>
          <a:xfrm>
            <a:off x="5394960" y="1325880"/>
            <a:ext cx="2103120" cy="182880"/>
          </a:xfrm>
          <a:prstGeom prst="rect">
            <a:avLst/>
          </a:prstGeom>
          <a:solidFill>
            <a:srgbClr val="FF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6" name="TextBox 15"/>
          <p:cNvSpPr txBox="1"/>
          <p:nvPr/>
        </p:nvSpPr>
        <p:spPr>
          <a:xfrm>
            <a:off x="5413248" y="1335024"/>
            <a:ext cx="2066543" cy="196977"/>
          </a:xfrm>
          <a:prstGeom prst="rect">
            <a:avLst/>
          </a:prstGeom>
          <a:noFill/>
        </p:spPr>
        <p:txBody>
          <a:bodyPr wrap="square">
            <a:spAutoFit/>
          </a:bodyPr>
          <a:lstStyle/>
          <a:p>
            <a:pPr algn="ctr"/>
            <a:r>
              <a:rPr sz="680" b="1" i="0">
                <a:solidFill>
                  <a:srgbClr val="FFFFFF"/>
                </a:solidFill>
                <a:latin typeface="Times New Roman" panose="02020603050405020304" pitchFamily="18" charset="0"/>
                <a:cs typeface="Times New Roman" panose="02020603050405020304" pitchFamily="18" charset="0"/>
              </a:rPr>
              <a:t>MEDIUM PROBABILITY  |  MEDIUM IMPACT</a:t>
            </a:r>
          </a:p>
        </p:txBody>
      </p:sp>
      <p:sp>
        <p:nvSpPr>
          <p:cNvPr id="17" name="TextBox 16"/>
          <p:cNvSpPr txBox="1"/>
          <p:nvPr/>
        </p:nvSpPr>
        <p:spPr>
          <a:xfrm>
            <a:off x="256032" y="1554480"/>
            <a:ext cx="7260336" cy="1040285"/>
          </a:xfrm>
          <a:prstGeom prst="rect">
            <a:avLst/>
          </a:prstGeom>
          <a:noFill/>
        </p:spPr>
        <p:txBody>
          <a:bodyPr wrap="square">
            <a:spAutoFit/>
          </a:bodyPr>
          <a:lstStyle/>
          <a:p>
            <a:pPr algn="l"/>
            <a:r>
              <a:rPr sz="770" b="0" i="0">
                <a:solidFill>
                  <a:srgbClr val="1F1F1F"/>
                </a:solidFill>
                <a:latin typeface="Times New Roman" panose="02020603050405020304" pitchFamily="18" charset="0"/>
                <a:cs typeface="Times New Roman" panose="02020603050405020304" pitchFamily="18" charset="0"/>
              </a:rPr>
              <a:t>Walmart's core customer base is disproportionately exposed to macroeconomic pressure through grocery and consumables spending. While Walmart historically gains market share during downturns, a severe consumer spending contraction would reduce absolute basket size and transaction frequency. More specifically, the current tariff environment on imported consumer goods, particularly from China, creates a cost-of-goods headwind across apparel, electronics, and general merchandise that is difficult to fully pass through to consumers given Walmart's everyday low price commitment.
Management has indicated that Walmart is actively working with suppliers to absorb tariff impacts through renegotiated terms and supply chain diversification, but meaningful pass-through to the consumer is likely inevitable in certain categories. We estimate that a 10 percent increase in effective cost of goods on imported merchandise could reduce FY26E EBITDA by approximately $1.5 to $2.0 billion, implying a roughly 5 percent reduction in our price target.</a:t>
            </a:r>
          </a:p>
        </p:txBody>
      </p:sp>
      <p:sp>
        <p:nvSpPr>
          <p:cNvPr id="18" name="Rectangle 17"/>
          <p:cNvSpPr/>
          <p:nvPr/>
        </p:nvSpPr>
        <p:spPr>
          <a:xfrm>
            <a:off x="164592" y="2808584"/>
            <a:ext cx="7406640" cy="219456"/>
          </a:xfrm>
          <a:prstGeom prst="rect">
            <a:avLst/>
          </a:prstGeom>
          <a:solidFill>
            <a:srgbClr val="1F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9" name="TextBox 18"/>
          <p:cNvSpPr txBox="1"/>
          <p:nvPr/>
        </p:nvSpPr>
        <p:spPr>
          <a:xfrm>
            <a:off x="237744" y="2826872"/>
            <a:ext cx="5029200" cy="223138"/>
          </a:xfrm>
          <a:prstGeom prst="rect">
            <a:avLst/>
          </a:prstGeom>
          <a:noFill/>
        </p:spPr>
        <p:txBody>
          <a:bodyPr wrap="square">
            <a:spAutoFit/>
          </a:bodyPr>
          <a:lstStyle/>
          <a:p>
            <a:pPr algn="l"/>
            <a:r>
              <a:rPr sz="850" b="1" i="0">
                <a:solidFill>
                  <a:srgbClr val="FFFFFF"/>
                </a:solidFill>
                <a:latin typeface="Times New Roman" panose="02020603050405020304" pitchFamily="18" charset="0"/>
                <a:cs typeface="Times New Roman" panose="02020603050405020304" pitchFamily="18" charset="0"/>
              </a:rPr>
              <a:t>Amazon Competitive Pressure in Grocery and General Merchandise</a:t>
            </a:r>
          </a:p>
        </p:txBody>
      </p:sp>
      <p:sp>
        <p:nvSpPr>
          <p:cNvPr id="20" name="Rectangle 19"/>
          <p:cNvSpPr/>
          <p:nvPr/>
        </p:nvSpPr>
        <p:spPr>
          <a:xfrm>
            <a:off x="5376672" y="2826872"/>
            <a:ext cx="2103120" cy="182880"/>
          </a:xfrm>
          <a:prstGeom prst="rect">
            <a:avLst/>
          </a:prstGeom>
          <a:solidFill>
            <a:srgbClr val="004C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1" name="TextBox 20"/>
          <p:cNvSpPr txBox="1"/>
          <p:nvPr/>
        </p:nvSpPr>
        <p:spPr>
          <a:xfrm>
            <a:off x="5394960" y="2836016"/>
            <a:ext cx="2066543" cy="196977"/>
          </a:xfrm>
          <a:prstGeom prst="rect">
            <a:avLst/>
          </a:prstGeom>
          <a:noFill/>
        </p:spPr>
        <p:txBody>
          <a:bodyPr wrap="square">
            <a:spAutoFit/>
          </a:bodyPr>
          <a:lstStyle/>
          <a:p>
            <a:pPr algn="ctr"/>
            <a:r>
              <a:rPr sz="680" b="1" i="0">
                <a:solidFill>
                  <a:srgbClr val="FFFFFF"/>
                </a:solidFill>
                <a:latin typeface="Times New Roman" panose="02020603050405020304" pitchFamily="18" charset="0"/>
                <a:cs typeface="Times New Roman" panose="02020603050405020304" pitchFamily="18" charset="0"/>
              </a:rPr>
              <a:t>MEDIUM PROBABILITY  |  MEDIUM IMPACT</a:t>
            </a:r>
          </a:p>
        </p:txBody>
      </p:sp>
      <p:sp>
        <p:nvSpPr>
          <p:cNvPr id="22" name="TextBox 21"/>
          <p:cNvSpPr txBox="1"/>
          <p:nvPr/>
        </p:nvSpPr>
        <p:spPr>
          <a:xfrm>
            <a:off x="237744" y="3055472"/>
            <a:ext cx="7260336" cy="921791"/>
          </a:xfrm>
          <a:prstGeom prst="rect">
            <a:avLst/>
          </a:prstGeom>
          <a:noFill/>
        </p:spPr>
        <p:txBody>
          <a:bodyPr wrap="square">
            <a:spAutoFit/>
          </a:bodyPr>
          <a:lstStyle/>
          <a:p>
            <a:pPr algn="l"/>
            <a:r>
              <a:rPr sz="770" b="0" i="0">
                <a:solidFill>
                  <a:srgbClr val="1F1F1F"/>
                </a:solidFill>
                <a:latin typeface="Times New Roman" panose="02020603050405020304" pitchFamily="18" charset="0"/>
                <a:cs typeface="Times New Roman" panose="02020603050405020304" pitchFamily="18" charset="0"/>
              </a:rPr>
              <a:t>Amazon represents the most significant long-term competitive risk to Walmart's e-commerce market share and, to a lesser extent, its physical grocery business. Amazon Fresh and Whole Foods locations, combined with Amazon's Prime same-day delivery network, provide a compelling alternative for households already enrolled in the Prime ecosystem. Amazon's private label expansion in grocery and consumables directly targets Walmart's highest-margin category of branded grocery substitution.
We view this risk as manageable over our 12-month investment horizon, as Amazon's grocery market share remains below 4 percent compared to Walmart's approximately 25 percent grocery market share in the United States. However, investors should monitor Amazon's fulfillment capacity additions and grocery-specific subscription benefits as potential structural headwinds to Walmart's e-commerce growth trajectory beyond fiscal year 2027.</a:t>
            </a:r>
          </a:p>
        </p:txBody>
      </p:sp>
      <p:sp>
        <p:nvSpPr>
          <p:cNvPr id="23" name="Rectangle 22"/>
          <p:cNvSpPr/>
          <p:nvPr/>
        </p:nvSpPr>
        <p:spPr>
          <a:xfrm>
            <a:off x="182880" y="4228223"/>
            <a:ext cx="7406640" cy="219456"/>
          </a:xfrm>
          <a:prstGeom prst="rect">
            <a:avLst/>
          </a:prstGeom>
          <a:solidFill>
            <a:srgbClr val="1F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4" name="TextBox 23"/>
          <p:cNvSpPr txBox="1"/>
          <p:nvPr/>
        </p:nvSpPr>
        <p:spPr>
          <a:xfrm>
            <a:off x="256032" y="4246511"/>
            <a:ext cx="5029200" cy="223138"/>
          </a:xfrm>
          <a:prstGeom prst="rect">
            <a:avLst/>
          </a:prstGeom>
          <a:noFill/>
        </p:spPr>
        <p:txBody>
          <a:bodyPr wrap="square">
            <a:spAutoFit/>
          </a:bodyPr>
          <a:lstStyle/>
          <a:p>
            <a:pPr algn="l"/>
            <a:r>
              <a:rPr sz="850" b="1" i="0">
                <a:solidFill>
                  <a:srgbClr val="FFFFFF"/>
                </a:solidFill>
                <a:latin typeface="Times New Roman" panose="02020603050405020304" pitchFamily="18" charset="0"/>
                <a:cs typeface="Times New Roman" panose="02020603050405020304" pitchFamily="18" charset="0"/>
              </a:rPr>
              <a:t>Margin Compression from Wage Inflation and Capital Investment Cycle</a:t>
            </a:r>
          </a:p>
        </p:txBody>
      </p:sp>
      <p:sp>
        <p:nvSpPr>
          <p:cNvPr id="25" name="Rectangle 24"/>
          <p:cNvSpPr/>
          <p:nvPr/>
        </p:nvSpPr>
        <p:spPr>
          <a:xfrm>
            <a:off x="5394960" y="4246511"/>
            <a:ext cx="2103120" cy="18288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6" name="TextBox 25"/>
          <p:cNvSpPr txBox="1"/>
          <p:nvPr/>
        </p:nvSpPr>
        <p:spPr>
          <a:xfrm>
            <a:off x="5340095" y="4246063"/>
            <a:ext cx="2212847" cy="196977"/>
          </a:xfrm>
          <a:prstGeom prst="rect">
            <a:avLst/>
          </a:prstGeom>
          <a:noFill/>
        </p:spPr>
        <p:txBody>
          <a:bodyPr wrap="square">
            <a:spAutoFit/>
          </a:bodyPr>
          <a:lstStyle/>
          <a:p>
            <a:pPr algn="ctr"/>
            <a:r>
              <a:rPr sz="680" b="1" i="0">
                <a:solidFill>
                  <a:srgbClr val="FFFFFF"/>
                </a:solidFill>
                <a:latin typeface="Times New Roman" panose="02020603050405020304" pitchFamily="18" charset="0"/>
                <a:cs typeface="Times New Roman" panose="02020603050405020304" pitchFamily="18" charset="0"/>
              </a:rPr>
              <a:t>HIGH PROBABILITY  |  LOW-MEDIUM IMPACT</a:t>
            </a:r>
          </a:p>
        </p:txBody>
      </p:sp>
      <p:sp>
        <p:nvSpPr>
          <p:cNvPr id="27" name="TextBox 26"/>
          <p:cNvSpPr txBox="1"/>
          <p:nvPr/>
        </p:nvSpPr>
        <p:spPr>
          <a:xfrm>
            <a:off x="256032" y="4475111"/>
            <a:ext cx="7260336" cy="921791"/>
          </a:xfrm>
          <a:prstGeom prst="rect">
            <a:avLst/>
          </a:prstGeom>
          <a:noFill/>
        </p:spPr>
        <p:txBody>
          <a:bodyPr wrap="square">
            <a:spAutoFit/>
          </a:bodyPr>
          <a:lstStyle/>
          <a:p>
            <a:pPr algn="l"/>
            <a:r>
              <a:rPr sz="770" b="0" i="0" dirty="0">
                <a:solidFill>
                  <a:srgbClr val="1F1F1F"/>
                </a:solidFill>
                <a:latin typeface="Times New Roman" panose="02020603050405020304" pitchFamily="18" charset="0"/>
                <a:cs typeface="Times New Roman" panose="02020603050405020304" pitchFamily="18" charset="0"/>
              </a:rPr>
              <a:t>Walmart's largest operating cost is compensation, representing approximately 25 to 28 percent of US net sales. The company raised its US minimum hourly wage to $14 per hour in 2023 and has continued to increase compensation packages for store managers and supply chain associates. Combined with elevated capital expenditure guidance of $26 to $28 billion per year through fiscal year 2028 as the company invests in store remodels, automated fulfillment centers, and technology infrastructure, free cash flow is likely to remain structurally compressed relative to reported net income.
This dynamic creates a tension between reported earnings per share growth and actual cash generation that investors should carefully monitor. We forecast FCF margins remaining at approximately 1.9 percent of revenue through fiscal year 2027, well below the 4.5 percent achieved in fiscal year 2021 when capital investment was significantly lower.</a:t>
            </a:r>
          </a:p>
        </p:txBody>
      </p:sp>
      <p:sp>
        <p:nvSpPr>
          <p:cNvPr id="28" name="Rectangle 27"/>
          <p:cNvSpPr/>
          <p:nvPr/>
        </p:nvSpPr>
        <p:spPr>
          <a:xfrm>
            <a:off x="182880" y="5610721"/>
            <a:ext cx="7406640" cy="219456"/>
          </a:xfrm>
          <a:prstGeom prst="rect">
            <a:avLst/>
          </a:prstGeom>
          <a:solidFill>
            <a:srgbClr val="1F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9" name="TextBox 28"/>
          <p:cNvSpPr txBox="1"/>
          <p:nvPr/>
        </p:nvSpPr>
        <p:spPr>
          <a:xfrm>
            <a:off x="256032" y="5629009"/>
            <a:ext cx="5029200" cy="223138"/>
          </a:xfrm>
          <a:prstGeom prst="rect">
            <a:avLst/>
          </a:prstGeom>
          <a:noFill/>
        </p:spPr>
        <p:txBody>
          <a:bodyPr wrap="square">
            <a:spAutoFit/>
          </a:bodyPr>
          <a:lstStyle/>
          <a:p>
            <a:pPr algn="l"/>
            <a:r>
              <a:rPr sz="850" b="1" i="0">
                <a:solidFill>
                  <a:srgbClr val="FFFFFF"/>
                </a:solidFill>
                <a:latin typeface="Times New Roman" panose="02020603050405020304" pitchFamily="18" charset="0"/>
                <a:cs typeface="Times New Roman" panose="02020603050405020304" pitchFamily="18" charset="0"/>
              </a:rPr>
              <a:t>Valuation Premium Risk at 41x Forward Earnings</a:t>
            </a:r>
          </a:p>
        </p:txBody>
      </p:sp>
      <p:sp>
        <p:nvSpPr>
          <p:cNvPr id="30" name="Rectangle 29"/>
          <p:cNvSpPr/>
          <p:nvPr/>
        </p:nvSpPr>
        <p:spPr>
          <a:xfrm>
            <a:off x="5394960" y="5629009"/>
            <a:ext cx="2103120" cy="182880"/>
          </a:xfrm>
          <a:prstGeom prst="rect">
            <a:avLst/>
          </a:prstGeom>
          <a:solidFill>
            <a:srgbClr val="4A4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1" name="TextBox 30"/>
          <p:cNvSpPr txBox="1"/>
          <p:nvPr/>
        </p:nvSpPr>
        <p:spPr>
          <a:xfrm>
            <a:off x="5413248" y="5638153"/>
            <a:ext cx="2066543" cy="196977"/>
          </a:xfrm>
          <a:prstGeom prst="rect">
            <a:avLst/>
          </a:prstGeom>
          <a:noFill/>
        </p:spPr>
        <p:txBody>
          <a:bodyPr wrap="square">
            <a:spAutoFit/>
          </a:bodyPr>
          <a:lstStyle/>
          <a:p>
            <a:pPr algn="ctr"/>
            <a:r>
              <a:rPr sz="680" b="1" i="0">
                <a:solidFill>
                  <a:srgbClr val="FFFFFF"/>
                </a:solidFill>
                <a:latin typeface="Times New Roman" panose="02020603050405020304" pitchFamily="18" charset="0"/>
                <a:cs typeface="Times New Roman" panose="02020603050405020304" pitchFamily="18" charset="0"/>
              </a:rPr>
              <a:t>MEDIUM PROBABILITY  |  MEDIUM IMPACT</a:t>
            </a:r>
          </a:p>
        </p:txBody>
      </p:sp>
      <p:sp>
        <p:nvSpPr>
          <p:cNvPr id="32" name="TextBox 31"/>
          <p:cNvSpPr txBox="1"/>
          <p:nvPr/>
        </p:nvSpPr>
        <p:spPr>
          <a:xfrm>
            <a:off x="256032" y="5857609"/>
            <a:ext cx="7260336" cy="921791"/>
          </a:xfrm>
          <a:prstGeom prst="rect">
            <a:avLst/>
          </a:prstGeom>
          <a:noFill/>
        </p:spPr>
        <p:txBody>
          <a:bodyPr wrap="square">
            <a:spAutoFit/>
          </a:bodyPr>
          <a:lstStyle/>
          <a:p>
            <a:pPr algn="l"/>
            <a:r>
              <a:rPr sz="770" b="0" i="0">
                <a:solidFill>
                  <a:srgbClr val="1F1F1F"/>
                </a:solidFill>
                <a:latin typeface="Times New Roman" panose="02020603050405020304" pitchFamily="18" charset="0"/>
                <a:cs typeface="Times New Roman" panose="02020603050405020304" pitchFamily="18" charset="0"/>
              </a:rPr>
              <a:t>Walmart currently trades at approximately 41x our FY26E adjusted EPS estimate of $2.65, a significant premium to its own historical forward P/E average of approximately 28x and to the broader S&amp;P 500 average of 21x. This premium reflects investor confidence in the advertising and e-commerce re-rating narrative as well as defensive capital rotation, but it also creates meaningful downside risk if earnings growth disappoints or if risk appetite shifts toward cyclical sectors.
A single quarter of below-consensus comparable sales growth or an advertising revenue deceleration could prompt a de-rating from 41x toward the historical mean of 28x, implying a stock price closer to $74, representing over 42 percent downside from current levels. Investors should be aware that at current valuation levels, the margin of safety is limited and execution against both the advertising and e-commerce growth narratives is essential for the investment thesis to remain intact.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7772400" cy="502920"/>
          </a:xfrm>
          <a:prstGeom prst="rect">
            <a:avLst/>
          </a:prstGeom>
          <a:solidFill>
            <a:srgbClr val="1F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TextBox 2"/>
          <p:cNvSpPr txBox="1"/>
          <p:nvPr/>
        </p:nvSpPr>
        <p:spPr>
          <a:xfrm>
            <a:off x="164592" y="64008"/>
            <a:ext cx="3200400" cy="246221"/>
          </a:xfrm>
          <a:prstGeom prst="rect">
            <a:avLst/>
          </a:prstGeom>
          <a:noFill/>
        </p:spPr>
        <p:txBody>
          <a:bodyPr wrap="square">
            <a:spAutoFit/>
          </a:bodyPr>
          <a:lstStyle/>
          <a:p>
            <a:pPr algn="l"/>
            <a:r>
              <a:rPr sz="1000" b="1" i="0">
                <a:solidFill>
                  <a:srgbClr val="FFFFFF"/>
                </a:solidFill>
                <a:latin typeface="Times New Roman" panose="02020603050405020304" pitchFamily="18" charset="0"/>
                <a:cs typeface="Times New Roman" panose="02020603050405020304" pitchFamily="18" charset="0"/>
              </a:rPr>
              <a:t>WMT  |  EQUITY RESEARCH</a:t>
            </a:r>
          </a:p>
        </p:txBody>
      </p:sp>
      <p:sp>
        <p:nvSpPr>
          <p:cNvPr id="4" name="TextBox 3"/>
          <p:cNvSpPr txBox="1"/>
          <p:nvPr/>
        </p:nvSpPr>
        <p:spPr>
          <a:xfrm>
            <a:off x="2286000" y="64008"/>
            <a:ext cx="4114800" cy="261610"/>
          </a:xfrm>
          <a:prstGeom prst="rect">
            <a:avLst/>
          </a:prstGeom>
          <a:noFill/>
        </p:spPr>
        <p:txBody>
          <a:bodyPr wrap="square">
            <a:spAutoFit/>
          </a:bodyPr>
          <a:lstStyle/>
          <a:p>
            <a:pPr algn="ctr"/>
            <a:r>
              <a:rPr sz="1100" b="1" i="0">
                <a:solidFill>
                  <a:srgbClr val="0071CE"/>
                </a:solidFill>
                <a:latin typeface="Times New Roman" panose="02020603050405020304" pitchFamily="18" charset="0"/>
                <a:cs typeface="Times New Roman" panose="02020603050405020304" pitchFamily="18" charset="0"/>
              </a:rPr>
              <a:t>APPENDIX B: CHARTS &amp; FIGURES</a:t>
            </a:r>
          </a:p>
        </p:txBody>
      </p:sp>
      <p:sp>
        <p:nvSpPr>
          <p:cNvPr id="5" name="TextBox 4"/>
          <p:cNvSpPr txBox="1"/>
          <p:nvPr/>
        </p:nvSpPr>
        <p:spPr>
          <a:xfrm>
            <a:off x="5669280" y="64008"/>
            <a:ext cx="1920240" cy="223138"/>
          </a:xfrm>
          <a:prstGeom prst="rect">
            <a:avLst/>
          </a:prstGeom>
          <a:noFill/>
        </p:spPr>
        <p:txBody>
          <a:bodyPr wrap="square">
            <a:spAutoFit/>
          </a:bodyPr>
          <a:lstStyle/>
          <a:p>
            <a:pPr algn="r"/>
            <a:r>
              <a:rPr sz="850" b="0" i="0">
                <a:solidFill>
                  <a:srgbClr val="FFFFFF"/>
                </a:solidFill>
                <a:latin typeface="Times New Roman" panose="02020603050405020304" pitchFamily="18" charset="0"/>
                <a:cs typeface="Times New Roman" panose="02020603050405020304" pitchFamily="18" charset="0"/>
              </a:rPr>
              <a:t>April 2026  |  FIN 431</a:t>
            </a:r>
          </a:p>
        </p:txBody>
      </p:sp>
      <p:sp>
        <p:nvSpPr>
          <p:cNvPr id="6" name="Rectangle 5"/>
          <p:cNvSpPr/>
          <p:nvPr/>
        </p:nvSpPr>
        <p:spPr>
          <a:xfrm>
            <a:off x="0" y="502920"/>
            <a:ext cx="7772400" cy="36576"/>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 name="Rectangle 6"/>
          <p:cNvSpPr/>
          <p:nvPr/>
        </p:nvSpPr>
        <p:spPr>
          <a:xfrm>
            <a:off x="0" y="9802368"/>
            <a:ext cx="7772400" cy="256032"/>
          </a:xfrm>
          <a:prstGeom prst="rect">
            <a:avLst/>
          </a:prstGeom>
          <a:solidFill>
            <a:srgbClr val="1F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8" name="TextBox 7"/>
          <p:cNvSpPr txBox="1"/>
          <p:nvPr/>
        </p:nvSpPr>
        <p:spPr>
          <a:xfrm>
            <a:off x="164592" y="9811512"/>
            <a:ext cx="5943600" cy="200055"/>
          </a:xfrm>
          <a:prstGeom prst="rect">
            <a:avLst/>
          </a:prstGeom>
          <a:noFill/>
        </p:spPr>
        <p:txBody>
          <a:bodyPr wrap="square">
            <a:spAutoFit/>
          </a:bodyPr>
          <a:lstStyle/>
          <a:p>
            <a:pPr algn="l"/>
            <a:r>
              <a:rPr sz="700" b="0" i="0">
                <a:solidFill>
                  <a:srgbClr val="BBBBBB"/>
                </a:solidFill>
                <a:latin typeface="Times New Roman" panose="02020603050405020304" pitchFamily="18" charset="0"/>
                <a:cs typeface="Times New Roman" panose="02020603050405020304" pitchFamily="18" charset="0"/>
              </a:rPr>
              <a:t>Walmart Inc. (WMT)  |  Equity Research  |  FIN 431  |  Portfolio Analysis</a:t>
            </a:r>
          </a:p>
        </p:txBody>
      </p:sp>
      <p:sp>
        <p:nvSpPr>
          <p:cNvPr id="9" name="TextBox 8"/>
          <p:cNvSpPr txBox="1"/>
          <p:nvPr/>
        </p:nvSpPr>
        <p:spPr>
          <a:xfrm>
            <a:off x="7132320" y="9811512"/>
            <a:ext cx="502920" cy="200055"/>
          </a:xfrm>
          <a:prstGeom prst="rect">
            <a:avLst/>
          </a:prstGeom>
          <a:noFill/>
        </p:spPr>
        <p:txBody>
          <a:bodyPr wrap="square">
            <a:spAutoFit/>
          </a:bodyPr>
          <a:lstStyle/>
          <a:p>
            <a:pPr algn="r"/>
            <a:r>
              <a:rPr sz="700" b="0" i="0">
                <a:solidFill>
                  <a:srgbClr val="BBBBBB"/>
                </a:solidFill>
                <a:latin typeface="Times New Roman" panose="02020603050405020304" pitchFamily="18" charset="0"/>
                <a:cs typeface="Times New Roman" panose="02020603050405020304" pitchFamily="18" charset="0"/>
              </a:rPr>
              <a:t>Page 6</a:t>
            </a:r>
          </a:p>
        </p:txBody>
      </p:sp>
      <p:sp>
        <p:nvSpPr>
          <p:cNvPr id="10" name="Rectangle 9"/>
          <p:cNvSpPr/>
          <p:nvPr/>
        </p:nvSpPr>
        <p:spPr>
          <a:xfrm>
            <a:off x="182880" y="621792"/>
            <a:ext cx="3840480" cy="201168"/>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1" name="TextBox 10"/>
          <p:cNvSpPr txBox="1"/>
          <p:nvPr/>
        </p:nvSpPr>
        <p:spPr>
          <a:xfrm>
            <a:off x="237744" y="640080"/>
            <a:ext cx="3730752" cy="207749"/>
          </a:xfrm>
          <a:prstGeom prst="rect">
            <a:avLst/>
          </a:prstGeom>
          <a:noFill/>
        </p:spPr>
        <p:txBody>
          <a:bodyPr wrap="square">
            <a:spAutoFit/>
          </a:bodyPr>
          <a:lstStyle/>
          <a:p>
            <a:pPr algn="l"/>
            <a:r>
              <a:rPr sz="750" b="1" i="0">
                <a:solidFill>
                  <a:srgbClr val="FFFFFF"/>
                </a:solidFill>
                <a:latin typeface="Times New Roman" panose="02020603050405020304" pitchFamily="18" charset="0"/>
                <a:cs typeface="Times New Roman" panose="02020603050405020304" pitchFamily="18" charset="0"/>
              </a:rPr>
              <a:t>FIGURE 1 (FULL): WMT HISTORICAL PRICE (SPLIT-ADJUSTED)</a:t>
            </a:r>
          </a:p>
        </p:txBody>
      </p:sp>
      <p:pic>
        <p:nvPicPr>
          <p:cNvPr id="12" name="Picture 11" descr="image.png"/>
          <p:cNvPicPr>
            <a:picLocks noChangeAspect="1"/>
          </p:cNvPicPr>
          <p:nvPr/>
        </p:nvPicPr>
        <p:blipFill>
          <a:blip r:embed="rId2"/>
          <a:stretch>
            <a:fillRect/>
          </a:stretch>
        </p:blipFill>
        <p:spPr>
          <a:xfrm>
            <a:off x="182880" y="850392"/>
            <a:ext cx="3566160" cy="2377440"/>
          </a:xfrm>
          <a:prstGeom prst="rect">
            <a:avLst/>
          </a:prstGeom>
        </p:spPr>
      </p:pic>
      <p:sp>
        <p:nvSpPr>
          <p:cNvPr id="13" name="Rectangle 12"/>
          <p:cNvSpPr/>
          <p:nvPr/>
        </p:nvSpPr>
        <p:spPr>
          <a:xfrm>
            <a:off x="3977639" y="621792"/>
            <a:ext cx="3657600" cy="201168"/>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4" name="TextBox 13"/>
          <p:cNvSpPr txBox="1"/>
          <p:nvPr/>
        </p:nvSpPr>
        <p:spPr>
          <a:xfrm>
            <a:off x="4032503" y="640080"/>
            <a:ext cx="3547872" cy="207749"/>
          </a:xfrm>
          <a:prstGeom prst="rect">
            <a:avLst/>
          </a:prstGeom>
          <a:noFill/>
        </p:spPr>
        <p:txBody>
          <a:bodyPr wrap="square">
            <a:spAutoFit/>
          </a:bodyPr>
          <a:lstStyle/>
          <a:p>
            <a:pPr algn="l"/>
            <a:r>
              <a:rPr sz="750" b="1" i="0">
                <a:solidFill>
                  <a:srgbClr val="FFFFFF"/>
                </a:solidFill>
                <a:latin typeface="Times New Roman" panose="02020603050405020304" pitchFamily="18" charset="0"/>
                <a:cs typeface="Times New Roman" panose="02020603050405020304" pitchFamily="18" charset="0"/>
              </a:rPr>
              <a:t>FIGURE 2 (FULL): RELATIVE PERFORMANCE VS. BENCHMARKS</a:t>
            </a:r>
          </a:p>
        </p:txBody>
      </p:sp>
      <p:pic>
        <p:nvPicPr>
          <p:cNvPr id="15" name="Picture 14" descr="image.png"/>
          <p:cNvPicPr>
            <a:picLocks noChangeAspect="1"/>
          </p:cNvPicPr>
          <p:nvPr/>
        </p:nvPicPr>
        <p:blipFill>
          <a:blip r:embed="rId3"/>
          <a:stretch>
            <a:fillRect/>
          </a:stretch>
        </p:blipFill>
        <p:spPr>
          <a:xfrm>
            <a:off x="3977639" y="850392"/>
            <a:ext cx="3611880" cy="2377440"/>
          </a:xfrm>
          <a:prstGeom prst="rect">
            <a:avLst/>
          </a:prstGeom>
        </p:spPr>
      </p:pic>
      <p:sp>
        <p:nvSpPr>
          <p:cNvPr id="16" name="Rectangle 15"/>
          <p:cNvSpPr/>
          <p:nvPr/>
        </p:nvSpPr>
        <p:spPr>
          <a:xfrm>
            <a:off x="182880" y="3456432"/>
            <a:ext cx="3657600" cy="201168"/>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7" name="TextBox 16"/>
          <p:cNvSpPr txBox="1"/>
          <p:nvPr/>
        </p:nvSpPr>
        <p:spPr>
          <a:xfrm>
            <a:off x="237744" y="3474720"/>
            <a:ext cx="3547872" cy="207749"/>
          </a:xfrm>
          <a:prstGeom prst="rect">
            <a:avLst/>
          </a:prstGeom>
          <a:noFill/>
        </p:spPr>
        <p:txBody>
          <a:bodyPr wrap="square">
            <a:spAutoFit/>
          </a:bodyPr>
          <a:lstStyle/>
          <a:p>
            <a:pPr algn="l"/>
            <a:r>
              <a:rPr sz="750" b="1" i="0">
                <a:solidFill>
                  <a:srgbClr val="FFFFFF"/>
                </a:solidFill>
                <a:latin typeface="Times New Roman" panose="02020603050405020304" pitchFamily="18" charset="0"/>
                <a:cs typeface="Times New Roman" panose="02020603050405020304" pitchFamily="18" charset="0"/>
              </a:rPr>
              <a:t>FIGURE 3 (FULL): NET SALES BY SEGMENT ($B)</a:t>
            </a:r>
          </a:p>
        </p:txBody>
      </p:sp>
      <p:pic>
        <p:nvPicPr>
          <p:cNvPr id="18" name="Picture 17" descr="image.png"/>
          <p:cNvPicPr>
            <a:picLocks noChangeAspect="1"/>
          </p:cNvPicPr>
          <p:nvPr/>
        </p:nvPicPr>
        <p:blipFill>
          <a:blip r:embed="rId4"/>
          <a:stretch>
            <a:fillRect/>
          </a:stretch>
        </p:blipFill>
        <p:spPr>
          <a:xfrm>
            <a:off x="182880" y="3685032"/>
            <a:ext cx="3566160" cy="2377440"/>
          </a:xfrm>
          <a:prstGeom prst="rect">
            <a:avLst/>
          </a:prstGeom>
        </p:spPr>
      </p:pic>
      <p:sp>
        <p:nvSpPr>
          <p:cNvPr id="19" name="Rectangle 18"/>
          <p:cNvSpPr/>
          <p:nvPr/>
        </p:nvSpPr>
        <p:spPr>
          <a:xfrm>
            <a:off x="3977639" y="3456432"/>
            <a:ext cx="3657600" cy="201168"/>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0" name="TextBox 19"/>
          <p:cNvSpPr txBox="1"/>
          <p:nvPr/>
        </p:nvSpPr>
        <p:spPr>
          <a:xfrm>
            <a:off x="4032503" y="3474720"/>
            <a:ext cx="3547872" cy="207749"/>
          </a:xfrm>
          <a:prstGeom prst="rect">
            <a:avLst/>
          </a:prstGeom>
          <a:noFill/>
        </p:spPr>
        <p:txBody>
          <a:bodyPr wrap="square">
            <a:spAutoFit/>
          </a:bodyPr>
          <a:lstStyle/>
          <a:p>
            <a:pPr algn="l"/>
            <a:r>
              <a:rPr sz="750" b="1" i="0">
                <a:solidFill>
                  <a:srgbClr val="FFFFFF"/>
                </a:solidFill>
                <a:latin typeface="Times New Roman" panose="02020603050405020304" pitchFamily="18" charset="0"/>
                <a:cs typeface="Times New Roman" panose="02020603050405020304" pitchFamily="18" charset="0"/>
              </a:rPr>
              <a:t>FIGURE 4 (FULL): E-COMMERCE YOY GROWTH (%)</a:t>
            </a:r>
          </a:p>
        </p:txBody>
      </p:sp>
      <p:pic>
        <p:nvPicPr>
          <p:cNvPr id="21" name="Picture 20" descr="image.png"/>
          <p:cNvPicPr>
            <a:picLocks noChangeAspect="1"/>
          </p:cNvPicPr>
          <p:nvPr/>
        </p:nvPicPr>
        <p:blipFill>
          <a:blip r:embed="rId5"/>
          <a:stretch>
            <a:fillRect/>
          </a:stretch>
        </p:blipFill>
        <p:spPr>
          <a:xfrm>
            <a:off x="3977639" y="3685032"/>
            <a:ext cx="3611880" cy="2377440"/>
          </a:xfrm>
          <a:prstGeom prst="rect">
            <a:avLst/>
          </a:prstGeom>
        </p:spPr>
      </p:pic>
      <p:sp>
        <p:nvSpPr>
          <p:cNvPr id="22" name="Rectangle 21"/>
          <p:cNvSpPr/>
          <p:nvPr/>
        </p:nvSpPr>
        <p:spPr>
          <a:xfrm>
            <a:off x="182880" y="6291072"/>
            <a:ext cx="2286000" cy="201168"/>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3" name="TextBox 22"/>
          <p:cNvSpPr txBox="1"/>
          <p:nvPr/>
        </p:nvSpPr>
        <p:spPr>
          <a:xfrm>
            <a:off x="237744" y="6309360"/>
            <a:ext cx="2176272" cy="207749"/>
          </a:xfrm>
          <a:prstGeom prst="rect">
            <a:avLst/>
          </a:prstGeom>
          <a:noFill/>
        </p:spPr>
        <p:txBody>
          <a:bodyPr wrap="square">
            <a:spAutoFit/>
          </a:bodyPr>
          <a:lstStyle/>
          <a:p>
            <a:pPr algn="l"/>
            <a:r>
              <a:rPr sz="750" b="1" i="0">
                <a:solidFill>
                  <a:srgbClr val="FFFFFF"/>
                </a:solidFill>
                <a:latin typeface="Times New Roman" panose="02020603050405020304" pitchFamily="18" charset="0"/>
                <a:cs typeface="Times New Roman" panose="02020603050405020304" pitchFamily="18" charset="0"/>
              </a:rPr>
              <a:t>ANALYST NOTES</a:t>
            </a:r>
          </a:p>
        </p:txBody>
      </p:sp>
      <p:sp>
        <p:nvSpPr>
          <p:cNvPr id="24" name="TextBox 23"/>
          <p:cNvSpPr txBox="1"/>
          <p:nvPr/>
        </p:nvSpPr>
        <p:spPr>
          <a:xfrm>
            <a:off x="182880" y="6519672"/>
            <a:ext cx="7406640" cy="692497"/>
          </a:xfrm>
          <a:prstGeom prst="rect">
            <a:avLst/>
          </a:prstGeom>
          <a:noFill/>
        </p:spPr>
        <p:txBody>
          <a:bodyPr wrap="square">
            <a:spAutoFit/>
          </a:bodyPr>
          <a:lstStyle/>
          <a:p>
            <a:pPr algn="l"/>
            <a:r>
              <a:rPr sz="780" b="0" i="1">
                <a:solidFill>
                  <a:srgbClr val="4A4A4A"/>
                </a:solidFill>
                <a:latin typeface="Times New Roman" panose="02020603050405020304" pitchFamily="18" charset="0"/>
                <a:cs typeface="Times New Roman" panose="02020603050405020304" pitchFamily="18" charset="0"/>
              </a:rPr>
              <a:t>All financial data for Walmart sourced from company 10-K and 10-Q filings, earnings press releases, and management guidance as of March 2026. Comparable company multiples for TGT, COST, and AMZN sourced from trailing twelve-month public financials and consensus estimates as of April 2026. Revenue growth rates of 5.0 percent (years 1-4) and 3.0 percent (terminal) reflect publicly available guidance, analyst consensus, and fundamental analysis of Walmart's e-commerce and advertising business trajectories. EPS estimates for FY26E and FY27E represent adjusted non-GAAP figures excluding discrete tax benefits, acquisition-related amortization, and restructuring charges. All share counts reflect post-3:1-split basis (February 2024). This report was prepared for academic purposes in the context of FIN 431 Portfolio Analysis and does not constitute investment advice.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7772400" cy="502920"/>
          </a:xfrm>
          <a:prstGeom prst="rect">
            <a:avLst/>
          </a:prstGeom>
          <a:solidFill>
            <a:srgbClr val="1F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TextBox 2"/>
          <p:cNvSpPr txBox="1"/>
          <p:nvPr/>
        </p:nvSpPr>
        <p:spPr>
          <a:xfrm>
            <a:off x="164592" y="64008"/>
            <a:ext cx="3200400" cy="246221"/>
          </a:xfrm>
          <a:prstGeom prst="rect">
            <a:avLst/>
          </a:prstGeom>
          <a:noFill/>
        </p:spPr>
        <p:txBody>
          <a:bodyPr wrap="square">
            <a:spAutoFit/>
          </a:bodyPr>
          <a:lstStyle/>
          <a:p>
            <a:pPr algn="l"/>
            <a:r>
              <a:rPr sz="1000" b="1" i="0">
                <a:solidFill>
                  <a:srgbClr val="FFFFFF"/>
                </a:solidFill>
                <a:latin typeface="Times New Roman" panose="02020603050405020304" pitchFamily="18" charset="0"/>
                <a:cs typeface="Times New Roman" panose="02020603050405020304" pitchFamily="18" charset="0"/>
              </a:rPr>
              <a:t>WMT  |  EQUITY RESEARCH</a:t>
            </a:r>
          </a:p>
        </p:txBody>
      </p:sp>
      <p:sp>
        <p:nvSpPr>
          <p:cNvPr id="4" name="TextBox 3"/>
          <p:cNvSpPr txBox="1"/>
          <p:nvPr/>
        </p:nvSpPr>
        <p:spPr>
          <a:xfrm>
            <a:off x="2286000" y="64008"/>
            <a:ext cx="4114800" cy="261610"/>
          </a:xfrm>
          <a:prstGeom prst="rect">
            <a:avLst/>
          </a:prstGeom>
          <a:noFill/>
        </p:spPr>
        <p:txBody>
          <a:bodyPr wrap="square">
            <a:spAutoFit/>
          </a:bodyPr>
          <a:lstStyle/>
          <a:p>
            <a:pPr algn="ctr"/>
            <a:r>
              <a:rPr sz="1100" b="1" i="0">
                <a:solidFill>
                  <a:srgbClr val="0071CE"/>
                </a:solidFill>
                <a:latin typeface="Times New Roman" panose="02020603050405020304" pitchFamily="18" charset="0"/>
                <a:cs typeface="Times New Roman" panose="02020603050405020304" pitchFamily="18" charset="0"/>
              </a:rPr>
              <a:t>APPENDIX A: COMPARABLES &amp; MARKET MULTIPLIERS</a:t>
            </a:r>
          </a:p>
        </p:txBody>
      </p:sp>
      <p:sp>
        <p:nvSpPr>
          <p:cNvPr id="5" name="TextBox 4"/>
          <p:cNvSpPr txBox="1"/>
          <p:nvPr/>
        </p:nvSpPr>
        <p:spPr>
          <a:xfrm>
            <a:off x="5669280" y="64008"/>
            <a:ext cx="1920240" cy="223138"/>
          </a:xfrm>
          <a:prstGeom prst="rect">
            <a:avLst/>
          </a:prstGeom>
          <a:noFill/>
        </p:spPr>
        <p:txBody>
          <a:bodyPr wrap="square">
            <a:spAutoFit/>
          </a:bodyPr>
          <a:lstStyle/>
          <a:p>
            <a:pPr algn="r"/>
            <a:r>
              <a:rPr sz="850" b="0" i="0">
                <a:solidFill>
                  <a:srgbClr val="FFFFFF"/>
                </a:solidFill>
                <a:latin typeface="Times New Roman" panose="02020603050405020304" pitchFamily="18" charset="0"/>
                <a:cs typeface="Times New Roman" panose="02020603050405020304" pitchFamily="18" charset="0"/>
              </a:rPr>
              <a:t>April 2026  |  FIN 431</a:t>
            </a:r>
          </a:p>
        </p:txBody>
      </p:sp>
      <p:sp>
        <p:nvSpPr>
          <p:cNvPr id="6" name="Rectangle 5"/>
          <p:cNvSpPr/>
          <p:nvPr/>
        </p:nvSpPr>
        <p:spPr>
          <a:xfrm>
            <a:off x="0" y="502920"/>
            <a:ext cx="7772400" cy="36576"/>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 name="Rectangle 6"/>
          <p:cNvSpPr/>
          <p:nvPr/>
        </p:nvSpPr>
        <p:spPr>
          <a:xfrm>
            <a:off x="0" y="9802368"/>
            <a:ext cx="7772400" cy="256032"/>
          </a:xfrm>
          <a:prstGeom prst="rect">
            <a:avLst/>
          </a:prstGeom>
          <a:solidFill>
            <a:srgbClr val="1F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8" name="TextBox 7"/>
          <p:cNvSpPr txBox="1"/>
          <p:nvPr/>
        </p:nvSpPr>
        <p:spPr>
          <a:xfrm>
            <a:off x="164592" y="9811512"/>
            <a:ext cx="5943600" cy="200055"/>
          </a:xfrm>
          <a:prstGeom prst="rect">
            <a:avLst/>
          </a:prstGeom>
          <a:noFill/>
        </p:spPr>
        <p:txBody>
          <a:bodyPr wrap="square">
            <a:spAutoFit/>
          </a:bodyPr>
          <a:lstStyle/>
          <a:p>
            <a:pPr algn="l"/>
            <a:r>
              <a:rPr sz="700" b="0" i="0">
                <a:solidFill>
                  <a:srgbClr val="BBBBBB"/>
                </a:solidFill>
                <a:latin typeface="Times New Roman" panose="02020603050405020304" pitchFamily="18" charset="0"/>
                <a:cs typeface="Times New Roman" panose="02020603050405020304" pitchFamily="18" charset="0"/>
              </a:rPr>
              <a:t>Walmart Inc. (WMT)  |  Equity Research  |  FIN 431  |  Portfolio Analysis</a:t>
            </a:r>
          </a:p>
        </p:txBody>
      </p:sp>
      <p:sp>
        <p:nvSpPr>
          <p:cNvPr id="9" name="TextBox 8"/>
          <p:cNvSpPr txBox="1"/>
          <p:nvPr/>
        </p:nvSpPr>
        <p:spPr>
          <a:xfrm>
            <a:off x="7132320" y="9811512"/>
            <a:ext cx="502920" cy="200055"/>
          </a:xfrm>
          <a:prstGeom prst="rect">
            <a:avLst/>
          </a:prstGeom>
          <a:noFill/>
        </p:spPr>
        <p:txBody>
          <a:bodyPr wrap="square">
            <a:spAutoFit/>
          </a:bodyPr>
          <a:lstStyle/>
          <a:p>
            <a:pPr algn="r"/>
            <a:r>
              <a:rPr sz="700" b="0" i="0">
                <a:solidFill>
                  <a:srgbClr val="BBBBBB"/>
                </a:solidFill>
                <a:latin typeface="Times New Roman" panose="02020603050405020304" pitchFamily="18" charset="0"/>
                <a:cs typeface="Times New Roman" panose="02020603050405020304" pitchFamily="18" charset="0"/>
              </a:rPr>
              <a:t>Page 5</a:t>
            </a:r>
          </a:p>
        </p:txBody>
      </p:sp>
      <p:grpSp>
        <p:nvGrpSpPr>
          <p:cNvPr id="254" name="Group 253">
            <a:extLst>
              <a:ext uri="{FF2B5EF4-FFF2-40B4-BE49-F238E27FC236}">
                <a16:creationId xmlns:a16="http://schemas.microsoft.com/office/drawing/2014/main" id="{D0F75DAC-310D-E7E5-D858-D5B375976DA5}"/>
              </a:ext>
            </a:extLst>
          </p:cNvPr>
          <p:cNvGrpSpPr/>
          <p:nvPr/>
        </p:nvGrpSpPr>
        <p:grpSpPr>
          <a:xfrm>
            <a:off x="182880" y="621792"/>
            <a:ext cx="7406640" cy="7313646"/>
            <a:chOff x="182880" y="621792"/>
            <a:chExt cx="7406640" cy="7313646"/>
          </a:xfrm>
        </p:grpSpPr>
        <p:sp>
          <p:nvSpPr>
            <p:cNvPr id="10" name="Rectangle 9"/>
            <p:cNvSpPr/>
            <p:nvPr/>
          </p:nvSpPr>
          <p:spPr>
            <a:xfrm>
              <a:off x="182880" y="621792"/>
              <a:ext cx="3657600" cy="201168"/>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1" name="TextBox 10"/>
            <p:cNvSpPr txBox="1"/>
            <p:nvPr/>
          </p:nvSpPr>
          <p:spPr>
            <a:xfrm>
              <a:off x="237744" y="640080"/>
              <a:ext cx="3547872" cy="207749"/>
            </a:xfrm>
            <a:prstGeom prst="rect">
              <a:avLst/>
            </a:prstGeom>
            <a:noFill/>
          </p:spPr>
          <p:txBody>
            <a:bodyPr wrap="square">
              <a:spAutoFit/>
            </a:bodyPr>
            <a:lstStyle/>
            <a:p>
              <a:pPr algn="l"/>
              <a:r>
                <a:rPr sz="750" b="1" i="0">
                  <a:solidFill>
                    <a:srgbClr val="FFFFFF"/>
                  </a:solidFill>
                  <a:latin typeface="Times New Roman" panose="02020603050405020304" pitchFamily="18" charset="0"/>
                  <a:cs typeface="Times New Roman" panose="02020603050405020304" pitchFamily="18" charset="0"/>
                </a:rPr>
                <a:t>FIGURE 9: COMPARABLE COMPANY METRICS (NTM / FY25 ACTUALS)</a:t>
              </a:r>
            </a:p>
          </p:txBody>
        </p:sp>
        <p:sp>
          <p:nvSpPr>
            <p:cNvPr id="12" name="Rectangle 11"/>
            <p:cNvSpPr/>
            <p:nvPr/>
          </p:nvSpPr>
          <p:spPr>
            <a:xfrm>
              <a:off x="182880" y="850392"/>
              <a:ext cx="1143000" cy="233172"/>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3" name="TextBox 12"/>
            <p:cNvSpPr txBox="1"/>
            <p:nvPr/>
          </p:nvSpPr>
          <p:spPr>
            <a:xfrm>
              <a:off x="219456" y="868680"/>
              <a:ext cx="1069848" cy="223138"/>
            </a:xfrm>
            <a:prstGeom prst="rect">
              <a:avLst/>
            </a:prstGeom>
            <a:noFill/>
          </p:spPr>
          <p:txBody>
            <a:bodyPr wrap="square">
              <a:spAutoFit/>
            </a:bodyPr>
            <a:lstStyle/>
            <a:p>
              <a:pPr algn="ctr"/>
              <a:r>
                <a:rPr sz="850" b="1" i="0">
                  <a:solidFill>
                    <a:srgbClr val="FFFFFF"/>
                  </a:solidFill>
                  <a:latin typeface="Times New Roman" panose="02020603050405020304" pitchFamily="18" charset="0"/>
                  <a:cs typeface="Times New Roman" panose="02020603050405020304" pitchFamily="18" charset="0"/>
                </a:rPr>
                <a:t>Company</a:t>
              </a:r>
            </a:p>
          </p:txBody>
        </p:sp>
        <p:sp>
          <p:nvSpPr>
            <p:cNvPr id="14" name="Rectangle 13"/>
            <p:cNvSpPr/>
            <p:nvPr/>
          </p:nvSpPr>
          <p:spPr>
            <a:xfrm>
              <a:off x="1325880" y="850392"/>
              <a:ext cx="594360" cy="233172"/>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5" name="TextBox 14"/>
            <p:cNvSpPr txBox="1"/>
            <p:nvPr/>
          </p:nvSpPr>
          <p:spPr>
            <a:xfrm>
              <a:off x="1362456" y="868680"/>
              <a:ext cx="521208" cy="223138"/>
            </a:xfrm>
            <a:prstGeom prst="rect">
              <a:avLst/>
            </a:prstGeom>
            <a:noFill/>
          </p:spPr>
          <p:txBody>
            <a:bodyPr wrap="square">
              <a:spAutoFit/>
            </a:bodyPr>
            <a:lstStyle/>
            <a:p>
              <a:pPr algn="ctr"/>
              <a:r>
                <a:rPr sz="850" b="1" i="0">
                  <a:solidFill>
                    <a:srgbClr val="FFFFFF"/>
                  </a:solidFill>
                  <a:latin typeface="Times New Roman" panose="02020603050405020304" pitchFamily="18" charset="0"/>
                  <a:cs typeface="Times New Roman" panose="02020603050405020304" pitchFamily="18" charset="0"/>
                </a:rPr>
                <a:t>Ticker</a:t>
              </a:r>
            </a:p>
          </p:txBody>
        </p:sp>
        <p:sp>
          <p:nvSpPr>
            <p:cNvPr id="16" name="Rectangle 15"/>
            <p:cNvSpPr/>
            <p:nvPr/>
          </p:nvSpPr>
          <p:spPr>
            <a:xfrm>
              <a:off x="1920240" y="850392"/>
              <a:ext cx="960120" cy="233172"/>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7" name="TextBox 16"/>
            <p:cNvSpPr txBox="1"/>
            <p:nvPr/>
          </p:nvSpPr>
          <p:spPr>
            <a:xfrm>
              <a:off x="1956816" y="868680"/>
              <a:ext cx="886968" cy="223138"/>
            </a:xfrm>
            <a:prstGeom prst="rect">
              <a:avLst/>
            </a:prstGeom>
            <a:noFill/>
          </p:spPr>
          <p:txBody>
            <a:bodyPr wrap="square">
              <a:spAutoFit/>
            </a:bodyPr>
            <a:lstStyle/>
            <a:p>
              <a:pPr algn="ctr"/>
              <a:r>
                <a:rPr sz="850" b="1" i="0">
                  <a:solidFill>
                    <a:srgbClr val="FFFFFF"/>
                  </a:solidFill>
                  <a:latin typeface="Times New Roman" panose="02020603050405020304" pitchFamily="18" charset="0"/>
                  <a:cs typeface="Times New Roman" panose="02020603050405020304" pitchFamily="18" charset="0"/>
                </a:rPr>
                <a:t>Mkt Cap ($B)</a:t>
              </a:r>
            </a:p>
          </p:txBody>
        </p:sp>
        <p:sp>
          <p:nvSpPr>
            <p:cNvPr id="18" name="Rectangle 17"/>
            <p:cNvSpPr/>
            <p:nvPr/>
          </p:nvSpPr>
          <p:spPr>
            <a:xfrm>
              <a:off x="2880360" y="850392"/>
              <a:ext cx="822960" cy="233172"/>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9" name="TextBox 18"/>
            <p:cNvSpPr txBox="1"/>
            <p:nvPr/>
          </p:nvSpPr>
          <p:spPr>
            <a:xfrm>
              <a:off x="2916936" y="868680"/>
              <a:ext cx="749808" cy="353943"/>
            </a:xfrm>
            <a:prstGeom prst="rect">
              <a:avLst/>
            </a:prstGeom>
            <a:noFill/>
          </p:spPr>
          <p:txBody>
            <a:bodyPr wrap="square">
              <a:spAutoFit/>
            </a:bodyPr>
            <a:lstStyle/>
            <a:p>
              <a:pPr algn="ctr"/>
              <a:r>
                <a:rPr sz="850" b="1" i="0">
                  <a:solidFill>
                    <a:srgbClr val="FFFFFF"/>
                  </a:solidFill>
                  <a:latin typeface="Times New Roman" panose="02020603050405020304" pitchFamily="18" charset="0"/>
                  <a:cs typeface="Times New Roman" panose="02020603050405020304" pitchFamily="18" charset="0"/>
                </a:rPr>
                <a:t>EV/EBITDA</a:t>
              </a:r>
            </a:p>
          </p:txBody>
        </p:sp>
        <p:sp>
          <p:nvSpPr>
            <p:cNvPr id="20" name="Rectangle 19"/>
            <p:cNvSpPr/>
            <p:nvPr/>
          </p:nvSpPr>
          <p:spPr>
            <a:xfrm>
              <a:off x="3703320" y="850392"/>
              <a:ext cx="822960" cy="233172"/>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1" name="TextBox 20"/>
            <p:cNvSpPr txBox="1"/>
            <p:nvPr/>
          </p:nvSpPr>
          <p:spPr>
            <a:xfrm>
              <a:off x="3739896" y="868680"/>
              <a:ext cx="749808" cy="223138"/>
            </a:xfrm>
            <a:prstGeom prst="rect">
              <a:avLst/>
            </a:prstGeom>
            <a:noFill/>
          </p:spPr>
          <p:txBody>
            <a:bodyPr wrap="square">
              <a:spAutoFit/>
            </a:bodyPr>
            <a:lstStyle/>
            <a:p>
              <a:pPr algn="ctr"/>
              <a:r>
                <a:rPr sz="850" b="1" i="0">
                  <a:solidFill>
                    <a:srgbClr val="FFFFFF"/>
                  </a:solidFill>
                  <a:latin typeface="Times New Roman" panose="02020603050405020304" pitchFamily="18" charset="0"/>
                  <a:cs typeface="Times New Roman" panose="02020603050405020304" pitchFamily="18" charset="0"/>
                </a:rPr>
                <a:t>P/E (Adj)</a:t>
              </a:r>
            </a:p>
          </p:txBody>
        </p:sp>
        <p:sp>
          <p:nvSpPr>
            <p:cNvPr id="22" name="Rectangle 21"/>
            <p:cNvSpPr/>
            <p:nvPr/>
          </p:nvSpPr>
          <p:spPr>
            <a:xfrm>
              <a:off x="4526280" y="850392"/>
              <a:ext cx="822960" cy="233172"/>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3" name="TextBox 22"/>
            <p:cNvSpPr txBox="1"/>
            <p:nvPr/>
          </p:nvSpPr>
          <p:spPr>
            <a:xfrm>
              <a:off x="4562856" y="868680"/>
              <a:ext cx="749808" cy="223138"/>
            </a:xfrm>
            <a:prstGeom prst="rect">
              <a:avLst/>
            </a:prstGeom>
            <a:noFill/>
          </p:spPr>
          <p:txBody>
            <a:bodyPr wrap="square">
              <a:spAutoFit/>
            </a:bodyPr>
            <a:lstStyle/>
            <a:p>
              <a:pPr algn="ctr"/>
              <a:r>
                <a:rPr sz="850" b="1" i="0">
                  <a:solidFill>
                    <a:srgbClr val="FFFFFF"/>
                  </a:solidFill>
                  <a:latin typeface="Times New Roman" panose="02020603050405020304" pitchFamily="18" charset="0"/>
                  <a:cs typeface="Times New Roman" panose="02020603050405020304" pitchFamily="18" charset="0"/>
                </a:rPr>
                <a:t>P/Sales</a:t>
              </a:r>
            </a:p>
          </p:txBody>
        </p:sp>
        <p:sp>
          <p:nvSpPr>
            <p:cNvPr id="24" name="Rectangle 23"/>
            <p:cNvSpPr/>
            <p:nvPr/>
          </p:nvSpPr>
          <p:spPr>
            <a:xfrm>
              <a:off x="5349240" y="850392"/>
              <a:ext cx="822960" cy="233172"/>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5" name="TextBox 24"/>
            <p:cNvSpPr txBox="1"/>
            <p:nvPr/>
          </p:nvSpPr>
          <p:spPr>
            <a:xfrm>
              <a:off x="5385816" y="868680"/>
              <a:ext cx="749808" cy="223138"/>
            </a:xfrm>
            <a:prstGeom prst="rect">
              <a:avLst/>
            </a:prstGeom>
            <a:noFill/>
          </p:spPr>
          <p:txBody>
            <a:bodyPr wrap="square">
              <a:spAutoFit/>
            </a:bodyPr>
            <a:lstStyle/>
            <a:p>
              <a:pPr algn="ctr"/>
              <a:r>
                <a:rPr sz="850" b="1" i="0">
                  <a:solidFill>
                    <a:srgbClr val="FFFFFF"/>
                  </a:solidFill>
                  <a:latin typeface="Times New Roman" panose="02020603050405020304" pitchFamily="18" charset="0"/>
                  <a:cs typeface="Times New Roman" panose="02020603050405020304" pitchFamily="18" charset="0"/>
                </a:rPr>
                <a:t>P/FCF</a:t>
              </a:r>
            </a:p>
          </p:txBody>
        </p:sp>
        <p:sp>
          <p:nvSpPr>
            <p:cNvPr id="26" name="Rectangle 25"/>
            <p:cNvSpPr/>
            <p:nvPr/>
          </p:nvSpPr>
          <p:spPr>
            <a:xfrm>
              <a:off x="6172200" y="850392"/>
              <a:ext cx="960120" cy="233172"/>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7" name="TextBox 26"/>
            <p:cNvSpPr txBox="1"/>
            <p:nvPr/>
          </p:nvSpPr>
          <p:spPr>
            <a:xfrm>
              <a:off x="6208776" y="868680"/>
              <a:ext cx="886968" cy="223138"/>
            </a:xfrm>
            <a:prstGeom prst="rect">
              <a:avLst/>
            </a:prstGeom>
            <a:noFill/>
          </p:spPr>
          <p:txBody>
            <a:bodyPr wrap="square">
              <a:spAutoFit/>
            </a:bodyPr>
            <a:lstStyle/>
            <a:p>
              <a:pPr algn="ctr"/>
              <a:r>
                <a:rPr sz="850" b="1" i="0">
                  <a:solidFill>
                    <a:srgbClr val="FFFFFF"/>
                  </a:solidFill>
                  <a:latin typeface="Times New Roman" panose="02020603050405020304" pitchFamily="18" charset="0"/>
                  <a:cs typeface="Times New Roman" panose="02020603050405020304" pitchFamily="18" charset="0"/>
                </a:rPr>
                <a:t>FCF Margin</a:t>
              </a:r>
            </a:p>
          </p:txBody>
        </p:sp>
        <p:sp>
          <p:nvSpPr>
            <p:cNvPr id="28" name="Rectangle 27"/>
            <p:cNvSpPr/>
            <p:nvPr/>
          </p:nvSpPr>
          <p:spPr>
            <a:xfrm>
              <a:off x="182880" y="1083564"/>
              <a:ext cx="114300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9" name="TextBox 28"/>
            <p:cNvSpPr txBox="1"/>
            <p:nvPr/>
          </p:nvSpPr>
          <p:spPr>
            <a:xfrm>
              <a:off x="219456" y="1101852"/>
              <a:ext cx="1069848" cy="223138"/>
            </a:xfrm>
            <a:prstGeom prst="rect">
              <a:avLst/>
            </a:prstGeom>
            <a:noFill/>
          </p:spPr>
          <p:txBody>
            <a:bodyPr wrap="square">
              <a:spAutoFit/>
            </a:bodyPr>
            <a:lstStyle/>
            <a:p>
              <a:pPr algn="l"/>
              <a:r>
                <a:rPr sz="850" b="1" i="0">
                  <a:solidFill>
                    <a:srgbClr val="1F1F1F"/>
                  </a:solidFill>
                  <a:latin typeface="Times New Roman" panose="02020603050405020304" pitchFamily="18" charset="0"/>
                  <a:cs typeface="Times New Roman" panose="02020603050405020304" pitchFamily="18" charset="0"/>
                </a:rPr>
                <a:t>Walmart Inc.</a:t>
              </a:r>
            </a:p>
          </p:txBody>
        </p:sp>
        <p:sp>
          <p:nvSpPr>
            <p:cNvPr id="30" name="Rectangle 29"/>
            <p:cNvSpPr/>
            <p:nvPr/>
          </p:nvSpPr>
          <p:spPr>
            <a:xfrm>
              <a:off x="1325880" y="1083564"/>
              <a:ext cx="59436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1" name="TextBox 30"/>
            <p:cNvSpPr txBox="1"/>
            <p:nvPr/>
          </p:nvSpPr>
          <p:spPr>
            <a:xfrm>
              <a:off x="1362456" y="1101852"/>
              <a:ext cx="52120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WMT</a:t>
              </a:r>
            </a:p>
          </p:txBody>
        </p:sp>
        <p:sp>
          <p:nvSpPr>
            <p:cNvPr id="32" name="Rectangle 31"/>
            <p:cNvSpPr/>
            <p:nvPr/>
          </p:nvSpPr>
          <p:spPr>
            <a:xfrm>
              <a:off x="1920240" y="1083564"/>
              <a:ext cx="96012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3" name="TextBox 32"/>
            <p:cNvSpPr txBox="1"/>
            <p:nvPr/>
          </p:nvSpPr>
          <p:spPr>
            <a:xfrm>
              <a:off x="1956816" y="1101852"/>
              <a:ext cx="88696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~$1,016</a:t>
              </a:r>
            </a:p>
          </p:txBody>
        </p:sp>
        <p:sp>
          <p:nvSpPr>
            <p:cNvPr id="34" name="Rectangle 33"/>
            <p:cNvSpPr/>
            <p:nvPr/>
          </p:nvSpPr>
          <p:spPr>
            <a:xfrm>
              <a:off x="2880360" y="1083564"/>
              <a:ext cx="82296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5" name="TextBox 34"/>
            <p:cNvSpPr txBox="1"/>
            <p:nvPr/>
          </p:nvSpPr>
          <p:spPr>
            <a:xfrm>
              <a:off x="2916936" y="1101852"/>
              <a:ext cx="74980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23.9x</a:t>
              </a:r>
            </a:p>
          </p:txBody>
        </p:sp>
        <p:sp>
          <p:nvSpPr>
            <p:cNvPr id="36" name="Rectangle 35"/>
            <p:cNvSpPr/>
            <p:nvPr/>
          </p:nvSpPr>
          <p:spPr>
            <a:xfrm>
              <a:off x="3703320" y="1083564"/>
              <a:ext cx="82296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7" name="TextBox 36"/>
            <p:cNvSpPr txBox="1"/>
            <p:nvPr/>
          </p:nvSpPr>
          <p:spPr>
            <a:xfrm>
              <a:off x="3739896" y="1101852"/>
              <a:ext cx="74980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46.7x</a:t>
              </a:r>
            </a:p>
          </p:txBody>
        </p:sp>
        <p:sp>
          <p:nvSpPr>
            <p:cNvPr id="38" name="Rectangle 37"/>
            <p:cNvSpPr/>
            <p:nvPr/>
          </p:nvSpPr>
          <p:spPr>
            <a:xfrm>
              <a:off x="4526280" y="1083564"/>
              <a:ext cx="82296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9" name="TextBox 38"/>
            <p:cNvSpPr txBox="1"/>
            <p:nvPr/>
          </p:nvSpPr>
          <p:spPr>
            <a:xfrm>
              <a:off x="4562856" y="1101852"/>
              <a:ext cx="74980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1.44x</a:t>
              </a:r>
            </a:p>
          </p:txBody>
        </p:sp>
        <p:sp>
          <p:nvSpPr>
            <p:cNvPr id="40" name="Rectangle 39"/>
            <p:cNvSpPr/>
            <p:nvPr/>
          </p:nvSpPr>
          <p:spPr>
            <a:xfrm>
              <a:off x="5349240" y="1083564"/>
              <a:ext cx="82296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1" name="TextBox 40"/>
            <p:cNvSpPr txBox="1"/>
            <p:nvPr/>
          </p:nvSpPr>
          <p:spPr>
            <a:xfrm>
              <a:off x="5385816" y="1101852"/>
              <a:ext cx="74980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68.1x</a:t>
              </a:r>
            </a:p>
          </p:txBody>
        </p:sp>
        <p:sp>
          <p:nvSpPr>
            <p:cNvPr id="42" name="Rectangle 41"/>
            <p:cNvSpPr/>
            <p:nvPr/>
          </p:nvSpPr>
          <p:spPr>
            <a:xfrm>
              <a:off x="6172200" y="1083564"/>
              <a:ext cx="96012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3" name="TextBox 42"/>
            <p:cNvSpPr txBox="1"/>
            <p:nvPr/>
          </p:nvSpPr>
          <p:spPr>
            <a:xfrm>
              <a:off x="6208776" y="1101852"/>
              <a:ext cx="88696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2.1%</a:t>
              </a:r>
            </a:p>
          </p:txBody>
        </p:sp>
        <p:sp>
          <p:nvSpPr>
            <p:cNvPr id="44" name="Rectangle 43"/>
            <p:cNvSpPr/>
            <p:nvPr/>
          </p:nvSpPr>
          <p:spPr>
            <a:xfrm>
              <a:off x="182880" y="1316736"/>
              <a:ext cx="114300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5" name="TextBox 44"/>
            <p:cNvSpPr txBox="1"/>
            <p:nvPr/>
          </p:nvSpPr>
          <p:spPr>
            <a:xfrm>
              <a:off x="219456" y="1335024"/>
              <a:ext cx="1069848" cy="223138"/>
            </a:xfrm>
            <a:prstGeom prst="rect">
              <a:avLst/>
            </a:prstGeom>
            <a:noFill/>
          </p:spPr>
          <p:txBody>
            <a:bodyPr wrap="square">
              <a:spAutoFit/>
            </a:bodyPr>
            <a:lstStyle/>
            <a:p>
              <a:pPr algn="l"/>
              <a:r>
                <a:rPr sz="850" b="1" i="0">
                  <a:solidFill>
                    <a:srgbClr val="1F1F1F"/>
                  </a:solidFill>
                  <a:latin typeface="Times New Roman" panose="02020603050405020304" pitchFamily="18" charset="0"/>
                  <a:cs typeface="Times New Roman" panose="02020603050405020304" pitchFamily="18" charset="0"/>
                </a:rPr>
                <a:t>Target Corp.</a:t>
              </a:r>
            </a:p>
          </p:txBody>
        </p:sp>
        <p:sp>
          <p:nvSpPr>
            <p:cNvPr id="46" name="Rectangle 45"/>
            <p:cNvSpPr/>
            <p:nvPr/>
          </p:nvSpPr>
          <p:spPr>
            <a:xfrm>
              <a:off x="1325880" y="1316736"/>
              <a:ext cx="59436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7" name="TextBox 46"/>
            <p:cNvSpPr txBox="1"/>
            <p:nvPr/>
          </p:nvSpPr>
          <p:spPr>
            <a:xfrm>
              <a:off x="1362456" y="1335024"/>
              <a:ext cx="52120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TGT</a:t>
              </a:r>
            </a:p>
          </p:txBody>
        </p:sp>
        <p:sp>
          <p:nvSpPr>
            <p:cNvPr id="48" name="Rectangle 47"/>
            <p:cNvSpPr/>
            <p:nvPr/>
          </p:nvSpPr>
          <p:spPr>
            <a:xfrm>
              <a:off x="1920240" y="1316736"/>
              <a:ext cx="96012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9" name="TextBox 48"/>
            <p:cNvSpPr txBox="1"/>
            <p:nvPr/>
          </p:nvSpPr>
          <p:spPr>
            <a:xfrm>
              <a:off x="1956816" y="1335024"/>
              <a:ext cx="88696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~$47</a:t>
              </a:r>
            </a:p>
          </p:txBody>
        </p:sp>
        <p:sp>
          <p:nvSpPr>
            <p:cNvPr id="50" name="Rectangle 49"/>
            <p:cNvSpPr/>
            <p:nvPr/>
          </p:nvSpPr>
          <p:spPr>
            <a:xfrm>
              <a:off x="2880360" y="1316736"/>
              <a:ext cx="82296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1" name="TextBox 50"/>
            <p:cNvSpPr txBox="1"/>
            <p:nvPr/>
          </p:nvSpPr>
          <p:spPr>
            <a:xfrm>
              <a:off x="2916936" y="1335024"/>
              <a:ext cx="74980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7.5x</a:t>
              </a:r>
            </a:p>
          </p:txBody>
        </p:sp>
        <p:sp>
          <p:nvSpPr>
            <p:cNvPr id="52" name="Rectangle 51"/>
            <p:cNvSpPr/>
            <p:nvPr/>
          </p:nvSpPr>
          <p:spPr>
            <a:xfrm>
              <a:off x="3703320" y="1316736"/>
              <a:ext cx="82296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3" name="TextBox 52"/>
            <p:cNvSpPr txBox="1"/>
            <p:nvPr/>
          </p:nvSpPr>
          <p:spPr>
            <a:xfrm>
              <a:off x="3739896" y="1335024"/>
              <a:ext cx="74980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12.0x</a:t>
              </a:r>
            </a:p>
          </p:txBody>
        </p:sp>
        <p:sp>
          <p:nvSpPr>
            <p:cNvPr id="54" name="Rectangle 53"/>
            <p:cNvSpPr/>
            <p:nvPr/>
          </p:nvSpPr>
          <p:spPr>
            <a:xfrm>
              <a:off x="4526280" y="1316736"/>
              <a:ext cx="82296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5" name="TextBox 54"/>
            <p:cNvSpPr txBox="1"/>
            <p:nvPr/>
          </p:nvSpPr>
          <p:spPr>
            <a:xfrm>
              <a:off x="4562856" y="1335024"/>
              <a:ext cx="74980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0.50x</a:t>
              </a:r>
            </a:p>
          </p:txBody>
        </p:sp>
        <p:sp>
          <p:nvSpPr>
            <p:cNvPr id="56" name="Rectangle 55"/>
            <p:cNvSpPr/>
            <p:nvPr/>
          </p:nvSpPr>
          <p:spPr>
            <a:xfrm>
              <a:off x="5349240" y="1316736"/>
              <a:ext cx="82296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7" name="TextBox 56"/>
            <p:cNvSpPr txBox="1"/>
            <p:nvPr/>
          </p:nvSpPr>
          <p:spPr>
            <a:xfrm>
              <a:off x="5385816" y="1335024"/>
              <a:ext cx="74980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18.0x</a:t>
              </a:r>
            </a:p>
          </p:txBody>
        </p:sp>
        <p:sp>
          <p:nvSpPr>
            <p:cNvPr id="58" name="Rectangle 57"/>
            <p:cNvSpPr/>
            <p:nvPr/>
          </p:nvSpPr>
          <p:spPr>
            <a:xfrm>
              <a:off x="6172200" y="1316736"/>
              <a:ext cx="96012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9" name="TextBox 58"/>
            <p:cNvSpPr txBox="1"/>
            <p:nvPr/>
          </p:nvSpPr>
          <p:spPr>
            <a:xfrm>
              <a:off x="6208776" y="1335024"/>
              <a:ext cx="88696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2.7%</a:t>
              </a:r>
            </a:p>
          </p:txBody>
        </p:sp>
        <p:sp>
          <p:nvSpPr>
            <p:cNvPr id="60" name="Rectangle 59"/>
            <p:cNvSpPr/>
            <p:nvPr/>
          </p:nvSpPr>
          <p:spPr>
            <a:xfrm>
              <a:off x="182880" y="1549908"/>
              <a:ext cx="114300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61" name="TextBox 60"/>
            <p:cNvSpPr txBox="1"/>
            <p:nvPr/>
          </p:nvSpPr>
          <p:spPr>
            <a:xfrm>
              <a:off x="219456" y="1568196"/>
              <a:ext cx="1069848" cy="223138"/>
            </a:xfrm>
            <a:prstGeom prst="rect">
              <a:avLst/>
            </a:prstGeom>
            <a:noFill/>
          </p:spPr>
          <p:txBody>
            <a:bodyPr wrap="square">
              <a:spAutoFit/>
            </a:bodyPr>
            <a:lstStyle/>
            <a:p>
              <a:pPr algn="l"/>
              <a:r>
                <a:rPr sz="850" b="1" i="0">
                  <a:solidFill>
                    <a:srgbClr val="1F1F1F"/>
                  </a:solidFill>
                  <a:latin typeface="Times New Roman" panose="02020603050405020304" pitchFamily="18" charset="0"/>
                  <a:cs typeface="Times New Roman" panose="02020603050405020304" pitchFamily="18" charset="0"/>
                </a:rPr>
                <a:t>Costco Wholesale</a:t>
              </a:r>
            </a:p>
          </p:txBody>
        </p:sp>
        <p:sp>
          <p:nvSpPr>
            <p:cNvPr id="62" name="Rectangle 61"/>
            <p:cNvSpPr/>
            <p:nvPr/>
          </p:nvSpPr>
          <p:spPr>
            <a:xfrm>
              <a:off x="1325880" y="1549908"/>
              <a:ext cx="59436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63" name="TextBox 62"/>
            <p:cNvSpPr txBox="1"/>
            <p:nvPr/>
          </p:nvSpPr>
          <p:spPr>
            <a:xfrm>
              <a:off x="1362456" y="1568196"/>
              <a:ext cx="52120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COST</a:t>
              </a:r>
            </a:p>
          </p:txBody>
        </p:sp>
        <p:sp>
          <p:nvSpPr>
            <p:cNvPr id="64" name="Rectangle 63"/>
            <p:cNvSpPr/>
            <p:nvPr/>
          </p:nvSpPr>
          <p:spPr>
            <a:xfrm>
              <a:off x="1920240" y="1549908"/>
              <a:ext cx="96012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65" name="TextBox 64"/>
            <p:cNvSpPr txBox="1"/>
            <p:nvPr/>
          </p:nvSpPr>
          <p:spPr>
            <a:xfrm>
              <a:off x="1956816" y="1568196"/>
              <a:ext cx="88696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~$420</a:t>
              </a:r>
            </a:p>
          </p:txBody>
        </p:sp>
        <p:sp>
          <p:nvSpPr>
            <p:cNvPr id="66" name="Rectangle 65"/>
            <p:cNvSpPr/>
            <p:nvPr/>
          </p:nvSpPr>
          <p:spPr>
            <a:xfrm>
              <a:off x="2880360" y="1549908"/>
              <a:ext cx="82296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67" name="TextBox 66"/>
            <p:cNvSpPr txBox="1"/>
            <p:nvPr/>
          </p:nvSpPr>
          <p:spPr>
            <a:xfrm>
              <a:off x="2916936" y="1568196"/>
              <a:ext cx="74980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30.0x</a:t>
              </a:r>
            </a:p>
          </p:txBody>
        </p:sp>
        <p:sp>
          <p:nvSpPr>
            <p:cNvPr id="68" name="Rectangle 67"/>
            <p:cNvSpPr/>
            <p:nvPr/>
          </p:nvSpPr>
          <p:spPr>
            <a:xfrm>
              <a:off x="3703320" y="1549908"/>
              <a:ext cx="82296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69" name="TextBox 68"/>
            <p:cNvSpPr txBox="1"/>
            <p:nvPr/>
          </p:nvSpPr>
          <p:spPr>
            <a:xfrm>
              <a:off x="3739896" y="1568196"/>
              <a:ext cx="74980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52.0x</a:t>
              </a:r>
            </a:p>
          </p:txBody>
        </p:sp>
        <p:sp>
          <p:nvSpPr>
            <p:cNvPr id="70" name="Rectangle 69"/>
            <p:cNvSpPr/>
            <p:nvPr/>
          </p:nvSpPr>
          <p:spPr>
            <a:xfrm>
              <a:off x="4526280" y="1549908"/>
              <a:ext cx="82296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1" name="TextBox 70"/>
            <p:cNvSpPr txBox="1"/>
            <p:nvPr/>
          </p:nvSpPr>
          <p:spPr>
            <a:xfrm>
              <a:off x="4562856" y="1568196"/>
              <a:ext cx="74980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1.10x</a:t>
              </a:r>
            </a:p>
          </p:txBody>
        </p:sp>
        <p:sp>
          <p:nvSpPr>
            <p:cNvPr id="72" name="Rectangle 71"/>
            <p:cNvSpPr/>
            <p:nvPr/>
          </p:nvSpPr>
          <p:spPr>
            <a:xfrm>
              <a:off x="5349240" y="1549908"/>
              <a:ext cx="82296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3" name="TextBox 72"/>
            <p:cNvSpPr txBox="1"/>
            <p:nvPr/>
          </p:nvSpPr>
          <p:spPr>
            <a:xfrm>
              <a:off x="5385816" y="1568196"/>
              <a:ext cx="74980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55.0x</a:t>
              </a:r>
            </a:p>
          </p:txBody>
        </p:sp>
        <p:sp>
          <p:nvSpPr>
            <p:cNvPr id="74" name="Rectangle 73"/>
            <p:cNvSpPr/>
            <p:nvPr/>
          </p:nvSpPr>
          <p:spPr>
            <a:xfrm>
              <a:off x="6172200" y="1549908"/>
              <a:ext cx="96012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5" name="TextBox 74"/>
            <p:cNvSpPr txBox="1"/>
            <p:nvPr/>
          </p:nvSpPr>
          <p:spPr>
            <a:xfrm>
              <a:off x="6208776" y="1568196"/>
              <a:ext cx="88696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2.4%</a:t>
              </a:r>
            </a:p>
          </p:txBody>
        </p:sp>
        <p:sp>
          <p:nvSpPr>
            <p:cNvPr id="76" name="Rectangle 75"/>
            <p:cNvSpPr/>
            <p:nvPr/>
          </p:nvSpPr>
          <p:spPr>
            <a:xfrm>
              <a:off x="182880" y="1783080"/>
              <a:ext cx="114300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7" name="TextBox 76"/>
            <p:cNvSpPr txBox="1"/>
            <p:nvPr/>
          </p:nvSpPr>
          <p:spPr>
            <a:xfrm>
              <a:off x="219456" y="1801368"/>
              <a:ext cx="1069848" cy="223138"/>
            </a:xfrm>
            <a:prstGeom prst="rect">
              <a:avLst/>
            </a:prstGeom>
            <a:noFill/>
          </p:spPr>
          <p:txBody>
            <a:bodyPr wrap="square">
              <a:spAutoFit/>
            </a:bodyPr>
            <a:lstStyle/>
            <a:p>
              <a:pPr algn="l"/>
              <a:r>
                <a:rPr sz="850" b="1" i="0">
                  <a:solidFill>
                    <a:srgbClr val="1F1F1F"/>
                  </a:solidFill>
                  <a:latin typeface="Times New Roman" panose="02020603050405020304" pitchFamily="18" charset="0"/>
                  <a:cs typeface="Times New Roman" panose="02020603050405020304" pitchFamily="18" charset="0"/>
                </a:rPr>
                <a:t>Amazon.com</a:t>
              </a:r>
            </a:p>
          </p:txBody>
        </p:sp>
        <p:sp>
          <p:nvSpPr>
            <p:cNvPr id="78" name="Rectangle 77"/>
            <p:cNvSpPr/>
            <p:nvPr/>
          </p:nvSpPr>
          <p:spPr>
            <a:xfrm>
              <a:off x="1325880" y="1783080"/>
              <a:ext cx="59436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9" name="TextBox 78"/>
            <p:cNvSpPr txBox="1"/>
            <p:nvPr/>
          </p:nvSpPr>
          <p:spPr>
            <a:xfrm>
              <a:off x="1362456" y="1801368"/>
              <a:ext cx="52120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AMZN</a:t>
              </a:r>
            </a:p>
          </p:txBody>
        </p:sp>
        <p:sp>
          <p:nvSpPr>
            <p:cNvPr id="80" name="Rectangle 79"/>
            <p:cNvSpPr/>
            <p:nvPr/>
          </p:nvSpPr>
          <p:spPr>
            <a:xfrm>
              <a:off x="1920240" y="1783080"/>
              <a:ext cx="96012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81" name="TextBox 80"/>
            <p:cNvSpPr txBox="1"/>
            <p:nvPr/>
          </p:nvSpPr>
          <p:spPr>
            <a:xfrm>
              <a:off x="1956816" y="1801368"/>
              <a:ext cx="88696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~$2,100</a:t>
              </a:r>
            </a:p>
          </p:txBody>
        </p:sp>
        <p:sp>
          <p:nvSpPr>
            <p:cNvPr id="82" name="Rectangle 81"/>
            <p:cNvSpPr/>
            <p:nvPr/>
          </p:nvSpPr>
          <p:spPr>
            <a:xfrm>
              <a:off x="2880360" y="1783080"/>
              <a:ext cx="82296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83" name="TextBox 82"/>
            <p:cNvSpPr txBox="1"/>
            <p:nvPr/>
          </p:nvSpPr>
          <p:spPr>
            <a:xfrm>
              <a:off x="2916936" y="1801368"/>
              <a:ext cx="74980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20.0x</a:t>
              </a:r>
            </a:p>
          </p:txBody>
        </p:sp>
        <p:sp>
          <p:nvSpPr>
            <p:cNvPr id="84" name="Rectangle 83"/>
            <p:cNvSpPr/>
            <p:nvPr/>
          </p:nvSpPr>
          <p:spPr>
            <a:xfrm>
              <a:off x="3703320" y="1783080"/>
              <a:ext cx="82296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85" name="TextBox 84"/>
            <p:cNvSpPr txBox="1"/>
            <p:nvPr/>
          </p:nvSpPr>
          <p:spPr>
            <a:xfrm>
              <a:off x="3739896" y="1801368"/>
              <a:ext cx="74980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38.0x</a:t>
              </a:r>
            </a:p>
          </p:txBody>
        </p:sp>
        <p:sp>
          <p:nvSpPr>
            <p:cNvPr id="86" name="Rectangle 85"/>
            <p:cNvSpPr/>
            <p:nvPr/>
          </p:nvSpPr>
          <p:spPr>
            <a:xfrm>
              <a:off x="4526280" y="1783080"/>
              <a:ext cx="82296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87" name="TextBox 86"/>
            <p:cNvSpPr txBox="1"/>
            <p:nvPr/>
          </p:nvSpPr>
          <p:spPr>
            <a:xfrm>
              <a:off x="4562856" y="1801368"/>
              <a:ext cx="74980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3.50x</a:t>
              </a:r>
            </a:p>
          </p:txBody>
        </p:sp>
        <p:sp>
          <p:nvSpPr>
            <p:cNvPr id="88" name="Rectangle 87"/>
            <p:cNvSpPr/>
            <p:nvPr/>
          </p:nvSpPr>
          <p:spPr>
            <a:xfrm>
              <a:off x="5349240" y="1783080"/>
              <a:ext cx="82296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89" name="TextBox 88"/>
            <p:cNvSpPr txBox="1"/>
            <p:nvPr/>
          </p:nvSpPr>
          <p:spPr>
            <a:xfrm>
              <a:off x="5385816" y="1801368"/>
              <a:ext cx="74980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35.0x</a:t>
              </a:r>
            </a:p>
          </p:txBody>
        </p:sp>
        <p:sp>
          <p:nvSpPr>
            <p:cNvPr id="90" name="Rectangle 89"/>
            <p:cNvSpPr/>
            <p:nvPr/>
          </p:nvSpPr>
          <p:spPr>
            <a:xfrm>
              <a:off x="6172200" y="1783080"/>
              <a:ext cx="96012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91" name="TextBox 90"/>
            <p:cNvSpPr txBox="1"/>
            <p:nvPr/>
          </p:nvSpPr>
          <p:spPr>
            <a:xfrm>
              <a:off x="6208776" y="1801368"/>
              <a:ext cx="88696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9.8%</a:t>
              </a:r>
            </a:p>
          </p:txBody>
        </p:sp>
        <p:sp>
          <p:nvSpPr>
            <p:cNvPr id="92" name="Rectangle 91"/>
            <p:cNvSpPr/>
            <p:nvPr/>
          </p:nvSpPr>
          <p:spPr>
            <a:xfrm>
              <a:off x="182880" y="2290572"/>
              <a:ext cx="3200400" cy="201168"/>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93" name="TextBox 92"/>
            <p:cNvSpPr txBox="1"/>
            <p:nvPr/>
          </p:nvSpPr>
          <p:spPr>
            <a:xfrm>
              <a:off x="237744" y="2308860"/>
              <a:ext cx="3090672" cy="207749"/>
            </a:xfrm>
            <a:prstGeom prst="rect">
              <a:avLst/>
            </a:prstGeom>
            <a:noFill/>
          </p:spPr>
          <p:txBody>
            <a:bodyPr wrap="square">
              <a:spAutoFit/>
            </a:bodyPr>
            <a:lstStyle/>
            <a:p>
              <a:pPr algn="l"/>
              <a:r>
                <a:rPr sz="750" b="1" i="0">
                  <a:solidFill>
                    <a:srgbClr val="FFFFFF"/>
                  </a:solidFill>
                  <a:latin typeface="Times New Roman" panose="02020603050405020304" pitchFamily="18" charset="0"/>
                  <a:cs typeface="Times New Roman" panose="02020603050405020304" pitchFamily="18" charset="0"/>
                </a:rPr>
                <a:t>FIGURE 10: MARKET MULTIPLIERS — IMPLIED WMT PRICE</a:t>
              </a:r>
            </a:p>
          </p:txBody>
        </p:sp>
        <p:sp>
          <p:nvSpPr>
            <p:cNvPr id="94" name="Rectangle 93"/>
            <p:cNvSpPr/>
            <p:nvPr/>
          </p:nvSpPr>
          <p:spPr>
            <a:xfrm>
              <a:off x="182880" y="2519172"/>
              <a:ext cx="868680" cy="233172"/>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95" name="TextBox 94"/>
            <p:cNvSpPr txBox="1"/>
            <p:nvPr/>
          </p:nvSpPr>
          <p:spPr>
            <a:xfrm>
              <a:off x="219456" y="2537460"/>
              <a:ext cx="795528" cy="223138"/>
            </a:xfrm>
            <a:prstGeom prst="rect">
              <a:avLst/>
            </a:prstGeom>
            <a:noFill/>
          </p:spPr>
          <p:txBody>
            <a:bodyPr wrap="square">
              <a:spAutoFit/>
            </a:bodyPr>
            <a:lstStyle/>
            <a:p>
              <a:pPr algn="ctr"/>
              <a:r>
                <a:rPr sz="850" b="1" i="0">
                  <a:solidFill>
                    <a:srgbClr val="FFFFFF"/>
                  </a:solidFill>
                  <a:latin typeface="Times New Roman" panose="02020603050405020304" pitchFamily="18" charset="0"/>
                  <a:cs typeface="Times New Roman" panose="02020603050405020304" pitchFamily="18" charset="0"/>
                </a:rPr>
                <a:t>Multiple</a:t>
              </a:r>
            </a:p>
          </p:txBody>
        </p:sp>
        <p:sp>
          <p:nvSpPr>
            <p:cNvPr id="96" name="Rectangle 95"/>
            <p:cNvSpPr/>
            <p:nvPr/>
          </p:nvSpPr>
          <p:spPr>
            <a:xfrm>
              <a:off x="1051560" y="2519172"/>
              <a:ext cx="868680" cy="233172"/>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97" name="TextBox 96"/>
            <p:cNvSpPr txBox="1"/>
            <p:nvPr/>
          </p:nvSpPr>
          <p:spPr>
            <a:xfrm>
              <a:off x="1088136" y="2537460"/>
              <a:ext cx="795528" cy="223138"/>
            </a:xfrm>
            <a:prstGeom prst="rect">
              <a:avLst/>
            </a:prstGeom>
            <a:noFill/>
          </p:spPr>
          <p:txBody>
            <a:bodyPr wrap="square">
              <a:spAutoFit/>
            </a:bodyPr>
            <a:lstStyle/>
            <a:p>
              <a:pPr algn="ctr"/>
              <a:r>
                <a:rPr sz="850" b="1" i="0">
                  <a:solidFill>
                    <a:srgbClr val="FFFFFF"/>
                  </a:solidFill>
                  <a:latin typeface="Times New Roman" panose="02020603050405020304" pitchFamily="18" charset="0"/>
                  <a:cs typeface="Times New Roman" panose="02020603050405020304" pitchFamily="18" charset="0"/>
                </a:rPr>
                <a:t>TGT</a:t>
              </a:r>
            </a:p>
          </p:txBody>
        </p:sp>
        <p:sp>
          <p:nvSpPr>
            <p:cNvPr id="98" name="Rectangle 97"/>
            <p:cNvSpPr/>
            <p:nvPr/>
          </p:nvSpPr>
          <p:spPr>
            <a:xfrm>
              <a:off x="1920240" y="2519172"/>
              <a:ext cx="868680" cy="233172"/>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99" name="TextBox 98"/>
            <p:cNvSpPr txBox="1"/>
            <p:nvPr/>
          </p:nvSpPr>
          <p:spPr>
            <a:xfrm>
              <a:off x="1956816" y="2537460"/>
              <a:ext cx="795528" cy="223138"/>
            </a:xfrm>
            <a:prstGeom prst="rect">
              <a:avLst/>
            </a:prstGeom>
            <a:noFill/>
          </p:spPr>
          <p:txBody>
            <a:bodyPr wrap="square">
              <a:spAutoFit/>
            </a:bodyPr>
            <a:lstStyle/>
            <a:p>
              <a:pPr algn="ctr"/>
              <a:r>
                <a:rPr sz="850" b="1" i="0">
                  <a:solidFill>
                    <a:srgbClr val="FFFFFF"/>
                  </a:solidFill>
                  <a:latin typeface="Times New Roman" panose="02020603050405020304" pitchFamily="18" charset="0"/>
                  <a:cs typeface="Times New Roman" panose="02020603050405020304" pitchFamily="18" charset="0"/>
                </a:rPr>
                <a:t>COST</a:t>
              </a:r>
            </a:p>
          </p:txBody>
        </p:sp>
        <p:sp>
          <p:nvSpPr>
            <p:cNvPr id="100" name="Rectangle 99"/>
            <p:cNvSpPr/>
            <p:nvPr/>
          </p:nvSpPr>
          <p:spPr>
            <a:xfrm>
              <a:off x="2788920" y="2519172"/>
              <a:ext cx="868680" cy="233172"/>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01" name="TextBox 100"/>
            <p:cNvSpPr txBox="1"/>
            <p:nvPr/>
          </p:nvSpPr>
          <p:spPr>
            <a:xfrm>
              <a:off x="2825496" y="2537460"/>
              <a:ext cx="795528" cy="223138"/>
            </a:xfrm>
            <a:prstGeom prst="rect">
              <a:avLst/>
            </a:prstGeom>
            <a:noFill/>
          </p:spPr>
          <p:txBody>
            <a:bodyPr wrap="square">
              <a:spAutoFit/>
            </a:bodyPr>
            <a:lstStyle/>
            <a:p>
              <a:pPr algn="ctr"/>
              <a:r>
                <a:rPr sz="850" b="1" i="0">
                  <a:solidFill>
                    <a:srgbClr val="FFFFFF"/>
                  </a:solidFill>
                  <a:latin typeface="Times New Roman" panose="02020603050405020304" pitchFamily="18" charset="0"/>
                  <a:cs typeface="Times New Roman" panose="02020603050405020304" pitchFamily="18" charset="0"/>
                </a:rPr>
                <a:t>AMZN</a:t>
              </a:r>
            </a:p>
          </p:txBody>
        </p:sp>
        <p:sp>
          <p:nvSpPr>
            <p:cNvPr id="102" name="Rectangle 101"/>
            <p:cNvSpPr/>
            <p:nvPr/>
          </p:nvSpPr>
          <p:spPr>
            <a:xfrm>
              <a:off x="3657600" y="2519172"/>
              <a:ext cx="2103120" cy="233172"/>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03" name="TextBox 102"/>
            <p:cNvSpPr txBox="1"/>
            <p:nvPr/>
          </p:nvSpPr>
          <p:spPr>
            <a:xfrm>
              <a:off x="3694176" y="2537460"/>
              <a:ext cx="2029968" cy="223138"/>
            </a:xfrm>
            <a:prstGeom prst="rect">
              <a:avLst/>
            </a:prstGeom>
            <a:noFill/>
          </p:spPr>
          <p:txBody>
            <a:bodyPr wrap="square">
              <a:spAutoFit/>
            </a:bodyPr>
            <a:lstStyle/>
            <a:p>
              <a:pPr algn="ctr"/>
              <a:r>
                <a:rPr sz="850" b="1" i="0">
                  <a:solidFill>
                    <a:srgbClr val="FFFFFF"/>
                  </a:solidFill>
                  <a:latin typeface="Times New Roman" panose="02020603050405020304" pitchFamily="18" charset="0"/>
                  <a:cs typeface="Times New Roman" panose="02020603050405020304" pitchFamily="18" charset="0"/>
                </a:rPr>
                <a:t>Average Used</a:t>
              </a:r>
            </a:p>
          </p:txBody>
        </p:sp>
        <p:sp>
          <p:nvSpPr>
            <p:cNvPr id="104" name="Rectangle 103"/>
            <p:cNvSpPr/>
            <p:nvPr/>
          </p:nvSpPr>
          <p:spPr>
            <a:xfrm>
              <a:off x="5760720" y="2519172"/>
              <a:ext cx="1554480" cy="233172"/>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05" name="TextBox 104"/>
            <p:cNvSpPr txBox="1"/>
            <p:nvPr/>
          </p:nvSpPr>
          <p:spPr>
            <a:xfrm>
              <a:off x="5797296" y="2537460"/>
              <a:ext cx="1481328" cy="223138"/>
            </a:xfrm>
            <a:prstGeom prst="rect">
              <a:avLst/>
            </a:prstGeom>
            <a:noFill/>
          </p:spPr>
          <p:txBody>
            <a:bodyPr wrap="square">
              <a:spAutoFit/>
            </a:bodyPr>
            <a:lstStyle/>
            <a:p>
              <a:pPr algn="ctr"/>
              <a:r>
                <a:rPr sz="850" b="1" i="0">
                  <a:solidFill>
                    <a:srgbClr val="FFFFFF"/>
                  </a:solidFill>
                  <a:latin typeface="Times New Roman" panose="02020603050405020304" pitchFamily="18" charset="0"/>
                  <a:cs typeface="Times New Roman" panose="02020603050405020304" pitchFamily="18" charset="0"/>
                </a:rPr>
                <a:t>Implied WMT Price</a:t>
              </a:r>
            </a:p>
          </p:txBody>
        </p:sp>
        <p:sp>
          <p:nvSpPr>
            <p:cNvPr id="106" name="Rectangle 105"/>
            <p:cNvSpPr/>
            <p:nvPr/>
          </p:nvSpPr>
          <p:spPr>
            <a:xfrm>
              <a:off x="182880" y="2752344"/>
              <a:ext cx="86868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07" name="TextBox 106"/>
            <p:cNvSpPr txBox="1"/>
            <p:nvPr/>
          </p:nvSpPr>
          <p:spPr>
            <a:xfrm>
              <a:off x="219456" y="2770632"/>
              <a:ext cx="795528" cy="223138"/>
            </a:xfrm>
            <a:prstGeom prst="rect">
              <a:avLst/>
            </a:prstGeom>
            <a:noFill/>
          </p:spPr>
          <p:txBody>
            <a:bodyPr wrap="square">
              <a:spAutoFit/>
            </a:bodyPr>
            <a:lstStyle/>
            <a:p>
              <a:pPr algn="l"/>
              <a:r>
                <a:rPr sz="850" b="1" i="0">
                  <a:solidFill>
                    <a:srgbClr val="1F1F1F"/>
                  </a:solidFill>
                  <a:latin typeface="Times New Roman" panose="02020603050405020304" pitchFamily="18" charset="0"/>
                  <a:cs typeface="Times New Roman" panose="02020603050405020304" pitchFamily="18" charset="0"/>
                </a:rPr>
                <a:t>P/B</a:t>
              </a:r>
            </a:p>
          </p:txBody>
        </p:sp>
        <p:sp>
          <p:nvSpPr>
            <p:cNvPr id="108" name="Rectangle 107"/>
            <p:cNvSpPr/>
            <p:nvPr/>
          </p:nvSpPr>
          <p:spPr>
            <a:xfrm>
              <a:off x="1051560" y="2752344"/>
              <a:ext cx="86868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09" name="TextBox 108"/>
            <p:cNvSpPr txBox="1"/>
            <p:nvPr/>
          </p:nvSpPr>
          <p:spPr>
            <a:xfrm>
              <a:off x="1088136" y="2770632"/>
              <a:ext cx="79552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3.50x</a:t>
              </a:r>
            </a:p>
          </p:txBody>
        </p:sp>
        <p:sp>
          <p:nvSpPr>
            <p:cNvPr id="110" name="Rectangle 109"/>
            <p:cNvSpPr/>
            <p:nvPr/>
          </p:nvSpPr>
          <p:spPr>
            <a:xfrm>
              <a:off x="1920240" y="2752344"/>
              <a:ext cx="86868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11" name="TextBox 110"/>
            <p:cNvSpPr txBox="1"/>
            <p:nvPr/>
          </p:nvSpPr>
          <p:spPr>
            <a:xfrm>
              <a:off x="1956816" y="2770632"/>
              <a:ext cx="79552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15.00x</a:t>
              </a:r>
            </a:p>
          </p:txBody>
        </p:sp>
        <p:sp>
          <p:nvSpPr>
            <p:cNvPr id="112" name="Rectangle 111"/>
            <p:cNvSpPr/>
            <p:nvPr/>
          </p:nvSpPr>
          <p:spPr>
            <a:xfrm>
              <a:off x="2788920" y="2752344"/>
              <a:ext cx="86868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13" name="TextBox 112"/>
            <p:cNvSpPr txBox="1"/>
            <p:nvPr/>
          </p:nvSpPr>
          <p:spPr>
            <a:xfrm>
              <a:off x="2825496" y="2770632"/>
              <a:ext cx="79552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8.00x</a:t>
              </a:r>
            </a:p>
          </p:txBody>
        </p:sp>
        <p:sp>
          <p:nvSpPr>
            <p:cNvPr id="114" name="Rectangle 113"/>
            <p:cNvSpPr/>
            <p:nvPr/>
          </p:nvSpPr>
          <p:spPr>
            <a:xfrm>
              <a:off x="3657600" y="2752344"/>
              <a:ext cx="210312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15" name="TextBox 114"/>
            <p:cNvSpPr txBox="1"/>
            <p:nvPr/>
          </p:nvSpPr>
          <p:spPr>
            <a:xfrm>
              <a:off x="3694176" y="2770632"/>
              <a:ext cx="202996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8.83x (all three)</a:t>
              </a:r>
            </a:p>
          </p:txBody>
        </p:sp>
        <p:sp>
          <p:nvSpPr>
            <p:cNvPr id="116" name="Rectangle 115"/>
            <p:cNvSpPr/>
            <p:nvPr/>
          </p:nvSpPr>
          <p:spPr>
            <a:xfrm>
              <a:off x="5760720" y="2752344"/>
              <a:ext cx="155448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17" name="TextBox 116"/>
            <p:cNvSpPr txBox="1"/>
            <p:nvPr/>
          </p:nvSpPr>
          <p:spPr>
            <a:xfrm>
              <a:off x="5797296" y="2770632"/>
              <a:ext cx="148132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$110.38</a:t>
              </a:r>
            </a:p>
          </p:txBody>
        </p:sp>
        <p:sp>
          <p:nvSpPr>
            <p:cNvPr id="118" name="Rectangle 117"/>
            <p:cNvSpPr/>
            <p:nvPr/>
          </p:nvSpPr>
          <p:spPr>
            <a:xfrm>
              <a:off x="182880" y="2985516"/>
              <a:ext cx="86868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19" name="TextBox 118"/>
            <p:cNvSpPr txBox="1"/>
            <p:nvPr/>
          </p:nvSpPr>
          <p:spPr>
            <a:xfrm>
              <a:off x="219456" y="3003804"/>
              <a:ext cx="795528" cy="223138"/>
            </a:xfrm>
            <a:prstGeom prst="rect">
              <a:avLst/>
            </a:prstGeom>
            <a:noFill/>
          </p:spPr>
          <p:txBody>
            <a:bodyPr wrap="square">
              <a:spAutoFit/>
            </a:bodyPr>
            <a:lstStyle/>
            <a:p>
              <a:pPr algn="l"/>
              <a:r>
                <a:rPr sz="850" b="1" i="0">
                  <a:solidFill>
                    <a:srgbClr val="1F1F1F"/>
                  </a:solidFill>
                  <a:latin typeface="Times New Roman" panose="02020603050405020304" pitchFamily="18" charset="0"/>
                  <a:cs typeface="Times New Roman" panose="02020603050405020304" pitchFamily="18" charset="0"/>
                </a:rPr>
                <a:t>P/Sales</a:t>
              </a:r>
            </a:p>
          </p:txBody>
        </p:sp>
        <p:sp>
          <p:nvSpPr>
            <p:cNvPr id="120" name="Rectangle 119"/>
            <p:cNvSpPr/>
            <p:nvPr/>
          </p:nvSpPr>
          <p:spPr>
            <a:xfrm>
              <a:off x="1051560" y="2985516"/>
              <a:ext cx="86868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21" name="TextBox 120"/>
            <p:cNvSpPr txBox="1"/>
            <p:nvPr/>
          </p:nvSpPr>
          <p:spPr>
            <a:xfrm>
              <a:off x="1088136" y="3003804"/>
              <a:ext cx="79552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0.50x</a:t>
              </a:r>
            </a:p>
          </p:txBody>
        </p:sp>
        <p:sp>
          <p:nvSpPr>
            <p:cNvPr id="122" name="Rectangle 121"/>
            <p:cNvSpPr/>
            <p:nvPr/>
          </p:nvSpPr>
          <p:spPr>
            <a:xfrm>
              <a:off x="1920240" y="2985516"/>
              <a:ext cx="86868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23" name="TextBox 122"/>
            <p:cNvSpPr txBox="1"/>
            <p:nvPr/>
          </p:nvSpPr>
          <p:spPr>
            <a:xfrm>
              <a:off x="1956816" y="3003804"/>
              <a:ext cx="79552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1.10x</a:t>
              </a:r>
            </a:p>
          </p:txBody>
        </p:sp>
        <p:sp>
          <p:nvSpPr>
            <p:cNvPr id="124" name="Rectangle 123"/>
            <p:cNvSpPr/>
            <p:nvPr/>
          </p:nvSpPr>
          <p:spPr>
            <a:xfrm>
              <a:off x="2788920" y="2985516"/>
              <a:ext cx="86868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25" name="TextBox 124"/>
            <p:cNvSpPr txBox="1"/>
            <p:nvPr/>
          </p:nvSpPr>
          <p:spPr>
            <a:xfrm>
              <a:off x="2825496" y="3003804"/>
              <a:ext cx="79552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3.50x</a:t>
              </a:r>
            </a:p>
          </p:txBody>
        </p:sp>
        <p:sp>
          <p:nvSpPr>
            <p:cNvPr id="126" name="Rectangle 125"/>
            <p:cNvSpPr/>
            <p:nvPr/>
          </p:nvSpPr>
          <p:spPr>
            <a:xfrm>
              <a:off x="3657600" y="2985516"/>
              <a:ext cx="210312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27" name="TextBox 126"/>
            <p:cNvSpPr txBox="1"/>
            <p:nvPr/>
          </p:nvSpPr>
          <p:spPr>
            <a:xfrm>
              <a:off x="3694176" y="3003804"/>
              <a:ext cx="202996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0.80x (TGT/COST — AMZN excl.)</a:t>
              </a:r>
            </a:p>
          </p:txBody>
        </p:sp>
        <p:sp>
          <p:nvSpPr>
            <p:cNvPr id="128" name="Rectangle 127"/>
            <p:cNvSpPr/>
            <p:nvPr/>
          </p:nvSpPr>
          <p:spPr>
            <a:xfrm>
              <a:off x="5760720" y="2985516"/>
              <a:ext cx="155448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29" name="TextBox 128"/>
            <p:cNvSpPr txBox="1"/>
            <p:nvPr/>
          </p:nvSpPr>
          <p:spPr>
            <a:xfrm>
              <a:off x="5797296" y="3003804"/>
              <a:ext cx="148132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$70.90</a:t>
              </a:r>
            </a:p>
          </p:txBody>
        </p:sp>
        <p:sp>
          <p:nvSpPr>
            <p:cNvPr id="130" name="Rectangle 129"/>
            <p:cNvSpPr/>
            <p:nvPr/>
          </p:nvSpPr>
          <p:spPr>
            <a:xfrm>
              <a:off x="182880" y="3218688"/>
              <a:ext cx="86868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31" name="TextBox 130"/>
            <p:cNvSpPr txBox="1"/>
            <p:nvPr/>
          </p:nvSpPr>
          <p:spPr>
            <a:xfrm>
              <a:off x="219456" y="3236976"/>
              <a:ext cx="795528" cy="223138"/>
            </a:xfrm>
            <a:prstGeom prst="rect">
              <a:avLst/>
            </a:prstGeom>
            <a:noFill/>
          </p:spPr>
          <p:txBody>
            <a:bodyPr wrap="square">
              <a:spAutoFit/>
            </a:bodyPr>
            <a:lstStyle/>
            <a:p>
              <a:pPr algn="l"/>
              <a:r>
                <a:rPr sz="850" b="1" i="0">
                  <a:solidFill>
                    <a:srgbClr val="1F1F1F"/>
                  </a:solidFill>
                  <a:latin typeface="Times New Roman" panose="02020603050405020304" pitchFamily="18" charset="0"/>
                  <a:cs typeface="Times New Roman" panose="02020603050405020304" pitchFamily="18" charset="0"/>
                </a:rPr>
                <a:t>P/EPS</a:t>
              </a:r>
            </a:p>
          </p:txBody>
        </p:sp>
        <p:sp>
          <p:nvSpPr>
            <p:cNvPr id="132" name="Rectangle 131"/>
            <p:cNvSpPr/>
            <p:nvPr/>
          </p:nvSpPr>
          <p:spPr>
            <a:xfrm>
              <a:off x="1051560" y="3218688"/>
              <a:ext cx="86868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33" name="TextBox 132"/>
            <p:cNvSpPr txBox="1"/>
            <p:nvPr/>
          </p:nvSpPr>
          <p:spPr>
            <a:xfrm>
              <a:off x="1088136" y="3236976"/>
              <a:ext cx="79552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12.00x</a:t>
              </a:r>
            </a:p>
          </p:txBody>
        </p:sp>
        <p:sp>
          <p:nvSpPr>
            <p:cNvPr id="134" name="Rectangle 133"/>
            <p:cNvSpPr/>
            <p:nvPr/>
          </p:nvSpPr>
          <p:spPr>
            <a:xfrm>
              <a:off x="1920240" y="3218688"/>
              <a:ext cx="86868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35" name="TextBox 134"/>
            <p:cNvSpPr txBox="1"/>
            <p:nvPr/>
          </p:nvSpPr>
          <p:spPr>
            <a:xfrm>
              <a:off x="1956816" y="3236976"/>
              <a:ext cx="79552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52.00x</a:t>
              </a:r>
            </a:p>
          </p:txBody>
        </p:sp>
        <p:sp>
          <p:nvSpPr>
            <p:cNvPr id="136" name="Rectangle 135"/>
            <p:cNvSpPr/>
            <p:nvPr/>
          </p:nvSpPr>
          <p:spPr>
            <a:xfrm>
              <a:off x="2788920" y="3218688"/>
              <a:ext cx="86868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37" name="TextBox 136"/>
            <p:cNvSpPr txBox="1"/>
            <p:nvPr/>
          </p:nvSpPr>
          <p:spPr>
            <a:xfrm>
              <a:off x="2825496" y="3236976"/>
              <a:ext cx="79552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38.00x</a:t>
              </a:r>
            </a:p>
          </p:txBody>
        </p:sp>
        <p:sp>
          <p:nvSpPr>
            <p:cNvPr id="138" name="Rectangle 137"/>
            <p:cNvSpPr/>
            <p:nvPr/>
          </p:nvSpPr>
          <p:spPr>
            <a:xfrm>
              <a:off x="3657600" y="3218688"/>
              <a:ext cx="210312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39" name="TextBox 138"/>
            <p:cNvSpPr txBox="1"/>
            <p:nvPr/>
          </p:nvSpPr>
          <p:spPr>
            <a:xfrm>
              <a:off x="3694176" y="3236976"/>
              <a:ext cx="202996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34.00x (all three)</a:t>
              </a:r>
            </a:p>
          </p:txBody>
        </p:sp>
        <p:sp>
          <p:nvSpPr>
            <p:cNvPr id="140" name="Rectangle 139"/>
            <p:cNvSpPr/>
            <p:nvPr/>
          </p:nvSpPr>
          <p:spPr>
            <a:xfrm>
              <a:off x="5760720" y="3218688"/>
              <a:ext cx="155448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41" name="TextBox 140"/>
            <p:cNvSpPr txBox="1"/>
            <p:nvPr/>
          </p:nvSpPr>
          <p:spPr>
            <a:xfrm>
              <a:off x="5797296" y="3236976"/>
              <a:ext cx="148132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$92.82</a:t>
              </a:r>
            </a:p>
          </p:txBody>
        </p:sp>
        <p:sp>
          <p:nvSpPr>
            <p:cNvPr id="142" name="Rectangle 141"/>
            <p:cNvSpPr/>
            <p:nvPr/>
          </p:nvSpPr>
          <p:spPr>
            <a:xfrm>
              <a:off x="182880" y="3451860"/>
              <a:ext cx="86868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43" name="TextBox 142"/>
            <p:cNvSpPr txBox="1"/>
            <p:nvPr/>
          </p:nvSpPr>
          <p:spPr>
            <a:xfrm>
              <a:off x="219456" y="3470148"/>
              <a:ext cx="795528" cy="223138"/>
            </a:xfrm>
            <a:prstGeom prst="rect">
              <a:avLst/>
            </a:prstGeom>
            <a:noFill/>
          </p:spPr>
          <p:txBody>
            <a:bodyPr wrap="square">
              <a:spAutoFit/>
            </a:bodyPr>
            <a:lstStyle/>
            <a:p>
              <a:pPr algn="l"/>
              <a:r>
                <a:rPr sz="850" b="1" i="0">
                  <a:solidFill>
                    <a:srgbClr val="1F1F1F"/>
                  </a:solidFill>
                  <a:latin typeface="Times New Roman" panose="02020603050405020304" pitchFamily="18" charset="0"/>
                  <a:cs typeface="Times New Roman" panose="02020603050405020304" pitchFamily="18" charset="0"/>
                </a:rPr>
                <a:t>P/FCF</a:t>
              </a:r>
            </a:p>
          </p:txBody>
        </p:sp>
        <p:sp>
          <p:nvSpPr>
            <p:cNvPr id="144" name="Rectangle 143"/>
            <p:cNvSpPr/>
            <p:nvPr/>
          </p:nvSpPr>
          <p:spPr>
            <a:xfrm>
              <a:off x="1051560" y="3451860"/>
              <a:ext cx="86868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45" name="TextBox 144"/>
            <p:cNvSpPr txBox="1"/>
            <p:nvPr/>
          </p:nvSpPr>
          <p:spPr>
            <a:xfrm>
              <a:off x="1088136" y="3470148"/>
              <a:ext cx="79552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18.00x</a:t>
              </a:r>
            </a:p>
          </p:txBody>
        </p:sp>
        <p:sp>
          <p:nvSpPr>
            <p:cNvPr id="146" name="Rectangle 145"/>
            <p:cNvSpPr/>
            <p:nvPr/>
          </p:nvSpPr>
          <p:spPr>
            <a:xfrm>
              <a:off x="1920240" y="3451860"/>
              <a:ext cx="86868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47" name="TextBox 146"/>
            <p:cNvSpPr txBox="1"/>
            <p:nvPr/>
          </p:nvSpPr>
          <p:spPr>
            <a:xfrm>
              <a:off x="1956816" y="3470148"/>
              <a:ext cx="79552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55.00x</a:t>
              </a:r>
            </a:p>
          </p:txBody>
        </p:sp>
        <p:sp>
          <p:nvSpPr>
            <p:cNvPr id="148" name="Rectangle 147"/>
            <p:cNvSpPr/>
            <p:nvPr/>
          </p:nvSpPr>
          <p:spPr>
            <a:xfrm>
              <a:off x="2788920" y="3451860"/>
              <a:ext cx="86868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49" name="TextBox 148"/>
            <p:cNvSpPr txBox="1"/>
            <p:nvPr/>
          </p:nvSpPr>
          <p:spPr>
            <a:xfrm>
              <a:off x="2825496" y="3470148"/>
              <a:ext cx="79552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35.00x</a:t>
              </a:r>
            </a:p>
          </p:txBody>
        </p:sp>
        <p:sp>
          <p:nvSpPr>
            <p:cNvPr id="150" name="Rectangle 149"/>
            <p:cNvSpPr/>
            <p:nvPr/>
          </p:nvSpPr>
          <p:spPr>
            <a:xfrm>
              <a:off x="3657600" y="3451860"/>
              <a:ext cx="210312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51" name="TextBox 150"/>
            <p:cNvSpPr txBox="1"/>
            <p:nvPr/>
          </p:nvSpPr>
          <p:spPr>
            <a:xfrm>
              <a:off x="3694176" y="3470148"/>
              <a:ext cx="202996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36.00x (all three)</a:t>
              </a:r>
            </a:p>
          </p:txBody>
        </p:sp>
        <p:sp>
          <p:nvSpPr>
            <p:cNvPr id="152" name="Rectangle 151"/>
            <p:cNvSpPr/>
            <p:nvPr/>
          </p:nvSpPr>
          <p:spPr>
            <a:xfrm>
              <a:off x="5760720" y="3451860"/>
              <a:ext cx="155448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53" name="TextBox 152"/>
            <p:cNvSpPr txBox="1"/>
            <p:nvPr/>
          </p:nvSpPr>
          <p:spPr>
            <a:xfrm>
              <a:off x="5797296" y="3470148"/>
              <a:ext cx="148132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$67.32</a:t>
              </a:r>
            </a:p>
          </p:txBody>
        </p:sp>
        <p:sp>
          <p:nvSpPr>
            <p:cNvPr id="154" name="Rectangle 153"/>
            <p:cNvSpPr/>
            <p:nvPr/>
          </p:nvSpPr>
          <p:spPr>
            <a:xfrm>
              <a:off x="182880" y="3685032"/>
              <a:ext cx="86868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55" name="TextBox 154"/>
            <p:cNvSpPr txBox="1"/>
            <p:nvPr/>
          </p:nvSpPr>
          <p:spPr>
            <a:xfrm>
              <a:off x="219456" y="3703320"/>
              <a:ext cx="795528" cy="223138"/>
            </a:xfrm>
            <a:prstGeom prst="rect">
              <a:avLst/>
            </a:prstGeom>
            <a:noFill/>
          </p:spPr>
          <p:txBody>
            <a:bodyPr wrap="square">
              <a:spAutoFit/>
            </a:bodyPr>
            <a:lstStyle/>
            <a:p>
              <a:pPr algn="l"/>
              <a:r>
                <a:rPr sz="850" b="1" i="0">
                  <a:solidFill>
                    <a:srgbClr val="1F1F1F"/>
                  </a:solidFill>
                  <a:latin typeface="Times New Roman" panose="02020603050405020304" pitchFamily="18" charset="0"/>
                  <a:cs typeface="Times New Roman" panose="02020603050405020304" pitchFamily="18" charset="0"/>
                </a:rPr>
                <a:t>P/EBITDA</a:t>
              </a:r>
            </a:p>
          </p:txBody>
        </p:sp>
        <p:sp>
          <p:nvSpPr>
            <p:cNvPr id="156" name="Rectangle 155"/>
            <p:cNvSpPr/>
            <p:nvPr/>
          </p:nvSpPr>
          <p:spPr>
            <a:xfrm>
              <a:off x="1051560" y="3685032"/>
              <a:ext cx="86868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57" name="TextBox 156"/>
            <p:cNvSpPr txBox="1"/>
            <p:nvPr/>
          </p:nvSpPr>
          <p:spPr>
            <a:xfrm>
              <a:off x="1088136" y="3703320"/>
              <a:ext cx="79552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7.00x</a:t>
              </a:r>
            </a:p>
          </p:txBody>
        </p:sp>
        <p:sp>
          <p:nvSpPr>
            <p:cNvPr id="158" name="Rectangle 157"/>
            <p:cNvSpPr/>
            <p:nvPr/>
          </p:nvSpPr>
          <p:spPr>
            <a:xfrm>
              <a:off x="1920240" y="3685032"/>
              <a:ext cx="86868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59" name="TextBox 158"/>
            <p:cNvSpPr txBox="1"/>
            <p:nvPr/>
          </p:nvSpPr>
          <p:spPr>
            <a:xfrm>
              <a:off x="1956816" y="3703320"/>
              <a:ext cx="79552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30.00x</a:t>
              </a:r>
            </a:p>
          </p:txBody>
        </p:sp>
        <p:sp>
          <p:nvSpPr>
            <p:cNvPr id="160" name="Rectangle 159"/>
            <p:cNvSpPr/>
            <p:nvPr/>
          </p:nvSpPr>
          <p:spPr>
            <a:xfrm>
              <a:off x="2788920" y="3685032"/>
              <a:ext cx="86868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61" name="TextBox 160"/>
            <p:cNvSpPr txBox="1"/>
            <p:nvPr/>
          </p:nvSpPr>
          <p:spPr>
            <a:xfrm>
              <a:off x="2825496" y="3703320"/>
              <a:ext cx="79552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20.00x</a:t>
              </a:r>
            </a:p>
          </p:txBody>
        </p:sp>
        <p:sp>
          <p:nvSpPr>
            <p:cNvPr id="162" name="Rectangle 161"/>
            <p:cNvSpPr/>
            <p:nvPr/>
          </p:nvSpPr>
          <p:spPr>
            <a:xfrm>
              <a:off x="3657600" y="3685032"/>
              <a:ext cx="210312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63" name="TextBox 162"/>
            <p:cNvSpPr txBox="1"/>
            <p:nvPr/>
          </p:nvSpPr>
          <p:spPr>
            <a:xfrm>
              <a:off x="3694176" y="3703320"/>
              <a:ext cx="202996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19.00x (all three)</a:t>
              </a:r>
            </a:p>
          </p:txBody>
        </p:sp>
        <p:sp>
          <p:nvSpPr>
            <p:cNvPr id="164" name="Rectangle 163"/>
            <p:cNvSpPr/>
            <p:nvPr/>
          </p:nvSpPr>
          <p:spPr>
            <a:xfrm>
              <a:off x="5760720" y="3685032"/>
              <a:ext cx="155448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65" name="TextBox 164"/>
            <p:cNvSpPr txBox="1"/>
            <p:nvPr/>
          </p:nvSpPr>
          <p:spPr>
            <a:xfrm>
              <a:off x="5797296" y="3703320"/>
              <a:ext cx="148132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$104.88</a:t>
              </a:r>
            </a:p>
          </p:txBody>
        </p:sp>
        <p:sp>
          <p:nvSpPr>
            <p:cNvPr id="166" name="Rectangle 165"/>
            <p:cNvSpPr/>
            <p:nvPr/>
          </p:nvSpPr>
          <p:spPr>
            <a:xfrm>
              <a:off x="182880" y="3918204"/>
              <a:ext cx="86868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67" name="TextBox 166"/>
            <p:cNvSpPr txBox="1"/>
            <p:nvPr/>
          </p:nvSpPr>
          <p:spPr>
            <a:xfrm>
              <a:off x="219456" y="3936492"/>
              <a:ext cx="795528" cy="223138"/>
            </a:xfrm>
            <a:prstGeom prst="rect">
              <a:avLst/>
            </a:prstGeom>
            <a:noFill/>
          </p:spPr>
          <p:txBody>
            <a:bodyPr wrap="square">
              <a:spAutoFit/>
            </a:bodyPr>
            <a:lstStyle/>
            <a:p>
              <a:pPr algn="l"/>
              <a:r>
                <a:rPr sz="850" b="1" i="0">
                  <a:solidFill>
                    <a:srgbClr val="1F1F1F"/>
                  </a:solidFill>
                  <a:latin typeface="Times New Roman" panose="02020603050405020304" pitchFamily="18" charset="0"/>
                  <a:cs typeface="Times New Roman" panose="02020603050405020304" pitchFamily="18" charset="0"/>
                </a:rPr>
                <a:t>Adj. Avg.</a:t>
              </a:r>
            </a:p>
          </p:txBody>
        </p:sp>
        <p:sp>
          <p:nvSpPr>
            <p:cNvPr id="168" name="Rectangle 167"/>
            <p:cNvSpPr/>
            <p:nvPr/>
          </p:nvSpPr>
          <p:spPr>
            <a:xfrm>
              <a:off x="1051560" y="3918204"/>
              <a:ext cx="86868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69" name="TextBox 168"/>
            <p:cNvSpPr txBox="1"/>
            <p:nvPr/>
          </p:nvSpPr>
          <p:spPr>
            <a:xfrm>
              <a:off x="1088136" y="3936492"/>
              <a:ext cx="795528" cy="369332"/>
            </a:xfrm>
            <a:prstGeom prst="rect">
              <a:avLst/>
            </a:prstGeom>
            <a:noFill/>
          </p:spPr>
          <p:txBody>
            <a:bodyPr wrap="square">
              <a:spAutoFit/>
            </a:bodyPr>
            <a:lstStyle/>
            <a:p>
              <a:pPr algn="ctr"/>
              <a:endParaRPr>
                <a:latin typeface="Times New Roman" panose="02020603050405020304" pitchFamily="18" charset="0"/>
                <a:cs typeface="Times New Roman" panose="02020603050405020304" pitchFamily="18" charset="0"/>
              </a:endParaRPr>
            </a:p>
          </p:txBody>
        </p:sp>
        <p:sp>
          <p:nvSpPr>
            <p:cNvPr id="170" name="Rectangle 169"/>
            <p:cNvSpPr/>
            <p:nvPr/>
          </p:nvSpPr>
          <p:spPr>
            <a:xfrm>
              <a:off x="1920240" y="3918204"/>
              <a:ext cx="86868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71" name="TextBox 170"/>
            <p:cNvSpPr txBox="1"/>
            <p:nvPr/>
          </p:nvSpPr>
          <p:spPr>
            <a:xfrm>
              <a:off x="1956816" y="3936492"/>
              <a:ext cx="795528" cy="369332"/>
            </a:xfrm>
            <a:prstGeom prst="rect">
              <a:avLst/>
            </a:prstGeom>
            <a:noFill/>
          </p:spPr>
          <p:txBody>
            <a:bodyPr wrap="square">
              <a:spAutoFit/>
            </a:bodyPr>
            <a:lstStyle/>
            <a:p>
              <a:pPr algn="ctr"/>
              <a:endParaRPr>
                <a:latin typeface="Times New Roman" panose="02020603050405020304" pitchFamily="18" charset="0"/>
                <a:cs typeface="Times New Roman" panose="02020603050405020304" pitchFamily="18" charset="0"/>
              </a:endParaRPr>
            </a:p>
          </p:txBody>
        </p:sp>
        <p:sp>
          <p:nvSpPr>
            <p:cNvPr id="172" name="Rectangle 171"/>
            <p:cNvSpPr/>
            <p:nvPr/>
          </p:nvSpPr>
          <p:spPr>
            <a:xfrm>
              <a:off x="2788920" y="3918204"/>
              <a:ext cx="86868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73" name="TextBox 172"/>
            <p:cNvSpPr txBox="1"/>
            <p:nvPr/>
          </p:nvSpPr>
          <p:spPr>
            <a:xfrm>
              <a:off x="2825496" y="3936492"/>
              <a:ext cx="795528" cy="369332"/>
            </a:xfrm>
            <a:prstGeom prst="rect">
              <a:avLst/>
            </a:prstGeom>
            <a:noFill/>
          </p:spPr>
          <p:txBody>
            <a:bodyPr wrap="square">
              <a:spAutoFit/>
            </a:bodyPr>
            <a:lstStyle/>
            <a:p>
              <a:pPr algn="ctr"/>
              <a:endParaRPr>
                <a:latin typeface="Times New Roman" panose="02020603050405020304" pitchFamily="18" charset="0"/>
                <a:cs typeface="Times New Roman" panose="02020603050405020304" pitchFamily="18" charset="0"/>
              </a:endParaRPr>
            </a:p>
          </p:txBody>
        </p:sp>
        <p:sp>
          <p:nvSpPr>
            <p:cNvPr id="174" name="Rectangle 173"/>
            <p:cNvSpPr/>
            <p:nvPr/>
          </p:nvSpPr>
          <p:spPr>
            <a:xfrm>
              <a:off x="3657600" y="3918204"/>
              <a:ext cx="210312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75" name="TextBox 174"/>
            <p:cNvSpPr txBox="1"/>
            <p:nvPr/>
          </p:nvSpPr>
          <p:spPr>
            <a:xfrm>
              <a:off x="3694176" y="3936492"/>
              <a:ext cx="202996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Excl. P/Sales (AMZN) &amp; P/FCF</a:t>
              </a:r>
            </a:p>
          </p:txBody>
        </p:sp>
        <p:sp>
          <p:nvSpPr>
            <p:cNvPr id="176" name="Rectangle 175"/>
            <p:cNvSpPr/>
            <p:nvPr/>
          </p:nvSpPr>
          <p:spPr>
            <a:xfrm>
              <a:off x="5760720" y="3918204"/>
              <a:ext cx="155448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77" name="TextBox 176"/>
            <p:cNvSpPr txBox="1"/>
            <p:nvPr/>
          </p:nvSpPr>
          <p:spPr>
            <a:xfrm>
              <a:off x="5797296" y="3936492"/>
              <a:ext cx="148132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$102.69</a:t>
              </a:r>
            </a:p>
          </p:txBody>
        </p:sp>
        <p:sp>
          <p:nvSpPr>
            <p:cNvPr id="178" name="TextBox 177"/>
            <p:cNvSpPr txBox="1"/>
            <p:nvPr/>
          </p:nvSpPr>
          <p:spPr>
            <a:xfrm>
              <a:off x="182880" y="4334256"/>
              <a:ext cx="7406640" cy="669414"/>
            </a:xfrm>
            <a:prstGeom prst="rect">
              <a:avLst/>
            </a:prstGeom>
            <a:noFill/>
          </p:spPr>
          <p:txBody>
            <a:bodyPr wrap="square">
              <a:spAutoFit/>
            </a:bodyPr>
            <a:lstStyle/>
            <a:p>
              <a:pPr algn="l"/>
              <a:r>
                <a:rPr sz="750" b="0" i="1">
                  <a:solidFill>
                    <a:srgbClr val="4A4A4A"/>
                  </a:solidFill>
                  <a:latin typeface="Times New Roman" panose="02020603050405020304" pitchFamily="18" charset="0"/>
                  <a:cs typeface="Times New Roman" panose="02020603050405020304" pitchFamily="18" charset="0"/>
                </a:rPr>
                <a:t>Per-share metrics applied (FY26 actuals per 10-K): Net Sales/Share = $88.63, EPS (GAAP Dil.) = $2.73, FCF/Share = $1.87, EBITDA/Share = $5.52, BVPS = $12.50. Shares outstanding 7,970M (par value $797M / $0.10). AMZN P/Sales excluded from average as AWS and advertising revenues (combined ~35% of AMZN revenue) are structurally incomparable to WMT's pure-retail revenue base and would artificially inflate the implied price. P/FCF excluded from adjusted average as WMT's FCF is temporarily depressed by a peak capital expenditure cycle ($23.7B in FY25) in automated fulfillment and store remodel programs; normalized FCF margin is estimated at approximately 3.5 to 4.0 percent once the capex cycle moderates post-FY27, implying a significantly higher FCF/Share and a more appropriate peer comparison. Adjusted average of $102.69 uses P/B, P/EPS, and P/EBITDA.</a:t>
              </a:r>
            </a:p>
          </p:txBody>
        </p:sp>
        <p:sp>
          <p:nvSpPr>
            <p:cNvPr id="179" name="Rectangle 178"/>
            <p:cNvSpPr/>
            <p:nvPr/>
          </p:nvSpPr>
          <p:spPr>
            <a:xfrm>
              <a:off x="182880" y="5431536"/>
              <a:ext cx="4114800" cy="201168"/>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80" name="TextBox 179"/>
            <p:cNvSpPr txBox="1"/>
            <p:nvPr/>
          </p:nvSpPr>
          <p:spPr>
            <a:xfrm>
              <a:off x="237744" y="5449824"/>
              <a:ext cx="4005072" cy="207749"/>
            </a:xfrm>
            <a:prstGeom prst="rect">
              <a:avLst/>
            </a:prstGeom>
            <a:noFill/>
          </p:spPr>
          <p:txBody>
            <a:bodyPr wrap="square">
              <a:spAutoFit/>
            </a:bodyPr>
            <a:lstStyle/>
            <a:p>
              <a:pPr algn="l"/>
              <a:r>
                <a:rPr sz="750" b="1" i="0">
                  <a:solidFill>
                    <a:srgbClr val="FFFFFF"/>
                  </a:solidFill>
                  <a:latin typeface="Times New Roman" panose="02020603050405020304" pitchFamily="18" charset="0"/>
                  <a:cs typeface="Times New Roman" panose="02020603050405020304" pitchFamily="18" charset="0"/>
                </a:rPr>
                <a:t>FIGURE 11: FCFM DETAIL — GROWTH RATE AND MARGIN ASSUMPTIONS</a:t>
              </a:r>
            </a:p>
          </p:txBody>
        </p:sp>
        <p:sp>
          <p:nvSpPr>
            <p:cNvPr id="181" name="Rectangle 180"/>
            <p:cNvSpPr/>
            <p:nvPr/>
          </p:nvSpPr>
          <p:spPr>
            <a:xfrm>
              <a:off x="182880" y="5660136"/>
              <a:ext cx="457200" cy="233172"/>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82" name="TextBox 181"/>
            <p:cNvSpPr txBox="1"/>
            <p:nvPr/>
          </p:nvSpPr>
          <p:spPr>
            <a:xfrm>
              <a:off x="219456" y="5678424"/>
              <a:ext cx="384048" cy="353943"/>
            </a:xfrm>
            <a:prstGeom prst="rect">
              <a:avLst/>
            </a:prstGeom>
            <a:noFill/>
          </p:spPr>
          <p:txBody>
            <a:bodyPr wrap="square">
              <a:spAutoFit/>
            </a:bodyPr>
            <a:lstStyle/>
            <a:p>
              <a:pPr algn="ctr"/>
              <a:r>
                <a:rPr sz="850" b="1" i="0">
                  <a:solidFill>
                    <a:srgbClr val="FFFFFF"/>
                  </a:solidFill>
                  <a:latin typeface="Times New Roman" panose="02020603050405020304" pitchFamily="18" charset="0"/>
                  <a:cs typeface="Times New Roman" panose="02020603050405020304" pitchFamily="18" charset="0"/>
                </a:rPr>
                <a:t>Year</a:t>
              </a:r>
            </a:p>
          </p:txBody>
        </p:sp>
        <p:sp>
          <p:nvSpPr>
            <p:cNvPr id="183" name="Rectangle 182"/>
            <p:cNvSpPr/>
            <p:nvPr/>
          </p:nvSpPr>
          <p:spPr>
            <a:xfrm>
              <a:off x="640080" y="5660136"/>
              <a:ext cx="1097280" cy="233172"/>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84" name="TextBox 183"/>
            <p:cNvSpPr txBox="1"/>
            <p:nvPr/>
          </p:nvSpPr>
          <p:spPr>
            <a:xfrm>
              <a:off x="676656" y="5678424"/>
              <a:ext cx="1024128" cy="223138"/>
            </a:xfrm>
            <a:prstGeom prst="rect">
              <a:avLst/>
            </a:prstGeom>
            <a:noFill/>
          </p:spPr>
          <p:txBody>
            <a:bodyPr wrap="square">
              <a:spAutoFit/>
            </a:bodyPr>
            <a:lstStyle/>
            <a:p>
              <a:pPr algn="ctr"/>
              <a:r>
                <a:rPr sz="850" b="1" i="0">
                  <a:solidFill>
                    <a:srgbClr val="FFFFFF"/>
                  </a:solidFill>
                  <a:latin typeface="Times New Roman" panose="02020603050405020304" pitchFamily="18" charset="0"/>
                  <a:cs typeface="Times New Roman" panose="02020603050405020304" pitchFamily="18" charset="0"/>
                </a:rPr>
                <a:t>WMT Fiscal Year</a:t>
              </a:r>
            </a:p>
          </p:txBody>
        </p:sp>
        <p:sp>
          <p:nvSpPr>
            <p:cNvPr id="185" name="Rectangle 184"/>
            <p:cNvSpPr/>
            <p:nvPr/>
          </p:nvSpPr>
          <p:spPr>
            <a:xfrm>
              <a:off x="1737360" y="5660136"/>
              <a:ext cx="1188720" cy="233172"/>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86" name="TextBox 185"/>
            <p:cNvSpPr txBox="1"/>
            <p:nvPr/>
          </p:nvSpPr>
          <p:spPr>
            <a:xfrm>
              <a:off x="1773936" y="5678424"/>
              <a:ext cx="1115568" cy="223138"/>
            </a:xfrm>
            <a:prstGeom prst="rect">
              <a:avLst/>
            </a:prstGeom>
            <a:noFill/>
          </p:spPr>
          <p:txBody>
            <a:bodyPr wrap="square">
              <a:spAutoFit/>
            </a:bodyPr>
            <a:lstStyle/>
            <a:p>
              <a:pPr algn="ctr"/>
              <a:r>
                <a:rPr sz="850" b="1" i="0">
                  <a:solidFill>
                    <a:srgbClr val="FFFFFF"/>
                  </a:solidFill>
                  <a:latin typeface="Times New Roman" panose="02020603050405020304" pitchFamily="18" charset="0"/>
                  <a:cs typeface="Times New Roman" panose="02020603050405020304" pitchFamily="18" charset="0"/>
                </a:rPr>
                <a:t>Revenue ($B)</a:t>
              </a:r>
            </a:p>
          </p:txBody>
        </p:sp>
        <p:sp>
          <p:nvSpPr>
            <p:cNvPr id="187" name="Rectangle 186"/>
            <p:cNvSpPr/>
            <p:nvPr/>
          </p:nvSpPr>
          <p:spPr>
            <a:xfrm>
              <a:off x="2926080" y="5660136"/>
              <a:ext cx="1280160" cy="233172"/>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88" name="TextBox 187"/>
            <p:cNvSpPr txBox="1"/>
            <p:nvPr/>
          </p:nvSpPr>
          <p:spPr>
            <a:xfrm>
              <a:off x="2962656" y="5678424"/>
              <a:ext cx="1207008" cy="223138"/>
            </a:xfrm>
            <a:prstGeom prst="rect">
              <a:avLst/>
            </a:prstGeom>
            <a:noFill/>
          </p:spPr>
          <p:txBody>
            <a:bodyPr wrap="square">
              <a:spAutoFit/>
            </a:bodyPr>
            <a:lstStyle/>
            <a:p>
              <a:pPr algn="ctr"/>
              <a:r>
                <a:rPr sz="850" b="1" i="0">
                  <a:solidFill>
                    <a:srgbClr val="FFFFFF"/>
                  </a:solidFill>
                  <a:latin typeface="Times New Roman" panose="02020603050405020304" pitchFamily="18" charset="0"/>
                  <a:cs typeface="Times New Roman" panose="02020603050405020304" pitchFamily="18" charset="0"/>
                </a:rPr>
                <a:t>FCF/Sales Margin</a:t>
              </a:r>
            </a:p>
          </p:txBody>
        </p:sp>
        <p:sp>
          <p:nvSpPr>
            <p:cNvPr id="189" name="Rectangle 188"/>
            <p:cNvSpPr/>
            <p:nvPr/>
          </p:nvSpPr>
          <p:spPr>
            <a:xfrm>
              <a:off x="4206240" y="5660136"/>
              <a:ext cx="1051560" cy="233172"/>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90" name="TextBox 189"/>
            <p:cNvSpPr txBox="1"/>
            <p:nvPr/>
          </p:nvSpPr>
          <p:spPr>
            <a:xfrm>
              <a:off x="4242816" y="5678424"/>
              <a:ext cx="978408" cy="223138"/>
            </a:xfrm>
            <a:prstGeom prst="rect">
              <a:avLst/>
            </a:prstGeom>
            <a:noFill/>
          </p:spPr>
          <p:txBody>
            <a:bodyPr wrap="square">
              <a:spAutoFit/>
            </a:bodyPr>
            <a:lstStyle/>
            <a:p>
              <a:pPr algn="ctr"/>
              <a:r>
                <a:rPr sz="850" b="1" i="0">
                  <a:solidFill>
                    <a:srgbClr val="FFFFFF"/>
                  </a:solidFill>
                  <a:latin typeface="Times New Roman" panose="02020603050405020304" pitchFamily="18" charset="0"/>
                  <a:cs typeface="Times New Roman" panose="02020603050405020304" pitchFamily="18" charset="0"/>
                </a:rPr>
                <a:t>FCF ($B)</a:t>
              </a:r>
            </a:p>
          </p:txBody>
        </p:sp>
        <p:sp>
          <p:nvSpPr>
            <p:cNvPr id="191" name="Rectangle 190"/>
            <p:cNvSpPr/>
            <p:nvPr/>
          </p:nvSpPr>
          <p:spPr>
            <a:xfrm>
              <a:off x="5257800" y="5660136"/>
              <a:ext cx="1508760" cy="233172"/>
            </a:xfrm>
            <a:prstGeom prst="rect">
              <a:avLst/>
            </a:prstGeom>
            <a:solidFill>
              <a:srgbClr val="007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92" name="TextBox 191"/>
            <p:cNvSpPr txBox="1"/>
            <p:nvPr/>
          </p:nvSpPr>
          <p:spPr>
            <a:xfrm>
              <a:off x="5294376" y="5678424"/>
              <a:ext cx="1435608" cy="223138"/>
            </a:xfrm>
            <a:prstGeom prst="rect">
              <a:avLst/>
            </a:prstGeom>
            <a:noFill/>
          </p:spPr>
          <p:txBody>
            <a:bodyPr wrap="square">
              <a:spAutoFit/>
            </a:bodyPr>
            <a:lstStyle/>
            <a:p>
              <a:pPr algn="ctr"/>
              <a:r>
                <a:rPr sz="850" b="1" i="0">
                  <a:solidFill>
                    <a:srgbClr val="FFFFFF"/>
                  </a:solidFill>
                  <a:latin typeface="Times New Roman" panose="02020603050405020304" pitchFamily="18" charset="0"/>
                  <a:cs typeface="Times New Roman" panose="02020603050405020304" pitchFamily="18" charset="0"/>
                </a:rPr>
                <a:t>PV Factor (6.50%)</a:t>
              </a:r>
            </a:p>
          </p:txBody>
        </p:sp>
        <p:sp>
          <p:nvSpPr>
            <p:cNvPr id="193" name="Rectangle 192"/>
            <p:cNvSpPr/>
            <p:nvPr/>
          </p:nvSpPr>
          <p:spPr>
            <a:xfrm>
              <a:off x="182880" y="5893308"/>
              <a:ext cx="45720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94" name="TextBox 193"/>
            <p:cNvSpPr txBox="1"/>
            <p:nvPr/>
          </p:nvSpPr>
          <p:spPr>
            <a:xfrm>
              <a:off x="219456" y="5911596"/>
              <a:ext cx="384048" cy="223138"/>
            </a:xfrm>
            <a:prstGeom prst="rect">
              <a:avLst/>
            </a:prstGeom>
            <a:noFill/>
          </p:spPr>
          <p:txBody>
            <a:bodyPr wrap="square">
              <a:spAutoFit/>
            </a:bodyPr>
            <a:lstStyle/>
            <a:p>
              <a:pPr algn="l"/>
              <a:r>
                <a:rPr sz="850" b="1" i="0">
                  <a:solidFill>
                    <a:srgbClr val="1F1F1F"/>
                  </a:solidFill>
                  <a:latin typeface="Times New Roman" panose="02020603050405020304" pitchFamily="18" charset="0"/>
                  <a:cs typeface="Times New Roman" panose="02020603050405020304" pitchFamily="18" charset="0"/>
                </a:rPr>
                <a:t>1</a:t>
              </a:r>
            </a:p>
          </p:txBody>
        </p:sp>
        <p:sp>
          <p:nvSpPr>
            <p:cNvPr id="195" name="Rectangle 194"/>
            <p:cNvSpPr/>
            <p:nvPr/>
          </p:nvSpPr>
          <p:spPr>
            <a:xfrm>
              <a:off x="640080" y="5893308"/>
              <a:ext cx="109728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96" name="TextBox 195"/>
            <p:cNvSpPr txBox="1"/>
            <p:nvPr/>
          </p:nvSpPr>
          <p:spPr>
            <a:xfrm>
              <a:off x="676656" y="5911596"/>
              <a:ext cx="102412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FY27E</a:t>
              </a:r>
            </a:p>
          </p:txBody>
        </p:sp>
        <p:sp>
          <p:nvSpPr>
            <p:cNvPr id="197" name="Rectangle 196"/>
            <p:cNvSpPr/>
            <p:nvPr/>
          </p:nvSpPr>
          <p:spPr>
            <a:xfrm>
              <a:off x="1737360" y="5893308"/>
              <a:ext cx="118872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98" name="TextBox 197"/>
            <p:cNvSpPr txBox="1"/>
            <p:nvPr/>
          </p:nvSpPr>
          <p:spPr>
            <a:xfrm>
              <a:off x="1773936" y="5911596"/>
              <a:ext cx="111556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$748.8</a:t>
              </a:r>
            </a:p>
          </p:txBody>
        </p:sp>
        <p:sp>
          <p:nvSpPr>
            <p:cNvPr id="199" name="Rectangle 198"/>
            <p:cNvSpPr/>
            <p:nvPr/>
          </p:nvSpPr>
          <p:spPr>
            <a:xfrm>
              <a:off x="2926080" y="5893308"/>
              <a:ext cx="128016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00" name="TextBox 199"/>
            <p:cNvSpPr txBox="1"/>
            <p:nvPr/>
          </p:nvSpPr>
          <p:spPr>
            <a:xfrm>
              <a:off x="2962656" y="5911596"/>
              <a:ext cx="120700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1.87%</a:t>
              </a:r>
            </a:p>
          </p:txBody>
        </p:sp>
        <p:sp>
          <p:nvSpPr>
            <p:cNvPr id="201" name="Rectangle 200"/>
            <p:cNvSpPr/>
            <p:nvPr/>
          </p:nvSpPr>
          <p:spPr>
            <a:xfrm>
              <a:off x="4206240" y="5893308"/>
              <a:ext cx="105156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02" name="TextBox 201"/>
            <p:cNvSpPr txBox="1"/>
            <p:nvPr/>
          </p:nvSpPr>
          <p:spPr>
            <a:xfrm>
              <a:off x="4242816" y="5911596"/>
              <a:ext cx="97840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$14.0</a:t>
              </a:r>
            </a:p>
          </p:txBody>
        </p:sp>
        <p:sp>
          <p:nvSpPr>
            <p:cNvPr id="203" name="Rectangle 202"/>
            <p:cNvSpPr/>
            <p:nvPr/>
          </p:nvSpPr>
          <p:spPr>
            <a:xfrm>
              <a:off x="5257800" y="5893308"/>
              <a:ext cx="150876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04" name="TextBox 203"/>
            <p:cNvSpPr txBox="1"/>
            <p:nvPr/>
          </p:nvSpPr>
          <p:spPr>
            <a:xfrm>
              <a:off x="5294376" y="5911596"/>
              <a:ext cx="143560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0.9390</a:t>
              </a:r>
            </a:p>
          </p:txBody>
        </p:sp>
        <p:sp>
          <p:nvSpPr>
            <p:cNvPr id="205" name="Rectangle 204"/>
            <p:cNvSpPr/>
            <p:nvPr/>
          </p:nvSpPr>
          <p:spPr>
            <a:xfrm>
              <a:off x="182880" y="6126480"/>
              <a:ext cx="45720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06" name="TextBox 205"/>
            <p:cNvSpPr txBox="1"/>
            <p:nvPr/>
          </p:nvSpPr>
          <p:spPr>
            <a:xfrm>
              <a:off x="219456" y="6144768"/>
              <a:ext cx="384048" cy="223138"/>
            </a:xfrm>
            <a:prstGeom prst="rect">
              <a:avLst/>
            </a:prstGeom>
            <a:noFill/>
          </p:spPr>
          <p:txBody>
            <a:bodyPr wrap="square">
              <a:spAutoFit/>
            </a:bodyPr>
            <a:lstStyle/>
            <a:p>
              <a:pPr algn="l"/>
              <a:r>
                <a:rPr sz="850" b="1" i="0">
                  <a:solidFill>
                    <a:srgbClr val="1F1F1F"/>
                  </a:solidFill>
                  <a:latin typeface="Times New Roman" panose="02020603050405020304" pitchFamily="18" charset="0"/>
                  <a:cs typeface="Times New Roman" panose="02020603050405020304" pitchFamily="18" charset="0"/>
                </a:rPr>
                <a:t>2</a:t>
              </a:r>
            </a:p>
          </p:txBody>
        </p:sp>
        <p:sp>
          <p:nvSpPr>
            <p:cNvPr id="207" name="Rectangle 206"/>
            <p:cNvSpPr/>
            <p:nvPr/>
          </p:nvSpPr>
          <p:spPr>
            <a:xfrm>
              <a:off x="640080" y="6126480"/>
              <a:ext cx="109728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08" name="TextBox 207"/>
            <p:cNvSpPr txBox="1"/>
            <p:nvPr/>
          </p:nvSpPr>
          <p:spPr>
            <a:xfrm>
              <a:off x="676656" y="6144768"/>
              <a:ext cx="102412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FY28E</a:t>
              </a:r>
            </a:p>
          </p:txBody>
        </p:sp>
        <p:sp>
          <p:nvSpPr>
            <p:cNvPr id="209" name="Rectangle 208"/>
            <p:cNvSpPr/>
            <p:nvPr/>
          </p:nvSpPr>
          <p:spPr>
            <a:xfrm>
              <a:off x="1737360" y="6126480"/>
              <a:ext cx="118872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10" name="TextBox 209"/>
            <p:cNvSpPr txBox="1"/>
            <p:nvPr/>
          </p:nvSpPr>
          <p:spPr>
            <a:xfrm>
              <a:off x="1773936" y="6144768"/>
              <a:ext cx="111556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$786.2</a:t>
              </a:r>
            </a:p>
          </p:txBody>
        </p:sp>
        <p:sp>
          <p:nvSpPr>
            <p:cNvPr id="211" name="Rectangle 210"/>
            <p:cNvSpPr/>
            <p:nvPr/>
          </p:nvSpPr>
          <p:spPr>
            <a:xfrm>
              <a:off x="2926080" y="6126480"/>
              <a:ext cx="128016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12" name="TextBox 211"/>
            <p:cNvSpPr txBox="1"/>
            <p:nvPr/>
          </p:nvSpPr>
          <p:spPr>
            <a:xfrm>
              <a:off x="2962656" y="6144768"/>
              <a:ext cx="120700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1.87%</a:t>
              </a:r>
            </a:p>
          </p:txBody>
        </p:sp>
        <p:sp>
          <p:nvSpPr>
            <p:cNvPr id="213" name="Rectangle 212"/>
            <p:cNvSpPr/>
            <p:nvPr/>
          </p:nvSpPr>
          <p:spPr>
            <a:xfrm>
              <a:off x="4206240" y="6126480"/>
              <a:ext cx="105156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14" name="TextBox 213"/>
            <p:cNvSpPr txBox="1"/>
            <p:nvPr/>
          </p:nvSpPr>
          <p:spPr>
            <a:xfrm>
              <a:off x="4242816" y="6144768"/>
              <a:ext cx="97840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$14.7</a:t>
              </a:r>
            </a:p>
          </p:txBody>
        </p:sp>
        <p:sp>
          <p:nvSpPr>
            <p:cNvPr id="215" name="Rectangle 214"/>
            <p:cNvSpPr/>
            <p:nvPr/>
          </p:nvSpPr>
          <p:spPr>
            <a:xfrm>
              <a:off x="5257800" y="6126480"/>
              <a:ext cx="150876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16" name="TextBox 215"/>
            <p:cNvSpPr txBox="1"/>
            <p:nvPr/>
          </p:nvSpPr>
          <p:spPr>
            <a:xfrm>
              <a:off x="5294376" y="6144768"/>
              <a:ext cx="143560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0.8817</a:t>
              </a:r>
            </a:p>
          </p:txBody>
        </p:sp>
        <p:sp>
          <p:nvSpPr>
            <p:cNvPr id="217" name="Rectangle 216"/>
            <p:cNvSpPr/>
            <p:nvPr/>
          </p:nvSpPr>
          <p:spPr>
            <a:xfrm>
              <a:off x="182880" y="6359652"/>
              <a:ext cx="45720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18" name="TextBox 217"/>
            <p:cNvSpPr txBox="1"/>
            <p:nvPr/>
          </p:nvSpPr>
          <p:spPr>
            <a:xfrm>
              <a:off x="219456" y="6377940"/>
              <a:ext cx="384048" cy="223138"/>
            </a:xfrm>
            <a:prstGeom prst="rect">
              <a:avLst/>
            </a:prstGeom>
            <a:noFill/>
          </p:spPr>
          <p:txBody>
            <a:bodyPr wrap="square">
              <a:spAutoFit/>
            </a:bodyPr>
            <a:lstStyle/>
            <a:p>
              <a:pPr algn="l"/>
              <a:r>
                <a:rPr sz="850" b="1" i="0">
                  <a:solidFill>
                    <a:srgbClr val="1F1F1F"/>
                  </a:solidFill>
                  <a:latin typeface="Times New Roman" panose="02020603050405020304" pitchFamily="18" charset="0"/>
                  <a:cs typeface="Times New Roman" panose="02020603050405020304" pitchFamily="18" charset="0"/>
                </a:rPr>
                <a:t>3</a:t>
              </a:r>
            </a:p>
          </p:txBody>
        </p:sp>
        <p:sp>
          <p:nvSpPr>
            <p:cNvPr id="219" name="Rectangle 218"/>
            <p:cNvSpPr/>
            <p:nvPr/>
          </p:nvSpPr>
          <p:spPr>
            <a:xfrm>
              <a:off x="640080" y="6359652"/>
              <a:ext cx="109728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20" name="TextBox 219"/>
            <p:cNvSpPr txBox="1"/>
            <p:nvPr/>
          </p:nvSpPr>
          <p:spPr>
            <a:xfrm>
              <a:off x="676656" y="6377940"/>
              <a:ext cx="102412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FY29E</a:t>
              </a:r>
            </a:p>
          </p:txBody>
        </p:sp>
        <p:sp>
          <p:nvSpPr>
            <p:cNvPr id="221" name="Rectangle 220"/>
            <p:cNvSpPr/>
            <p:nvPr/>
          </p:nvSpPr>
          <p:spPr>
            <a:xfrm>
              <a:off x="1737360" y="6359652"/>
              <a:ext cx="118872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22" name="TextBox 221"/>
            <p:cNvSpPr txBox="1"/>
            <p:nvPr/>
          </p:nvSpPr>
          <p:spPr>
            <a:xfrm>
              <a:off x="1773936" y="6377940"/>
              <a:ext cx="111556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$825.6</a:t>
              </a:r>
            </a:p>
          </p:txBody>
        </p:sp>
        <p:sp>
          <p:nvSpPr>
            <p:cNvPr id="223" name="Rectangle 222"/>
            <p:cNvSpPr/>
            <p:nvPr/>
          </p:nvSpPr>
          <p:spPr>
            <a:xfrm>
              <a:off x="2926080" y="6359652"/>
              <a:ext cx="128016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24" name="TextBox 223"/>
            <p:cNvSpPr txBox="1"/>
            <p:nvPr/>
          </p:nvSpPr>
          <p:spPr>
            <a:xfrm>
              <a:off x="2962656" y="6377940"/>
              <a:ext cx="120700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1.87%</a:t>
              </a:r>
            </a:p>
          </p:txBody>
        </p:sp>
        <p:sp>
          <p:nvSpPr>
            <p:cNvPr id="225" name="Rectangle 224"/>
            <p:cNvSpPr/>
            <p:nvPr/>
          </p:nvSpPr>
          <p:spPr>
            <a:xfrm>
              <a:off x="4206240" y="6359652"/>
              <a:ext cx="105156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26" name="TextBox 225"/>
            <p:cNvSpPr txBox="1"/>
            <p:nvPr/>
          </p:nvSpPr>
          <p:spPr>
            <a:xfrm>
              <a:off x="4242816" y="6377940"/>
              <a:ext cx="97840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$15.5</a:t>
              </a:r>
            </a:p>
          </p:txBody>
        </p:sp>
        <p:sp>
          <p:nvSpPr>
            <p:cNvPr id="227" name="Rectangle 226"/>
            <p:cNvSpPr/>
            <p:nvPr/>
          </p:nvSpPr>
          <p:spPr>
            <a:xfrm>
              <a:off x="5257800" y="6359652"/>
              <a:ext cx="150876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28" name="TextBox 227"/>
            <p:cNvSpPr txBox="1"/>
            <p:nvPr/>
          </p:nvSpPr>
          <p:spPr>
            <a:xfrm>
              <a:off x="5294376" y="6377940"/>
              <a:ext cx="143560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0.8278</a:t>
              </a:r>
            </a:p>
          </p:txBody>
        </p:sp>
        <p:sp>
          <p:nvSpPr>
            <p:cNvPr id="229" name="Rectangle 228"/>
            <p:cNvSpPr/>
            <p:nvPr/>
          </p:nvSpPr>
          <p:spPr>
            <a:xfrm>
              <a:off x="182880" y="6592824"/>
              <a:ext cx="45720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30" name="TextBox 229"/>
            <p:cNvSpPr txBox="1"/>
            <p:nvPr/>
          </p:nvSpPr>
          <p:spPr>
            <a:xfrm>
              <a:off x="219456" y="6611112"/>
              <a:ext cx="384048" cy="223138"/>
            </a:xfrm>
            <a:prstGeom prst="rect">
              <a:avLst/>
            </a:prstGeom>
            <a:noFill/>
          </p:spPr>
          <p:txBody>
            <a:bodyPr wrap="square">
              <a:spAutoFit/>
            </a:bodyPr>
            <a:lstStyle/>
            <a:p>
              <a:pPr algn="l"/>
              <a:r>
                <a:rPr sz="850" b="1" i="0">
                  <a:solidFill>
                    <a:srgbClr val="1F1F1F"/>
                  </a:solidFill>
                  <a:latin typeface="Times New Roman" panose="02020603050405020304" pitchFamily="18" charset="0"/>
                  <a:cs typeface="Times New Roman" panose="02020603050405020304" pitchFamily="18" charset="0"/>
                </a:rPr>
                <a:t>4</a:t>
              </a:r>
            </a:p>
          </p:txBody>
        </p:sp>
        <p:sp>
          <p:nvSpPr>
            <p:cNvPr id="231" name="Rectangle 230"/>
            <p:cNvSpPr/>
            <p:nvPr/>
          </p:nvSpPr>
          <p:spPr>
            <a:xfrm>
              <a:off x="640080" y="6592824"/>
              <a:ext cx="109728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32" name="TextBox 231"/>
            <p:cNvSpPr txBox="1"/>
            <p:nvPr/>
          </p:nvSpPr>
          <p:spPr>
            <a:xfrm>
              <a:off x="676656" y="6611112"/>
              <a:ext cx="102412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FY30E</a:t>
              </a:r>
            </a:p>
          </p:txBody>
        </p:sp>
        <p:sp>
          <p:nvSpPr>
            <p:cNvPr id="233" name="Rectangle 232"/>
            <p:cNvSpPr/>
            <p:nvPr/>
          </p:nvSpPr>
          <p:spPr>
            <a:xfrm>
              <a:off x="1737360" y="6592824"/>
              <a:ext cx="118872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34" name="TextBox 233"/>
            <p:cNvSpPr txBox="1"/>
            <p:nvPr/>
          </p:nvSpPr>
          <p:spPr>
            <a:xfrm>
              <a:off x="1773936" y="6611112"/>
              <a:ext cx="111556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$866.9</a:t>
              </a:r>
            </a:p>
          </p:txBody>
        </p:sp>
        <p:sp>
          <p:nvSpPr>
            <p:cNvPr id="235" name="Rectangle 234"/>
            <p:cNvSpPr/>
            <p:nvPr/>
          </p:nvSpPr>
          <p:spPr>
            <a:xfrm>
              <a:off x="2926080" y="6592824"/>
              <a:ext cx="128016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36" name="TextBox 235"/>
            <p:cNvSpPr txBox="1"/>
            <p:nvPr/>
          </p:nvSpPr>
          <p:spPr>
            <a:xfrm>
              <a:off x="2962656" y="6611112"/>
              <a:ext cx="120700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1.87%</a:t>
              </a:r>
            </a:p>
          </p:txBody>
        </p:sp>
        <p:sp>
          <p:nvSpPr>
            <p:cNvPr id="237" name="Rectangle 236"/>
            <p:cNvSpPr/>
            <p:nvPr/>
          </p:nvSpPr>
          <p:spPr>
            <a:xfrm>
              <a:off x="4206240" y="6592824"/>
              <a:ext cx="105156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38" name="TextBox 237"/>
            <p:cNvSpPr txBox="1"/>
            <p:nvPr/>
          </p:nvSpPr>
          <p:spPr>
            <a:xfrm>
              <a:off x="4242816" y="6611112"/>
              <a:ext cx="97840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$16.2</a:t>
              </a:r>
            </a:p>
          </p:txBody>
        </p:sp>
        <p:sp>
          <p:nvSpPr>
            <p:cNvPr id="239" name="Rectangle 238"/>
            <p:cNvSpPr/>
            <p:nvPr/>
          </p:nvSpPr>
          <p:spPr>
            <a:xfrm>
              <a:off x="5257800" y="6592824"/>
              <a:ext cx="150876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40" name="TextBox 239"/>
            <p:cNvSpPr txBox="1"/>
            <p:nvPr/>
          </p:nvSpPr>
          <p:spPr>
            <a:xfrm>
              <a:off x="5294376" y="6611112"/>
              <a:ext cx="143560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0.7773</a:t>
              </a:r>
            </a:p>
          </p:txBody>
        </p:sp>
        <p:sp>
          <p:nvSpPr>
            <p:cNvPr id="241" name="Rectangle 240"/>
            <p:cNvSpPr/>
            <p:nvPr/>
          </p:nvSpPr>
          <p:spPr>
            <a:xfrm>
              <a:off x="182880" y="6825996"/>
              <a:ext cx="45720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42" name="TextBox 241"/>
            <p:cNvSpPr txBox="1"/>
            <p:nvPr/>
          </p:nvSpPr>
          <p:spPr>
            <a:xfrm>
              <a:off x="219456" y="6844284"/>
              <a:ext cx="384048" cy="223138"/>
            </a:xfrm>
            <a:prstGeom prst="rect">
              <a:avLst/>
            </a:prstGeom>
            <a:noFill/>
          </p:spPr>
          <p:txBody>
            <a:bodyPr wrap="square">
              <a:spAutoFit/>
            </a:bodyPr>
            <a:lstStyle/>
            <a:p>
              <a:pPr algn="l"/>
              <a:r>
                <a:rPr sz="850" b="1" i="0">
                  <a:solidFill>
                    <a:srgbClr val="1F1F1F"/>
                  </a:solidFill>
                  <a:latin typeface="Times New Roman" panose="02020603050405020304" pitchFamily="18" charset="0"/>
                  <a:cs typeface="Times New Roman" panose="02020603050405020304" pitchFamily="18" charset="0"/>
                </a:rPr>
                <a:t>TV</a:t>
              </a:r>
            </a:p>
          </p:txBody>
        </p:sp>
        <p:sp>
          <p:nvSpPr>
            <p:cNvPr id="243" name="Rectangle 242"/>
            <p:cNvSpPr/>
            <p:nvPr/>
          </p:nvSpPr>
          <p:spPr>
            <a:xfrm>
              <a:off x="640080" y="6825996"/>
              <a:ext cx="109728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44" name="TextBox 243"/>
            <p:cNvSpPr txBox="1"/>
            <p:nvPr/>
          </p:nvSpPr>
          <p:spPr>
            <a:xfrm>
              <a:off x="676656" y="6844284"/>
              <a:ext cx="102412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FY31E+</a:t>
              </a:r>
            </a:p>
          </p:txBody>
        </p:sp>
        <p:sp>
          <p:nvSpPr>
            <p:cNvPr id="245" name="Rectangle 244"/>
            <p:cNvSpPr/>
            <p:nvPr/>
          </p:nvSpPr>
          <p:spPr>
            <a:xfrm>
              <a:off x="1737360" y="6825996"/>
              <a:ext cx="118872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46" name="TextBox 245"/>
            <p:cNvSpPr txBox="1"/>
            <p:nvPr/>
          </p:nvSpPr>
          <p:spPr>
            <a:xfrm>
              <a:off x="1773936" y="6844284"/>
              <a:ext cx="111556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$910.2</a:t>
              </a:r>
            </a:p>
          </p:txBody>
        </p:sp>
        <p:sp>
          <p:nvSpPr>
            <p:cNvPr id="247" name="Rectangle 246"/>
            <p:cNvSpPr/>
            <p:nvPr/>
          </p:nvSpPr>
          <p:spPr>
            <a:xfrm>
              <a:off x="2926080" y="6825996"/>
              <a:ext cx="128016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48" name="TextBox 247"/>
            <p:cNvSpPr txBox="1"/>
            <p:nvPr/>
          </p:nvSpPr>
          <p:spPr>
            <a:xfrm>
              <a:off x="2962656" y="6844284"/>
              <a:ext cx="120700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1.87%</a:t>
              </a:r>
            </a:p>
          </p:txBody>
        </p:sp>
        <p:sp>
          <p:nvSpPr>
            <p:cNvPr id="249" name="Rectangle 248"/>
            <p:cNvSpPr/>
            <p:nvPr/>
          </p:nvSpPr>
          <p:spPr>
            <a:xfrm>
              <a:off x="4206240" y="6825996"/>
              <a:ext cx="105156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50" name="TextBox 249"/>
            <p:cNvSpPr txBox="1"/>
            <p:nvPr/>
          </p:nvSpPr>
          <p:spPr>
            <a:xfrm>
              <a:off x="4242816" y="6844284"/>
              <a:ext cx="97840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Perpetuity</a:t>
              </a:r>
            </a:p>
          </p:txBody>
        </p:sp>
        <p:sp>
          <p:nvSpPr>
            <p:cNvPr id="251" name="Rectangle 250"/>
            <p:cNvSpPr/>
            <p:nvPr/>
          </p:nvSpPr>
          <p:spPr>
            <a:xfrm>
              <a:off x="5257800" y="6825996"/>
              <a:ext cx="150876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52" name="TextBox 251"/>
            <p:cNvSpPr txBox="1"/>
            <p:nvPr/>
          </p:nvSpPr>
          <p:spPr>
            <a:xfrm>
              <a:off x="5294376" y="6844284"/>
              <a:ext cx="1435608" cy="223138"/>
            </a:xfrm>
            <a:prstGeom prst="rect">
              <a:avLst/>
            </a:prstGeom>
            <a:noFill/>
          </p:spPr>
          <p:txBody>
            <a:bodyPr wrap="square">
              <a:spAutoFit/>
            </a:bodyPr>
            <a:lstStyle/>
            <a:p>
              <a:pPr algn="ctr"/>
              <a:r>
                <a:rPr sz="850" b="0" i="0">
                  <a:solidFill>
                    <a:srgbClr val="1F1F1F"/>
                  </a:solidFill>
                  <a:latin typeface="Times New Roman" panose="02020603050405020304" pitchFamily="18" charset="0"/>
                  <a:cs typeface="Times New Roman" panose="02020603050405020304" pitchFamily="18" charset="0"/>
                </a:rPr>
                <a:t> </a:t>
              </a:r>
            </a:p>
          </p:txBody>
        </p:sp>
        <p:sp>
          <p:nvSpPr>
            <p:cNvPr id="253" name="TextBox 252"/>
            <p:cNvSpPr txBox="1"/>
            <p:nvPr/>
          </p:nvSpPr>
          <p:spPr>
            <a:xfrm>
              <a:off x="182880" y="7150608"/>
              <a:ext cx="7406640" cy="784830"/>
            </a:xfrm>
            <a:prstGeom prst="rect">
              <a:avLst/>
            </a:prstGeom>
            <a:noFill/>
          </p:spPr>
          <p:txBody>
            <a:bodyPr wrap="square">
              <a:spAutoFit/>
            </a:bodyPr>
            <a:lstStyle/>
            <a:p>
              <a:pPr algn="l"/>
              <a:r>
                <a:rPr sz="750" b="0" i="1">
                  <a:solidFill>
                    <a:srgbClr val="4A4A4A"/>
                  </a:solidFill>
                  <a:latin typeface="Times New Roman" panose="02020603050405020304" pitchFamily="18" charset="0"/>
                  <a:cs typeface="Times New Roman" panose="02020603050405020304" pitchFamily="18" charset="0"/>
                </a:rPr>
                <a:t>Revenue growth rate of 5.0% for years 1 through 4 reflects a slight premium to WMT's FY26 guidance of 3 to 4 percent net sales growth, accounting for advertising revenue acceleration (30% annual growth), e-commerce contribution, and international segment outperformance. Terminal growth rate of 3.0% is consistent with long-run US nominal GDP growth and highly defensible for a consumer staples-adjacent global retailer with 19-country diversification. FCF/Sales weighted average of 1.87% uses time-weighted averages (year weights 1 through 5). FY22 FCF of only $400M (FCF margin 0.07%) reflects a concentrated capex year that significantly drags the average below FY24/FY25 levels. Normalized FCF margin excluding the investment cycle trough is approximately 2.5 to 3.0 percent. WACC of 6.50% derived from beta-adjusted CAPM: cost of equity = 4.30% RFR + 0.50 beta × 5.0% ERP = 6.80%; blended with after-tax cost of debt ~3.5% at 32% debt weight yields WACC of approximately 6.5%.</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1857</TotalTime>
  <Words>3547</Words>
  <Application>Microsoft Office PowerPoint</Application>
  <PresentationFormat>Custom</PresentationFormat>
  <Paragraphs>372</Paragraphs>
  <Slides>6</Slides>
  <Notes>0</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Arnav Mathur</dc:creator>
  <cp:keywords/>
  <dc:description>generated using python-pptx</dc:description>
  <cp:lastModifiedBy>Arnav Mathur</cp:lastModifiedBy>
  <cp:revision>9</cp:revision>
  <dcterms:created xsi:type="dcterms:W3CDTF">2013-01-27T09:14:16Z</dcterms:created>
  <dcterms:modified xsi:type="dcterms:W3CDTF">2026-05-28T21:28:54Z</dcterms:modified>
  <cp:category/>
</cp:coreProperties>
</file>